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 id="537" r:id="rId283"/>
    <p:sldId id="538" r:id="rId284"/>
    <p:sldId id="539" r:id="rId285"/>
    <p:sldId id="540" r:id="rId286"/>
    <p:sldId id="541" r:id="rId287"/>
    <p:sldId id="542" r:id="rId288"/>
    <p:sldId id="543" r:id="rId289"/>
    <p:sldId id="544" r:id="rId290"/>
    <p:sldId id="545" r:id="rId291"/>
    <p:sldId id="546" r:id="rId292"/>
    <p:sldId id="547" r:id="rId293"/>
    <p:sldId id="548" r:id="rId294"/>
    <p:sldId id="549" r:id="rId295"/>
    <p:sldId id="550" r:id="rId296"/>
    <p:sldId id="551" r:id="rId297"/>
    <p:sldId id="552" r:id="rId298"/>
    <p:sldId id="553" r:id="rId299"/>
    <p:sldId id="554" r:id="rId300"/>
    <p:sldId id="555" r:id="rId301"/>
    <p:sldId id="556" r:id="rId302"/>
    <p:sldId id="557" r:id="rId303"/>
    <p:sldId id="558" r:id="rId304"/>
    <p:sldId id="559" r:id="rId305"/>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slide" Target="slides/slide282.xml"/><Relationship Id="rId284" Type="http://schemas.openxmlformats.org/officeDocument/2006/relationships/slide" Target="slides/slide283.xml"/><Relationship Id="rId285" Type="http://schemas.openxmlformats.org/officeDocument/2006/relationships/slide" Target="slides/slide284.xml"/><Relationship Id="rId286" Type="http://schemas.openxmlformats.org/officeDocument/2006/relationships/slide" Target="slides/slide285.xml"/><Relationship Id="rId287" Type="http://schemas.openxmlformats.org/officeDocument/2006/relationships/slide" Target="slides/slide286.xml"/><Relationship Id="rId288" Type="http://schemas.openxmlformats.org/officeDocument/2006/relationships/slide" Target="slides/slide287.xml"/><Relationship Id="rId289" Type="http://schemas.openxmlformats.org/officeDocument/2006/relationships/slide" Target="slides/slide288.xml"/><Relationship Id="rId290" Type="http://schemas.openxmlformats.org/officeDocument/2006/relationships/slide" Target="slides/slide289.xml"/><Relationship Id="rId291" Type="http://schemas.openxmlformats.org/officeDocument/2006/relationships/slide" Target="slides/slide290.xml"/><Relationship Id="rId292" Type="http://schemas.openxmlformats.org/officeDocument/2006/relationships/slide" Target="slides/slide291.xml"/><Relationship Id="rId293" Type="http://schemas.openxmlformats.org/officeDocument/2006/relationships/slide" Target="slides/slide292.xml"/><Relationship Id="rId294" Type="http://schemas.openxmlformats.org/officeDocument/2006/relationships/slide" Target="slides/slide293.xml"/><Relationship Id="rId295" Type="http://schemas.openxmlformats.org/officeDocument/2006/relationships/slide" Target="slides/slide294.xml"/><Relationship Id="rId296" Type="http://schemas.openxmlformats.org/officeDocument/2006/relationships/slide" Target="slides/slide295.xml"/><Relationship Id="rId297" Type="http://schemas.openxmlformats.org/officeDocument/2006/relationships/slide" Target="slides/slide296.xml"/><Relationship Id="rId298" Type="http://schemas.openxmlformats.org/officeDocument/2006/relationships/slide" Target="slides/slide297.xml"/><Relationship Id="rId299" Type="http://schemas.openxmlformats.org/officeDocument/2006/relationships/slide" Target="slides/slide298.xml"/><Relationship Id="rId300" Type="http://schemas.openxmlformats.org/officeDocument/2006/relationships/slide" Target="slides/slide299.xml"/><Relationship Id="rId301" Type="http://schemas.openxmlformats.org/officeDocument/2006/relationships/slide" Target="slides/slide300.xml"/><Relationship Id="rId302" Type="http://schemas.openxmlformats.org/officeDocument/2006/relationships/slide" Target="slides/slide301.xml"/><Relationship Id="rId303" Type="http://schemas.openxmlformats.org/officeDocument/2006/relationships/slide" Target="slides/slide302.xml"/><Relationship Id="rId304" Type="http://schemas.openxmlformats.org/officeDocument/2006/relationships/slide" Target="slides/slide303.xml"/><Relationship Id="rId305" Type="http://schemas.openxmlformats.org/officeDocument/2006/relationships/slide" Target="slides/slide304.xml"/><Relationship Id="rId306" Type="http://schemas.openxmlformats.org/officeDocument/2006/relationships/presProps" Target="presProps.xml"/><Relationship Id="rId307" Type="http://schemas.openxmlformats.org/officeDocument/2006/relationships/viewProps" Target="viewProps.xml"/><Relationship Id="rId308" Type="http://schemas.openxmlformats.org/officeDocument/2006/relationships/theme" Target="theme/theme1.xml"/><Relationship Id="rId309"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8/21/2026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8/21/2026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8/21/2026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0.png"/><Relationship Id="rId3"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1.png"/><Relationship Id="rId3" Type="http://schemas.openxmlformats.org/officeDocument/2006/relationships/image" Target="../media/image1.png"/></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2.png"/><Relationship Id="rId3" Type="http://schemas.openxmlformats.org/officeDocument/2006/relationships/image" Target="../media/image1.png"/></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3.png"/><Relationship Id="rId3" Type="http://schemas.openxmlformats.org/officeDocument/2006/relationships/image" Target="../media/image1.png"/></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4.png"/><Relationship Id="rId3" Type="http://schemas.openxmlformats.org/officeDocument/2006/relationships/image" Target="../media/image1.png"/></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5.png"/><Relationship Id="rId3" Type="http://schemas.openxmlformats.org/officeDocument/2006/relationships/image" Target="../media/image1.png"/></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6.png"/><Relationship Id="rId3" Type="http://schemas.openxmlformats.org/officeDocument/2006/relationships/image" Target="../media/image1.png"/></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7.png"/><Relationship Id="rId3" Type="http://schemas.openxmlformats.org/officeDocument/2006/relationships/image" Target="../media/image1.png"/></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8.png"/><Relationship Id="rId3" Type="http://schemas.openxmlformats.org/officeDocument/2006/relationships/image" Target="../media/image1.png"/></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9.png"/><Relationship Id="rId3" Type="http://schemas.openxmlformats.org/officeDocument/2006/relationships/image" Target="../media/image1.png"/></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0.png"/><Relationship Id="rId3" Type="http://schemas.openxmlformats.org/officeDocument/2006/relationships/image" Target="../media/image1.png"/></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1.png"/><Relationship Id="rId3" Type="http://schemas.openxmlformats.org/officeDocument/2006/relationships/image" Target="../media/image1.png"/></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2.png"/><Relationship Id="rId3" Type="http://schemas.openxmlformats.org/officeDocument/2006/relationships/image" Target="../media/image1.png"/></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3.png"/><Relationship Id="rId3" Type="http://schemas.openxmlformats.org/officeDocument/2006/relationships/image" Target="../media/image1.png"/></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4.png"/><Relationship Id="rId3" Type="http://schemas.openxmlformats.org/officeDocument/2006/relationships/image" Target="../media/image1.png"/></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5.png"/><Relationship Id="rId3" Type="http://schemas.openxmlformats.org/officeDocument/2006/relationships/image" Target="../media/image1.png"/></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6.png"/><Relationship Id="rId3" Type="http://schemas.openxmlformats.org/officeDocument/2006/relationships/image" Target="../media/image1.png"/></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7.png"/><Relationship Id="rId3" Type="http://schemas.openxmlformats.org/officeDocument/2006/relationships/image" Target="../media/image1.png"/></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8.png"/><Relationship Id="rId3" Type="http://schemas.openxmlformats.org/officeDocument/2006/relationships/image" Target="../media/image1.png"/></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9.png"/><Relationship Id="rId3" Type="http://schemas.openxmlformats.org/officeDocument/2006/relationships/image" Target="../media/image1.png"/></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0.png"/><Relationship Id="rId3" Type="http://schemas.openxmlformats.org/officeDocument/2006/relationships/image" Target="../media/image1.png"/></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1.png"/><Relationship Id="rId3" Type="http://schemas.openxmlformats.org/officeDocument/2006/relationships/image" Target="../media/image1.png"/></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2.png"/><Relationship Id="rId3" Type="http://schemas.openxmlformats.org/officeDocument/2006/relationships/image" Target="../media/image1.png"/></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3.png"/><Relationship Id="rId3" Type="http://schemas.openxmlformats.org/officeDocument/2006/relationships/image" Target="../media/image1.png"/></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4.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August 21,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ABBYY Know Your Customer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KYC processes with Document and Process AI, delivering faster compliance, reduced manual effort and scalable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ABBYY and IBM watsonx.Orchestrate's integrated solution redefines KYC workflows by automating critical compliance tasks. Combining ABBYY's Document and Process AI with IBM watsonx.Orchestrate’s advanced task automation, the solution extracts, validates, and processes data from any document format or language with precision. It transforms unstructured data into actionable insights, orchestrates workflows across systems and teams, and ensures consistent, accurate compliance, reducing manual effort and risk. This powerful synergy creates scalable, efficient KYC operations for high-volume, compliance-critical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ABBYY USA Software House,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https://cloud.ibm.com/catalog/services/abbyy-kyc-agent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Medical Scribe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generating structured clinical notes from conversations, reducing documentation time and improving accuracy and completen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AI Medical Scribe Agent is an intelligent documentation assistant that captures and transforms clinical conversations into structured, accurate, and compliant medical notes in real time.</a:t>
            </a:r>
          </a:p>
          <a:p>
            <a:r>
              <a:rPr lang="en-US" sz="1800" dirty="0" smtClean="0"/>
              <a:t>Clinicians spend a significant portion of their time on documentation, often leading to burnout, incomplete records, and reduced patient interaction. This agent addresses these challenges by automatically generating clinical notes from voice or text inputs, aligned with standardized formats such as SOAP.</a:t>
            </a:r>
          </a:p>
          <a:p>
            <a:r>
              <a:rPr lang="en-US" sz="1800" dirty="0" smtClean="0"/>
              <a:t>Integrated directly into clinical workflows, the agent structures information into history, examination findings, assessments, and plans, while preserving clinical context and relevance. It supports customization based on specialty-specific templates and organizational requirements.</a:t>
            </a:r>
          </a:p>
          <a:p>
            <a:r>
              <a:rPr lang="en-US" sz="1800" dirty="0" smtClean="0"/>
              <a:t>The agent also enhances documentation quality by ensuring completeness and consistency, which supports downstream processes such as coding, billing, and clinical decision-making.</a:t>
            </a:r>
          </a:p>
          <a:p>
            <a:r>
              <a:rPr lang="en-US" sz="1800" dirty="0" smtClean="0"/>
              <a:t>By reducing manual data entry and streamlining documentation workflows, the AI Medical Scribe Agent improves clinician efficiency, increases time available for patient care, and supports high-quality, compliant medical records.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https://cloud.ibm.com/catalog/services/viclinic-inc-medical-ai-scribe-agent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Banking Agent from Incede.ai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Helps customers quickly find the most convenient branch, identify the right banker based on their needs and schedule appointments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AI-powered banking agent that automates customer service through natural conversation: branch lookups, appointment scheduling, and booking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Incede.ai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https://cloud.ibm.com/catalog/services/incede-skubanking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BeX Legal AI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Digital Employee for legal teams — contract drafting, review, negotiation, research, and compliance, guided by your playbook.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BeX Legal AI Assistant is an enterprise AI Digital Employee that automates legal workflows — contract drafting, review, negotiation, research, and compliance analysis — within IBM watsonx Orchestrate. </a:t>
            </a:r>
          </a:p>
          <a:p>
            <a:r>
              <a:rPr lang="en-US" sz="1800" dirty="0" smtClean="0"/>
              <a:t>Driven by configurable legal playbooks, it produces structured, auditable outputs aligned to your organisation's own standards, with a purpose-built dynamic UI and the ability to execute tasks autonomously end-to-end.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PPIC Technologies Pte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https://cloud.ibm.com/catalog/services/ppic-technologies-pte-ltd-legal-ai-assistant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BioLLM Culture Query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agent for querying and analyzing biological culture data using large language model capabilities.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BioLLM Culture Query Agent is an AI-powered native agent built on IBM watsonx Orchestrate that enables researchers, lab technicians, and bioinformaticians to interact with biological culture databases using natural language queries.</a:t>
            </a:r>
          </a:p>
          <a:p>
            <a:r>
              <a:rPr lang="en-US" sz="1800" dirty="0" smtClean="0"/>
              <a:t/>
            </a:r>
          </a:p>
          <a:p>
            <a:r>
              <a:rPr lang="en-US" sz="1800" dirty="0" smtClean="0"/>
              <a:t>The agent leverages large language model (LLM) capabilities to understand complex biological queries, retrieve relevant culture data, and deliver actionable insights—eliminating the need for specialized query languages or manual database navigation.</a:t>
            </a:r>
          </a:p>
          <a:p>
            <a:r>
              <a:rPr lang="en-US" sz="1800" dirty="0" smtClean="0"/>
              <a:t/>
            </a:r>
          </a:p>
          <a:p>
            <a:r>
              <a:rPr lang="en-US" sz="1800" dirty="0" smtClean="0"/>
              <a:t>Key capabilities include natural language querying of culture collections, intelligent data retrieval and summarization, cross-referencing of culture metadata, and seamless integration with existing laboratory information management systems (LIMS). Whether you are managing microbial cultures, cell lines, or other biological specimens, BioLLM Culture Query Agent streamlines data access and accelerates research workflows.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BioLLM 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https://cloud.ibm.com/catalog/services/biollm-culture-query-agent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Branch FLOW</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Branch FLOW™ is an AI-powered operations agent providing real-time insights into branch demand, utilization, and wait times.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Branch FLOW™ enables institutions to transform branch operational data into actionable intelligence that improves customer experience, workforce productivity, and operational efficiency.</a:t>
            </a:r>
          </a:p>
          <a:p>
            <a:r>
              <a:rPr lang="en-US" sz="1800" dirty="0" smtClean="0"/>
              <a:t/>
            </a:r>
          </a:p>
          <a:p>
            <a:r>
              <a:rPr lang="en-US" sz="1800" dirty="0" smtClean="0"/>
              <a:t>The platform continuously analyzes branch demand, serving capacity, transaction patterns, staffing levels, and utilization metrics to identify operational stress, peak traffic periods, service bottlenecks, and emerging operational risks. By combining operational analytics with AI-driven decision support, Branch FLOW™ helps branch managers, operations teams, and business leaders make faster, more informed decisions.</a:t>
            </a:r>
          </a:p>
          <a:p>
            <a:r>
              <a:rPr lang="en-US" sz="1800" dirty="0" smtClean="0"/>
              <a:t/>
            </a:r>
          </a:p>
          <a:p>
            <a:r>
              <a:rPr lang="en-US" sz="1800" dirty="0" smtClean="0"/>
              <a:t>Through a conversational AI experience, users can explore branch performance using natural language. The platform provides visibility into operational stress, staffing effectiveness, wait-time risks, queue pressure, utilization trends, and capacity constraints, enabling proactive intervention before service levels are impacted.</a:t>
            </a:r>
          </a:p>
          <a:p>
            <a:r>
              <a:rPr lang="en-US" sz="1800" dirty="0" smtClean="0"/>
              <a:t/>
            </a:r>
          </a:p>
          <a:p>
            <a:r>
              <a:rPr lang="en-US" sz="1800" dirty="0" smtClean="0"/>
              <a:t>Powered by a proprietary six-signal scoring engine, Branch FLOW™ moves organizations beyond traditional reporting to always-on operational intelligence. Helps organizations improve service consistency, reduce customer wait times, optimize workforce allocation, enhance operational productivity, and accelerate decision-making.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Essex Lake Group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https://cloud.ibm.com/catalog/services/essex-lake-group-branch-flow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Commissioning Readiness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Is your facility ready to commission? A gate-by-gate readiness view, the blockers, and the evidence, inside Maximo.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Commissioning Readiness answers the question every commissioning lead carries into a readiness review: is this facility ready to start up, and if not, what is blocking it and where is the proof? It reviews readiness gate by gate across the commissioning disciplines (mechanical, electrical, instrumentation, controls, safety, environmental, operational), and returns a readiness score with a ranked list of blockers, each tied to its source evidence, grounded in the CII SR19-01 DR310 commissioning-completion lifecycle, inside your Maximo. It is deterministic and standards-grounded. It speaks to the commissioning lead (gate-by-gate sign-off), the programme director (portfolio readiness), the project manager (in-flight blockers), and the discipline lead (clean status recording)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https://cloud.ibm.com/catalog/services/vistergy-ltd-commissioning-readiness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Construction Work Pack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your work packages are compliant before they reach the facility. Regulator-ready audit trail per finding.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Know whether your construction work packages are compliant before they reach the facility, with a regulator-ready audit trail for every finding. Each package is scored against the canonical AWP standard, CII SR19-01 v2.0 (60 data requirements across 19 categories, extending CFIHOS for construction execution). It reads work-pack state live from your Maximo, and on your authorisation writes the service request or work order that closes the gap. Built for compliance officers verifying alignment, sponsors carrying sign-off, project directors reviewing readiness, and AWP coordinators building and fixing packs, in nuclear, energy, data centre, and LNG.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https://cloud.ibm.com/catalog/services/vistergy-ltd-construction-work-pack-compliance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Care And Follow Up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ongoing care and follow-up, improving outcomes, adherence, and care continuity across the patient journey.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Continuous Care &amp; Follow-Up Agent is an AI-powered solution designed to support ongoing patient care beyond the initial visit or discharge, enabling continuous monitoring, engagement, and care coordination.</a:t>
            </a:r>
          </a:p>
          <a:p>
            <a:r>
              <a:rPr lang="en-US" sz="1800" dirty="0" smtClean="0"/>
              <a:t>Healthcare delivery often lacks structured follow-up and long-term care management, especially for chronic conditions. This agent addresses these gaps by maintaining continuous interaction with patients, tracking symptoms, monitoring adherence, and supporting recovery and disease management over time.</a:t>
            </a:r>
          </a:p>
          <a:p>
            <a:r>
              <a:rPr lang="en-US" sz="1800" dirty="0" smtClean="0"/>
              <a:t>Through conversational check-ins and structured data collection, the agent gathers relevant patient information and identifies potential risks or deviations from care plans. It supports clinicians by providing visibility into patient status between visits and enabling timely intervention when needed.</a:t>
            </a:r>
          </a:p>
          <a:p>
            <a:r>
              <a:rPr lang="en-US" sz="1800" dirty="0" smtClean="0"/>
              <a:t>The agent enhances patient engagement by delivering personalized guidance, reminders, and follow-up instructions aligned with clinical protocols. It ensures that patients remain connected to their care team and adhere to recommended treatment plans.</a:t>
            </a:r>
          </a:p>
          <a:p>
            <a:r>
              <a:rPr lang="en-US" sz="1800" dirty="0" smtClean="0"/>
              <a:t>By enabling continuous care workflows, the agent improves outcomes, reduces complications, and supports value-based care models through better long-term patient management.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https://cloud.ibm.com/catalog/services/viclinic-inc-continuous-care-followup-agent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Independent Backups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Independent Backups allows you to retain, manage, and restore database backups independently of the database instance lifecycle.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Databases Independent Backups is a managed offering for IBM Cloud Databases Gen 2 (on VPC) that lets you retain and restore backups independently of the database instance lifecycle.  The service support use cases such as compliance, testing, or protection against accidental data loss. Backups are enabled by VPC Block Storage snapshots, providing cost‑efficient and flexible storage designed for instant restore, including large, multi-terabyte recovery. Each instance is an IBM Cloud resources with its own lifecycle, identity, billing, and IAM access controls, enabling fine grained access control and support even after the original database instance is no longer present.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Chennai - Airtel (in-che) Mumbai - Airtel (in-mum) Frankfurt (eu-de) Montreal (ca-mon)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https://cloud.ibm.com/catalog/services/databases-independent-backups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Transactional email via SMTP relay, plus event-driven automation and alerting across webhooks, Code Engine, SMS, Slack, and more. One centralized service. Rapid, no-code routing.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Facility Handover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whether your handover package is complete enough to sign off, with the gaps and the evidence, per event.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Confirm a handover package is complete enough to sign off before an asset enters operations. You get a completeness score per package, a gap-by-gap remediation list, and document-level evidence for every criterion. Each package is checked against the seven ISO 19650-4 Clause 7 criteria, mapped to the CFIHOS V2.0 reference, and compared against the ISO 19650-3 Asset Information Model for build-to-operate continuity. Built for information managers driving sign-off, BIM coordinators verifying conformance, asset operators receiving the package, and project teams populating the AIM,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https://cloud.ibm.com/catalog/services/vistergy-ltd-facility-handover-compliance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Flacron AR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analyzes property inspection photos for damage, generates repair scopes, and produces cost estimates.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Flacron AR Agent automates the repetitive part of property inspection follow up. Feed it an inspection photo and it identifies visible damage type, location, severity, and a recommended action. From there, it turns those findings into a structured repair scope of work, and prices that scope into a full cost estimate with labor, material, and total line items.</a:t>
            </a:r>
          </a:p>
          <a:p>
            <a:r>
              <a:rPr lang="en-US" sz="1800" dirty="0" smtClean="0"/>
              <a:t>Each action is a discrete, callable tool with a defined input and output, so it fits directly into an automated workflow: trigger damage analysis on a new photo, generate the scope from the findings, generate the estimate from the scope. Authentication is a company-scoped API key, so every call is tied to the right account and project.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Flacron Enterprises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https://cloud.ibm.com/catalog/services/flacron-ar-ai-agent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Intics.ai - Agentic Document Intelligence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platform for automated document processing and data extraction.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Intics.ai Agentic Document Intelligence is an AI-powered platform that streamlines document processing for healthcare and pharmaceutical organizations. Our solution automatically extracts, classifies, and organizes data from a wide range of documents including forms, clinical records, and reports. By leveraging advanced machine learning and natural language processing, Intics.ai significantly reduces manual effort, improves data accuracy, and accelerates workflow efficiency. The platform supports integration with existing systems, ensures compliance with industry regulations, and maintains robust data privacy and security. With customizable automation and user-friendly dashboards, Intics.ai empowers teams to make better decisions quickly, cut operational costs, and focus resources on value-added tasks. Unlock the full potential of your organization’s information assets with intelligent automation and real-time insights for smarter business processes.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Intics.ai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https://cloud.ibm.com/catalog/services/intics-ai-agentic-document-intelligence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Legislative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reviews industrial operations documentation against current legislation, regulations and standards to identify compl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Heavy industrial operations must comply with legislation, regulations and standards set by government departments. Compliance requirements change continuously, yet most organisations check against these requirements only when an audit is due — a reactive approach that exposes them to fines, stop-work orders and reputational damage.</a:t>
            </a:r>
          </a:p>
          <a:p>
            <a:r>
              <a:rPr lang="en-US" sz="1800" dirty="0" smtClean="0"/>
              <a:t/>
            </a:r>
          </a:p>
          <a:p>
            <a:r>
              <a:rPr lang="en-US" sz="1800" dirty="0" smtClean="0"/>
              <a:t>Libero AI's Legislative Compliance Agent uses Retrieval-Augmented Generation (RAG) to compare an organisation's policies, processes and procedures against current legislative and regulatory requirements. It surfaces prioritised compliance gaps so teams can act early — not at audit time.</a:t>
            </a:r>
          </a:p>
          <a:p>
            <a:r>
              <a:rPr lang="en-US" sz="1800" dirty="0" smtClean="0"/>
              <a:t/>
            </a:r>
          </a:p>
          <a:p>
            <a:r>
              <a:rPr lang="en-US" sz="1800" dirty="0" smtClean="0"/>
              <a:t>What the agent does:</a:t>
            </a:r>
          </a:p>
          <a:p>
            <a:r>
              <a:rPr lang="en-US" sz="1800" dirty="0" smtClean="0"/>
              <a:t/>
            </a:r>
          </a:p>
          <a:p>
            <a:r>
              <a:rPr lang="en-US" sz="1800" dirty="0" smtClean="0"/>
              <a:t>- Ingests procedure documents and relevant legislation or registered standards via secure PDF upload</a:t>
            </a:r>
          </a:p>
          <a:p>
            <a:r>
              <a:rPr lang="en-US" sz="1800" dirty="0" smtClean="0"/>
              <a:t>- Compares requirements against existing internal policies and procedures using purpose/scope, document dates, and detailed section-by-section analysis</a:t>
            </a:r>
          </a:p>
          <a:p>
            <a:r>
              <a:rPr lang="en-US" sz="1800" dirty="0" smtClean="0"/>
              <a:t>- Identifies and prioritises compliance gaps, classifying each section as fully compliant, partially compliant, or non-compliant with specific issues and required actions</a:t>
            </a:r>
          </a:p>
          <a:p>
            <a:r>
              <a:rPr lang="en-US" sz="1800" dirty="0" smtClean="0"/>
              <a:t>- Provides actionable recommendations prioritised by risk level (High, Medium, or Low) to guide remediation efforts</a:t>
            </a:r>
          </a:p>
          <a:p>
            <a:r>
              <a:rPr lang="en-US" sz="1800" dirty="0" smtClean="0"/>
              <a:t>- Generates a downloadable Word document report summarising all compliance findings and recommendations for distribution to stakeholders</a:t>
            </a:r>
          </a:p>
          <a:p>
            <a:r>
              <a:rPr lang="en-US" sz="1800" dirty="0" smtClean="0"/>
              <a:t/>
            </a:r>
          </a:p>
          <a:p>
            <a:r>
              <a:rPr lang="en-US" sz="1800" dirty="0" smtClean="0"/>
              <a:t>Proven in industry:</a:t>
            </a:r>
          </a:p>
          <a:p>
            <a:r>
              <a:rPr lang="en-US" sz="1800" dirty="0" smtClean="0"/>
              <a:t/>
            </a:r>
          </a:p>
          <a:p>
            <a:r>
              <a:rPr lang="en-US" sz="1800" dirty="0" smtClean="0"/>
              <a:t>Deployed in a co-creation engagement with IBM Client Engineering for a major mining operation, the agent interrogated compliance records against QGN 34, RS14, RS15 and RS20. Three previously undetected non-conformances were identified before the next regulatory audit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Libero AI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https://cloud.ibm.com/catalog/services/libero-ai-pty-ltd-legislative-compliance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Medical Coding And RCM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analyzing clinical data to automate coding, improve accuracy, and optimize revenue cycle workflows and claim outcomes.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Medical Coding &amp; RCM Agent is an AI-powered solution that automates and enhances clinical coding and revenue cycle workflows by transforming structured and unstructured clinical data into accurate, compliant, and billable outputs.</a:t>
            </a:r>
          </a:p>
          <a:p>
            <a:r>
              <a:rPr lang="en-US" sz="1800" dirty="0" smtClean="0"/>
              <a:t>Healthcare organizations often face revenue loss due to incomplete documentation, coding errors, and delayed claim submissions. This agent addresses these challenges by analyzing clinical notes, diagnoses, procedures, and supporting data to generate coding suggestions aligned with ICD and CPT standards.</a:t>
            </a:r>
          </a:p>
          <a:p>
            <a:r>
              <a:rPr lang="en-US" sz="1800" dirty="0" smtClean="0"/>
              <a:t>Integrated directly into clinical workflows, the agent ensures that coding begins early in the care process and continues through discharge. It identifies missing documentation elements, suggests improvements, and supports clean claim submission by aligning clinical data with payer requirements.</a:t>
            </a:r>
          </a:p>
          <a:p>
            <a:r>
              <a:rPr lang="en-US" sz="1800" dirty="0" smtClean="0"/>
              <a:t>The agent also enables proactive denial prevention by flagging inconsistencies, incomplete records, or potential compliance risks before claims are submitted. This improves claim acceptance rates, reduces rework, and accelerates reimbursement cycles.</a:t>
            </a:r>
          </a:p>
          <a:p>
            <a:r>
              <a:rPr lang="en-US" sz="1800" dirty="0" smtClean="0"/>
              <a:t>By combining clinical intelligence with workflow orchestration, the Medical Coding &amp; RCM Agent reduces administrative burden, improves coding accuracy, and delivers measurable financial impact across the revenue cycle.</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https://cloud.ibm.com/catalog/services/viclinic-inc-medical-coding-agent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MyLUA Care Recommendation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maternal client data and surfaces personalized, evidence-based care recommendations for birthing parents.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Employers, health plans, and care teams struggle to identify which maternal members need support before risks become crises. The MyLÚA Care Recommendation Agent analyzes client documentation including health assessments, intake forms, case notes, lab reports, discharge summaries, and clinical records, then returns structured, evidence-based care recommendations for each member. For every client submitted, the agent surfaces a prioritized needs summary, urgency-classified outreach actions, a step-by-step care pathway sequence, referral and escalation routing, and validated community resources sourced in real time. It supports both individual-level care planning and population-level trend analysis, helping care coordinators act earlier and organizations demonstrate measurable impact across their maternal health programs. Integrating organizations are responsible for implementing appropriate data safeguards before submitting client information to the agent.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MyLUA Health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https://cloud.ibm.com/catalog/services/mylua-health-inc-mylua-care-recommendation-agent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NovaOps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Agentic AI ChatOps for DevOps, SRE, Cloud, and Operations Engineers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qaTT is an enterprise Agentic AI ChatOps platform that helps IBM customers reduce downtime, accelerate incident resolution, and optimize cloud operations across IBM Cloud, hybrid, and multi-cloud environments. By using a multi-agent AI system, qaTT analyzes observability and infrastructure data to identify root causes, guide remediation, and automate approved actions directly within Slack or Microsoft Teams. This enables faster MTTR, lower operational costs, and improved reliability for mission-critical systems. For IBM sellers, qaTT enhances customer value by strengthening operational outcomes, increasing platform adoption, and supporting larger cloud and services engagements, making it easier to expand existing deals and drive measurable business impact.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qaTT Software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https://cloud.ibm.com/catalog/services/qatt-software-ltd-novaops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Post-Surgery Recovery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post-surgery recovery with follow-up, patient guidance, and early risk detection to improve outcomes.</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Post-Surgery Recovery Support Agent is an AI-powered solution designed to support patients and care teams after discharge, ensuring safe recovery and continuous follow-up care.</a:t>
            </a:r>
          </a:p>
          <a:p>
            <a:r>
              <a:rPr lang="en-US" sz="1800" dirty="0" smtClean="0"/>
              <a:t>After surgery, many complications and readmissions happen due to gaps in monitoring, unclear instructions, or delayed intervention. This agent addresses those challenges by guiding patients through their recovery, tracking symptoms, and detecting early signs of risk.</a:t>
            </a:r>
          </a:p>
          <a:p>
            <a:r>
              <a:rPr lang="en-US" sz="1800" dirty="0" smtClean="0"/>
              <a:t>Using a conversational interface, the agent checks in with patients, collects recovery data (pain, symptoms, medication adherence, wound status), and provides personalized guidance based on clinical protocols. It continuously monitors patient responses and flags potential complications for timely clinician review.</a:t>
            </a:r>
          </a:p>
          <a:p>
            <a:r>
              <a:rPr lang="en-US" sz="1800" dirty="0" smtClean="0"/>
              <a:t>The agent orchestrates post-discharge workflows by connecting patient follow-up, care coordination, and clinical oversight into a single process. It helps ensure that no critical signals are missed and that patients stay on track with their recovery plan.</a:t>
            </a:r>
          </a:p>
          <a:p>
            <a:r>
              <a:rPr lang="en-US" sz="1800" dirty="0" smtClean="0"/>
              <a:t>For healthcare providers, the agent reduces manual follow-up workload, improves care continuity, and supports early intervention. For patients, it delivers clear guidance, reassurance, and an easy way to stay connected with their care team.</a:t>
            </a:r>
          </a:p>
          <a:p>
            <a:r>
              <a:rPr lang="en-US" sz="1800" dirty="0" smtClean="0"/>
              <a:t>By improving recovery monitoring, enhancing patient engagement, and enabling early risk detection, the Post-Surgery Recovery Support Agent helps reduce complications, lower readmission rates, and improve overall clinical outcomes.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https://cloud.ibm.com/catalog/services/viclinic-inc-post-surgery-recovery-support-agent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Netrix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a minimum of 3 x dedicated physical HSMs (each with 12 cHSMs)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t>
            </a:r>
          </a:p>
          <a:p>
            <a:r>
              <a:rPr lang="en-US" sz="1800" dirty="0" smtClean="0"/>
              <a:t>The Service is ISO27001 and PCI DSS certified and operated under dual control in the same way as our PCI PIN and PCI P2PE certified payment HSM services.</a:t>
            </a:r>
          </a:p>
          <a:p>
            <a:r>
              <a:rPr lang="en-US" sz="1800" dirty="0" smtClean="0"/>
              <a:t> </a:t>
            </a:r>
          </a:p>
          <a:p>
            <a:r>
              <a:rPr lang="en-US" sz="1800" dirty="0" smtClean="0"/>
              <a:t>This Catalog tiles covers subscription to the Premium Live service. In this service the customer has access to their own dedicated physical HSMs (each with 12 cHSMs) in two geographically separate DCs.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PreVisit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Your first AI agent to orchestrate pre-visit workflows, accelerating pre-authorization and improving coding accuracy at discharge.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Pre-Visit AI Intake Agent captures and structures patient symptoms, history, and clinical inputs before the encounter, enabling providers to begin each visit with complete and actionable data.</a:t>
            </a:r>
          </a:p>
          <a:p>
            <a:r>
              <a:rPr lang="en-US" sz="1800" dirty="0" smtClean="0"/>
              <a:t>By guiding patients through a conversational intake process, the agent collects relevant clinical information and converts it into structured, EMR-ready formats. This improves triage, supports clinical decision-making, and reduces repetitive data collection during visits.</a:t>
            </a:r>
          </a:p>
          <a:p>
            <a:r>
              <a:rPr lang="en-US" sz="1800" dirty="0" smtClean="0"/>
              <a:t>The agent also plays a critical role in revenue cycle performance by capturing the data required for pre-authorization and ensuring documentation readiness early in the care process.</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https://cloud.ibm.com/catalog/services/viclinic-inc-previsit-agent-public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Prior Authorization Eligibility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streamlining prior authorization and eligibility workflows, accelerating approvals and reducing delays in care delivery.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Prior Authorization &amp; Eligibility Agent is an AI-powered solution designed to streamline payer-related workflows by automating eligibility verification and prior authorization processes.</a:t>
            </a:r>
          </a:p>
          <a:p>
            <a:r>
              <a:rPr lang="en-US" sz="1800" dirty="0" smtClean="0"/>
              <a:t>Delays in prior authorization and incomplete eligibility checks are among the leading causes of care disruption, administrative burden, and revenue loss in healthcare systems. This agent addresses these challenges by capturing, validating, and structuring the clinical and administrative data required for payer review.</a:t>
            </a:r>
          </a:p>
          <a:p>
            <a:r>
              <a:rPr lang="en-US" sz="1800" dirty="0" smtClean="0"/>
              <a:t>Working in coordination with pre-visit and clinical documentation workflows, the agent ensures that all necessary information is prepared before submission. It supports eligibility verification, identifies missing data, and aligns clinical inputs with payer requirements to improve approval rates.</a:t>
            </a:r>
          </a:p>
          <a:p>
            <a:r>
              <a:rPr lang="en-US" sz="1800" dirty="0" smtClean="0"/>
              <a:t>The agent reduces manual back-and-forth between providers and payers by enabling cleaner, more complete submissions and by flagging potential issues early in the process. This results in faster approvals, fewer delays, and improved patient access to care.</a:t>
            </a:r>
          </a:p>
          <a:p>
            <a:r>
              <a:rPr lang="en-US" sz="1800" dirty="0" smtClean="0"/>
              <a:t>By integrating payer workflows into the broader clinical process, the Prior Authorization &amp; Eligibility Agent improves operational efficiency, enhances revenue cycle performance, and supports a more seamless care experience.</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https://cloud.ibm.com/catalog/services/viclinic-inc-prior-authorization-eligibility-agent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for IBM i on Power and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 DRaaS administrates &amp; orchestrates cluster management and resilience for Power IBM i workloads, on-premises or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delivers browser access to manage and protect IBM i LPARs leveraging the core functionality of IBM PowerHA.  Common use case is to create an HA-paired cluster with data being replicated from on-premises LPARs into PowerVS in IBM VPC.  Switchover involving promoting the standby node to primary becomes as simple as clicking a button.  No more need for clRGmove command syntax.</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https://cloud.ibm.com/catalog/services/protectio-draas-for-power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Quantum Compute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quantum workloads on IBM Quantum computers as part of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Quantum Compute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DRaaS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any-source environment (physical, virtual, cloud) to IBM Cloud VPC using RMM Disaster Recovery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RMM enables a modern DR architecture by non-disruptly replicating workloads from any source environment into IBM Cloud VPC, maintaining a synchronized DR environment in the cloud, enabling failover into IBM Cloud VPC without source environment dependencies, supporting fallback to source environment during transition periods, and extending DR to additional public clouds for redundancy. </a:t>
            </a:r>
          </a:p>
          <a:p>
            <a:r>
              <a:rPr lang="en-US" sz="1800" dirty="0" smtClean="0"/>
              <a:t/>
            </a:r>
          </a:p>
          <a:p>
            <a:r>
              <a:rPr lang="en-US" sz="1800" dirty="0" smtClean="0"/>
              <a:t>This allows IBM Cloud VPC to serve as both a disaster recovery landing zone and a strategic approach for setting up a DR environment for production environment# License Information:</a:t>
            </a:r>
          </a:p>
          <a:p>
            <a:r>
              <a:rPr lang="en-US" sz="1800" dirty="0" smtClean="0"/>
              <a:t/>
            </a:r>
          </a:p>
          <a:p>
            <a:r>
              <a:rPr lang="en-US" sz="1800" dirty="0" smtClean="0"/>
              <a:t># Description - RackWare DR &amp; DRaaS for IBM Cloud </a:t>
            </a:r>
          </a:p>
          <a:p>
            <a:r>
              <a:rPr lang="en-US" sz="1800" dirty="0" smtClean="0"/>
              <a:t/>
            </a:r>
          </a:p>
          <a:p>
            <a:r>
              <a:rPr lang="en-US" sz="1800" dirty="0" smtClean="0"/>
              <a:t># RackWare DR for IBM Cloud </a:t>
            </a:r>
          </a:p>
          <a:p>
            <a:r>
              <a:rPr lang="en-US" sz="1800" dirty="0" smtClean="0"/>
              <a:t/>
            </a:r>
          </a:p>
          <a:p>
            <a:r>
              <a:rPr lang="en-US" sz="1800" dirty="0" smtClean="0"/>
              <a:t>RackWare DR provides workload-level disaster recovery to IBM Cloud VPC through flexible, per-VM licensing. This solution includes the RackWare DR software and standard support. Each license protects one source server or virtual machine that is replicated and managed through the RackWare Management Module (RMM).</a:t>
            </a:r>
          </a:p>
          <a:p>
            <a:r>
              <a:rPr lang="en-US" sz="1800" dirty="0" smtClean="0"/>
              <a:t/>
            </a:r>
          </a:p>
          <a:p>
            <a:r>
              <a:rPr lang="en-US" sz="1800" dirty="0" smtClean="0"/>
              <a:t>Pricing: $192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RackWare DRaaS for IBM Cloud </a:t>
            </a:r>
          </a:p>
          <a:p>
            <a:r>
              <a:rPr lang="en-US" sz="1800" dirty="0" smtClean="0"/>
              <a:t/>
            </a:r>
          </a:p>
          <a:p>
            <a:r>
              <a:rPr lang="en-US" sz="1800" dirty="0" smtClean="0"/>
              <a:t>RackWare DRaaS provides workload-level disaster recovery to IBM Cloud VPC through flexible, per-VM licensing. This fully managed solution includes the RackWare DR software, standard support, DRaaS operations, and one non-disruptive disaster recovery drill per protected VM each year. </a:t>
            </a:r>
          </a:p>
          <a:p>
            <a:r>
              <a:rPr lang="en-US" sz="1800" dirty="0" smtClean="0"/>
              <a:t>The service includes daily monitoring and maintenance, daily operational reports, automated alerts to RackWare, problem diagnosis and resolution (including triage of warnings and errors), issue resolution within the defined support scope, coordination with external teams for issues outside the service scope, and the application of patches, bug fixes, and support release upgrades. </a:t>
            </a:r>
          </a:p>
          <a:p>
            <a:r>
              <a:rPr lang="en-US" sz="1800" dirty="0" smtClean="0"/>
              <a:t>Each RackWare DRaaS license protects one source server or virtual machine that is replicated and managed through the RackWare Management Module (RMM). </a:t>
            </a:r>
          </a:p>
          <a:p>
            <a:r>
              <a:rPr lang="en-US" sz="1800" dirty="0" smtClean="0"/>
              <a:t/>
            </a:r>
          </a:p>
          <a:p>
            <a:r>
              <a:rPr lang="en-US" sz="1800" dirty="0" smtClean="0"/>
              <a:t>Pricing: $495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Architecture Flexibility</a:t>
            </a:r>
          </a:p>
          <a:p>
            <a:r>
              <a:rPr lang="en-US" sz="1800" dirty="0" smtClean="0"/>
              <a:t/>
            </a:r>
          </a:p>
          <a:p>
            <a:r>
              <a:rPr lang="en-US" sz="1800" dirty="0" smtClean="0"/>
              <a:t>1) RackWare DR can be deployed as a single instance or scaled across multiple RackWare DR RMM instances to meet performance, isolation, and design requirements.</a:t>
            </a:r>
          </a:p>
          <a:p>
            <a:r>
              <a:rPr lang="en-US" sz="1800" dirty="0" smtClean="0"/>
              <a:t> </a:t>
            </a:r>
          </a:p>
          <a:p>
            <a:r>
              <a:rPr lang="en-US" sz="1800" dirty="0" smtClean="0"/>
              <a:t>2) For example, 100 VMs (20 vCPUs) can be distributed across multiple instances (e.g., 5 RMM instances, each supporting 20 VMs/servers).</a:t>
            </a:r>
          </a:p>
          <a:p>
            <a:r>
              <a:rPr lang="en-US" sz="1800" dirty="0" smtClean="0"/>
              <a:t> </a:t>
            </a:r>
          </a:p>
          <a:p>
            <a:r>
              <a:rPr lang="en-US" sz="1800" dirty="0" smtClean="0"/>
              <a:t># Licensing Example (e.g. 100 VMs)</a:t>
            </a:r>
          </a:p>
          <a:p>
            <a:r>
              <a:rPr lang="en-US" sz="1800" dirty="0" smtClean="0"/>
              <a:t/>
            </a:r>
          </a:p>
          <a:p>
            <a:r>
              <a:rPr lang="en-US" sz="1800" dirty="0" smtClean="0"/>
              <a:t>1) 1 vCPU supports 5 VMs</a:t>
            </a:r>
          </a:p>
          <a:p>
            <a:r>
              <a:rPr lang="en-US" sz="1800" dirty="0" smtClean="0"/>
              <a:t>2) 100 VMs require 20 vCPUs</a:t>
            </a:r>
          </a:p>
          <a:p>
            <a:r>
              <a:rPr lang="en-US" sz="1800" dirty="0" smtClean="0"/>
              <a:t>3) A single RMM instance with 4 vCPU and 32 GB RAM can cover 20 VMs.</a:t>
            </a:r>
          </a:p>
          <a:p>
            <a:r>
              <a:rPr lang="en-US" sz="1800" dirty="0" smtClean="0"/>
              <a:t>4) 4 RMM instances should cover 100 VMs to be protected in DR</a:t>
            </a:r>
          </a:p>
          <a:p>
            <a:r>
              <a:rPr lang="en-US" sz="1800" dirty="0" smtClean="0"/>
              <a:t>5) For DR 1 VM is billed at $192, 100 VMs x $192 = $19200 / Year</a:t>
            </a:r>
          </a:p>
          <a:p>
            <a:r>
              <a:rPr lang="en-US" sz="1800" dirty="0" smtClean="0"/>
              <a:t>6) For DRaaS 1 VM is billed at $495, 100 VMs x $495 = $49500 / Year</a:t>
            </a:r>
          </a:p>
          <a:p>
            <a:r>
              <a:rPr lang="en-US" sz="1800" dirty="0" smtClean="0"/>
              <a:t> </a:t>
            </a:r>
          </a:p>
          <a:p>
            <a:r>
              <a:rPr lang="en-US" sz="1800" dirty="0" smtClean="0"/>
              <a:t>Note: RackWare DR software pricing does not include IBM Cloud compute, storage.</a:t>
            </a:r>
          </a:p>
          <a:p>
            <a:r>
              <a:rPr lang="en-US" sz="1800" dirty="0" smtClean="0"/>
              <a:t/>
            </a:r>
          </a:p>
          <a:p>
            <a:r>
              <a:rPr lang="en-US" sz="1800" dirty="0" smtClean="0"/>
              <a:t/>
            </a:r>
          </a:p>
          <a:p>
            <a:r>
              <a:rPr lang="en-US" sz="1800" dirty="0" smtClean="0"/>
              <a:t>RackWare's RMM Disaster Recovery ( DR ) are an automated, easy, and convenient process to protect existing workloads from your current location to IBM Cloud VPC. RMM creates an exact duplicate of a running image without the burden of rebuilding or recreating template images and applications. It decouples the application stack from the underlying platform, allowing it to be ported to the IBM Cloud infrastructure with ease. RMM simplifies protection of large, complex environments through a simple interface and reduces the time required from weeks to days, reducing capital and operating expenses. RackWare RMM includes discovery, analysis, automation features like DR policy engine, dynamic provisioning allowing all processes to be fast, easy, and error-free.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https://cloud.ibm.com/catalog/services/rackware-rmm-draas-per-unit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Migration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any-source environment (physical, virtual, cloud)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Management Module (RMM) Migration is an automated process to migrate as well as protect your bare metal and virtual workloads from IBM Cloud or any other source environment to Virtual Server Instances on IBM Cloud VPC.</a:t>
            </a:r>
          </a:p>
          <a:p>
            <a:r>
              <a:rPr lang="en-US" sz="1800" dirty="0" smtClean="0"/>
              <a:t/>
            </a:r>
          </a:p>
          <a:p>
            <a:r>
              <a:rPr lang="en-US" sz="1800" dirty="0" smtClean="0"/>
              <a:t>RMM creates an exact duplicate of a running image without the burden of rebuilding or recreating template images and applications. It decouples the application stack from the underlying platform, allowing it to be ported to the IBM Cloud infrastructure with ease.</a:t>
            </a:r>
          </a:p>
          <a:p>
            <a:r>
              <a:rPr lang="en-US" sz="1800" dirty="0" smtClean="0"/>
              <a:t/>
            </a:r>
          </a:p>
          <a:p>
            <a:r>
              <a:rPr lang="en-US" sz="1800" dirty="0" smtClean="0"/>
              <a:t>RMM simplifies migration of large, complex environments through a simple interface and reduces the time required from weeks to days, reducing capital and operating expenses. RMM includes discovery, analysis, and automation features, allowing all processes to be fast, easy, and error-free.RackWare's RMM Server Migration solution provides an easy, automated, and simplified process to migrate existing workloads from your current location to IBM Cloud. </a:t>
            </a:r>
          </a:p>
          <a:p>
            <a:r>
              <a:rPr lang="en-US" sz="1800" dirty="0" smtClean="0"/>
              <a:t/>
            </a:r>
          </a:p>
          <a:p>
            <a:r>
              <a:rPr lang="en-US" sz="1800" dirty="0" smtClean="0"/>
              <a:t># License Information</a:t>
            </a:r>
          </a:p>
          <a:p>
            <a:r>
              <a:rPr lang="en-US" sz="1800" dirty="0" smtClean="0"/>
              <a:t/>
            </a:r>
          </a:p>
          <a:p>
            <a:r>
              <a:rPr lang="en-US" sz="1800" dirty="0" smtClean="0"/>
              <a:t># Description – RackWare Migration for IBM Cloud</a:t>
            </a:r>
          </a:p>
          <a:p>
            <a:r>
              <a:rPr lang="en-US" sz="1800" dirty="0" smtClean="0"/>
              <a:t/>
            </a:r>
          </a:p>
          <a:p>
            <a:r>
              <a:rPr lang="en-US" sz="1800" dirty="0" smtClean="0"/>
              <a:t>RackWare Migration enables fast, automated workload migration to IBM Cloud VPC with flexible, infrastructure-based hourly licensing.</a:t>
            </a:r>
          </a:p>
          <a:p>
            <a:r>
              <a:rPr lang="en-US" sz="1800" dirty="0" smtClean="0"/>
              <a:t/>
            </a:r>
          </a:p>
          <a:p>
            <a:r>
              <a:rPr lang="en-US" sz="1800" dirty="0" smtClean="0"/>
              <a:t># Licensing Model</a:t>
            </a:r>
          </a:p>
          <a:p>
            <a:r>
              <a:rPr lang="en-US" sz="1800" dirty="0" smtClean="0"/>
              <a:t>RackWare Migration is fixed cost based on the number of source VMs in scope.</a:t>
            </a:r>
          </a:p>
          <a:p>
            <a:r>
              <a:rPr lang="en-US" sz="1800" dirty="0" smtClean="0"/>
              <a:t/>
            </a:r>
          </a:p>
          <a:p>
            <a:r>
              <a:rPr lang="en-US" sz="1800" dirty="0" smtClean="0"/>
              <a:t>1 VM is billed at $110</a:t>
            </a:r>
          </a:p>
          <a:p>
            <a:r>
              <a:rPr lang="en-US" sz="1800" dirty="0" smtClean="0"/>
              <a:t>8 vCPU supports up to 50 source VMs</a:t>
            </a:r>
          </a:p>
          <a:p>
            <a:r>
              <a:rPr lang="en-US" sz="1800" dirty="0" smtClean="0"/>
              <a:t/>
            </a:r>
          </a:p>
          <a:p>
            <a:r>
              <a:rPr lang="en-US" sz="1800" dirty="0" smtClean="0"/>
              <a:t># Sizing Guidance</a:t>
            </a:r>
          </a:p>
          <a:p>
            <a:r>
              <a:rPr lang="en-US" sz="1800" dirty="0" smtClean="0"/>
              <a:t>RackWare provides a simple, linear scaling model based on VM count:</a:t>
            </a:r>
          </a:p>
          <a:p>
            <a:r>
              <a:rPr lang="en-US" sz="1800" dirty="0" smtClean="0"/>
              <a:t/>
            </a:r>
          </a:p>
          <a:p>
            <a:r>
              <a:rPr lang="en-US" sz="1800" dirty="0" smtClean="0"/>
              <a:t>50 VMs → A single RMM with 8 vCPUs and 64 GB RAM</a:t>
            </a:r>
          </a:p>
          <a:p>
            <a:r>
              <a:rPr lang="en-US" sz="1800" dirty="0" smtClean="0"/>
              <a:t>100 VMs → 2 RMMs with 8 vCPUs and 64 GB RAM</a:t>
            </a:r>
          </a:p>
          <a:p>
            <a:r>
              <a:rPr lang="en-US" sz="1800" dirty="0" smtClean="0"/>
              <a:t>1,000 VMs → 20 RMMs with 8 vCPUs and 64 GB RAM</a:t>
            </a:r>
          </a:p>
          <a:p>
            <a:r>
              <a:rPr lang="en-US" sz="1800" dirty="0" smtClean="0"/>
              <a:t>10,000 VMs → 200 RMMs with 8 vCPUs and 64 GB RAM</a:t>
            </a:r>
          </a:p>
          <a:p>
            <a:r>
              <a:rPr lang="en-US" sz="1800" dirty="0" smtClean="0"/>
              <a:t/>
            </a:r>
          </a:p>
          <a:p>
            <a:r>
              <a:rPr lang="en-US" sz="1800" dirty="0" smtClean="0"/>
              <a:t>This model scales linearly beyond these examples, allowing customers to support environments of any size by continuing the same 5 VMs per vCPU ratio. Capacity can be increased incrementally to align with migration waves, timelines, and performance requirements.</a:t>
            </a:r>
          </a:p>
          <a:p>
            <a:r>
              <a:rPr lang="en-US" sz="1800" dirty="0" smtClean="0"/>
              <a:t/>
            </a:r>
          </a:p>
          <a:p>
            <a:r>
              <a:rPr lang="en-US" sz="1800" dirty="0" smtClean="0"/>
              <a:t># Architecture Flexibility</a:t>
            </a:r>
          </a:p>
          <a:p>
            <a:r>
              <a:rPr lang="en-US" sz="1800" dirty="0" smtClean="0"/>
              <a:t>RackWare Migration can be deployed as a single instance or distributed across multiple RMM instances depending on performance, isolation, or design requirements.</a:t>
            </a:r>
          </a:p>
          <a:p>
            <a:r>
              <a:rPr lang="en-US" sz="1800" dirty="0" smtClean="0"/>
              <a:t/>
            </a:r>
          </a:p>
          <a:p>
            <a:r>
              <a:rPr lang="en-US" sz="1800" dirty="0" smtClean="0"/>
              <a:t>For example, a customer migrating 100 VMs would require 2 RMMs:</a:t>
            </a:r>
          </a:p>
          <a:p>
            <a:r>
              <a:rPr lang="en-US" sz="1800" dirty="0" smtClean="0"/>
              <a:t/>
            </a:r>
          </a:p>
          <a:p>
            <a:r>
              <a:rPr lang="en-US" sz="1800" dirty="0" smtClean="0"/>
              <a:t>100 VMs × $110/VM = $11,000</a:t>
            </a:r>
          </a:p>
          <a:p>
            <a:r>
              <a:rPr lang="en-US" sz="1800" dirty="0" smtClean="0"/>
              <a:t/>
            </a:r>
          </a:p>
          <a:p>
            <a:r>
              <a:rPr lang="en-US" sz="1800" dirty="0" smtClean="0"/>
              <a:t>This can be deployed as:</a:t>
            </a:r>
          </a:p>
          <a:p>
            <a:r>
              <a:rPr lang="en-US" sz="1800" dirty="0" smtClean="0"/>
              <a:t/>
            </a:r>
          </a:p>
          <a:p>
            <a:r>
              <a:rPr lang="en-US" sz="1800" dirty="0" smtClean="0"/>
              <a:t>A single RMM with 4 vCPU and 32 GB RAM supporting 50 VMs in parallel for migration , or</a:t>
            </a:r>
          </a:p>
          <a:p>
            <a:r>
              <a:rPr lang="en-US" sz="1800" dirty="0" smtClean="0"/>
              <a:t>Multiple RMM instances based on the migration VMs count (e.g., 4 vCPUs supporting 50 VMs each) aligned to migration waves or application groupings</a:t>
            </a:r>
          </a:p>
          <a:p>
            <a:r>
              <a:rPr lang="en-US" sz="1800" dirty="0" smtClean="0"/>
              <a:t/>
            </a:r>
          </a:p>
          <a:p>
            <a:r>
              <a:rPr lang="en-US" sz="1800" dirty="0" smtClean="0"/>
              <a:t>This flexible architecture enables parallel migrations, better control over cutover groups, and alignment to enterprise design requirements.</a:t>
            </a:r>
          </a:p>
          <a:p>
            <a:r>
              <a:rPr lang="en-US" sz="1800" dirty="0" smtClean="0"/>
              <a:t/>
            </a:r>
          </a:p>
          <a:p>
            <a:r>
              <a:rPr lang="en-US" sz="1800" dirty="0" smtClean="0"/>
              <a:t># The supported use cases are</a:t>
            </a:r>
          </a:p>
          <a:p>
            <a:r>
              <a:rPr lang="en-US" sz="1800" dirty="0" smtClean="0"/>
              <a:t/>
            </a:r>
          </a:p>
          <a:p>
            <a:r>
              <a:rPr lang="en-US" sz="1800" dirty="0" smtClean="0"/>
              <a:t>1. VMware virtual machine (On-premises) to IBM Cloud VPC virtual servers</a:t>
            </a:r>
          </a:p>
          <a:p>
            <a:r>
              <a:rPr lang="en-US" sz="1800" dirty="0" smtClean="0"/>
              <a:t>2. VMware virtual machine (IBM Cloud classic) to IBM Cloud VPC virtual servers</a:t>
            </a:r>
          </a:p>
          <a:p>
            <a:r>
              <a:rPr lang="en-US" sz="1800" dirty="0" smtClean="0"/>
              <a:t>3. Hyper-V virtual machine (On-premises, IBM Cloud Classic) to IBM Cloud VPC virtual servers</a:t>
            </a:r>
          </a:p>
          <a:p>
            <a:r>
              <a:rPr lang="en-US" sz="1800" dirty="0" smtClean="0"/>
              <a:t>4. On-premises physical machines to IBM Cloud VPC virtual servers</a:t>
            </a:r>
          </a:p>
          <a:p>
            <a:r>
              <a:rPr lang="en-US" sz="1800" dirty="0" smtClean="0"/>
              <a:t>5. GCP, AWS, Azure, virtual machines and OCI Baremetal to IBM Cloud VPC virtual servers</a:t>
            </a:r>
          </a:p>
          <a:p>
            <a:r>
              <a:rPr lang="en-US" sz="1800" dirty="0" smtClean="0"/>
              <a:t>6. IBM Cloud classic bare metal to IBM Cloud classic bare metal</a:t>
            </a:r>
          </a:p>
          <a:p>
            <a:r>
              <a:rPr lang="en-US" sz="1800" dirty="0" smtClean="0"/>
              <a:t>7. IBM Cloud classic bare metal to IBM Cloud VPC bare metal</a:t>
            </a:r>
          </a:p>
          <a:p>
            <a:r>
              <a:rPr lang="en-US" sz="1800" dirty="0" smtClean="0"/>
              <a:t>8. Migration of popular databases (e.g., MSSQL, MySQL, PostgreSQL etc. Oracle RAC and ASM disk-based databases are not supported. Also, AWS RDS like databases are not supported)</a:t>
            </a:r>
          </a:p>
          <a:p>
            <a:r>
              <a:rPr lang="en-US" sz="1800" dirty="0" smtClean="0"/>
              <a:t/>
            </a:r>
          </a:p>
          <a:p>
            <a:r>
              <a:rPr lang="en-US" sz="1800" dirty="0" smtClean="0"/>
              <a:t>## Product Overview</a:t>
            </a:r>
          </a:p>
          <a:p>
            <a:r>
              <a:rPr lang="en-US" sz="1800" dirty="0" smtClean="0"/>
              <a:t>RackWare's RMM migrations are an automated, easy, and convenient process to migrate existing workloads from your current location to IBM Cloud. RMM creates an exact duplicate of a running image without the burden of rebuilding or recreating template images and applications. It decouples the application stack from the underlying platform, allowing it to be ported to the IBM Cloud infrastructure with ease. RMM simplifies migration of large, complex environments through a simple interface and reduces the time required from weeks to days, reducing capital and operating expenses. RackWare RMM includes discovery, analysis, and automation features, allowing all processes to be fast, easy, and error-free.</a:t>
            </a:r>
          </a:p>
          <a:p>
            <a:r>
              <a:rPr lang="en-US" sz="1800" dirty="0" smtClean="0"/>
              <a:t/>
            </a:r>
          </a:p>
          <a:p>
            <a:r>
              <a:rPr lang="en-US" sz="1800" dirty="0" smtClean="0"/>
              <a:t># Key Benefits</a:t>
            </a:r>
          </a:p>
          <a:p>
            <a:r>
              <a:rPr lang="en-US" sz="1800" dirty="0" smtClean="0"/>
              <a:t/>
            </a:r>
          </a:p>
          <a:p>
            <a:r>
              <a:rPr lang="en-US" sz="1800" dirty="0" smtClean="0"/>
              <a:t>- Live and Non-Disruptive Migrations</a:t>
            </a:r>
          </a:p>
          <a:p>
            <a:r>
              <a:rPr lang="en-US" sz="1800" dirty="0" smtClean="0"/>
              <a:t>- Highly secure and efficient data transfer</a:t>
            </a:r>
          </a:p>
          <a:p>
            <a:r>
              <a:rPr lang="en-US" sz="1800" dirty="0" smtClean="0"/>
              <a:t>- Auto provision of target Virtual Server Instance</a:t>
            </a:r>
          </a:p>
          <a:p>
            <a:r>
              <a:rPr lang="en-US" sz="1800" dirty="0" smtClean="0"/>
              <a:t>- Include / Exclude Lists: Capture and sync only specific files and directories rather than entire systems</a:t>
            </a:r>
          </a:p>
          <a:p>
            <a:r>
              <a:rPr lang="en-US" sz="1800" dirty="0" smtClean="0"/>
              <a:t>- Delta Sync: Sync only the changed parts of files during the final data sync, drastically lowering cutover times</a:t>
            </a:r>
          </a:p>
          <a:p>
            <a:r>
              <a:rPr lang="en-US" sz="1800" dirty="0" smtClean="0"/>
              <a:t>- Network optimization: bandwidth usage limitations, compression and check point restart for all sync operations</a:t>
            </a:r>
          </a:p>
          <a:p>
            <a:r>
              <a:rPr lang="en-US" sz="1800" dirty="0" smtClean="0"/>
              <a:t/>
            </a:r>
          </a:p>
          <a:p>
            <a:r>
              <a:rPr lang="en-US" sz="1800" dirty="0" smtClean="0"/>
              <a:t>- For more information, visit https://www.rackwareinc.com/cloud-migration</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https://cloud.ibm.com/catalog/services/rackware-rmm-migration-per-unit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Virtualization Service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enterprise VMs on Red Hat OpenShift Virtualization Service on IBM Cloud with a modern, Kubernetes-based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and manage enterprise virtual machine workloads on native OpenShift with virtualization-focused tools to run highly available Virtual Machines.</a:t>
            </a:r>
          </a:p>
          <a:p>
            <a:r>
              <a:rPr lang="en-US" sz="1800" dirty="0" smtClean="0"/>
              <a:t>OpenShift Virtualization Engine on IBM Cloud provides a modern Kubernetes-based platform that delivers operational consistency and flexibility for virtualization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SpeedSize AI 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SpeedSize® a patented neuroscience-based AI infrastructure for media optimization &amp; delivry, outperforming other CDNs. Book a demo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SpeedSize® is the only AI-CDN built for the visual internet, trusted by leading global brands. The internet is entering a new era where AI is creating billions of images, videos, and digital experiences, but the infrastructure was never built for this scale. SpeedSize changes that. Powered by patented PVCI (Psycho-Visual Compression Index) and edge adaptive AI-CDN technology, SpeedSize eliminates the decades-old tradeoff between visual quality and performance, making content up to 99% smaller while keeping the same human visual experience. The result: faster websites, richer shopping experiences, lower CO2 emissions, and higher conversions at global scale. Simple no-code integration, usage-based pricing, and free testing make adoption effortless.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SpeedSize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https://cloud.ibm.com/catalog/services/speedsize-ai-cdn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3 containerized HSMs (cHSM), each in a separate physical HSM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 </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t>
            </a:r>
          </a:p>
          <a:p>
            <a:r>
              <a:rPr lang="en-US" sz="1800" dirty="0" smtClean="0"/>
              <a:t>This catalog tile covers subscription to the Standard Live service. In this service the customer has access to three dedicated cHSMs each in a different physical HSM in two geographically separate DCs.</a:t>
            </a:r>
          </a:p>
          <a:p>
            <a:r>
              <a:rPr lang="en-US" sz="1800" dirty="0" smtClean="0"/>
              <a:t>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https://cloud.ibm.com/catalog/services/utimaco-standard-live-general-purpose-hsm-service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using test keys for a group of 2 x HSMs with the same settings &amp; firmware as the Standard Live service.</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r>
          </a:p>
          <a:p>
            <a:r>
              <a:rPr lang="en-US" sz="1800" dirty="0" smtClean="0"/>
              <a:t>This catalog tile covers subscription to the Standard Test Service. This is similar to the Standard Live Service except that test keys are used to make setup and development easier.</a:t>
            </a:r>
          </a:p>
          <a:p>
            <a:r>
              <a:rPr lang="en-US" sz="1800" dirty="0" smtClean="0"/>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Straker AI Dubbing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multilingual, lip-synced video directly from IBM watsonx Orchestrate while preserving speaker’s voice, emotion, and intent.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Designed for training, marketing, product education, customer communications, and internal content, arbitr AI Dubbing helps teams produce localized video without leaving their existing agent workflow. It preserves the speaker’s voice, emotion, and intent and supports 30 documented target languages across core, additional, and lip-sync coverage. Conversations with the agent are in English, while the dubbing language is selected independently for each job.</a:t>
            </a:r>
          </a:p>
          <a:p>
            <a:r>
              <a:rPr lang="en-US" sz="1800" dirty="0" smtClean="0"/>
              <a:t/>
            </a:r>
          </a:p>
          <a:p>
            <a:r>
              <a:rPr lang="en-US" sz="1800" dirty="0" smtClean="0"/>
              <a:t>arbitr AI Dubbing is delivered as an external collaborator. A watsonx Orchestrate administrator adds it to a native agent before end users can invoke it.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Straker Japan K.K.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https://cloud.ibm.com/catalog/services/straker-japan-kk-straker-ai-dubbing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Structured Clinical Documentation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converting free-text clinical notes into structured, clinic-defined forms to improve documentation, coding, and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Structured Clinical Documentation Agent is an AI-powered solution that converts free-text clinical notes into structured, standardized documentation aligned with clinic-specific templates and specialty requirements.</a:t>
            </a:r>
          </a:p>
          <a:p>
            <a:r>
              <a:rPr lang="en-US" sz="1800" dirty="0" smtClean="0"/>
              <a:t>In many healthcare settings, clinicians document freely, while systems require structured formats such as SOAP notes or specialty-specific forms. This gap creates inefficiencies, inconsistent records, and challenges in coding and workflow execution.</a:t>
            </a:r>
          </a:p>
          <a:p>
            <a:r>
              <a:rPr lang="en-US" sz="1800" dirty="0" smtClean="0"/>
              <a:t>This agent bridges that gap by transforming unstructured clinical notes—including physician input or AI scribe output—into predefined, structured formats configured by each clinic or specialty. Organizations can define their own documentation templates, forms, and requirements, and the agent ensures that all notes are structured accordingly.</a:t>
            </a:r>
          </a:p>
          <a:p>
            <a:r>
              <a:rPr lang="en-US" sz="1800" dirty="0" smtClean="0"/>
              <a:t>By aligning documentation with clinic-specific workflows, the agent improves consistency, completeness, and usability of clinical data across care teams. It also enhances downstream processes such as coding, billing, reporting, and clinical decision support.</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https://cloud.ibm.com/catalog/services/viclinic-inc-structured-clinical-documentation-agent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SysTrack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Resolve IT support incidents 2X faster and deflect tickets with AI-driven troubleshooting and automated fixes.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From the data leader in digital employee experience (DEX) tools, SysTrack AI helps IT organizations deflect tickets, resolve incidents 2X faster, and improve service desk efficiency. With real-time insight into device issues and AI-driven diagnostics, SysTrack AI pinpoints the root cause of problems and provides step-by-step guidance for fast, accurate resolutions. It’s your “easy button” for effective L1 support.</a:t>
            </a:r>
          </a:p>
          <a:p>
            <a:r>
              <a:rPr lang="en-US" sz="1800" dirty="0" smtClean="0"/>
              <a:t/>
            </a:r>
          </a:p>
          <a:p>
            <a:r>
              <a:rPr lang="en-US" sz="1800" dirty="0" smtClean="0"/>
              <a:t> </a:t>
            </a:r>
          </a:p>
          <a:p>
            <a:r>
              <a:rPr lang="en-US" sz="1800" dirty="0" smtClean="0"/>
              <a:t/>
            </a:r>
          </a:p>
          <a:p>
            <a:r>
              <a:rPr lang="en-US" sz="1800" dirty="0" smtClean="0"/>
              <a:t>IT service desk leaders use SysTrack AI to:</a:t>
            </a:r>
          </a:p>
          <a:p>
            <a:r>
              <a:rPr lang="en-US" sz="1800" dirty="0" smtClean="0"/>
              <a:t/>
            </a:r>
          </a:p>
          <a:p>
            <a:r>
              <a:rPr lang="en-US" sz="1800" dirty="0" smtClean="0"/>
              <a:t>Cut mean-time-to-resolution (MTTR) by 50%</a:t>
            </a:r>
          </a:p>
          <a:p>
            <a:r>
              <a:rPr lang="en-US" sz="1800" dirty="0" smtClean="0"/>
              <a:t>Shift left and resolve more issues at lower support tiers</a:t>
            </a:r>
          </a:p>
          <a:p>
            <a:r>
              <a:rPr lang="en-US" sz="1800" dirty="0" smtClean="0"/>
              <a:t>Deflect tickets with user-friendly self-service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Lakeside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https://cloud.ibm.com/catalog/services/lakeside-software-llc-systrack-ai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280</a:t>
            </a:r>
            <a:endParaRPr lang="en-US"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281</a:t>
            </a:r>
            <a:endParaRPr lang="en-US" dirty="0"/>
          </a:p>
        </p:txBody>
      </p:sp>
    </p:spTree>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name="Slide 2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282</a:t>
            </a:r>
            <a:endParaRPr lang="en-US" dirty="0"/>
          </a:p>
        </p:txBody>
      </p:sp>
    </p:spTree>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name="Slide 2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283</a:t>
            </a:r>
            <a:endParaRPr lang="en-US" dirty="0"/>
          </a:p>
        </p:txBody>
      </p:sp>
    </p:spTree>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name="Slide 2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284</a:t>
            </a:r>
            <a:endParaRPr lang="en-US" dirty="0"/>
          </a:p>
        </p:txBody>
      </p:sp>
    </p:spTree>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name="Slide 2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285</a:t>
            </a:r>
            <a:endParaRPr lang="en-US" dirty="0"/>
          </a:p>
        </p:txBody>
      </p:sp>
    </p:spTree>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name="Slide 2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286</a:t>
            </a:r>
            <a:endParaRPr lang="en-US" dirty="0"/>
          </a:p>
        </p:txBody>
      </p:sp>
    </p:spTree>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name="Slide 2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WANDA Agentic AI  - AIOps as a Service -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AIOps solution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287</a:t>
            </a:r>
            <a:endParaRPr lang="en-US" dirty="0"/>
          </a:p>
        </p:txBody>
      </p:sp>
    </p:spTree>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name="Slide 2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288</a:t>
            </a:r>
            <a:endParaRPr lang="en-US" dirty="0"/>
          </a:p>
        </p:txBody>
      </p:sp>
    </p:spTree>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name="Slide 2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289</a:t>
            </a:r>
            <a:endParaRPr lang="en-US" dirty="0"/>
          </a:p>
        </p:txBody>
      </p:sp>
    </p:spTree>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p:cSld name="Slide 2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290</a:t>
            </a:r>
            <a:endParaRPr lang="en-US" dirty="0"/>
          </a:p>
        </p:txBody>
      </p:sp>
    </p:spTree>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p:cSld name="Slide 2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291</a:t>
            </a:r>
            <a:endParaRPr lang="en-US" dirty="0"/>
          </a:p>
        </p:txBody>
      </p:sp>
    </p:spTree>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p:cSld name="Slide 2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292</a:t>
            </a:r>
            <a:endParaRPr lang="en-US" dirty="0"/>
          </a:p>
        </p:txBody>
      </p:sp>
    </p:spTree>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p:cSld name="Slide 2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293</a:t>
            </a:r>
            <a:endParaRPr lang="en-US" dirty="0"/>
          </a:p>
        </p:txBody>
      </p:sp>
    </p:spTree>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p:cSld name="Slide 2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294</a:t>
            </a:r>
            <a:endParaRPr lang="en-US" dirty="0"/>
          </a:p>
        </p:txBody>
      </p:sp>
    </p:spTree>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p:cSld name="Slide 2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295</a:t>
            </a:r>
            <a:endParaRPr lang="en-US" dirty="0"/>
          </a:p>
        </p:txBody>
      </p:sp>
    </p:spTree>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p:cSld name="Slide 2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296</a:t>
            </a:r>
            <a:endParaRPr lang="en-US" dirty="0"/>
          </a:p>
        </p:txBody>
      </p:sp>
    </p:spTree>
  </p:cSld>
  <p:clrMapOvr>
    <a:masterClrMapping/>
  </p:clrMapOvr>
</p:sld>
</file>

<file path=ppt/slides/slide297.xml><?xml version="1.0" encoding="utf-8"?>
<p:sld xmlns:a="http://schemas.openxmlformats.org/drawingml/2006/main" xmlns:r="http://schemas.openxmlformats.org/officeDocument/2006/relationships" xmlns:p="http://schemas.openxmlformats.org/presentationml/2006/main">
  <p:cSld name="Slide 2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297</a:t>
            </a:r>
            <a:endParaRPr lang="en-US" dirty="0"/>
          </a:p>
        </p:txBody>
      </p:sp>
    </p:spTree>
  </p:cSld>
  <p:clrMapOvr>
    <a:masterClrMapping/>
  </p:clrMapOvr>
</p:sld>
</file>

<file path=ppt/slides/slide298.xml><?xml version="1.0" encoding="utf-8"?>
<p:sld xmlns:a="http://schemas.openxmlformats.org/drawingml/2006/main" xmlns:r="http://schemas.openxmlformats.org/officeDocument/2006/relationships" xmlns:p="http://schemas.openxmlformats.org/presentationml/2006/main">
  <p:cSld name="Slide 2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298</a:t>
            </a:r>
            <a:endParaRPr lang="en-US" dirty="0"/>
          </a:p>
        </p:txBody>
      </p:sp>
    </p:spTree>
  </p:cSld>
  <p:clrMapOvr>
    <a:masterClrMapping/>
  </p:clrMapOvr>
</p:sld>
</file>

<file path=ppt/slides/slide299.xml><?xml version="1.0" encoding="utf-8"?>
<p:sld xmlns:a="http://schemas.openxmlformats.org/drawingml/2006/main" xmlns:r="http://schemas.openxmlformats.org/officeDocument/2006/relationships" xmlns:p="http://schemas.openxmlformats.org/presentationml/2006/main">
  <p:cSld name="Slide 2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299</a:t>
            </a:r>
            <a:endParaRPr lang="en-US" dirty="0"/>
          </a:p>
        </p:txBody>
      </p:sp>
    </p:spTree>
  </p:cSld>
  <p:clrMapOvr>
    <a:masterClrMapping/>
  </p:clrMapOvr>
</p:sld>
</file>

<file path=ppt/slides/slide300.xml><?xml version="1.0" encoding="utf-8"?>
<p:sld xmlns:a="http://schemas.openxmlformats.org/drawingml/2006/main" xmlns:r="http://schemas.openxmlformats.org/officeDocument/2006/relationships" xmlns:p="http://schemas.openxmlformats.org/presentationml/2006/main">
  <p:cSld name="Slide 3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300</a:t>
            </a:r>
            <a:endParaRPr lang="en-US" dirty="0"/>
          </a:p>
        </p:txBody>
      </p:sp>
    </p:spTree>
  </p:cSld>
  <p:clrMapOvr>
    <a:masterClrMapping/>
  </p:clrMapOvr>
</p:sld>
</file>

<file path=ppt/slides/slide301.xml><?xml version="1.0" encoding="utf-8"?>
<p:sld xmlns:a="http://schemas.openxmlformats.org/drawingml/2006/main" xmlns:r="http://schemas.openxmlformats.org/officeDocument/2006/relationships" xmlns:p="http://schemas.openxmlformats.org/presentationml/2006/main">
  <p:cSld name="Slide 3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301</a:t>
            </a:r>
            <a:endParaRPr lang="en-US" dirty="0"/>
          </a:p>
        </p:txBody>
      </p:sp>
    </p:spTree>
  </p:cSld>
  <p:clrMapOvr>
    <a:masterClrMapping/>
  </p:clrMapOvr>
</p:sld>
</file>

<file path=ppt/slides/slide302.xml><?xml version="1.0" encoding="utf-8"?>
<p:sld xmlns:a="http://schemas.openxmlformats.org/drawingml/2006/main" xmlns:r="http://schemas.openxmlformats.org/officeDocument/2006/relationships" xmlns:p="http://schemas.openxmlformats.org/presentationml/2006/main">
  <p:cSld name="Slide 3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302</a:t>
            </a:r>
            <a:endParaRPr lang="en-US" dirty="0"/>
          </a:p>
        </p:txBody>
      </p:sp>
    </p:spTree>
  </p:cSld>
  <p:clrMapOvr>
    <a:masterClrMapping/>
  </p:clrMapOvr>
</p:sld>
</file>

<file path=ppt/slides/slide303.xml><?xml version="1.0" encoding="utf-8"?>
<p:sld xmlns:a="http://schemas.openxmlformats.org/drawingml/2006/main" xmlns:r="http://schemas.openxmlformats.org/officeDocument/2006/relationships" xmlns:p="http://schemas.openxmlformats.org/presentationml/2006/main">
  <p:cSld name="Slide 3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303</a:t>
            </a:r>
            <a:endParaRPr lang="en-US" dirty="0"/>
          </a:p>
        </p:txBody>
      </p:sp>
    </p:spTree>
  </p:cSld>
  <p:clrMapOvr>
    <a:masterClrMapping/>
  </p:clrMapOvr>
</p:sld>
</file>

<file path=ppt/slides/slide304.xml><?xml version="1.0" encoding="utf-8"?>
<p:sld xmlns:a="http://schemas.openxmlformats.org/drawingml/2006/main" xmlns:r="http://schemas.openxmlformats.org/officeDocument/2006/relationships" xmlns:p="http://schemas.openxmlformats.org/presentationml/2006/main">
  <p:cSld name="Slide 3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planning, monitoring, and troubleshooting across 11 domains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 native watsonx Orchestrate agent that simplifies IBM PowerHA SystemMirror cluster management on AIX. The agent provides 50 specialized tools delivering Planning, Monitoring, and Troubleshooting capabilities across 11 PowerHA management domains, including cluster health monitoring, configuration analysis,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brings AI assistance to the monitoring, diagnosis, and analysis tasks that traditionally require deep specialist knowledge. It monitors cluster health, surfaces emerging issues, and recommends remediation steps before they impact availability. The agent diagnoses complex cluster problems using AI-driven analysis of logs, configurations, and system state across CAA and PowerHA components. It also covers Geographic Logical Volume Manager (GLVM) and Geographic Resource Shifting (GRS) for cross-site replication readiness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The agent operates within your watsonx Orchestrate tenant's role-based access controls, and human-in-the-loop approval workflows for write-class operations are on the near-term roadmap.</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for PowerHA is available in three IBM-approved tiers: Starter (2 clusters with 4 nodes each, email support), Professional (5 clusters with 8 nodes each, priority support, with deployment and migration capabilities on the roadmap), and Enterprise (unlimited clusters with up to 32 nodes, 24/7 named support, with disaster recovery execution and A2A interoperability in development). Built by ZIEMACS AI, an IBM Partner Plus Silver Build partner, and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304</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304</Slides>
  <Notes>0</Notes>
  <HiddenSlides>0</HiddenSlides>
  <MMClips>0</MMClips>
  <ScaleCrop>false</ScaleCrop>
  <HeadingPairs>
    <vt:vector size="4" baseType="variant">
      <vt:variant>
        <vt:lpstr>Theme</vt:lpstr>
      </vt:variant>
      <vt:variant>
        <vt:i4>1</vt:i4>
      </vt:variant>
      <vt:variant>
        <vt:lpstr>Slide Titles</vt:lpstr>
      </vt:variant>
      <vt:variant>
        <vt:i4>304</vt:i4>
      </vt:variant>
    </vt:vector>
  </HeadingPairs>
  <TitlesOfParts>
    <vt:vector size="305"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lpstr>Slide 282</vt:lpstr>
      <vt:lpstr>Slide 283</vt:lpstr>
      <vt:lpstr>Slide 284</vt:lpstr>
      <vt:lpstr>Slide 285</vt:lpstr>
      <vt:lpstr>Slide 286</vt:lpstr>
      <vt:lpstr>Slide 287</vt:lpstr>
      <vt:lpstr>Slide 288</vt:lpstr>
      <vt:lpstr>Slide 289</vt:lpstr>
      <vt:lpstr>Slide 290</vt:lpstr>
      <vt:lpstr>Slide 291</vt:lpstr>
      <vt:lpstr>Slide 292</vt:lpstr>
      <vt:lpstr>Slide 293</vt:lpstr>
      <vt:lpstr>Slide 294</vt:lpstr>
      <vt:lpstr>Slide 295</vt:lpstr>
      <vt:lpstr>Slide 296</vt:lpstr>
      <vt:lpstr>Slide 297</vt:lpstr>
      <vt:lpstr>Slide 298</vt:lpstr>
      <vt:lpstr>Slide 299</vt:lpstr>
      <vt:lpstr>Slide 300</vt:lpstr>
      <vt:lpstr>Slide 301</vt:lpstr>
      <vt:lpstr>Slide 302</vt:lpstr>
      <vt:lpstr>Slide 303</vt:lpstr>
      <vt:lpstr>Slide 304</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2026-08-21T00:42:16Z</dcterms:created>
  <dcterms:modified xsi:type="dcterms:W3CDTF">2026-08-21T00:42:16Z</dcterms:modified>
</cp:coreProperties>
</file>