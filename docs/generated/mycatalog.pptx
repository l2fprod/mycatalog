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s/slide293.xml" ContentType="application/vnd.openxmlformats-officedocument.presentationml.slide+xml"/>
  <Override PartName="/ppt/slides/slide294.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 id="526" r:id="rId272"/>
    <p:sldId id="527" r:id="rId273"/>
    <p:sldId id="528" r:id="rId274"/>
    <p:sldId id="529" r:id="rId275"/>
    <p:sldId id="530" r:id="rId276"/>
    <p:sldId id="531" r:id="rId277"/>
    <p:sldId id="532" r:id="rId278"/>
    <p:sldId id="533" r:id="rId279"/>
    <p:sldId id="534" r:id="rId280"/>
    <p:sldId id="535" r:id="rId281"/>
    <p:sldId id="536" r:id="rId282"/>
    <p:sldId id="537" r:id="rId283"/>
    <p:sldId id="538" r:id="rId284"/>
    <p:sldId id="539" r:id="rId285"/>
    <p:sldId id="540" r:id="rId286"/>
    <p:sldId id="541" r:id="rId287"/>
    <p:sldId id="542" r:id="rId288"/>
    <p:sldId id="543" r:id="rId289"/>
    <p:sldId id="544" r:id="rId290"/>
    <p:sldId id="545" r:id="rId291"/>
    <p:sldId id="546" r:id="rId292"/>
    <p:sldId id="547" r:id="rId293"/>
    <p:sldId id="548" r:id="rId294"/>
    <p:sldId id="549" r:id="rId295"/>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slide" Target="slides/slide271.xml"/><Relationship Id="rId273" Type="http://schemas.openxmlformats.org/officeDocument/2006/relationships/slide" Target="slides/slide272.xml"/><Relationship Id="rId274" Type="http://schemas.openxmlformats.org/officeDocument/2006/relationships/slide" Target="slides/slide273.xml"/><Relationship Id="rId275" Type="http://schemas.openxmlformats.org/officeDocument/2006/relationships/slide" Target="slides/slide274.xml"/><Relationship Id="rId276" Type="http://schemas.openxmlformats.org/officeDocument/2006/relationships/slide" Target="slides/slide275.xml"/><Relationship Id="rId277" Type="http://schemas.openxmlformats.org/officeDocument/2006/relationships/slide" Target="slides/slide276.xml"/><Relationship Id="rId278" Type="http://schemas.openxmlformats.org/officeDocument/2006/relationships/slide" Target="slides/slide277.xml"/><Relationship Id="rId279" Type="http://schemas.openxmlformats.org/officeDocument/2006/relationships/slide" Target="slides/slide278.xml"/><Relationship Id="rId280" Type="http://schemas.openxmlformats.org/officeDocument/2006/relationships/slide" Target="slides/slide279.xml"/><Relationship Id="rId281" Type="http://schemas.openxmlformats.org/officeDocument/2006/relationships/slide" Target="slides/slide280.xml"/><Relationship Id="rId282" Type="http://schemas.openxmlformats.org/officeDocument/2006/relationships/slide" Target="slides/slide281.xml"/><Relationship Id="rId283" Type="http://schemas.openxmlformats.org/officeDocument/2006/relationships/slide" Target="slides/slide282.xml"/><Relationship Id="rId284" Type="http://schemas.openxmlformats.org/officeDocument/2006/relationships/slide" Target="slides/slide283.xml"/><Relationship Id="rId285" Type="http://schemas.openxmlformats.org/officeDocument/2006/relationships/slide" Target="slides/slide284.xml"/><Relationship Id="rId286" Type="http://schemas.openxmlformats.org/officeDocument/2006/relationships/slide" Target="slides/slide285.xml"/><Relationship Id="rId287" Type="http://schemas.openxmlformats.org/officeDocument/2006/relationships/slide" Target="slides/slide286.xml"/><Relationship Id="rId288" Type="http://schemas.openxmlformats.org/officeDocument/2006/relationships/slide" Target="slides/slide287.xml"/><Relationship Id="rId289" Type="http://schemas.openxmlformats.org/officeDocument/2006/relationships/slide" Target="slides/slide288.xml"/><Relationship Id="rId290" Type="http://schemas.openxmlformats.org/officeDocument/2006/relationships/slide" Target="slides/slide289.xml"/><Relationship Id="rId291" Type="http://schemas.openxmlformats.org/officeDocument/2006/relationships/slide" Target="slides/slide290.xml"/><Relationship Id="rId292" Type="http://schemas.openxmlformats.org/officeDocument/2006/relationships/slide" Target="slides/slide291.xml"/><Relationship Id="rId293" Type="http://schemas.openxmlformats.org/officeDocument/2006/relationships/slide" Target="slides/slide292.xml"/><Relationship Id="rId294" Type="http://schemas.openxmlformats.org/officeDocument/2006/relationships/slide" Target="slides/slide293.xml"/><Relationship Id="rId295" Type="http://schemas.openxmlformats.org/officeDocument/2006/relationships/slide" Target="slides/slide294.xml"/><Relationship Id="rId296" Type="http://schemas.openxmlformats.org/officeDocument/2006/relationships/presProps" Target="presProps.xml"/><Relationship Id="rId297" Type="http://schemas.openxmlformats.org/officeDocument/2006/relationships/viewProps" Target="viewProps.xml"/><Relationship Id="rId298" Type="http://schemas.openxmlformats.org/officeDocument/2006/relationships/theme" Target="theme/theme1.xml"/><Relationship Id="rId299"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7/30/2026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7/30/2026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7/30/2026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1.png"/><Relationship Id="rId3" Type="http://schemas.openxmlformats.org/officeDocument/2006/relationships/image" Target="../media/image1.png"/></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2.png"/><Relationship Id="rId3" Type="http://schemas.openxmlformats.org/officeDocument/2006/relationships/image" Target="../media/image1.png"/></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3.png"/><Relationship Id="rId3" Type="http://schemas.openxmlformats.org/officeDocument/2006/relationships/image" Target="../media/image1.png"/></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4.png"/><Relationship Id="rId3" Type="http://schemas.openxmlformats.org/officeDocument/2006/relationships/image" Target="../media/image1.png"/></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5.png"/><Relationship Id="rId3" Type="http://schemas.openxmlformats.org/officeDocument/2006/relationships/image" Target="../media/image1.png"/></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6.png"/><Relationship Id="rId3" Type="http://schemas.openxmlformats.org/officeDocument/2006/relationships/image" Target="../media/image1.png"/></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7.png"/><Relationship Id="rId3" Type="http://schemas.openxmlformats.org/officeDocument/2006/relationships/image" Target="../media/image1.png"/></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8.png"/><Relationship Id="rId3" Type="http://schemas.openxmlformats.org/officeDocument/2006/relationships/image" Target="../media/image1.png"/></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9.png"/><Relationship Id="rId3" Type="http://schemas.openxmlformats.org/officeDocument/2006/relationships/image" Target="../media/image1.png"/></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0.png"/><Relationship Id="rId3" Type="http://schemas.openxmlformats.org/officeDocument/2006/relationships/image" Target="../media/image1.png"/></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1.png"/><Relationship Id="rId3" Type="http://schemas.openxmlformats.org/officeDocument/2006/relationships/image" Target="../media/image1.png"/></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2.png"/><Relationship Id="rId3" Type="http://schemas.openxmlformats.org/officeDocument/2006/relationships/image" Target="../media/image1.png"/></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3.png"/><Relationship Id="rId3" Type="http://schemas.openxmlformats.org/officeDocument/2006/relationships/image" Target="../media/image1.png"/></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4.png"/><Relationship Id="rId3" Type="http://schemas.openxmlformats.org/officeDocument/2006/relationships/image" Target="../media/image1.png"/></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5.png"/><Relationship Id="rId3" Type="http://schemas.openxmlformats.org/officeDocument/2006/relationships/image" Target="../media/image1.png"/></Relationships>

</file>

<file path=ppt/slides/_rels/slide2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6.png"/><Relationship Id="rId3" Type="http://schemas.openxmlformats.org/officeDocument/2006/relationships/image" Target="../media/image1.png"/></Relationships>

</file>

<file path=ppt/slides/_rels/slide2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7.png"/><Relationship Id="rId3" Type="http://schemas.openxmlformats.org/officeDocument/2006/relationships/image" Target="../media/image1.png"/></Relationships>

</file>

<file path=ppt/slides/_rels/slide2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8.png"/><Relationship Id="rId3" Type="http://schemas.openxmlformats.org/officeDocument/2006/relationships/image" Target="../media/image1.png"/></Relationships>

</file>

<file path=ppt/slides/_rels/slide2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9.png"/><Relationship Id="rId3" Type="http://schemas.openxmlformats.org/officeDocument/2006/relationships/image" Target="../media/image1.png"/></Relationships>

</file>

<file path=ppt/slides/_rels/slide2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0.png"/><Relationship Id="rId3" Type="http://schemas.openxmlformats.org/officeDocument/2006/relationships/image" Target="../media/image1.png"/></Relationships>

</file>

<file path=ppt/slides/_rels/slide2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1.png"/><Relationship Id="rId3" Type="http://schemas.openxmlformats.org/officeDocument/2006/relationships/image" Target="../media/image1.png"/></Relationships>

</file>

<file path=ppt/slides/_rels/slide2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2.png"/><Relationship Id="rId3" Type="http://schemas.openxmlformats.org/officeDocument/2006/relationships/image" Target="../media/image1.png"/></Relationships>

</file>

<file path=ppt/slides/_rels/slide2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3.png"/><Relationship Id="rId3" Type="http://schemas.openxmlformats.org/officeDocument/2006/relationships/image" Target="../media/image1.png"/></Relationships>

</file>

<file path=ppt/slides/_rels/slide2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4.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July 30,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ABBYY Know Your Customer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KYC processes with Document and Process AI, delivering faster compliance, reduced manual effort and scalable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ABBYY and IBM watsonx.Orchestrate's integrated solution redefines KYC workflows by automating critical compliance tasks. Combining ABBYY's Document and Process AI with IBM watsonx.Orchestrate’s advanced task automation, the solution extracts, validates, and processes data from any document format or language with precision. It transforms unstructured data into actionable insights, orchestrates workflows across systems and teams, and ensures consistent, accurate compliance, reducing manual effort and risk. This powerful synergy creates scalable, efficient KYC operations for high-volume, compliance-critical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ABBYY USA Software House,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https://cloud.ibm.com/catalog/services/abbyy-kyc-agent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CityStream Compliance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AI Work zone compliance monitoring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Nexar's Work Zone Compliance Solution eliminates the need for cities to send inspectors into the field to verify whether construction activity is properly permitted. By leveraging a nationwide network of dashcam-equipped vehicles that continuously capture street-level imagery, the platform uses AI vision models to automatically detect construction equipment and cross-reference those detections against official permit databases in real time. Cities can monitor every active work zone across their jurisdiction simultaneously, flag unpermitted activity as it appears, and issue enforcement actions directly from a single console.</a:t>
            </a:r>
          </a:p>
          <a:p>
            <a:r>
              <a:rPr lang="en-US" sz="1800" dirty="0" smtClean="0"/>
              <a:t/>
            </a:r>
          </a:p>
          <a:p>
            <a:r>
              <a:rPr lang="en-US" sz="1800" dirty="0" smtClean="0"/>
              <a:t>For municipal agencies managing thousands of permits with limited staff, this means dramatically faster violation detection, higher compliance rates, and increased revenue recovery from civil penalties — all without adding headcount. The platform integrates with IBM watsonx Orchestrate to let operators query compliance data conversationally, generate maps of active violations, and drill into specific locations with full photographic evidence and permit context. It turns work zone enforcement from a reactive, labor-intensive process into a continuous, automated intelligence layer over the city's streets.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Nexar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https://cloud.ibm.com/catalog/services/nexar-workzone-permits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Cognos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Cognos Assistant is an intelligent, conversational analytics agent designed to transform how organization interact with Cognos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Cognos Assistant is an intelligent, conversational analytics agent designed to transform how organizations interact with IBM Cognos Analytics and uncover actionable insights with natural language. It brings together data, reporting, and workflow automation in a unified, intuitive experience — enabling business users, analysts, and decision makers to work faster and smarter without deep technical skills.</a:t>
            </a:r>
          </a:p>
          <a:p>
            <a:r>
              <a:rPr lang="en-US" sz="1800" dirty="0" smtClean="0"/>
              <a:t/>
            </a:r>
          </a:p>
          <a:p>
            <a:r>
              <a:rPr lang="en-US" sz="1800" dirty="0" smtClean="0"/>
              <a:t>Built on IBM watsonx Orchestrate, Cognos Assistant acts as a bridge between users, APIs, and your Cognos environment, providing an enterprise-ready conversational interface that transforms reporting and analytics tasks into simple chat interactions.</a:t>
            </a:r>
          </a:p>
          <a:p>
            <a:r>
              <a:rPr lang="en-US" sz="1800" dirty="0" smtClean="0"/>
              <a:t/>
            </a:r>
          </a:p>
          <a:p>
            <a:r>
              <a:rPr lang="en-US" sz="1800" dirty="0" smtClean="0"/>
              <a:t>What Cognos Assistant Enables</a:t>
            </a:r>
          </a:p>
          <a:p>
            <a:r>
              <a:rPr lang="en-US" sz="1800" dirty="0" smtClean="0"/>
              <a:t>Content Retrieval &amp; Insights</a:t>
            </a:r>
          </a:p>
          <a:p>
            <a:r>
              <a:rPr lang="en-US" sz="1800" dirty="0" smtClean="0"/>
              <a:t>Retrieve metadata and details for reports, data modules, and other Cognos objects.</a:t>
            </a:r>
          </a:p>
          <a:p>
            <a:r>
              <a:rPr lang="en-US" sz="1800" dirty="0" smtClean="0"/>
              <a:t>Present structured information about content to help understand dependencies, owners, and paths.</a:t>
            </a:r>
          </a:p>
          <a:p>
            <a:r>
              <a:rPr lang="en-US" sz="1800" dirty="0" smtClean="0"/>
              <a:t>List users, groups, and roles available in the Cognos system.</a:t>
            </a:r>
          </a:p>
          <a:p>
            <a:r>
              <a:rPr lang="en-US" sz="1800" dirty="0" smtClean="0"/>
              <a:t/>
            </a:r>
          </a:p>
          <a:p>
            <a:r>
              <a:rPr lang="en-US" sz="1800" dirty="0" smtClean="0"/>
              <a:t>This enables users to quickly discover what exists in their Cognos environment and understand content relationships without deep technical navigation.</a:t>
            </a:r>
          </a:p>
          <a:p>
            <a:r>
              <a:rPr lang="en-US" sz="1800" dirty="0" smtClean="0"/>
              <a:t/>
            </a:r>
          </a:p>
          <a:p>
            <a:r>
              <a:rPr lang="en-US" sz="1800" dirty="0" smtClean="0"/>
              <a:t>Content Management &amp; Actions</a:t>
            </a:r>
          </a:p>
          <a:p>
            <a:r>
              <a:rPr lang="en-US" sz="1800" dirty="0" smtClean="0"/>
              <a:t/>
            </a:r>
          </a:p>
          <a:p>
            <a:r>
              <a:rPr lang="en-US" sz="1800" dirty="0" smtClean="0"/>
              <a:t>Cognos Assistant also helps in performing content management actions such as:</a:t>
            </a:r>
          </a:p>
          <a:p>
            <a:r>
              <a:rPr lang="en-US" sz="1800" dirty="0" smtClean="0"/>
              <a:t/>
            </a:r>
          </a:p>
          <a:p>
            <a:r>
              <a:rPr lang="en-US" sz="1800" dirty="0" smtClean="0"/>
              <a:t>Delete unused or obsolete content (reports, folders, dashboards).</a:t>
            </a:r>
          </a:p>
          <a:p>
            <a:r>
              <a:rPr lang="en-US" sz="1800" dirty="0" smtClean="0"/>
              <a:t>Move or organize content objects.</a:t>
            </a:r>
          </a:p>
          <a:p>
            <a:r>
              <a:rPr lang="en-US" sz="1800" dirty="0" smtClean="0"/>
              <a:t>Manage users and user groups — including deletion of users no longer needed in the system.</a:t>
            </a:r>
          </a:p>
          <a:p>
            <a:r>
              <a:rPr lang="en-US" sz="1800" dirty="0" smtClean="0"/>
              <a:t/>
            </a:r>
          </a:p>
          <a:p>
            <a:r>
              <a:rPr lang="en-US" sz="1800" dirty="0" smtClean="0"/>
              <a:t>These features streamline administration and help keep your Cognos environment clean, consistent, and compliant.</a:t>
            </a:r>
          </a:p>
          <a:p>
            <a:r>
              <a:rPr lang="en-US" sz="1800" dirty="0" smtClean="0"/>
              <a:t/>
            </a:r>
          </a:p>
          <a:p>
            <a:r>
              <a:rPr lang="en-US" sz="1800" dirty="0" smtClean="0"/>
              <a:t>Report Scheduling &amp; Status Insights</a:t>
            </a:r>
          </a:p>
          <a:p>
            <a:r>
              <a:rPr lang="en-US" sz="1800" dirty="0" smtClean="0"/>
              <a:t/>
            </a:r>
          </a:p>
          <a:p>
            <a:r>
              <a:rPr lang="en-US" sz="1800" dirty="0" smtClean="0"/>
              <a:t>Cognos Assistant facilitates report scheduling and monitoring tasks by:</a:t>
            </a:r>
          </a:p>
          <a:p>
            <a:r>
              <a:rPr lang="en-US" sz="1800" dirty="0" smtClean="0"/>
              <a:t/>
            </a:r>
          </a:p>
          <a:p>
            <a:r>
              <a:rPr lang="en-US" sz="1800" dirty="0" smtClean="0"/>
              <a:t>Calling underlying APIs to create, update, or disable schedules for existing reports.</a:t>
            </a:r>
          </a:p>
          <a:p>
            <a:r>
              <a:rPr lang="en-US" sz="1800" dirty="0" smtClean="0"/>
              <a:t>Retrieving the latest execution status, run history, and timing of scheduled reports.</a:t>
            </a:r>
          </a:p>
          <a:p>
            <a:r>
              <a:rPr lang="en-US" sz="1800" dirty="0" smtClean="0"/>
              <a:t>Providing visibility into whether scheduled reports are active or require attention.</a:t>
            </a:r>
          </a:p>
          <a:p>
            <a:r>
              <a:rPr lang="en-US" sz="1800" dirty="0" smtClean="0"/>
              <a:t/>
            </a:r>
          </a:p>
          <a:p>
            <a:r>
              <a:rPr lang="en-US" sz="1800" dirty="0" smtClean="0"/>
              <a:t>These features help streamline report operations and reduce manual effort in managing scheduled reporting across the Cognos environment.</a:t>
            </a:r>
          </a:p>
          <a:p>
            <a:r>
              <a:rPr lang="en-US" sz="1800" dirty="0" smtClean="0"/>
              <a:t/>
            </a:r>
          </a:p>
          <a:p>
            <a:r>
              <a:rPr lang="en-US" sz="1800" dirty="0" smtClean="0"/>
              <a:t>Key Benefits</a:t>
            </a:r>
          </a:p>
          <a:p>
            <a:r>
              <a:rPr lang="en-US" sz="1800" dirty="0" smtClean="0"/>
              <a:t>Fast Administrative Operations</a:t>
            </a:r>
          </a:p>
          <a:p>
            <a:r>
              <a:rPr lang="en-US" sz="1800" dirty="0" smtClean="0"/>
              <a:t/>
            </a:r>
          </a:p>
          <a:p>
            <a:r>
              <a:rPr lang="en-US" sz="1800" dirty="0" smtClean="0"/>
              <a:t>Quickly perform common Cognos administrative tasks without navigating the Cognos Administration interface or writing scripts.</a:t>
            </a:r>
          </a:p>
          <a:p>
            <a:r>
              <a:rPr lang="en-US" sz="1800" dirty="0" smtClean="0"/>
              <a:t/>
            </a:r>
          </a:p>
          <a:p>
            <a:r>
              <a:rPr lang="en-US" sz="1800" dirty="0" smtClean="0"/>
              <a:t>Reduced Technical Barriers</a:t>
            </a:r>
          </a:p>
          <a:p>
            <a:r>
              <a:rPr lang="en-US" sz="1800" dirty="0" smtClean="0"/>
              <a:t/>
            </a:r>
          </a:p>
          <a:p>
            <a:r>
              <a:rPr lang="en-US" sz="1800" dirty="0" smtClean="0"/>
              <a:t>Enable non-technical users to trigger complex Cognos REST API actions through guided interactions and simple prompts.</a:t>
            </a:r>
          </a:p>
          <a:p>
            <a:r>
              <a:rPr lang="en-US" sz="1800" dirty="0" smtClean="0"/>
              <a:t/>
            </a:r>
          </a:p>
          <a:p>
            <a:r>
              <a:rPr lang="en-US" sz="1800" dirty="0" smtClean="0"/>
              <a:t>Reliable &amp; Controlled Workflows</a:t>
            </a:r>
          </a:p>
          <a:p>
            <a:r>
              <a:rPr lang="en-US" sz="1800" dirty="0" smtClean="0"/>
              <a:t/>
            </a:r>
          </a:p>
          <a:p>
            <a:r>
              <a:rPr lang="en-US" sz="1800" dirty="0" smtClean="0"/>
              <a:t>Ensure tasks run in the correct sequence with built-in orchestration, clear status updates, and error handling.</a:t>
            </a:r>
          </a:p>
          <a:p>
            <a:r>
              <a:rPr lang="en-US" sz="1800" dirty="0" smtClean="0"/>
              <a:t/>
            </a:r>
          </a:p>
          <a:p>
            <a:r>
              <a:rPr lang="en-US" sz="1800" dirty="0" smtClean="0"/>
              <a:t>Designed For Every User</a:t>
            </a:r>
          </a:p>
          <a:p>
            <a:r>
              <a:rPr lang="en-US" sz="1800" dirty="0" smtClean="0"/>
              <a:t>Cognos Administrators who want to automate routine maintenance.</a:t>
            </a:r>
          </a:p>
          <a:p>
            <a:r>
              <a:rPr lang="en-US" sz="1800" dirty="0" smtClean="0"/>
              <a:t>Support Teams needing consistent execution of bulk user or content actions.</a:t>
            </a:r>
          </a:p>
          <a:p>
            <a:r>
              <a:rPr lang="en-US" sz="1800" dirty="0" smtClean="0"/>
              <a:t>Data Teams seeking simplified control over report schedules and metadata insights.</a:t>
            </a:r>
          </a:p>
          <a:p>
            <a:r>
              <a:rPr lang="en-US" sz="1800" dirty="0" smtClean="0"/>
              <a:t>Business Analysts who require quick visibility into content and status without deep API knowledge.</a:t>
            </a:r>
          </a:p>
          <a:p>
            <a:r>
              <a:rPr lang="en-US" sz="1800" dirty="0" smtClean="0"/>
              <a:t>Get Started with Cognos Partners</a:t>
            </a:r>
          </a:p>
          <a:p>
            <a:r>
              <a:rPr lang="en-US" sz="1800" dirty="0" smtClean="0"/>
              <a:t/>
            </a:r>
          </a:p>
          <a:p>
            <a:r>
              <a:rPr lang="en-US" sz="1800" dirty="0" smtClean="0"/>
              <a:t>Unlock the full potential of Cognos Assistant by partnering with Cognos Partners – experts in IBM Cognos Analytics and watsonx Orchestrate implementations.</a:t>
            </a:r>
          </a:p>
          <a:p>
            <a:r>
              <a:rPr lang="en-US" sz="1800" dirty="0" smtClean="0"/>
              <a:t/>
            </a:r>
          </a:p>
          <a:p>
            <a:r>
              <a:rPr lang="en-US" sz="1800" dirty="0" smtClean="0"/>
              <a:t>Our team works closely with your organization to:</a:t>
            </a:r>
          </a:p>
          <a:p>
            <a:r>
              <a:rPr lang="en-US" sz="1800" dirty="0" smtClean="0"/>
              <a:t/>
            </a:r>
          </a:p>
          <a:p>
            <a:r>
              <a:rPr lang="en-US" sz="1800" dirty="0" smtClean="0"/>
              <a:t>Assess your Cognos environment and identify high-value automation and reporting use cases</a:t>
            </a:r>
          </a:p>
          <a:p>
            <a:r>
              <a:rPr lang="en-US" sz="1800" dirty="0" smtClean="0"/>
              <a:t>Integrate Cognos Assistant securely with your Cognos Analytics platform using REST APIs and enterprise authentication</a:t>
            </a:r>
          </a:p>
          <a:p>
            <a:r>
              <a:rPr lang="en-US" sz="1800" dirty="0" smtClean="0"/>
              <a:t>Define governance, roles, and permissions to ensure safe and compliant operations</a:t>
            </a:r>
          </a:p>
          <a:p>
            <a:r>
              <a:rPr lang="en-US" sz="1800" dirty="0" smtClean="0"/>
              <a:t>Design and configure orchestrated workflows tailored to your administrative, reporting, and operational needs</a:t>
            </a:r>
          </a:p>
          <a:p>
            <a:r>
              <a:rPr lang="en-US" sz="1800" dirty="0" smtClean="0"/>
              <a:t>Provide ongoing optimization and support as your analytics landscape evolves</a:t>
            </a:r>
          </a:p>
          <a:p>
            <a:r>
              <a:rPr lang="en-US" sz="1800" dirty="0" smtClean="0"/>
              <a:t/>
            </a:r>
          </a:p>
          <a:p>
            <a:r>
              <a:rPr lang="en-US" sz="1800" dirty="0" smtClean="0"/>
              <a:t>With Cognos Partners, you gain more than an assistant — you gain a strategic partner who helps modernize and streamline your Cognos ecosystem.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Ganga Consultancy Services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https://cloud.ibm.com/catalog/services/ganga-consultancy-services-cognos-assistant-cp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Construction Work Pack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your work packages are compliant before they reach the facility. Regulator-ready audit trail per finding.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Know whether your construction work packages are compliant before they reach the facility, with a regulator-ready audit trail for every finding. Each package is scored against the canonical AWP standard, CII SR19-01 v2.0 (60 data requirements across 19 categories, extending CFIHOS for construction execution). It reads work-pack state live from your Maximo, and on your authorisation writes the service request or work order that closes the gap. Built for compliance officers verifying alignment, sponsors carrying sign-off, project directors reviewing readiness, and AWP coordinators building and fixing packs, in nuclear, energy, data centre, and LNG.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https://cloud.ibm.com/catalog/services/vistergy-ltd-construction-work-pack-compliance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Care And Follow Up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supporting ongoing care and follow-up, improving outcomes, adherence, and care continuity across the patient journey.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Continuous Care &amp; Follow-Up Agent is an AI-powered solution designed to support ongoing patient care beyond the initial visit or discharge, enabling continuous monitoring, engagement, and care coordination.</a:t>
            </a:r>
          </a:p>
          <a:p>
            <a:r>
              <a:rPr lang="en-US" sz="1800" dirty="0" smtClean="0"/>
              <a:t>Healthcare delivery often lacks structured follow-up and long-term care management, especially for chronic conditions. This agent addresses these gaps by maintaining continuous interaction with patients, tracking symptoms, monitoring adherence, and supporting recovery and disease management over time.</a:t>
            </a:r>
          </a:p>
          <a:p>
            <a:r>
              <a:rPr lang="en-US" sz="1800" dirty="0" smtClean="0"/>
              <a:t>Through conversational check-ins and structured data collection, the agent gathers relevant patient information and identifies potential risks or deviations from care plans. It supports clinicians by providing visibility into patient status between visits and enabling timely intervention when needed.</a:t>
            </a:r>
          </a:p>
          <a:p>
            <a:r>
              <a:rPr lang="en-US" sz="1800" dirty="0" smtClean="0"/>
              <a:t>The agent enhances patient engagement by delivering personalized guidance, reminders, and follow-up instructions aligned with clinical protocols. It ensures that patients remain connected to their care team and adhere to recommended treatment plans.</a:t>
            </a:r>
          </a:p>
          <a:p>
            <a:r>
              <a:rPr lang="en-US" sz="1800" dirty="0" smtClean="0"/>
              <a:t>By enabling continuous care workflows, the agent improves outcomes, reduces complications, and supports value-based care models through better long-term patient management.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https://cloud.ibm.com/catalog/services/viclinic-inc-continuous-care-followup-agent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 FWs, LBs)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Independent Backups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Independent Backups allows you to retain, manage, and restore database backups independently of the database instance lifecycle.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Databases Independent Backups is a managed offering for IBM Cloud Databases Gen 2 (on VPC) that lets you retain and restore backups independently of the database instance lifecycle.  The service support use cases such as compliance, testing, or protection against accidental data loss. Backups are enabled by VPC Block Storage snapshots, providing cost‑efficient and flexible storage designed for instant restore, including large, multi-terabyte recovery. Each instance is an IBM Cloud resources with its own lifecycle, identity, billing, and IAM access controls, enabling fine grained access control and support even after the original database instance is no longer present.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Chennai - Airtel (in-che) 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https://cloud.ibm.com/catalog/services/databases-independent-backups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Cloud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organizations can streamline their virtual desktop delivery by combining the power of the Dizzion cloud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Desktop as a Service (DaaS)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DaaS enables clients to simply and intuitively deploy and manage their virtual desktop and app workloads on IBM Cloud, leveraging Dizzion's cloud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DaaS on IBM Cloud,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https://cloud.ibm.com/catalog/services/dizzion-daas-new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Elastio - Advanced Ransomware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Elastio adds advanced ransomware protection to IBM Cloud Object Storage by proactively validating data is clean and uncompromised.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Before getting started, ensure you have an IBM Cloud Object storage instance. You can create one here: https://cloud.ibm.com/objectstorage</a:t>
            </a:r>
          </a:p>
          <a:p>
            <a:r>
              <a:rPr lang="en-US" sz="1800" dirty="0" smtClean="0"/>
              <a:t/>
            </a:r>
          </a:p>
          <a:p>
            <a:r>
              <a:rPr lang="en-US" sz="1800" dirty="0" smtClean="0"/>
              <a:t>As ransomware increasingly bypasses endpoint and network defenses, customers now expect storage itself to become an active layer of cyber defense - a model analysts define as cyberstorage. In this approach, stored data is no longer passive infrastructure, but a control point where attacks are detected, scoped, and recovery decisions are made. </a:t>
            </a:r>
          </a:p>
          <a:p>
            <a:r>
              <a:rPr lang="en-US" sz="1800" dirty="0" smtClean="0"/>
              <a:t/>
            </a:r>
          </a:p>
          <a:p>
            <a:r>
              <a:rPr lang="en-US" sz="1800" dirty="0" smtClean="0"/>
              <a:t>Elastio enhances IBM Cloud Object Storage (COS) by adding a data integrity layer that detects ransomware, malware, and corruption directly within stored cloud object data. Using advanced machine learning built on over a decade of ransomware research, Elastio identifies known and zero-day encryption techniques, including stealthy, fileless attacks that evade traditional security tools.</a:t>
            </a:r>
          </a:p>
          <a:p>
            <a:r>
              <a:rPr lang="en-US" sz="1800" dirty="0" smtClean="0"/>
              <a:t/>
            </a:r>
          </a:p>
          <a:p>
            <a:r>
              <a:rPr lang="en-US" sz="1800" dirty="0" smtClean="0"/>
              <a:t>By scanning data outside of production systems, Elastio provides early visibility into ransomware impact and enables recovery assurance from pre-validated data. This transforms IBM Cloud Object Storage from durable storage into cyberstorage: strengthening cyber resilience, supporting compliance requirements, and giving customers confidence that the data they store in IBM COS is trustworthy.</a:t>
            </a:r>
          </a:p>
          <a:p>
            <a:r>
              <a:rPr lang="en-US" sz="1800" dirty="0" smtClean="0"/>
              <a:t/>
            </a:r>
          </a:p>
          <a:p>
            <a:r>
              <a:rPr lang="en-US" sz="1800" dirty="0" smtClean="0"/>
              <a:t>Any questions? Reach out to ibm@elastio.com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Elastio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https://cloud.ibm.com/catalog/services/elastio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Facility Handover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whether your handover package is complete enough to sign off, with the gaps and the evidence, per event.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Confirm a handover package is complete enough to sign off before an asset enters operations. You get a completeness score per package, a gap-by-gap remediation list, and document-level evidence for every criterion. Each package is checked against the seven ISO 19650-4 Clause 7 criteria, mapped to the CFIHOS V2.0 reference, and compared against the ISO 19650-3 Asset Information Model for build-to-operate continuity. Built for information managers driving sign-off, BIM coordinators verifying conformance, asset operators receiving the package, and project teams populating the AIM, in regulated infrastructure.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https://cloud.ibm.com/catalog/services/vistergy-ltd-facility-handover-compliance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 and DR Automation for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Intics.ai - Agentic Document Intelligence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platform for automated document processing and data extraction.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Intics.ai Agentic Document Intelligence is an AI-powered platform that streamlines document processing for healthcare and pharmaceutical organizations. Our solution automatically extracts, classifies, and organizes data from a wide range of documents including forms, clinical records, and reports. By leveraging advanced machine learning and natural language processing, Intics.ai significantly reduces manual effort, improves data accuracy, and accelerates workflow efficiency. The platform supports integration with existing systems, ensures compliance with industry regulations, and maintains robust data privacy and security. With customizable automation and user-friendly dashboards, Intics.ai empowers teams to make better decisions quickly, cut operational costs, and focus resources on value-added tasks. Unlock the full potential of your organization’s information assets with intelligent automation and real-time insights for smarter business processes.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Intics.ai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https://cloud.ibm.com/catalog/services/intics-ai-agentic-document-intelligence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Legislative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that reviews industrial operations documentation against current legislation, regulations and standards to identify compl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Heavy industrial operations must comply with legislation, regulations and standards set by government departments. Compliance requirements change continuously, yet most organisations check against these requirements only when an audit is due — a reactive approach that exposes them to fines, stop-work orders and reputational damage.</a:t>
            </a:r>
          </a:p>
          <a:p>
            <a:r>
              <a:rPr lang="en-US" sz="1800" dirty="0" smtClean="0"/>
              <a:t/>
            </a:r>
          </a:p>
          <a:p>
            <a:r>
              <a:rPr lang="en-US" sz="1800" dirty="0" smtClean="0"/>
              <a:t>Libero AI's Legislative Compliance Agent uses Retrieval-Augmented Generation (RAG) to compare an organisation's policies, processes and procedures against current legislative and regulatory requirements. It surfaces prioritised compliance gaps so teams can act early — not at audit time.</a:t>
            </a:r>
          </a:p>
          <a:p>
            <a:r>
              <a:rPr lang="en-US" sz="1800" dirty="0" smtClean="0"/>
              <a:t/>
            </a:r>
          </a:p>
          <a:p>
            <a:r>
              <a:rPr lang="en-US" sz="1800" dirty="0" smtClean="0"/>
              <a:t>What the agent does:</a:t>
            </a:r>
          </a:p>
          <a:p>
            <a:r>
              <a:rPr lang="en-US" sz="1800" dirty="0" smtClean="0"/>
              <a:t/>
            </a:r>
          </a:p>
          <a:p>
            <a:r>
              <a:rPr lang="en-US" sz="1800" dirty="0" smtClean="0"/>
              <a:t>- Ingests procedure documents and relevant legislation or registered standards via secure PDF upload</a:t>
            </a:r>
          </a:p>
          <a:p>
            <a:r>
              <a:rPr lang="en-US" sz="1800" dirty="0" smtClean="0"/>
              <a:t>- Compares requirements against existing internal policies and procedures using purpose/scope, document dates, and detailed section-by-section analysis</a:t>
            </a:r>
          </a:p>
          <a:p>
            <a:r>
              <a:rPr lang="en-US" sz="1800" dirty="0" smtClean="0"/>
              <a:t>- Identifies and prioritises compliance gaps, classifying each section as fully compliant, partially compliant, or non-compliant with specific issues and required actions</a:t>
            </a:r>
          </a:p>
          <a:p>
            <a:r>
              <a:rPr lang="en-US" sz="1800" dirty="0" smtClean="0"/>
              <a:t>- Provides actionable recommendations prioritised by risk level (High, Medium, or Low) to guide remediation efforts</a:t>
            </a:r>
          </a:p>
          <a:p>
            <a:r>
              <a:rPr lang="en-US" sz="1800" dirty="0" smtClean="0"/>
              <a:t>- Generates a downloadable Word document report summarising all compliance findings and recommendations for distribution to stakeholders</a:t>
            </a:r>
          </a:p>
          <a:p>
            <a:r>
              <a:rPr lang="en-US" sz="1800" dirty="0" smtClean="0"/>
              <a:t/>
            </a:r>
          </a:p>
          <a:p>
            <a:r>
              <a:rPr lang="en-US" sz="1800" dirty="0" smtClean="0"/>
              <a:t>Proven in industry:</a:t>
            </a:r>
          </a:p>
          <a:p>
            <a:r>
              <a:rPr lang="en-US" sz="1800" dirty="0" smtClean="0"/>
              <a:t/>
            </a:r>
          </a:p>
          <a:p>
            <a:r>
              <a:rPr lang="en-US" sz="1800" dirty="0" smtClean="0"/>
              <a:t>Deployed in a co-creation engagement with IBM Client Engineering for a major mining operation, the agent interrogated compliance records against QGN 34, RS14, RS15 and RS20. Three previously undetected non-conformances were identified before the next regulatory audit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Libero AI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https://cloud.ibm.com/catalog/services/libero-ai-pty-ltd-legislative-compliance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Address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Interface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Security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NovaOps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Agentic AI ChatOps for DevOps, SRE, Cloud, and Operations Engineers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qaTT is an enterprise Agentic AI ChatOps platform that helps IBM customers reduce downtime, accelerate incident resolution, and optimize cloud operations across IBM Cloud, hybrid, and multi-cloud environments. By using a multi-agent AI system, qaTT analyzes observability and infrastructure data to identify root causes, guide remediation, and automate approved actions directly within Slack or Microsoft Teams. This enables faster MTTR, lower operational costs, and improved reliability for mission-critical systems. For IBM sellers, qaTT enhances customer value by strengthening operational outcomes, increasing platform adoption, and supporting larger cloud and services engagements, making it easier to expand existing deals and drive measurable business impact.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qaTT Software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https://cloud.ibm.com/catalog/services/qatt-software-ltd-novaops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patentbutler similarity search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Integrated IP management and AI-powered patent intelligence to streamline portfolios, accelerate insights, and drive innovation.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Similarity Search (Content-Based Patent Discovery)</a:t>
            </a:r>
          </a:p>
          <a:p>
            <a:r>
              <a:rPr lang="en-US" sz="1800" dirty="0" smtClean="0"/>
              <a:t>Instantly uncover the most relevant patents from global databases using natural language, documents, or technical files. Our AI understands context—not just keywords—delivering precise, high-quality matches in seconds. Eliminate missed prior art, reduce risk, and gain a decisive edge in innovation and IP strategy.</a:t>
            </a:r>
          </a:p>
          <a:p>
            <a:r>
              <a:rPr lang="en-US" sz="1800" dirty="0" smtClean="0"/>
              <a:t/>
            </a:r>
          </a:p>
          <a:p>
            <a:r>
              <a:rPr lang="en-US" sz="1800" dirty="0" smtClean="0"/>
              <a:t>2. Chat with Results (Interactive Patent Intelligence)</a:t>
            </a:r>
          </a:p>
          <a:p>
            <a:r>
              <a:rPr lang="en-US" sz="1800" dirty="0" smtClean="0"/>
              <a:t>Turn search results into actionable insights through AI-powered conversation. Ask questions, compare inventions, extract key features, and validate ideas—directly within your results. This transforms static data into dynamic intelligence, enabling faster decisions, deeper understanding, and significantly increased productivity.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uptoIP GmbH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https://cloud.ibm.com/catalog/services/uptoip-patentbutler-similarity-search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Post-Surgery Recovery Support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supporting post-surgery recovery with follow-up, patient guidance, and early risk detection to improve outcomes.</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Post-Surgery Recovery Support Agent is an AI-powered solution designed to support patients and care teams after discharge, ensuring safe recovery and continuous follow-up care.</a:t>
            </a:r>
          </a:p>
          <a:p>
            <a:r>
              <a:rPr lang="en-US" sz="1800" dirty="0" smtClean="0"/>
              <a:t>After surgery, many complications and readmissions happen due to gaps in monitoring, unclear instructions, or delayed intervention. This agent addresses those challenges by guiding patients through their recovery, tracking symptoms, and detecting early signs of risk.</a:t>
            </a:r>
          </a:p>
          <a:p>
            <a:r>
              <a:rPr lang="en-US" sz="1800" dirty="0" smtClean="0"/>
              <a:t>Using a conversational interface, the agent checks in with patients, collects recovery data (pain, symptoms, medication adherence, wound status), and provides personalized guidance based on clinical protocols. It continuously monitors patient responses and flags potential complications for timely clinician review.</a:t>
            </a:r>
          </a:p>
          <a:p>
            <a:r>
              <a:rPr lang="en-US" sz="1800" dirty="0" smtClean="0"/>
              <a:t>The agent orchestrates post-discharge workflows by connecting patient follow-up, care coordination, and clinical oversight into a single process. It helps ensure that no critical signals are missed and that patients stay on track with their recovery plan.</a:t>
            </a:r>
          </a:p>
          <a:p>
            <a:r>
              <a:rPr lang="en-US" sz="1800" dirty="0" smtClean="0"/>
              <a:t>For healthcare providers, the agent reduces manual follow-up workload, improves care continuity, and supports early intervention. For patients, it delivers clear guidance, reassurance, and an easy way to stay connected with their care team.</a:t>
            </a:r>
          </a:p>
          <a:p>
            <a:r>
              <a:rPr lang="en-US" sz="1800" dirty="0" smtClean="0"/>
              <a:t>By improving recovery monitoring, enhancing patient engagement, and enabling early risk detection, the Post-Surgery Recovery Support Agent helps reduce complications, lower readmission rates, and improve overall clinical outcomes.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https://cloud.ibm.com/catalog/services/viclinic-inc-post-surgery-recovery-support-agent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VS and Wintel Managed Services by Netrix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ISeries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nearly two decades, our IBM experts have helped companies with cost-effective solutions and support for their IBM i Power Systems. As a certified IBM delivery partner, we deliver industry-leading levels of security, redundancy, bandwidth, and expertise to meet business continuity and corporate operations requirements.</a:t>
            </a:r>
          </a:p>
          <a:p>
            <a:r>
              <a:rPr lang="en-US" sz="1800" dirty="0" smtClean="0"/>
              <a:t/>
            </a:r>
          </a:p>
          <a:p>
            <a:r>
              <a:rPr lang="en-US" sz="1800" dirty="0" smtClean="0"/>
              <a:t>You can be confident in the security and continuity of your IBM systems with 24/7/365 Network Operations Center (NOC) support from trained technicians and redundant, scalable, dispersed, and secured SSAE16 Type II data centers.</a:t>
            </a:r>
          </a:p>
          <a:p>
            <a:r>
              <a:rPr lang="en-US" sz="1800" dirty="0" smtClean="0"/>
              <a:t/>
            </a:r>
          </a:p>
          <a:p>
            <a:r>
              <a:rPr lang="en-US" sz="1800" dirty="0" smtClean="0"/>
              <a:t>Netrix iSeries includes;</a:t>
            </a:r>
          </a:p>
          <a:p>
            <a:r>
              <a:rPr lang="en-US" sz="1800" dirty="0" smtClean="0"/>
              <a:t>- Automated Monitoring Service</a:t>
            </a:r>
          </a:p>
          <a:p>
            <a:r>
              <a:rPr lang="en-US" sz="1800" dirty="0" smtClean="0"/>
              <a:t>- Managed Services (Standard, Gold, and Platinum service levels)</a:t>
            </a:r>
          </a:p>
          <a:p>
            <a:r>
              <a:rPr lang="en-US" sz="1800" dirty="0" smtClean="0"/>
              <a:t>- HA Management per LPAR</a:t>
            </a:r>
          </a:p>
          <a:p>
            <a:r>
              <a:rPr lang="en-US" sz="1800" dirty="0" smtClean="0"/>
              <a:t>- Server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Ricoh USA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https://cloud.ibm.com/catalog/services/managed-services-by-ricoh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a minimum of 3 x dedicated physical HSMs (each with 12 cHSMs)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t>
            </a:r>
          </a:p>
          <a:p>
            <a:r>
              <a:rPr lang="en-US" sz="1800" dirty="0" smtClean="0"/>
              <a:t>The Service is ISO27001 and PCI DSS certified and operated under dual control in the same way as our PCI PIN and PCI P2PE certified payment HSM services.</a:t>
            </a:r>
          </a:p>
          <a:p>
            <a:r>
              <a:rPr lang="en-US" sz="1800" dirty="0" smtClean="0"/>
              <a:t> </a:t>
            </a:r>
          </a:p>
          <a:p>
            <a:r>
              <a:rPr lang="en-US" sz="1800" dirty="0" smtClean="0"/>
              <a:t>This Catalog tiles covers subscription to the Premium Live service. In this service the customer has access to their own dedicated physical HSMs (each with 12 cHSMs) in two geographically separate DCs.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Managed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incl. Patch Management</a:t>
            </a:r>
          </a:p>
          <a:p>
            <a:r>
              <a:rPr lang="en-US" sz="2000" dirty="0" smtClean="0">
                <a:solidFill>
                  <a:srgbClr val="808080"/>
                </a:solidFill>
              </a:rPr>
              <a:t>OS: AIX,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Management of IBM i and AIX PowerVS instances up to the “top edge of the operating system” including patch management</a:t>
            </a:r>
          </a:p>
          <a:p>
            <a:r>
              <a:rPr lang="en-US" sz="1800" dirty="0" smtClean="0"/>
              <a:t/>
            </a:r>
          </a:p>
          <a:p>
            <a:r>
              <a:rPr lang="en-US" sz="1800" dirty="0" smtClean="0"/>
              <a:t>Features and performance characteristics:</a:t>
            </a:r>
          </a:p>
          <a:p>
            <a:r>
              <a:rPr lang="en-US" sz="1800" dirty="0" smtClean="0"/>
              <a:t/>
            </a:r>
          </a:p>
          <a:p>
            <a:r>
              <a:rPr lang="en-US" sz="1800" dirty="0" smtClean="0"/>
              <a:t>- Management of PowerVS Instances by experienced administrators from a german IBM Platinum Partner</a:t>
            </a:r>
          </a:p>
          <a:p>
            <a:r>
              <a:rPr lang="en-US" sz="1800" dirty="0" smtClean="0"/>
              <a:t>- German and english-speaking service desk</a:t>
            </a:r>
          </a:p>
          <a:p>
            <a:r>
              <a:rPr lang="en-US" sz="1800" dirty="0" smtClean="0"/>
              <a:t>- Availability of the service desk during service hours by e-mail and telephone</a:t>
            </a:r>
          </a:p>
          <a:p>
            <a:r>
              <a:rPr lang="en-US" sz="1800" dirty="0" smtClean="0"/>
              <a:t>- Service contingent of 0.5 hours of service (per LPAR and month) for incident management, other inquiries and requests. </a:t>
            </a:r>
          </a:p>
          <a:p>
            <a:r>
              <a:rPr lang="en-US" sz="1800" dirty="0" smtClean="0"/>
              <a:t>- 1/2 annual PTF (IBM i) or technology level (AIX) installation to the recommended level, release changes are not included </a:t>
            </a:r>
          </a:p>
          <a:p>
            <a:r>
              <a:rPr lang="en-US" sz="1800" dirty="0" smtClean="0"/>
              <a:t>- Short-term installation of very critical security fixes</a:t>
            </a:r>
          </a:p>
          <a:p>
            <a:r>
              <a:rPr lang="en-US" sz="1800" dirty="0" smtClean="0"/>
              <a:t>- Access to the service partner's ticket system</a:t>
            </a:r>
          </a:p>
          <a:p>
            <a:r>
              <a:rPr lang="en-US" sz="1800" dirty="0" smtClean="0"/>
              <a:t>- For Service Level see Pricing Plan </a:t>
            </a:r>
          </a:p>
          <a:p>
            <a:r>
              <a:rPr lang="en-US" sz="1800" dirty="0" smtClean="0"/>
              <a:t>- Please contact us before ordering: PROFI_MS_presales@profi-ag.de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https://cloud.ibm.com/catalog/services/profi-managed-services-for-powervs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for IBM i on Power and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 DRaaS administrates &amp; orchestrates cluster management and resilience for Power IBM i workloads, on-premises or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delivers browser access to manage and protect IBM i LPARs leveraging the core functionality of IBM PowerHA.  Common use case is to create an HA-paired cluster with data being replicated from on-premises LPARs into PowerVS in IBM VPC.  Switchover involving promoting the standby node to primary becomes as simple as clicking a button.  No more need for clRGmove command syntax.</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https://cloud.ibm.com/catalog/services/protectio-draas-for-power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DRaaS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any-source environment (physical, virtual, cloud) to IBM Cloud VPC using RMM Disaster Recovery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RMM enables a modern DR architecture by non-disruptly replicating workloads from any source environment into IBM Cloud VPC, maintaining a synchronized DR environment in the cloud, enabling failover into IBM Cloud VPC without source environment dependencies, supporting fallback to source environment during transition periods, and extending DR to additional public clouds for redundancy. </a:t>
            </a:r>
          </a:p>
          <a:p>
            <a:r>
              <a:rPr lang="en-US" sz="1800" dirty="0" smtClean="0"/>
              <a:t/>
            </a:r>
          </a:p>
          <a:p>
            <a:r>
              <a:rPr lang="en-US" sz="1800" dirty="0" smtClean="0"/>
              <a:t>This allows IBM Cloud VPC to serve as both a disaster recovery landing zone and a strategic approach for setting up a DR environment for production environment# License Information:</a:t>
            </a:r>
          </a:p>
          <a:p>
            <a:r>
              <a:rPr lang="en-US" sz="1800" dirty="0" smtClean="0"/>
              <a:t/>
            </a:r>
          </a:p>
          <a:p>
            <a:r>
              <a:rPr lang="en-US" sz="1800" dirty="0" smtClean="0"/>
              <a:t># Description - RackWare DR &amp; DRaaS for IBM Cloud </a:t>
            </a:r>
          </a:p>
          <a:p>
            <a:r>
              <a:rPr lang="en-US" sz="1800" dirty="0" smtClean="0"/>
              <a:t/>
            </a:r>
          </a:p>
          <a:p>
            <a:r>
              <a:rPr lang="en-US" sz="1800" dirty="0" smtClean="0"/>
              <a:t># RackWare DR for IBM Cloud </a:t>
            </a:r>
          </a:p>
          <a:p>
            <a:r>
              <a:rPr lang="en-US" sz="1800" dirty="0" smtClean="0"/>
              <a:t/>
            </a:r>
          </a:p>
          <a:p>
            <a:r>
              <a:rPr lang="en-US" sz="1800" dirty="0" smtClean="0"/>
              <a:t>RackWare DR provides workload-level disaster recovery to IBM Cloud VPC through flexible, per-VM licensing. This solution includes the RackWare DR software and standard support. Each license protects one source server or virtual machine that is replicated and managed through the RackWare Management Module (RMM).</a:t>
            </a:r>
          </a:p>
          <a:p>
            <a:r>
              <a:rPr lang="en-US" sz="1800" dirty="0" smtClean="0"/>
              <a:t/>
            </a:r>
          </a:p>
          <a:p>
            <a:r>
              <a:rPr lang="en-US" sz="1800" dirty="0" smtClean="0"/>
              <a:t>Pricing: $192 per protected VM per year </a:t>
            </a:r>
          </a:p>
          <a:p>
            <a:r>
              <a:rPr lang="en-US" sz="1800" dirty="0" smtClean="0"/>
              <a:t/>
            </a:r>
          </a:p>
          <a:p>
            <a:r>
              <a:rPr lang="en-US" sz="1800" dirty="0" smtClean="0"/>
              <a:t>Licensing and sizing are based solely on the number of source servers or virtual machines included within the RMM scope. </a:t>
            </a:r>
          </a:p>
          <a:p>
            <a:r>
              <a:rPr lang="en-US" sz="1800" dirty="0" smtClean="0"/>
              <a:t/>
            </a:r>
          </a:p>
          <a:p>
            <a:r>
              <a:rPr lang="en-US" sz="1800" dirty="0" smtClean="0"/>
              <a:t> </a:t>
            </a:r>
          </a:p>
          <a:p>
            <a:r>
              <a:rPr lang="en-US" sz="1800" dirty="0" smtClean="0"/>
              <a:t># RackWare DRaaS for IBM Cloud </a:t>
            </a:r>
          </a:p>
          <a:p>
            <a:r>
              <a:rPr lang="en-US" sz="1800" dirty="0" smtClean="0"/>
              <a:t/>
            </a:r>
          </a:p>
          <a:p>
            <a:r>
              <a:rPr lang="en-US" sz="1800" dirty="0" smtClean="0"/>
              <a:t>RackWare DRaaS provides workload-level disaster recovery to IBM Cloud VPC through flexible, per-VM licensing. This fully managed solution includes the RackWare DR software, standard support, DRaaS operations, and one non-disruptive disaster recovery drill per protected VM each year. </a:t>
            </a:r>
          </a:p>
          <a:p>
            <a:r>
              <a:rPr lang="en-US" sz="1800" dirty="0" smtClean="0"/>
              <a:t>The service includes daily monitoring and maintenance, daily operational reports, automated alerts to RackWare, problem diagnosis and resolution (including triage of warnings and errors), issue resolution within the defined support scope, coordination with external teams for issues outside the service scope, and the application of patches, bug fixes, and support release upgrades. </a:t>
            </a:r>
          </a:p>
          <a:p>
            <a:r>
              <a:rPr lang="en-US" sz="1800" dirty="0" smtClean="0"/>
              <a:t>Each RackWare DRaaS license protects one source server or virtual machine that is replicated and managed through the RackWare Management Module (RMM). </a:t>
            </a:r>
          </a:p>
          <a:p>
            <a:r>
              <a:rPr lang="en-US" sz="1800" dirty="0" smtClean="0"/>
              <a:t/>
            </a:r>
          </a:p>
          <a:p>
            <a:r>
              <a:rPr lang="en-US" sz="1800" dirty="0" smtClean="0"/>
              <a:t>Pricing: $495 per protected VM per year </a:t>
            </a:r>
          </a:p>
          <a:p>
            <a:r>
              <a:rPr lang="en-US" sz="1800" dirty="0" smtClean="0"/>
              <a:t/>
            </a:r>
          </a:p>
          <a:p>
            <a:r>
              <a:rPr lang="en-US" sz="1800" dirty="0" smtClean="0"/>
              <a:t>Licensing and sizing are based solely on the number of source servers or virtual machines included within the RMM scope. </a:t>
            </a:r>
          </a:p>
          <a:p>
            <a:r>
              <a:rPr lang="en-US" sz="1800" dirty="0" smtClean="0"/>
              <a:t/>
            </a:r>
          </a:p>
          <a:p>
            <a:r>
              <a:rPr lang="en-US" sz="1800" dirty="0" smtClean="0"/>
              <a:t> </a:t>
            </a:r>
          </a:p>
          <a:p>
            <a:r>
              <a:rPr lang="en-US" sz="1800" dirty="0" smtClean="0"/>
              <a:t># Architecture Flexibility</a:t>
            </a:r>
          </a:p>
          <a:p>
            <a:r>
              <a:rPr lang="en-US" sz="1800" dirty="0" smtClean="0"/>
              <a:t/>
            </a:r>
          </a:p>
          <a:p>
            <a:r>
              <a:rPr lang="en-US" sz="1800" dirty="0" smtClean="0"/>
              <a:t>1) RackWare DR can be deployed as a single instance or scaled across multiple RackWare DR RMM instances to meet performance, isolation, and design requirements.</a:t>
            </a:r>
          </a:p>
          <a:p>
            <a:r>
              <a:rPr lang="en-US" sz="1800" dirty="0" smtClean="0"/>
              <a:t> </a:t>
            </a:r>
          </a:p>
          <a:p>
            <a:r>
              <a:rPr lang="en-US" sz="1800" dirty="0" smtClean="0"/>
              <a:t>2) For example, 100 VMs (20 vCPUs) can be distributed across multiple instances (e.g., 5 RMM instances, each supporting 20 VMs/servers).</a:t>
            </a:r>
          </a:p>
          <a:p>
            <a:r>
              <a:rPr lang="en-US" sz="1800" dirty="0" smtClean="0"/>
              <a:t> </a:t>
            </a:r>
          </a:p>
          <a:p>
            <a:r>
              <a:rPr lang="en-US" sz="1800" dirty="0" smtClean="0"/>
              <a:t># Licensing Example (e.g. 100 VMs)</a:t>
            </a:r>
          </a:p>
          <a:p>
            <a:r>
              <a:rPr lang="en-US" sz="1800" dirty="0" smtClean="0"/>
              <a:t/>
            </a:r>
          </a:p>
          <a:p>
            <a:r>
              <a:rPr lang="en-US" sz="1800" dirty="0" smtClean="0"/>
              <a:t>1) 1 vCPU supports 5 VMs</a:t>
            </a:r>
          </a:p>
          <a:p>
            <a:r>
              <a:rPr lang="en-US" sz="1800" dirty="0" smtClean="0"/>
              <a:t>2) 100 VMs require 20 vCPUs</a:t>
            </a:r>
          </a:p>
          <a:p>
            <a:r>
              <a:rPr lang="en-US" sz="1800" dirty="0" smtClean="0"/>
              <a:t>3) A single RMM instance with 4 vCPU and 32 GB RAM can cover 20 VMs.</a:t>
            </a:r>
          </a:p>
          <a:p>
            <a:r>
              <a:rPr lang="en-US" sz="1800" dirty="0" smtClean="0"/>
              <a:t>4) 4 RMM instances should cover 100 VMs to be protected in DR</a:t>
            </a:r>
          </a:p>
          <a:p>
            <a:r>
              <a:rPr lang="en-US" sz="1800" dirty="0" smtClean="0"/>
              <a:t>5) For DR 1 VM is billed at $192, 100 VMs x $192 = $19200 / Year</a:t>
            </a:r>
          </a:p>
          <a:p>
            <a:r>
              <a:rPr lang="en-US" sz="1800" dirty="0" smtClean="0"/>
              <a:t>6) For DRaaS 1 VM is billed at $495, 100 VMs x $495 = $49500 / Year</a:t>
            </a:r>
          </a:p>
          <a:p>
            <a:r>
              <a:rPr lang="en-US" sz="1800" dirty="0" smtClean="0"/>
              <a:t> </a:t>
            </a:r>
          </a:p>
          <a:p>
            <a:r>
              <a:rPr lang="en-US" sz="1800" dirty="0" smtClean="0"/>
              <a:t>Note: RackWare DR software pricing does not include IBM Cloud compute, storage.</a:t>
            </a:r>
          </a:p>
          <a:p>
            <a:r>
              <a:rPr lang="en-US" sz="1800" dirty="0" smtClean="0"/>
              <a:t/>
            </a:r>
          </a:p>
          <a:p>
            <a:r>
              <a:rPr lang="en-US" sz="1800" dirty="0" smtClean="0"/>
              <a:t/>
            </a:r>
          </a:p>
          <a:p>
            <a:r>
              <a:rPr lang="en-US" sz="1800" dirty="0" smtClean="0"/>
              <a:t>RackWare's RMM Disaster Recovery ( DR ) are an automated, easy, and convenient process to protect existing workloads from your current location to IBM Cloud VPC. RMM creates an exact duplicate of a running image without the burden of rebuilding or recreating template images and applications. It decouples the application stack from the underlying platform, allowing it to be ported to the IBM Cloud infrastructure with ease. RMM simplifies protection of large, complex environments through a simple interface and reduces the time required from weeks to days, reducing capital and operating expenses. RackWare RMM includes discovery, analysis, automation features like DR policy engine, dynamic provisioning allowing all processes to be fast, easy, and error-free.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https://cloud.ibm.com/catalog/services/rackware-rmm-draas-per-unit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Migration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any-source environment (physical, virtual, cloud)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Management Module (RMM) Migration is an automated process to migrate as well as protect your bare metal and virtual workloads from IBM Cloud or any other source environment to Virtual Server Instances on IBM Cloud VPC.</a:t>
            </a:r>
          </a:p>
          <a:p>
            <a:r>
              <a:rPr lang="en-US" sz="1800" dirty="0" smtClean="0"/>
              <a:t/>
            </a:r>
          </a:p>
          <a:p>
            <a:r>
              <a:rPr lang="en-US" sz="1800" dirty="0" smtClean="0"/>
              <a:t>RMM creates an exact duplicate of a running image without the burden of rebuilding or recreating template images and applications. It decouples the application stack from the underlying platform, allowing it to be ported to the IBM Cloud infrastructure with ease.</a:t>
            </a:r>
          </a:p>
          <a:p>
            <a:r>
              <a:rPr lang="en-US" sz="1800" dirty="0" smtClean="0"/>
              <a:t/>
            </a:r>
          </a:p>
          <a:p>
            <a:r>
              <a:rPr lang="en-US" sz="1800" dirty="0" smtClean="0"/>
              <a:t>RMM simplifies migration of large, complex environments through a simple interface and reduces the time required from weeks to days, reducing capital and operating expenses. RMM includes discovery, analysis, and automation features, allowing all processes to be fast, easy, and error-free.RackWare's RMM Server Migration solution provides an easy, automated, and simplified process to migrate existing workloads from your current location to IBM Cloud. </a:t>
            </a:r>
          </a:p>
          <a:p>
            <a:r>
              <a:rPr lang="en-US" sz="1800" dirty="0" smtClean="0"/>
              <a:t/>
            </a:r>
          </a:p>
          <a:p>
            <a:r>
              <a:rPr lang="en-US" sz="1800" dirty="0" smtClean="0"/>
              <a:t># License Information</a:t>
            </a:r>
          </a:p>
          <a:p>
            <a:r>
              <a:rPr lang="en-US" sz="1800" dirty="0" smtClean="0"/>
              <a:t/>
            </a:r>
          </a:p>
          <a:p>
            <a:r>
              <a:rPr lang="en-US" sz="1800" dirty="0" smtClean="0"/>
              <a:t># Description – RackWare Migration for IBM Cloud</a:t>
            </a:r>
          </a:p>
          <a:p>
            <a:r>
              <a:rPr lang="en-US" sz="1800" dirty="0" smtClean="0"/>
              <a:t/>
            </a:r>
          </a:p>
          <a:p>
            <a:r>
              <a:rPr lang="en-US" sz="1800" dirty="0" smtClean="0"/>
              <a:t>RackWare Migration enables fast, automated workload migration to IBM Cloud VPC with flexible, infrastructure-based hourly licensing.</a:t>
            </a:r>
          </a:p>
          <a:p>
            <a:r>
              <a:rPr lang="en-US" sz="1800" dirty="0" smtClean="0"/>
              <a:t/>
            </a:r>
          </a:p>
          <a:p>
            <a:r>
              <a:rPr lang="en-US" sz="1800" dirty="0" smtClean="0"/>
              <a:t># Licensing Model</a:t>
            </a:r>
          </a:p>
          <a:p>
            <a:r>
              <a:rPr lang="en-US" sz="1800" dirty="0" smtClean="0"/>
              <a:t>RackWare Migration is fixed cost based on the number of source VMs in scope.</a:t>
            </a:r>
          </a:p>
          <a:p>
            <a:r>
              <a:rPr lang="en-US" sz="1800" dirty="0" smtClean="0"/>
              <a:t/>
            </a:r>
          </a:p>
          <a:p>
            <a:r>
              <a:rPr lang="en-US" sz="1800" dirty="0" smtClean="0"/>
              <a:t>1 VM is billed at $110</a:t>
            </a:r>
          </a:p>
          <a:p>
            <a:r>
              <a:rPr lang="en-US" sz="1800" dirty="0" smtClean="0"/>
              <a:t>8 vCPU supports up to 50 source VMs</a:t>
            </a:r>
          </a:p>
          <a:p>
            <a:r>
              <a:rPr lang="en-US" sz="1800" dirty="0" smtClean="0"/>
              <a:t/>
            </a:r>
          </a:p>
          <a:p>
            <a:r>
              <a:rPr lang="en-US" sz="1800" dirty="0" smtClean="0"/>
              <a:t># Sizing Guidance</a:t>
            </a:r>
          </a:p>
          <a:p>
            <a:r>
              <a:rPr lang="en-US" sz="1800" dirty="0" smtClean="0"/>
              <a:t>RackWare provides a simple, linear scaling model based on VM count:</a:t>
            </a:r>
          </a:p>
          <a:p>
            <a:r>
              <a:rPr lang="en-US" sz="1800" dirty="0" smtClean="0"/>
              <a:t/>
            </a:r>
          </a:p>
          <a:p>
            <a:r>
              <a:rPr lang="en-US" sz="1800" dirty="0" smtClean="0"/>
              <a:t>50 VMs → A single RMM with 8 vCPUs and 64 GB RAM</a:t>
            </a:r>
          </a:p>
          <a:p>
            <a:r>
              <a:rPr lang="en-US" sz="1800" dirty="0" smtClean="0"/>
              <a:t>100 VMs → 2 RMMs with 8 vCPUs and 64 GB RAM</a:t>
            </a:r>
          </a:p>
          <a:p>
            <a:r>
              <a:rPr lang="en-US" sz="1800" dirty="0" smtClean="0"/>
              <a:t>1,000 VMs → 20 RMMs with 8 vCPUs and 64 GB RAM</a:t>
            </a:r>
          </a:p>
          <a:p>
            <a:r>
              <a:rPr lang="en-US" sz="1800" dirty="0" smtClean="0"/>
              <a:t>10,000 VMs → 200 RMMs with 8 vCPUs and 64 GB RAM</a:t>
            </a:r>
          </a:p>
          <a:p>
            <a:r>
              <a:rPr lang="en-US" sz="1800" dirty="0" smtClean="0"/>
              <a:t/>
            </a:r>
          </a:p>
          <a:p>
            <a:r>
              <a:rPr lang="en-US" sz="1800" dirty="0" smtClean="0"/>
              <a:t>This model scales linearly beyond these examples, allowing customers to support environments of any size by continuing the same 5 VMs per vCPU ratio. Capacity can be increased incrementally to align with migration waves, timelines, and performance requirements.</a:t>
            </a:r>
          </a:p>
          <a:p>
            <a:r>
              <a:rPr lang="en-US" sz="1800" dirty="0" smtClean="0"/>
              <a:t/>
            </a:r>
          </a:p>
          <a:p>
            <a:r>
              <a:rPr lang="en-US" sz="1800" dirty="0" smtClean="0"/>
              <a:t># Architecture Flexibility</a:t>
            </a:r>
          </a:p>
          <a:p>
            <a:r>
              <a:rPr lang="en-US" sz="1800" dirty="0" smtClean="0"/>
              <a:t>RackWare Migration can be deployed as a single instance or distributed across multiple RMM instances depending on performance, isolation, or design requirements.</a:t>
            </a:r>
          </a:p>
          <a:p>
            <a:r>
              <a:rPr lang="en-US" sz="1800" dirty="0" smtClean="0"/>
              <a:t/>
            </a:r>
          </a:p>
          <a:p>
            <a:r>
              <a:rPr lang="en-US" sz="1800" dirty="0" smtClean="0"/>
              <a:t>For example, a customer migrating 100 VMs would require 2 RMMs:</a:t>
            </a:r>
          </a:p>
          <a:p>
            <a:r>
              <a:rPr lang="en-US" sz="1800" dirty="0" smtClean="0"/>
              <a:t/>
            </a:r>
          </a:p>
          <a:p>
            <a:r>
              <a:rPr lang="en-US" sz="1800" dirty="0" smtClean="0"/>
              <a:t>100 VMs × $110/VM = $11,000</a:t>
            </a:r>
          </a:p>
          <a:p>
            <a:r>
              <a:rPr lang="en-US" sz="1800" dirty="0" smtClean="0"/>
              <a:t/>
            </a:r>
          </a:p>
          <a:p>
            <a:r>
              <a:rPr lang="en-US" sz="1800" dirty="0" smtClean="0"/>
              <a:t>This can be deployed as:</a:t>
            </a:r>
          </a:p>
          <a:p>
            <a:r>
              <a:rPr lang="en-US" sz="1800" dirty="0" smtClean="0"/>
              <a:t/>
            </a:r>
          </a:p>
          <a:p>
            <a:r>
              <a:rPr lang="en-US" sz="1800" dirty="0" smtClean="0"/>
              <a:t>A single RMM with 4 vCPU and 32 GB RAM supporting 50 VMs in parallel for migration , or</a:t>
            </a:r>
          </a:p>
          <a:p>
            <a:r>
              <a:rPr lang="en-US" sz="1800" dirty="0" smtClean="0"/>
              <a:t>Multiple RMM instances based on the migration VMs count (e.g., 4 vCPUs supporting 50 VMs each) aligned to migration waves or application groupings</a:t>
            </a:r>
          </a:p>
          <a:p>
            <a:r>
              <a:rPr lang="en-US" sz="1800" dirty="0" smtClean="0"/>
              <a:t/>
            </a:r>
          </a:p>
          <a:p>
            <a:r>
              <a:rPr lang="en-US" sz="1800" dirty="0" smtClean="0"/>
              <a:t>This flexible architecture enables parallel migrations, better control over cutover groups, and alignment to enterprise design requirements.</a:t>
            </a:r>
          </a:p>
          <a:p>
            <a:r>
              <a:rPr lang="en-US" sz="1800" dirty="0" smtClean="0"/>
              <a:t/>
            </a:r>
          </a:p>
          <a:p>
            <a:r>
              <a:rPr lang="en-US" sz="1800" dirty="0" smtClean="0"/>
              <a:t># The supported use cases are</a:t>
            </a:r>
          </a:p>
          <a:p>
            <a:r>
              <a:rPr lang="en-US" sz="1800" dirty="0" smtClean="0"/>
              <a:t/>
            </a:r>
          </a:p>
          <a:p>
            <a:r>
              <a:rPr lang="en-US" sz="1800" dirty="0" smtClean="0"/>
              <a:t>1. VMware virtual machine (On-premises) to IBM Cloud VPC virtual servers</a:t>
            </a:r>
          </a:p>
          <a:p>
            <a:r>
              <a:rPr lang="en-US" sz="1800" dirty="0" smtClean="0"/>
              <a:t>2. VMware virtual machine (IBM Cloud classic) to IBM Cloud VPC virtual servers</a:t>
            </a:r>
          </a:p>
          <a:p>
            <a:r>
              <a:rPr lang="en-US" sz="1800" dirty="0" smtClean="0"/>
              <a:t>3. Hyper-V virtual machine (On-premises, IBM Cloud Classic) to IBM Cloud VPC virtual servers</a:t>
            </a:r>
          </a:p>
          <a:p>
            <a:r>
              <a:rPr lang="en-US" sz="1800" dirty="0" smtClean="0"/>
              <a:t>4. On-premises physical machines to IBM Cloud VPC virtual servers</a:t>
            </a:r>
          </a:p>
          <a:p>
            <a:r>
              <a:rPr lang="en-US" sz="1800" dirty="0" smtClean="0"/>
              <a:t>5. GCP, AWS, Azure, virtual machines and OCI Baremetal to IBM Cloud VPC virtual servers</a:t>
            </a:r>
          </a:p>
          <a:p>
            <a:r>
              <a:rPr lang="en-US" sz="1800" dirty="0" smtClean="0"/>
              <a:t>6. IBM Cloud classic bare metal to IBM Cloud classic bare metal</a:t>
            </a:r>
          </a:p>
          <a:p>
            <a:r>
              <a:rPr lang="en-US" sz="1800" dirty="0" smtClean="0"/>
              <a:t>7. IBM Cloud classic bare metal to IBM Cloud VPC bare metal</a:t>
            </a:r>
          </a:p>
          <a:p>
            <a:r>
              <a:rPr lang="en-US" sz="1800" dirty="0" smtClean="0"/>
              <a:t>8. Migration of popular databases (e.g., MSSQL, MySQL, PostgreSQL etc. Oracle RAC and ASM disk-based databases are not supported. Also, AWS RDS like databases are not supported)</a:t>
            </a:r>
          </a:p>
          <a:p>
            <a:r>
              <a:rPr lang="en-US" sz="1800" dirty="0" smtClean="0"/>
              <a:t/>
            </a:r>
          </a:p>
          <a:p>
            <a:r>
              <a:rPr lang="en-US" sz="1800" dirty="0" smtClean="0"/>
              <a:t>## Product Overview</a:t>
            </a:r>
          </a:p>
          <a:p>
            <a:r>
              <a:rPr lang="en-US" sz="1800" dirty="0" smtClean="0"/>
              <a:t>RackWare's RMM migrations are an automated, easy, and convenient process to migrate existing workloads from your current location to IBM Cloud. RMM creates an exact duplicate of a running image without the burden of rebuilding or recreating template images and applications. It decouples the application stack from the underlying platform, allowing it to be ported to the IBM Cloud infrastructure with ease. RMM simplifies migration of large, complex environments through a simple interface and reduces the time required from weeks to days, reducing capital and operating expenses. RackWare RMM includes discovery, analysis, and automation features, allowing all processes to be fast, easy, and error-free.</a:t>
            </a:r>
          </a:p>
          <a:p>
            <a:r>
              <a:rPr lang="en-US" sz="1800" dirty="0" smtClean="0"/>
              <a:t/>
            </a:r>
          </a:p>
          <a:p>
            <a:r>
              <a:rPr lang="en-US" sz="1800" dirty="0" smtClean="0"/>
              <a:t># Key Benefits</a:t>
            </a:r>
          </a:p>
          <a:p>
            <a:r>
              <a:rPr lang="en-US" sz="1800" dirty="0" smtClean="0"/>
              <a:t/>
            </a:r>
          </a:p>
          <a:p>
            <a:r>
              <a:rPr lang="en-US" sz="1800" dirty="0" smtClean="0"/>
              <a:t>- Live and Non-Disruptive Migrations</a:t>
            </a:r>
          </a:p>
          <a:p>
            <a:r>
              <a:rPr lang="en-US" sz="1800" dirty="0" smtClean="0"/>
              <a:t>- Highly secure and efficient data transfer</a:t>
            </a:r>
          </a:p>
          <a:p>
            <a:r>
              <a:rPr lang="en-US" sz="1800" dirty="0" smtClean="0"/>
              <a:t>- Auto provision of target Virtual Server Instance</a:t>
            </a:r>
          </a:p>
          <a:p>
            <a:r>
              <a:rPr lang="en-US" sz="1800" dirty="0" smtClean="0"/>
              <a:t>- Include / Exclude Lists: Capture and sync only specific files and directories rather than entire systems</a:t>
            </a:r>
          </a:p>
          <a:p>
            <a:r>
              <a:rPr lang="en-US" sz="1800" dirty="0" smtClean="0"/>
              <a:t>- Delta Sync: Sync only the changed parts of files during the final data sync, drastically lowering cutover times</a:t>
            </a:r>
          </a:p>
          <a:p>
            <a:r>
              <a:rPr lang="en-US" sz="1800" dirty="0" smtClean="0"/>
              <a:t>- Network optimization: bandwidth usage limitations, compression and check point restart for all sync operations</a:t>
            </a:r>
          </a:p>
          <a:p>
            <a:r>
              <a:rPr lang="en-US" sz="1800" dirty="0" smtClean="0"/>
              <a:t/>
            </a:r>
          </a:p>
          <a:p>
            <a:r>
              <a:rPr lang="en-US" sz="1800" dirty="0" smtClean="0"/>
              <a:t>- For more information, visit https://www.rackwareinc.com/cloud-migration</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https://cloud.ibm.com/catalog/services/rackware-rmm-migration-per-unit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Inference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production‑ready AI models with no operational overhead and built‑in enterprise security, compliance, and cost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Inference on IBM Cloud provides production‑ready AI models with no operational overhead and built‑in enterprise security, compliance, and cost control. The model alignment capability (InstructLab) enables organizations to fine-tune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Virtualization Service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enterprise VMs on Red Hat OpenShift Virtualization Service on IBM Cloud with a modern, Kubernetes-based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and manage enterprise virtual machine workloads on native OpenShift with virtualization-focused tools to run highly available Virtual Machines.</a:t>
            </a:r>
          </a:p>
          <a:p>
            <a:r>
              <a:rPr lang="en-US" sz="1800" dirty="0" smtClean="0"/>
              <a:t>OpenShift Virtualization Engine on IBM Cloud provides a modern Kubernetes-based platform that delivers operational consistency and flexibility for virtualization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RESUME SCORING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smart, unbiased resume evaluation assistant that helps recruiters and hiring teams score and summarize candidate resume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The HR Resume Scoring Agent is an AI-powered assistant designed to support recruiters, hiring managers, and HR teams in evaluating candidate resumes against a specific job description. The agent analyzes resumes using a transparent, job-related scoring rubric and produces structured, human-readable summaries that help HR teams make consistent and informed shortlisting decisions.</a:t>
            </a:r>
          </a:p>
          <a:p>
            <a:r>
              <a:rPr lang="en-US" sz="1800" dirty="0" smtClean="0"/>
              <a:t/>
            </a:r>
          </a:p>
          <a:p>
            <a:r>
              <a:rPr lang="en-US" sz="1800" dirty="0" smtClean="0"/>
              <a:t>The agent operates as a decision-support tool rather than a decision-maker. It is designed to work across industries, roles, and seniority levels, making it suitable for both technical and non-technical hiring scenarios. By standardizing resume evaluation, the agent helps reduce subjectivity and improve consistency across hiring processes.</a:t>
            </a:r>
          </a:p>
          <a:p>
            <a:r>
              <a:rPr lang="en-US" sz="1800" dirty="0" smtClean="0"/>
              <a:t/>
            </a:r>
          </a:p>
          <a:p>
            <a:r>
              <a:rPr lang="en-US" sz="1800" dirty="0" smtClean="0"/>
              <a:t/>
            </a:r>
          </a:p>
          <a:p>
            <a:r>
              <a:rPr lang="en-US" sz="1800" dirty="0" smtClean="0"/>
              <a:t/>
            </a:r>
          </a:p>
          <a:p>
            <a:r>
              <a:rPr lang="en-US" sz="1800" dirty="0" smtClean="0"/>
              <a:t>Purpose and Value</a:t>
            </a:r>
          </a:p>
          <a:p>
            <a:r>
              <a:rPr lang="en-US" sz="1800" dirty="0" smtClean="0"/>
              <a:t/>
            </a:r>
          </a:p>
          <a:p>
            <a:r>
              <a:rPr lang="en-US" sz="1800" dirty="0" smtClean="0"/>
              <a:t>The primary purpose of the HR Resume Scoring Agent is to streamline resume screening while improving fairness, transparency, and auditability. Resume reviews are often time-consuming and inconsistent across reviewers; this agent addresses those challenges by applying a consistent, clearly defined evaluation framework.</a:t>
            </a:r>
          </a:p>
          <a:p>
            <a:r>
              <a:rPr lang="en-US" sz="1800" dirty="0" smtClean="0"/>
              <a:t/>
            </a:r>
          </a:p>
          <a:p>
            <a:r>
              <a:rPr lang="en-US" sz="1800" dirty="0" smtClean="0"/>
              <a:t>The agent provides clear visibility into why a candidate scores a certain way by grounding each assessment in job-related evidence from the resume. This improves trust in the screening process and enables HR teams to justify shortlisting decisions during internal reviews or audits.</a:t>
            </a:r>
          </a:p>
          <a:p>
            <a:r>
              <a:rPr lang="en-US" sz="1800" dirty="0" smtClean="0"/>
              <a:t/>
            </a:r>
          </a:p>
          <a:p>
            <a:r>
              <a:rPr lang="en-US" sz="1800" dirty="0" smtClean="0"/>
              <a:t/>
            </a:r>
          </a:p>
          <a:p>
            <a:r>
              <a:rPr lang="en-US" sz="1800" dirty="0" smtClean="0"/>
              <a:t/>
            </a:r>
          </a:p>
          <a:p>
            <a:r>
              <a:rPr lang="en-US" sz="1800" dirty="0" smtClean="0"/>
              <a:t>Core Capabilities</a:t>
            </a:r>
          </a:p>
          <a:p>
            <a:r>
              <a:rPr lang="en-US" sz="1800" dirty="0" smtClean="0"/>
              <a:t/>
            </a:r>
          </a:p>
          <a:p>
            <a:r>
              <a:rPr lang="en-US" sz="1800" dirty="0" smtClean="0"/>
              <a:t>The HR Resume Scoring Agent evaluates resumes strictly against a job description provided by the user. It parses the job description to identify must-have and nice-to-have requirements and analyzes resumes to extract relevant experience, skills, education, certifications, achievements, and domain exposure.</a:t>
            </a:r>
          </a:p>
          <a:p>
            <a:r>
              <a:rPr lang="en-US" sz="1800" dirty="0" smtClean="0"/>
              <a:t/>
            </a:r>
          </a:p>
          <a:p>
            <a:r>
              <a:rPr lang="en-US" sz="1800" dirty="0" smtClean="0"/>
              <a:t>The agent supports both single-candidate and multi-candidate evaluations. When multiple resumes are provided, it generates individual scorecards for each candidate and produces a comparison view that highlights relative strengths, gaps, and overall ranking. This enables recruiters to compare candidates efficiently and consistently.</a:t>
            </a:r>
          </a:p>
          <a:p>
            <a:r>
              <a:rPr lang="en-US" sz="1800" dirty="0" smtClean="0"/>
              <a:t/>
            </a:r>
          </a:p>
          <a:p>
            <a:r>
              <a:rPr lang="en-US" sz="1800" dirty="0" smtClean="0"/>
              <a:t/>
            </a:r>
          </a:p>
          <a:p>
            <a:r>
              <a:rPr lang="en-US" sz="1800" dirty="0" smtClean="0"/>
              <a:t/>
            </a:r>
          </a:p>
          <a:p>
            <a:r>
              <a:rPr lang="en-US" sz="1800" dirty="0" smtClean="0"/>
              <a:t>Scoring and Evaluation Approach</a:t>
            </a:r>
          </a:p>
          <a:p>
            <a:r>
              <a:rPr lang="en-US" sz="1800" dirty="0" smtClean="0"/>
              <a:t/>
            </a:r>
          </a:p>
          <a:p>
            <a:r>
              <a:rPr lang="en-US" sz="1800" dirty="0" smtClean="0"/>
              <a:t>The agent uses a transparent scoring rubric that assesses candidates across multiple job-related dimensions, such as skills match, relevance of experience, measurable achievements, education or certifications, and clarity of resume content. Default weights are applied unless the user specifies a custom rubric.</a:t>
            </a:r>
          </a:p>
          <a:p>
            <a:r>
              <a:rPr lang="en-US" sz="1800" dirty="0" smtClean="0"/>
              <a:t/>
            </a:r>
          </a:p>
          <a:p>
            <a:r>
              <a:rPr lang="en-US" sz="1800" dirty="0" smtClean="0"/>
              <a:t>In addition to numeric scores, the agent identifies risk indicators such as missing mandatory requirements, unclear timelines, unexplained gaps, or vague impact statements. These risk indicators are reported separately to ensure clarity and to avoid conflating concerns with overall scoring.</a:t>
            </a:r>
          </a:p>
          <a:p>
            <a:r>
              <a:rPr lang="en-US" sz="1800" dirty="0" smtClean="0"/>
              <a:t/>
            </a:r>
          </a:p>
          <a:p>
            <a:r>
              <a:rPr lang="en-US" sz="1800" dirty="0" smtClean="0"/>
              <a:t/>
            </a:r>
          </a:p>
          <a:p>
            <a:r>
              <a:rPr lang="en-US" sz="1800" dirty="0" smtClean="0"/>
              <a:t/>
            </a:r>
          </a:p>
          <a:p>
            <a:r>
              <a:rPr lang="en-US" sz="1800" dirty="0" smtClean="0"/>
              <a:t>Explainability and Auditability</a:t>
            </a:r>
          </a:p>
          <a:p>
            <a:r>
              <a:rPr lang="en-US" sz="1800" dirty="0" smtClean="0"/>
              <a:t/>
            </a:r>
          </a:p>
          <a:p>
            <a:r>
              <a:rPr lang="en-US" sz="1800" dirty="0" smtClean="0"/>
              <a:t>A key strength of the HR Resume Scoring Agent is explainability. Every non-trivial evaluation point is supported by short evidence snippets from the resume or explicitly marked as unclear when information is missing. This ensures that outputs are easy to review, validate, and defend.</a:t>
            </a:r>
          </a:p>
          <a:p>
            <a:r>
              <a:rPr lang="en-US" sz="1800" dirty="0" smtClean="0"/>
              <a:t/>
            </a:r>
          </a:p>
          <a:p>
            <a:r>
              <a:rPr lang="en-US" sz="1800" dirty="0" smtClean="0"/>
              <a:t>The agent produces structured summaries that include overall scores, strengths, gaps, must-have alignment, interview focus areas, and suggested follow-up questions. This structured output makes the agent’s assessments suitable for internal HR documentation </a:t>
            </a:r>
          </a:p>
          <a:p>
            <a:r>
              <a:rPr lang="en-US" sz="1800" dirty="0" smtClean="0"/>
              <a:t/>
            </a:r>
          </a:p>
          <a:p>
            <a:r>
              <a:rPr lang="en-US" sz="1800" dirty="0" smtClean="0"/>
              <a:t>Responsible and Bias-Aware Screening</a:t>
            </a:r>
          </a:p>
          <a:p>
            <a:r>
              <a:rPr lang="en-US" sz="1800" dirty="0" smtClean="0"/>
              <a:t/>
            </a:r>
          </a:p>
          <a:p>
            <a:r>
              <a:rPr lang="en-US" sz="1800" dirty="0" smtClean="0"/>
              <a:t>The HR Resume Scoring Agent is designed to support responsible and inclusive hiring practices. It does not use protected or sensitive personal characteristics such as age, gender, race, religion, caste, disability, marital status, nationality, or political views in scoring or reasoning.</a:t>
            </a:r>
          </a:p>
          <a:p>
            <a:r>
              <a:rPr lang="en-US" sz="1800" dirty="0" smtClean="0"/>
              <a:t/>
            </a:r>
          </a:p>
          <a:p>
            <a:r>
              <a:rPr lang="en-US" sz="1800" dirty="0" smtClean="0"/>
              <a:t>If such information appears in a resume, it is ignored entirely and not referenced in the output. All evaluations are based strictly on job-related criteria, helping reduce bias and ensure fair treatment of candidates across different backgrounds.</a:t>
            </a:r>
          </a:p>
          <a:p>
            <a:r>
              <a:rPr lang="en-US" sz="1800" dirty="0" smtClean="0"/>
              <a:t/>
            </a:r>
          </a:p>
          <a:p>
            <a:r>
              <a:rPr lang="en-US" sz="1800" dirty="0" smtClean="0"/>
              <a:t/>
            </a:r>
          </a:p>
          <a:p>
            <a:r>
              <a:rPr lang="en-US" sz="1800" dirty="0" smtClean="0"/>
              <a:t/>
            </a:r>
          </a:p>
          <a:p>
            <a:r>
              <a:rPr lang="en-US" sz="1800" dirty="0" smtClean="0"/>
              <a:t>Privacy and Data Handling</a:t>
            </a:r>
          </a:p>
          <a:p>
            <a:r>
              <a:rPr lang="en-US" sz="1800" dirty="0" smtClean="0"/>
              <a:t/>
            </a:r>
          </a:p>
          <a:p>
            <a:r>
              <a:rPr lang="en-US" sz="1800" dirty="0" smtClean="0"/>
              <a:t>The agent operates only on text explicitly provided by the user in the conversation. It does not access external systems, databases, or proprietary company information. Personal identifiers such as contact details, if present in resumes, are not repeated in the output.</a:t>
            </a:r>
          </a:p>
          <a:p>
            <a:r>
              <a:rPr lang="en-US" sz="1800" dirty="0" smtClean="0"/>
              <a:t/>
            </a:r>
          </a:p>
          <a:p>
            <a:r>
              <a:rPr lang="en-US" sz="1800" dirty="0" smtClean="0"/>
              <a:t>This approach ensures privacy, transparency, and suitability for use in enterprise and regulated HR environments.</a:t>
            </a:r>
          </a:p>
          <a:p>
            <a:r>
              <a:rPr lang="en-US" sz="1800" dirty="0" smtClean="0"/>
              <a:t/>
            </a:r>
          </a:p>
          <a:p>
            <a:r>
              <a:rPr lang="en-US" sz="1800" dirty="0" smtClean="0"/>
              <a:t/>
            </a:r>
          </a:p>
          <a:p>
            <a:r>
              <a:rPr lang="en-US" sz="1800" dirty="0" smtClean="0"/>
              <a:t/>
            </a:r>
          </a:p>
          <a:p>
            <a:r>
              <a:rPr lang="en-US" sz="1800" dirty="0" smtClean="0"/>
              <a:t>Practical Output and Usage</a:t>
            </a:r>
          </a:p>
          <a:p>
            <a:r>
              <a:rPr lang="en-US" sz="1800" dirty="0" smtClean="0"/>
              <a:t/>
            </a:r>
          </a:p>
          <a:p>
            <a:r>
              <a:rPr lang="en-US" sz="1800" dirty="0" smtClean="0"/>
              <a:t>The output produced by the HR Resume Scoring Agent is designed to be immediately usable by HR professionals. Summaries are clearly structured, concise, and focused on decision-relevant information. Interviewers and recruiters can use the output to guide shortlisting, prepare targeted interview questions, and align hiring discussions across teams.</a:t>
            </a:r>
          </a:p>
          <a:p>
            <a:r>
              <a:rPr lang="en-US" sz="1800" dirty="0" smtClean="0"/>
              <a:t/>
            </a:r>
          </a:p>
          <a:p>
            <a:r>
              <a:rPr lang="en-US" sz="1800" dirty="0" smtClean="0"/>
              <a:t>By combining structured scoring, explainability, and bias-aware evaluation, the HR Resume Scoring Agent helps organizations improve efficiency, consistency, and confidence in resume screening.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Netsmartz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https://cloud.ibm.com/catalog/services/netsmartz-llc-resume-scoring-agent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Route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Sauce Labs Real Device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Sauce Labs Real Device Cloud Agent transforms your private device cloud on Sauce Labs into a conversational AI interface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Sauce Labs Real Device Cloud brings real device testing directly into your watsonx Orchestrate workflow — no testing pipelines, no specialized consoles, no engineers required.</a:t>
            </a:r>
          </a:p>
          <a:p>
            <a:r>
              <a:rPr lang="en-US" sz="1800" dirty="0" smtClean="0"/>
              <a:t/>
            </a:r>
          </a:p>
          <a:p>
            <a:r>
              <a:rPr lang="en-US" sz="1800" dirty="0" smtClean="0"/>
              <a:t>Powered by the Sauce Labs Real Device Cloud, this agent allows technical and non-technical teams to trigger live device testing and receive instant quality reports through a simple, conversational interface. Whether you're validating a production release or verifying a critical user journey, Sauce Labs Real Device Cloud delivers the confidence to release — without the complexity of traditional testing infrastructure.</a:t>
            </a:r>
          </a:p>
          <a:p>
            <a:r>
              <a:rPr lang="en-US" sz="1800" dirty="0" smtClean="0"/>
              <a:t/>
            </a:r>
          </a:p>
          <a:p>
            <a:r>
              <a:rPr lang="en-US" sz="1800" dirty="0" smtClean="0"/>
              <a:t>By embedding quality directly into orchestration workflows, Sauce Labs makes testing accessible to every team — turning what was once a specialized, technical process into an automated step anyone can trigger and understand.</a:t>
            </a:r>
          </a:p>
          <a:p>
            <a:r>
              <a:rPr lang="en-US" sz="1800" dirty="0" smtClean="0"/>
              <a:t/>
            </a:r>
          </a:p>
          <a:p>
            <a:r>
              <a:rPr lang="en-US" sz="1800" dirty="0" smtClean="0"/>
              <a:t>Note: An active Real Device subscription and API License Key is required to use the Sauce Real Device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Sauce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https://cloud.ibm.com/catalog/services/sauce-labs-rdc-agent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Snapshot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SpeedSize AI 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SpeedSize® a patented neuroscience-based AI infrastructure for media optimization &amp; delivry, outperforming other CDNs. Book a demo</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SpeedSize® is the only AI-CDN built for the visual internet, trusted by leading global brands. The internet is entering a new era where AI is creating billions of images, videos, and digital experiences, but the infrastructure was never built for this scale. SpeedSize changes that. Powered by patented PVCI (Psycho-Visual Compression Index) and edge adaptive AI-CDN technology, SpeedSize eliminates the decades-old tradeoff between visual quality and performance, making content up to 99% smaller while keeping the same human visual experience. The result: faster websites, richer shopping experiences, lower CO2 emissions, and higher conversions at global scale. Simple no-code integration, usage-based pricing, and free testing make adoption effortless.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SpeedSize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https://cloud.ibm.com/catalog/services/speedsize-ai-cdn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3 containerized HSMs (cHSM), each in a separate physical HSM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 </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t>
            </a:r>
          </a:p>
          <a:p>
            <a:r>
              <a:rPr lang="en-US" sz="1800" dirty="0" smtClean="0"/>
              <a:t>This catalog tile covers subscription to the Standard Live service. In this service the customer has access to three dedicated cHSMs each in a different physical HSM in two geographically separate DCs.</a:t>
            </a:r>
          </a:p>
          <a:p>
            <a:r>
              <a:rPr lang="en-US" sz="1800" dirty="0" smtClean="0"/>
              <a:t>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https://cloud.ibm.com/catalog/services/utimaco-standard-live-general-purpose-hsm-service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using test keys for a group of 2 x HSMs with the same settings &amp; firmware as the Standard Live service.</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r>
          </a:p>
          <a:p>
            <a:r>
              <a:rPr lang="en-US" sz="1800" dirty="0" smtClean="0"/>
              <a:t>This catalog tile covers subscription to the Standard Test Service. This is similar to the Standard Live Service except that test keys are used to make setup and development easier.</a:t>
            </a:r>
          </a:p>
          <a:p>
            <a:r>
              <a:rPr lang="en-US" sz="1800" dirty="0" smtClean="0"/>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Structured Clinical Documentation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converting free-text clinical notes into structured, clinic-defined forms to improve documentation, coding, and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Structured Clinical Documentation Agent is an AI-powered solution that converts free-text clinical notes into structured, standardized documentation aligned with clinic-specific templates and specialty requirements.</a:t>
            </a:r>
          </a:p>
          <a:p>
            <a:r>
              <a:rPr lang="en-US" sz="1800" dirty="0" smtClean="0"/>
              <a:t>In many healthcare settings, clinicians document freely, while systems require structured formats such as SOAP notes or specialty-specific forms. This gap creates inefficiencies, inconsistent records, and challenges in coding and workflow execution.</a:t>
            </a:r>
          </a:p>
          <a:p>
            <a:r>
              <a:rPr lang="en-US" sz="1800" dirty="0" smtClean="0"/>
              <a:t>This agent bridges that gap by transforming unstructured clinical notes—including physician input or AI scribe output—into predefined, structured formats configured by each clinic or specialty. Organizations can define their own documentation templates, forms, and requirements, and the agent ensures that all notes are structured accordingly.</a:t>
            </a:r>
          </a:p>
          <a:p>
            <a:r>
              <a:rPr lang="en-US" sz="1800" dirty="0" smtClean="0"/>
              <a:t>By aligning documentation with clinic-specific workflows, the agent improves consistency, completeness, and usability of clinical data across care teams. It also enhances downstream processes such as coding, billing, reporting, and clinical decision support.</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placeholder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https://cloud.ibm.com/catalog/services/viclinic-inc-structured-clinical-documentation-agent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SysTrack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Resolve IT support incidents 2X faster and deflect tickets with AI-driven troubleshooting and automated fixes.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From the data leader in digital employee experience (DEX) tools, SysTrack AI helps IT organizations deflect tickets, resolve incidents 2X faster, and improve service desk efficiency. With real-time insight into device issues and AI-driven diagnostics, SysTrack AI pinpoints the root cause of problems and provides step-by-step guidance for fast, accurate resolutions. It’s your “easy button” for effective L1 support.</a:t>
            </a:r>
          </a:p>
          <a:p>
            <a:r>
              <a:rPr lang="en-US" sz="1800" dirty="0" smtClean="0"/>
              <a:t/>
            </a:r>
          </a:p>
          <a:p>
            <a:r>
              <a:rPr lang="en-US" sz="1800" dirty="0" smtClean="0"/>
              <a:t> </a:t>
            </a:r>
          </a:p>
          <a:p>
            <a:r>
              <a:rPr lang="en-US" sz="1800" dirty="0" smtClean="0"/>
              <a:t/>
            </a:r>
          </a:p>
          <a:p>
            <a:r>
              <a:rPr lang="en-US" sz="1800" dirty="0" smtClean="0"/>
              <a:t>IT service desk leaders use SysTrack AI to:</a:t>
            </a:r>
          </a:p>
          <a:p>
            <a:r>
              <a:rPr lang="en-US" sz="1800" dirty="0" smtClean="0"/>
              <a:t/>
            </a:r>
          </a:p>
          <a:p>
            <a:r>
              <a:rPr lang="en-US" sz="1800" dirty="0" smtClean="0"/>
              <a:t>Cut mean-time-to-resolution (MTTR) by 50%</a:t>
            </a:r>
          </a:p>
          <a:p>
            <a:r>
              <a:rPr lang="en-US" sz="1800" dirty="0" smtClean="0"/>
              <a:t>Shift left and resolve more issues at lower support tiers</a:t>
            </a:r>
          </a:p>
          <a:p>
            <a:r>
              <a:rPr lang="en-US" sz="1800" dirty="0" smtClean="0"/>
              <a:t>Deflect tickets with user-friendly self-service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Lakeside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https://cloud.ibm.com/catalog/services/lakeside-software-llc-systrack-ai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Veridion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Ask questions about any company, get structured answers powered by Veridion company data.</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Veridion Company Data enables natural language Q&amp;A over company profiles in watsonx Orchestrate.</a:t>
            </a:r>
          </a:p>
          <a:p>
            <a:r>
              <a:rPr lang="en-US" sz="1800" dirty="0" smtClean="0"/>
              <a:t/>
            </a:r>
          </a:p>
          <a:p>
            <a:r>
              <a:rPr lang="en-US" sz="1800" dirty="0" smtClean="0"/>
              <a:t/>
            </a:r>
          </a:p>
          <a:p>
            <a:r>
              <a:rPr lang="en-US" sz="1800" dirty="0" smtClean="0"/>
              <a:t/>
            </a:r>
          </a:p>
          <a:p>
            <a:r>
              <a:rPr lang="en-US" sz="1800" dirty="0" smtClean="0"/>
              <a:t/>
            </a:r>
          </a:p>
          <a:p>
            <a:r>
              <a:rPr lang="en-US" sz="1800" dirty="0" smtClean="0"/>
              <a:t>Ask questions about any company, and the agent retrieves structured company data from Veridion to produce a clear, actionable answer.</a:t>
            </a:r>
          </a:p>
          <a:p>
            <a:r>
              <a:rPr lang="en-US" sz="1800" dirty="0" smtClean="0"/>
              <a:t/>
            </a:r>
          </a:p>
          <a:p>
            <a:r>
              <a:rPr lang="en-US" sz="1800" dirty="0" smtClean="0"/>
              <a:t/>
            </a:r>
          </a:p>
          <a:p>
            <a:r>
              <a:rPr lang="en-US" sz="1800" dirty="0" smtClean="0"/>
              <a:t/>
            </a:r>
          </a:p>
          <a:p>
            <a:r>
              <a:rPr lang="en-US" sz="1800" dirty="0" smtClean="0"/>
              <a:t/>
            </a:r>
          </a:p>
          <a:p>
            <a:r>
              <a:rPr lang="en-US" sz="1800" dirty="0" smtClean="0"/>
              <a:t>Behind the scenes, the agent uses an IBM tool integration to call Veridion’s Match &amp; Enrich API directly.</a:t>
            </a:r>
          </a:p>
          <a:p>
            <a:r>
              <a:rPr lang="en-US" sz="1800" dirty="0" smtClean="0"/>
              <a:t/>
            </a:r>
          </a:p>
          <a:p>
            <a:r>
              <a:rPr lang="en-US" sz="1800" dirty="0" smtClean="0"/>
              <a:t/>
            </a:r>
          </a:p>
          <a:p>
            <a:r>
              <a:rPr lang="en-US" sz="1800" dirty="0" smtClean="0"/>
              <a:t/>
            </a:r>
          </a:p>
          <a:p>
            <a:r>
              <a:rPr lang="en-US" sz="1800" dirty="0" smtClean="0"/>
              <a:t/>
            </a:r>
          </a:p>
          <a:p>
            <a:r>
              <a:rPr lang="en-US" sz="1800" dirty="0" smtClean="0"/>
              <a:t>It resolves the correct company entity from inputs like company name, website, and country, then retrieves enriched firmographic and profile data.</a:t>
            </a:r>
          </a:p>
          <a:p>
            <a:r>
              <a:rPr lang="en-US" sz="1800" dirty="0" smtClean="0"/>
              <a:t/>
            </a:r>
          </a:p>
          <a:p>
            <a:r>
              <a:rPr lang="en-US" sz="1800" dirty="0" smtClean="0"/>
              <a:t/>
            </a:r>
          </a:p>
          <a:p>
            <a:r>
              <a:rPr lang="en-US" sz="1800" dirty="0" smtClean="0"/>
              <a:t/>
            </a:r>
          </a:p>
          <a:p>
            <a:r>
              <a:rPr lang="en-US" sz="1800" dirty="0" smtClean="0"/>
              <a:t/>
            </a:r>
          </a:p>
          <a:p>
            <a:r>
              <a:rPr lang="en-US" sz="1800" dirty="0" smtClean="0"/>
              <a:t>The agent uses this enriched data to answer the user’s questions.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Dataworks Research SRL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https://cloud.ibm.com/catalog/services/dataworks-research-srl-veridion-agent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Machine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Persistent Memory 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2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271</a:t>
            </a:r>
            <a:endParaRPr lang="en-US" dirty="0"/>
          </a:p>
        </p:txBody>
      </p:sp>
    </p:spTree>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name="Slide 2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272</a:t>
            </a:r>
            <a:endParaRPr lang="en-US" dirty="0"/>
          </a:p>
        </p:txBody>
      </p:sp>
    </p:spTree>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name="Slide 2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273</a:t>
            </a:r>
            <a:endParaRPr lang="en-US" dirty="0"/>
          </a:p>
        </p:txBody>
      </p:sp>
    </p:spTree>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name="Slide 2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274</a:t>
            </a:r>
            <a:endParaRPr lang="en-US" dirty="0"/>
          </a:p>
        </p:txBody>
      </p:sp>
    </p:spTree>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name="Slide 2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275</a:t>
            </a:r>
            <a:endParaRPr lang="en-US" dirty="0"/>
          </a:p>
        </p:txBody>
      </p:sp>
    </p:spTree>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name="Slide 2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276</a:t>
            </a:r>
            <a:endParaRPr lang="en-US" dirty="0"/>
          </a:p>
        </p:txBody>
      </p:sp>
    </p:spTree>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name="Slide 2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Wanclouds AI Assistant (WANDA) for Hybrid Infrastructure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Chat with Your Infrastructure!</a:t>
            </a:r>
          </a:p>
          <a:p>
            <a:r>
              <a:rPr lang="en-US" sz="2000" dirty="0" smtClean="0">
                <a:solidFill>
                  <a:srgbClr val="808080"/>
                </a:solidFill>
              </a:rPr>
              <a:t>Meet WANDA(Wanclouds Digital Assistant) : Your 24/7 AI Engineer for Hybrid Cloud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AI (WANDA) allows you to create one or multiple AI Assistants for Cloud and IT Infrastructure management. It covers multi-vendor infrastructure resources and workloads including servers (Linux, Windows),firewalls, network routers, switches, VMware, Kubernetes and more. The Solution covers devices deployed in the cloud (IBM Cloud, other cloud) as well as On-Premise and Edge or Remote Sites.You can add your cloud, on-premises, and edge devices into a single platform, creating a unified interface for your entire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Think of it as your AI Expert Assistant(s) to help you watch your infrastructure 24x7, integrated with your existing monitoring, logging tools, devices, and fully aware of your policies and guidelines. It continuously monitors the health, logs, and metrics of your cloud and IT infrastructure. Proactively track configuration changes, software updates, and system behavior to ensure your environments run smoothly and cost-effectively.</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By combining monitoring, logs, troubleshooting, and intelligent querying, it helps IT teams dramatically reduce the time to diagnose and resolve issues, all while learning and adapting to your unique environment through its contextual memory capabilities. Moreover, you can run security and optimization assessments on-demand as well as query any aspect of your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Key Features</a:t>
            </a:r>
          </a:p>
          <a:p>
            <a:r>
              <a:rPr lang="en-US" sz="1800" dirty="0" smtClean="0"/>
              <a:t/>
            </a:r>
          </a:p>
          <a:p>
            <a:r>
              <a:rPr lang="en-US" sz="1800" dirty="0" smtClean="0"/>
              <a:t/>
            </a:r>
          </a:p>
          <a:p>
            <a:r>
              <a:rPr lang="en-US" sz="1800" dirty="0" smtClean="0"/>
              <a:t/>
            </a:r>
          </a:p>
          <a:p>
            <a:r>
              <a:rPr lang="en-US" sz="1800" dirty="0" smtClean="0"/>
              <a:t/>
            </a:r>
          </a:p>
          <a:p>
            <a:r>
              <a:rPr lang="en-US" sz="1800" dirty="0" smtClean="0"/>
              <a:t>-  Add cloud Environments (such as IBM Cloud VPC, Classic), On-Premise resources, as well as other cloud workloads.</a:t>
            </a:r>
          </a:p>
          <a:p>
            <a:r>
              <a:rPr lang="en-US" sz="1800" dirty="0" smtClean="0"/>
              <a:t/>
            </a:r>
          </a:p>
          <a:p>
            <a:r>
              <a:rPr lang="en-US" sz="1800" dirty="0" smtClean="0"/>
              <a:t>- Add VMware resources or individual servers, routers, firewalls, and switches.</a:t>
            </a:r>
          </a:p>
          <a:p>
            <a:r>
              <a:rPr lang="en-US" sz="1800" dirty="0" smtClean="0"/>
              <a:t/>
            </a:r>
          </a:p>
          <a:p>
            <a:r>
              <a:rPr lang="en-US" sz="1800" dirty="0" smtClean="0"/>
              <a:t>-  Configuration &amp; Change Tracking – Watches for configuration drifts, software updates, and system changes that may impact stability.</a:t>
            </a:r>
          </a:p>
          <a:p>
            <a:r>
              <a:rPr lang="en-US" sz="1800" dirty="0" smtClean="0"/>
              <a:t/>
            </a:r>
          </a:p>
          <a:p>
            <a:r>
              <a:rPr lang="en-US" sz="1800" dirty="0" smtClean="0"/>
              <a:t/>
            </a:r>
          </a:p>
          <a:p>
            <a:r>
              <a:rPr lang="en-US" sz="1800" dirty="0" smtClean="0"/>
              <a:t>-  Troubleshooting &amp; Root-Cause Analysis – Performs root-cause analysis and provides guided remediation steps to resolve issues faster.</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Proactive Monitoring – Continuously collects health, logs, and performance data from servers, GPUs, network devices, and applications.</a:t>
            </a:r>
          </a:p>
          <a:p>
            <a:r>
              <a:rPr lang="en-US" sz="1800" dirty="0" smtClean="0"/>
              <a:t/>
            </a:r>
          </a:p>
          <a:p>
            <a:r>
              <a:rPr lang="en-US" sz="1800" dirty="0" smtClean="0"/>
              <a:t>- Perform Security risk assessments and compliance audits against known industry and government standards such as PCI, HIPAA, SOC2, NIST etc</a:t>
            </a:r>
          </a:p>
          <a:p>
            <a:r>
              <a:rPr lang="en-US" sz="1800" dirty="0" smtClean="0"/>
              <a:t/>
            </a:r>
          </a:p>
          <a:p>
            <a:r>
              <a:rPr lang="en-US" sz="1800" dirty="0" smtClean="0"/>
              <a:t/>
            </a:r>
          </a:p>
          <a:p>
            <a:r>
              <a:rPr lang="en-US" sz="1800" dirty="0" smtClean="0"/>
              <a:t/>
            </a:r>
          </a:p>
          <a:p>
            <a:r>
              <a:rPr lang="en-US" sz="1800" dirty="0" smtClean="0"/>
              <a:t/>
            </a:r>
          </a:p>
          <a:p>
            <a:r>
              <a:rPr lang="en-US" sz="1800" dirty="0" smtClean="0"/>
              <a:t>-  Intelligent Querying – Answer natural language queries such as “What caused the last outage?” or “How is my cluster performing today?”.</a:t>
            </a:r>
          </a:p>
          <a:p>
            <a:r>
              <a:rPr lang="en-US" sz="1800" dirty="0" smtClean="0"/>
              <a:t/>
            </a:r>
          </a:p>
          <a:p>
            <a:r>
              <a:rPr lang="en-US" sz="1800" dirty="0" smtClean="0"/>
              <a:t/>
            </a:r>
          </a:p>
          <a:p>
            <a:r>
              <a:rPr lang="en-US" sz="1800" dirty="0" smtClean="0"/>
              <a:t/>
            </a:r>
          </a:p>
          <a:p>
            <a:r>
              <a:rPr lang="en-US" sz="1800" dirty="0" smtClean="0"/>
              <a:t/>
            </a:r>
          </a:p>
          <a:p>
            <a:r>
              <a:rPr lang="en-US" sz="1800" dirty="0" smtClean="0"/>
              <a:t> -  Adaptive Learning – Learns your infrastructure over time with a memory component, improving accuracy and insights.</a:t>
            </a:r>
          </a:p>
          <a:p>
            <a:r>
              <a:rPr lang="en-US" sz="1800" dirty="0" smtClean="0"/>
              <a:t/>
            </a:r>
          </a:p>
          <a:p>
            <a:r>
              <a:rPr lang="en-US" sz="1800" dirty="0" smtClean="0"/>
              <a:t/>
            </a:r>
          </a:p>
          <a:p>
            <a:r>
              <a:rPr lang="en-US" sz="1800" dirty="0" smtClean="0"/>
              <a:t/>
            </a:r>
          </a:p>
          <a:p>
            <a:r>
              <a:rPr lang="en-US" sz="1800" dirty="0" smtClean="0"/>
              <a:t/>
            </a:r>
          </a:p>
          <a:p>
            <a:r>
              <a:rPr lang="en-US" sz="1800" dirty="0" smtClean="0"/>
              <a:t> -  24x7 Availability – Acts as a round-the-clock virtual engineer without the overhead of traditional staffing.</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Review existing policy and compliance documents and create what’s missing or required</a:t>
            </a:r>
          </a:p>
          <a:p>
            <a:r>
              <a:rPr lang="en-US" sz="1800" dirty="0" smtClean="0"/>
              <a:t/>
            </a:r>
          </a:p>
          <a:p>
            <a:r>
              <a:rPr lang="en-US" sz="1800" dirty="0" smtClean="0"/>
              <a:t/>
            </a:r>
          </a:p>
          <a:p>
            <a:r>
              <a:rPr lang="en-US" sz="1800" dirty="0" smtClean="0"/>
              <a:t/>
            </a:r>
          </a:p>
          <a:p>
            <a:r>
              <a:rPr lang="en-US" sz="1800" dirty="0" smtClean="0"/>
              <a:t/>
            </a:r>
          </a:p>
          <a:p>
            <a:r>
              <a:rPr lang="en-US" sz="1800" dirty="0" smtClean="0"/>
              <a:t>- Identify optimization opportunities to reduce costs and eliminate wastage</a:t>
            </a:r>
          </a:p>
          <a:p>
            <a:r>
              <a:rPr lang="en-US" sz="1800" dirty="0" smtClean="0"/>
              <a:t/>
            </a:r>
          </a:p>
          <a:p>
            <a:r>
              <a:rPr lang="en-US" sz="1800" dirty="0" smtClean="0"/>
              <a:t/>
            </a:r>
          </a:p>
          <a:p>
            <a:r>
              <a:rPr lang="en-US" sz="1800" dirty="0" smtClean="0"/>
              <a:t/>
            </a:r>
          </a:p>
          <a:p>
            <a:r>
              <a:rPr lang="en-US" sz="1800" dirty="0" smtClean="0"/>
              <a:t/>
            </a:r>
          </a:p>
          <a:p>
            <a:r>
              <a:rPr lang="en-US" sz="1800" dirty="0" smtClean="0"/>
              <a:t>- Create Executive summaries against your infrastructure state as required</a:t>
            </a:r>
          </a:p>
          <a:p>
            <a:r>
              <a:rPr lang="en-US" sz="1800" dirty="0" smtClean="0"/>
              <a:t/>
            </a:r>
          </a:p>
          <a:p>
            <a:r>
              <a:rPr lang="en-US" sz="1800" dirty="0" smtClean="0"/>
              <a:t/>
            </a:r>
          </a:p>
          <a:p>
            <a:r>
              <a:rPr lang="en-US" sz="1800" dirty="0" smtClean="0"/>
              <a:t/>
            </a:r>
          </a:p>
          <a:p>
            <a:r>
              <a:rPr lang="en-US" sz="1800" dirty="0" smtClean="0"/>
              <a:t/>
            </a:r>
          </a:p>
          <a:p>
            <a:r>
              <a:rPr lang="en-US" sz="1800" dirty="0" smtClean="0"/>
              <a:t>- Track software deployed in your infrastructure and discover EOL and assess risk levels </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VSIs and data volumes to IBM COS, making them ready for restoration in IBM Cloud VPC.</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VMware / VCF VMs and Data to IBM COS and ready to restore as VPC native VSIs and volumes.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Benefits</a:t>
            </a:r>
          </a:p>
          <a:p>
            <a:r>
              <a:rPr lang="en-US" sz="1800" dirty="0" smtClean="0"/>
              <a:t/>
            </a:r>
          </a:p>
          <a:p>
            <a:r>
              <a:rPr lang="en-US" sz="1800" dirty="0" smtClean="0"/>
              <a:t/>
            </a:r>
          </a:p>
          <a:p>
            <a:r>
              <a:rPr lang="en-US" sz="1800" dirty="0" smtClean="0"/>
              <a:t/>
            </a:r>
          </a:p>
          <a:p>
            <a:r>
              <a:rPr lang="en-US" sz="1800" dirty="0" smtClean="0"/>
              <a:t/>
            </a:r>
          </a:p>
          <a:p>
            <a:r>
              <a:rPr lang="en-US" sz="1800" dirty="0" smtClean="0"/>
              <a:t>  -  Faster Root-Cause Analysis – Reduce troubleshooting times from hours to minutes.</a:t>
            </a:r>
          </a:p>
          <a:p>
            <a:r>
              <a:rPr lang="en-US" sz="1800" dirty="0" smtClean="0"/>
              <a:t/>
            </a:r>
          </a:p>
          <a:p>
            <a:r>
              <a:rPr lang="en-US" sz="1800" dirty="0" smtClean="0"/>
              <a:t/>
            </a:r>
          </a:p>
          <a:p>
            <a:r>
              <a:rPr lang="en-US" sz="1800" dirty="0" smtClean="0"/>
              <a:t/>
            </a:r>
          </a:p>
          <a:p>
            <a:r>
              <a:rPr lang="en-US" sz="1800" dirty="0" smtClean="0"/>
              <a:t/>
            </a:r>
          </a:p>
          <a:p>
            <a:r>
              <a:rPr lang="en-US" sz="1800" dirty="0" smtClean="0"/>
              <a:t>Increase uptime and reliability by tracking security compliance gaps and risks across your IT and cloud infrastructure. </a:t>
            </a:r>
          </a:p>
          <a:p>
            <a:r>
              <a:rPr lang="en-US" sz="1800" dirty="0" smtClean="0"/>
              <a:t/>
            </a:r>
          </a:p>
          <a:p>
            <a:r>
              <a:rPr lang="en-US" sz="1800" dirty="0" smtClean="0"/>
              <a:t>Keep costs in control by assessing wastage and oversized infrastructure resources</a:t>
            </a:r>
          </a:p>
          <a:p>
            <a:r>
              <a:rPr lang="en-US" sz="1800" dirty="0" smtClean="0"/>
              <a:t/>
            </a:r>
          </a:p>
          <a:p>
            <a:r>
              <a:rPr lang="en-US" sz="1800" dirty="0" smtClean="0"/>
              <a:t/>
            </a:r>
          </a:p>
          <a:p>
            <a:r>
              <a:rPr lang="en-US" sz="1800" dirty="0" smtClean="0"/>
              <a:t/>
            </a:r>
          </a:p>
          <a:p>
            <a:r>
              <a:rPr lang="en-US" sz="1800" dirty="0" smtClean="0"/>
              <a:t/>
            </a:r>
          </a:p>
          <a:p>
            <a:r>
              <a:rPr lang="en-US" sz="1800" dirty="0" smtClean="0"/>
              <a:t> -  Increased Reliability – Identify and resolve issues before they escalate.</a:t>
            </a:r>
          </a:p>
          <a:p>
            <a:r>
              <a:rPr lang="en-US" sz="1800" dirty="0" smtClean="0"/>
              <a:t/>
            </a:r>
          </a:p>
          <a:p>
            <a:r>
              <a:rPr lang="en-US" sz="1800" dirty="0" smtClean="0"/>
              <a:t/>
            </a:r>
          </a:p>
          <a:p>
            <a:r>
              <a:rPr lang="en-US" sz="1800" dirty="0" smtClean="0"/>
              <a:t/>
            </a:r>
          </a:p>
          <a:p>
            <a:r>
              <a:rPr lang="en-US" sz="1800" dirty="0" smtClean="0"/>
              <a:t/>
            </a:r>
          </a:p>
          <a:p>
            <a:r>
              <a:rPr lang="en-US" sz="1800" dirty="0" smtClean="0"/>
              <a:t> -  Cost-Effective Operations – Reduce operational costs by up to 50%. A fraction of the cost of adding human NOC/SRE staff.</a:t>
            </a:r>
          </a:p>
          <a:p>
            <a:r>
              <a:rPr lang="en-US" sz="1800" dirty="0" smtClean="0"/>
              <a:t/>
            </a:r>
          </a:p>
          <a:p>
            <a:r>
              <a:rPr lang="en-US" sz="1800" dirty="0" smtClean="0"/>
              <a:t/>
            </a:r>
          </a:p>
          <a:p>
            <a:r>
              <a:rPr lang="en-US" sz="1800" dirty="0" smtClean="0"/>
              <a:t/>
            </a:r>
          </a:p>
          <a:p>
            <a:r>
              <a:rPr lang="en-US" sz="1800" dirty="0" smtClean="0"/>
              <a:t/>
            </a:r>
          </a:p>
          <a:p>
            <a:r>
              <a:rPr lang="en-US" sz="1800" dirty="0" smtClean="0"/>
              <a:t> -  Improved IT Productivity – 3X and more productivity gains. Free up engineering teams to focus on innovation, not firefighting.</a:t>
            </a:r>
          </a:p>
          <a:p>
            <a:r>
              <a:rPr lang="en-US" sz="1800" dirty="0" smtClean="0"/>
              <a:t/>
            </a:r>
          </a:p>
          <a:p>
            <a:r>
              <a:rPr lang="en-US" sz="1800" dirty="0" smtClean="0"/>
              <a:t/>
            </a:r>
          </a:p>
          <a:p>
            <a:r>
              <a:rPr lang="en-US" sz="1800" dirty="0" smtClean="0"/>
              <a:t/>
            </a:r>
          </a:p>
          <a:p>
            <a:r>
              <a:rPr lang="en-US" sz="1800" dirty="0" smtClean="0"/>
              <a:t/>
            </a:r>
          </a:p>
          <a:p>
            <a:r>
              <a:rPr lang="en-US" sz="1800" dirty="0" smtClean="0"/>
              <a:t> -  Scalable &amp; Adaptable – Grows with your environment and continuously learns from it.</a:t>
            </a:r>
          </a:p>
          <a:p>
            <a:r>
              <a:rPr lang="en-US" sz="1800" dirty="0" smtClean="0"/>
              <a:t/>
            </a:r>
          </a:p>
          <a:p>
            <a:r>
              <a:rPr lang="en-US" sz="1800" dirty="0" smtClean="0"/>
              <a:t/>
            </a:r>
          </a:p>
          <a:p>
            <a:r>
              <a:rPr lang="en-US" sz="1800" dirty="0" smtClean="0"/>
              <a:t/>
            </a:r>
          </a:p>
          <a:p>
            <a:r>
              <a:rPr lang="en-US" sz="1800" dirty="0" smtClean="0"/>
              <a:t/>
            </a:r>
          </a:p>
          <a:p>
            <a:r>
              <a:rPr lang="en-US" sz="1800" dirty="0" smtClean="0"/>
              <a:t>- Addresses skill gaps with its expert troubleshooting, management, and assessments ranging from Windows, Linux to Nvidia GPUs as well as Firewalls and multi-vendor network devices.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p>
          <a:p>
            <a:r>
              <a:rPr lang="en-US" sz="1800" dirty="0" smtClean="0"/>
              <a:t>Wanclouds AI (WANDA) is your always-on AI engineer from Wanclouds, helping you stay ahead of outages, errors, security risks, and costly downtime..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If you need a private instance of Wanclouds AI dedicated to your cloud and IT infrastructure resources, please contact Wanclouds at www.wanclouds.net or sales@wanclouds.net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277</a:t>
            </a:r>
            <a:endParaRPr lang="en-US" dirty="0"/>
          </a:p>
        </p:txBody>
      </p:sp>
    </p:spTree>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name="Slide 2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278</a:t>
            </a:r>
            <a:endParaRPr lang="en-US" dirty="0"/>
          </a:p>
        </p:txBody>
      </p:sp>
    </p:spTree>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p:cSld name="Slide 2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279</a:t>
            </a:r>
            <a:endParaRPr lang="en-US" dirty="0"/>
          </a:p>
        </p:txBody>
      </p:sp>
    </p:spTree>
  </p:cSld>
  <p:clrMapOvr>
    <a:masterClrMapping/>
  </p:clrMapOvr>
</p:sld>
</file>

<file path=ppt/slides/slide280.xml><?xml version="1.0" encoding="utf-8"?>
<p:sld xmlns:a="http://schemas.openxmlformats.org/drawingml/2006/main" xmlns:r="http://schemas.openxmlformats.org/officeDocument/2006/relationships" xmlns:p="http://schemas.openxmlformats.org/presentationml/2006/main">
  <p:cSld name="Slide 2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280</a:t>
            </a:r>
            <a:endParaRPr lang="en-US" dirty="0"/>
          </a:p>
        </p:txBody>
      </p:sp>
    </p:spTree>
  </p:cSld>
  <p:clrMapOvr>
    <a:masterClrMapping/>
  </p:clrMapOvr>
</p:sld>
</file>

<file path=ppt/slides/slide281.xml><?xml version="1.0" encoding="utf-8"?>
<p:sld xmlns:a="http://schemas.openxmlformats.org/drawingml/2006/main" xmlns:r="http://schemas.openxmlformats.org/officeDocument/2006/relationships" xmlns:p="http://schemas.openxmlformats.org/presentationml/2006/main">
  <p:cSld name="Slide 2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281</a:t>
            </a:r>
            <a:endParaRPr lang="en-US" dirty="0"/>
          </a:p>
        </p:txBody>
      </p:sp>
    </p:spTree>
  </p:cSld>
  <p:clrMapOvr>
    <a:masterClrMapping/>
  </p:clrMapOvr>
</p:sld>
</file>

<file path=ppt/slides/slide282.xml><?xml version="1.0" encoding="utf-8"?>
<p:sld xmlns:a="http://schemas.openxmlformats.org/drawingml/2006/main" xmlns:r="http://schemas.openxmlformats.org/officeDocument/2006/relationships" xmlns:p="http://schemas.openxmlformats.org/presentationml/2006/main">
  <p:cSld name="Slide 2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282</a:t>
            </a:r>
            <a:endParaRPr lang="en-US" dirty="0"/>
          </a:p>
        </p:txBody>
      </p:sp>
    </p:spTree>
  </p:cSld>
  <p:clrMapOvr>
    <a:masterClrMapping/>
  </p:clrMapOvr>
</p:sld>
</file>

<file path=ppt/slides/slide283.xml><?xml version="1.0" encoding="utf-8"?>
<p:sld xmlns:a="http://schemas.openxmlformats.org/drawingml/2006/main" xmlns:r="http://schemas.openxmlformats.org/officeDocument/2006/relationships" xmlns:p="http://schemas.openxmlformats.org/presentationml/2006/main">
  <p:cSld name="Slide 2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283</a:t>
            </a:r>
            <a:endParaRPr lang="en-US" dirty="0"/>
          </a:p>
        </p:txBody>
      </p:sp>
    </p:spTree>
  </p:cSld>
  <p:clrMapOvr>
    <a:masterClrMapping/>
  </p:clrMapOvr>
</p:sld>
</file>

<file path=ppt/slides/slide284.xml><?xml version="1.0" encoding="utf-8"?>
<p:sld xmlns:a="http://schemas.openxmlformats.org/drawingml/2006/main" xmlns:r="http://schemas.openxmlformats.org/officeDocument/2006/relationships" xmlns:p="http://schemas.openxmlformats.org/presentationml/2006/main">
  <p:cSld name="Slide 2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284</a:t>
            </a:r>
            <a:endParaRPr lang="en-US" dirty="0"/>
          </a:p>
        </p:txBody>
      </p:sp>
    </p:spTree>
  </p:cSld>
  <p:clrMapOvr>
    <a:masterClrMapping/>
  </p:clrMapOvr>
</p:sld>
</file>

<file path=ppt/slides/slide285.xml><?xml version="1.0" encoding="utf-8"?>
<p:sld xmlns:a="http://schemas.openxmlformats.org/drawingml/2006/main" xmlns:r="http://schemas.openxmlformats.org/officeDocument/2006/relationships" xmlns:p="http://schemas.openxmlformats.org/presentationml/2006/main">
  <p:cSld name="Slide 2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285</a:t>
            </a:r>
            <a:endParaRPr lang="en-US" dirty="0"/>
          </a:p>
        </p:txBody>
      </p:sp>
    </p:spTree>
  </p:cSld>
  <p:clrMapOvr>
    <a:masterClrMapping/>
  </p:clrMapOvr>
</p:sld>
</file>

<file path=ppt/slides/slide286.xml><?xml version="1.0" encoding="utf-8"?>
<p:sld xmlns:a="http://schemas.openxmlformats.org/drawingml/2006/main" xmlns:r="http://schemas.openxmlformats.org/officeDocument/2006/relationships" xmlns:p="http://schemas.openxmlformats.org/presentationml/2006/main">
  <p:cSld name="Slide 2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286</a:t>
            </a:r>
            <a:endParaRPr lang="en-US" dirty="0"/>
          </a:p>
        </p:txBody>
      </p:sp>
    </p:spTree>
  </p:cSld>
  <p:clrMapOvr>
    <a:masterClrMapping/>
  </p:clrMapOvr>
</p:sld>
</file>

<file path=ppt/slides/slide287.xml><?xml version="1.0" encoding="utf-8"?>
<p:sld xmlns:a="http://schemas.openxmlformats.org/drawingml/2006/main" xmlns:r="http://schemas.openxmlformats.org/officeDocument/2006/relationships" xmlns:p="http://schemas.openxmlformats.org/presentationml/2006/main">
  <p:cSld name="Slide 2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287</a:t>
            </a:r>
            <a:endParaRPr lang="en-US" dirty="0"/>
          </a:p>
        </p:txBody>
      </p:sp>
    </p:spTree>
  </p:cSld>
  <p:clrMapOvr>
    <a:masterClrMapping/>
  </p:clrMapOvr>
</p:sld>
</file>

<file path=ppt/slides/slide288.xml><?xml version="1.0" encoding="utf-8"?>
<p:sld xmlns:a="http://schemas.openxmlformats.org/drawingml/2006/main" xmlns:r="http://schemas.openxmlformats.org/officeDocument/2006/relationships" xmlns:p="http://schemas.openxmlformats.org/presentationml/2006/main">
  <p:cSld name="Slide 2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288</a:t>
            </a:r>
            <a:endParaRPr lang="en-US" dirty="0"/>
          </a:p>
        </p:txBody>
      </p:sp>
    </p:spTree>
  </p:cSld>
  <p:clrMapOvr>
    <a:masterClrMapping/>
  </p:clrMapOvr>
</p:sld>
</file>

<file path=ppt/slides/slide289.xml><?xml version="1.0" encoding="utf-8"?>
<p:sld xmlns:a="http://schemas.openxmlformats.org/drawingml/2006/main" xmlns:r="http://schemas.openxmlformats.org/officeDocument/2006/relationships" xmlns:p="http://schemas.openxmlformats.org/presentationml/2006/main">
  <p:cSld name="Slide 2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289</a:t>
            </a:r>
            <a:endParaRPr lang="en-US" dirty="0"/>
          </a:p>
        </p:txBody>
      </p:sp>
    </p:spTree>
  </p:cSld>
  <p:clrMapOvr>
    <a:masterClrMapping/>
  </p:clrMapOvr>
</p:sld>
</file>

<file path=ppt/slides/slide290.xml><?xml version="1.0" encoding="utf-8"?>
<p:sld xmlns:a="http://schemas.openxmlformats.org/drawingml/2006/main" xmlns:r="http://schemas.openxmlformats.org/officeDocument/2006/relationships" xmlns:p="http://schemas.openxmlformats.org/presentationml/2006/main">
  <p:cSld name="Slide 2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290</a:t>
            </a:r>
            <a:endParaRPr lang="en-US" dirty="0"/>
          </a:p>
        </p:txBody>
      </p:sp>
    </p:spTree>
  </p:cSld>
  <p:clrMapOvr>
    <a:masterClrMapping/>
  </p:clrMapOvr>
</p:sld>
</file>

<file path=ppt/slides/slide291.xml><?xml version="1.0" encoding="utf-8"?>
<p:sld xmlns:a="http://schemas.openxmlformats.org/drawingml/2006/main" xmlns:r="http://schemas.openxmlformats.org/officeDocument/2006/relationships" xmlns:p="http://schemas.openxmlformats.org/presentationml/2006/main">
  <p:cSld name="Slide 2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291</a:t>
            </a:r>
            <a:endParaRPr lang="en-US" dirty="0"/>
          </a:p>
        </p:txBody>
      </p:sp>
    </p:spTree>
  </p:cSld>
  <p:clrMapOvr>
    <a:masterClrMapping/>
  </p:clrMapOvr>
</p:sld>
</file>

<file path=ppt/slides/slide292.xml><?xml version="1.0" encoding="utf-8"?>
<p:sld xmlns:a="http://schemas.openxmlformats.org/drawingml/2006/main" xmlns:r="http://schemas.openxmlformats.org/officeDocument/2006/relationships" xmlns:p="http://schemas.openxmlformats.org/presentationml/2006/main">
  <p:cSld name="Slide 2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292</a:t>
            </a:r>
            <a:endParaRPr lang="en-US" dirty="0"/>
          </a:p>
        </p:txBody>
      </p:sp>
    </p:spTree>
  </p:cSld>
  <p:clrMapOvr>
    <a:masterClrMapping/>
  </p:clrMapOvr>
</p:sld>
</file>

<file path=ppt/slides/slide293.xml><?xml version="1.0" encoding="utf-8"?>
<p:sld xmlns:a="http://schemas.openxmlformats.org/drawingml/2006/main" xmlns:r="http://schemas.openxmlformats.org/officeDocument/2006/relationships" xmlns:p="http://schemas.openxmlformats.org/presentationml/2006/main">
  <p:cSld name="Slide 2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293</a:t>
            </a:r>
            <a:endParaRPr lang="en-US" dirty="0"/>
          </a:p>
        </p:txBody>
      </p:sp>
    </p:spTree>
  </p:cSld>
  <p:clrMapOvr>
    <a:masterClrMapping/>
  </p:clrMapOvr>
</p:sld>
</file>

<file path=ppt/slides/slide294.xml><?xml version="1.0" encoding="utf-8"?>
<p:sld xmlns:a="http://schemas.openxmlformats.org/drawingml/2006/main" xmlns:r="http://schemas.openxmlformats.org/officeDocument/2006/relationships" xmlns:p="http://schemas.openxmlformats.org/presentationml/2006/main">
  <p:cSld name="Slide 2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ZIEMACS AI Copilot for PowerHA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Native Watsonx Orchestrate agent for IBM PowerHA SystemMirror: planning, monitoring, and troubleshooting across 11 domains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ZIEMACS AI Copilot for PowerHA is a native watsonx Orchestrate agent that simplifies IBM PowerHA SystemMirror cluster management on AIX. The agent provides 50 specialized tools delivering Planning, Monitoring, and Troubleshooting capabilities across 11 PowerHA management domains, including cluster health monitoring, configuration analysis,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brings AI assistance to the monitoring, diagnosis, and analysis tasks that traditionally require deep specialist knowledge. It monitors cluster health, surfaces emerging issues, and recommends remediation steps before they impact availability. The agent diagnoses complex cluster problems using AI-driven analysis of logs, configurations, and system state across CAA and PowerHA components. It also covers Geographic Logical Volume Manager (GLVM) and Geographic Resource Shifting (GRS) for cross-site replication readiness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Key benefits include closing the IBM Power skills gap with 24/7 AI expertise, reducing human error through standardized operations, and accelerating response times from hours to minutes. The agent operates within your watsonx Orchestrate tenant's role-based access controls, and human-in-the-loop approval workflows for write-class operations are on the near-term roadmap.</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for PowerHA is available in three IBM-approved tiers: Starter (2 clusters with 4 nodes each, email support), Professional (5 clusters with 8 nodes each, priority support, with deployment and migration capabilities on the roadmap), and Enterprise (unlimited clusters with up to 32 nodes, 24/7 named support, with disaster recovery execution and A2A interoperability in development). Built by ZIEMACS AI, an IBM Partner Plus Silver Build partner, and qualified through IBM Agent Connect.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ZIEMACS AI,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https://cloud.ibm.com/catalog/services/ziemacs-cma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294</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294</Slides>
  <Notes>0</Notes>
  <HiddenSlides>0</HiddenSlides>
  <MMClips>0</MMClips>
  <ScaleCrop>false</ScaleCrop>
  <HeadingPairs>
    <vt:vector size="4" baseType="variant">
      <vt:variant>
        <vt:lpstr>Theme</vt:lpstr>
      </vt:variant>
      <vt:variant>
        <vt:i4>1</vt:i4>
      </vt:variant>
      <vt:variant>
        <vt:lpstr>Slide Titles</vt:lpstr>
      </vt:variant>
      <vt:variant>
        <vt:i4>294</vt:i4>
      </vt:variant>
    </vt:vector>
  </HeadingPairs>
  <TitlesOfParts>
    <vt:vector size="295"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lpstr>Slide 271</vt:lpstr>
      <vt:lpstr>Slide 272</vt:lpstr>
      <vt:lpstr>Slide 273</vt:lpstr>
      <vt:lpstr>Slide 274</vt:lpstr>
      <vt:lpstr>Slide 275</vt:lpstr>
      <vt:lpstr>Slide 276</vt:lpstr>
      <vt:lpstr>Slide 277</vt:lpstr>
      <vt:lpstr>Slide 278</vt:lpstr>
      <vt:lpstr>Slide 279</vt:lpstr>
      <vt:lpstr>Slide 280</vt:lpstr>
      <vt:lpstr>Slide 281</vt:lpstr>
      <vt:lpstr>Slide 282</vt:lpstr>
      <vt:lpstr>Slide 283</vt:lpstr>
      <vt:lpstr>Slide 284</vt:lpstr>
      <vt:lpstr>Slide 285</vt:lpstr>
      <vt:lpstr>Slide 286</vt:lpstr>
      <vt:lpstr>Slide 287</vt:lpstr>
      <vt:lpstr>Slide 288</vt:lpstr>
      <vt:lpstr>Slide 289</vt:lpstr>
      <vt:lpstr>Slide 290</vt:lpstr>
      <vt:lpstr>Slide 291</vt:lpstr>
      <vt:lpstr>Slide 292</vt:lpstr>
      <vt:lpstr>Slide 293</vt:lpstr>
      <vt:lpstr>Slide 294</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2026-07-30T01:25:43Z</dcterms:created>
  <dcterms:modified xsi:type="dcterms:W3CDTF">2026-07-30T01:25:43Z</dcterms:modified>
</cp:coreProperties>
</file>