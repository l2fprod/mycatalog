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 id="554" r:id="rId300"/>
    <p:sldId id="555" r:id="rId301"/>
    <p:sldId id="556" r:id="rId302"/>
    <p:sldId id="557" r:id="rId303"/>
    <p:sldId id="558" r:id="rId304"/>
    <p:sldId id="559" r:id="rId305"/>
    <p:sldId id="560" r:id="rId306"/>
    <p:sldId id="561" r:id="rId307"/>
    <p:sldId id="562" r:id="rId308"/>
    <p:sldId id="563" r:id="rId309"/>
    <p:sldId id="564" r:id="rId310"/>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slide" Target="slides/slide305.xml"/><Relationship Id="rId307" Type="http://schemas.openxmlformats.org/officeDocument/2006/relationships/slide" Target="slides/slide306.xml"/><Relationship Id="rId308" Type="http://schemas.openxmlformats.org/officeDocument/2006/relationships/slide" Target="slides/slide307.xml"/><Relationship Id="rId309" Type="http://schemas.openxmlformats.org/officeDocument/2006/relationships/slide" Target="slides/slide308.xml"/><Relationship Id="rId310" Type="http://schemas.openxmlformats.org/officeDocument/2006/relationships/slide" Target="slides/slide309.xml"/><Relationship Id="rId311" Type="http://schemas.openxmlformats.org/officeDocument/2006/relationships/presProps" Target="presProps.xml"/><Relationship Id="rId312" Type="http://schemas.openxmlformats.org/officeDocument/2006/relationships/viewProps" Target="viewProps.xml"/><Relationship Id="rId313" Type="http://schemas.openxmlformats.org/officeDocument/2006/relationships/theme" Target="theme/theme1.xml"/><Relationship Id="rId31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10/20/2026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10/20/2026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10/20/2026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5.png"/><Relationship Id="rId3"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6.png"/><Relationship Id="rId3" Type="http://schemas.openxmlformats.org/officeDocument/2006/relationships/image" Target="../media/image1.pn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7.png"/><Relationship Id="rId3" Type="http://schemas.openxmlformats.org/officeDocument/2006/relationships/image" Target="../media/image1.png"/></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8.png"/><Relationship Id="rId3" Type="http://schemas.openxmlformats.org/officeDocument/2006/relationships/image" Target="../media/image1.pn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9.png"/><Relationship Id="rId3" Type="http://schemas.openxmlformats.org/officeDocument/2006/relationships/image" Target="../media/image1.pn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0.png"/><Relationship Id="rId3" Type="http://schemas.openxmlformats.org/officeDocument/2006/relationships/image" Target="../media/image1.png"/></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1.png"/><Relationship Id="rId3" Type="http://schemas.openxmlformats.org/officeDocument/2006/relationships/image" Target="../media/image1.png"/></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2.png"/><Relationship Id="rId3" Type="http://schemas.openxmlformats.org/officeDocument/2006/relationships/image" Target="../media/image1.png"/></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3.png"/><Relationship Id="rId3" Type="http://schemas.openxmlformats.org/officeDocument/2006/relationships/image" Target="../media/image1.png"/></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4.png"/><Relationship Id="rId3" Type="http://schemas.openxmlformats.org/officeDocument/2006/relationships/image" Target="../media/image1.png"/></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5.png"/><Relationship Id="rId3" Type="http://schemas.openxmlformats.org/officeDocument/2006/relationships/image" Target="../media/image1.png"/></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6.png"/><Relationship Id="rId3" Type="http://schemas.openxmlformats.org/officeDocument/2006/relationships/image" Target="../media/image1.png"/></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7.png"/><Relationship Id="rId3" Type="http://schemas.openxmlformats.org/officeDocument/2006/relationships/image" Target="../media/image1.png"/></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8.png"/><Relationship Id="rId3" Type="http://schemas.openxmlformats.org/officeDocument/2006/relationships/image" Target="../media/image1.png"/></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9.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October 20,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3K Global Customer Service and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autonomous multi-agent customer support for watsonx Orchestrate that maps to your existing customer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a:r>
          </a:p>
          <a:p>
            <a:r>
              <a:rPr lang="en-US" sz="1800" dirty="0" smtClean="0"/>
              <a:t/>
            </a:r>
          </a:p>
          <a:p>
            <a:r>
              <a:rPr lang="en-US" sz="1800" dirty="0" smtClean="0"/>
              <a:t/>
            </a:r>
          </a:p>
          <a:p>
            <a:r>
              <a:rPr lang="en-US" sz="1800" dirty="0" smtClean="0"/>
              <a:t/>
            </a:r>
          </a:p>
          <a:p>
            <a:r>
              <a:rPr lang="en-US" sz="1800" dirty="0" smtClean="0"/>
              <a:t>* The 3KT Customer Support Agent is</a:t>
            </a:r>
          </a:p>
          <a:p>
            <a:r>
              <a:rPr lang="en-US" sz="1800" dirty="0" smtClean="0"/>
              <a:t>a native watsonx Orchestrate multi-agent system that automates</a:t>
            </a:r>
          </a:p>
          <a:p>
            <a:r>
              <a:rPr lang="en-US" sz="1800" dirty="0" smtClean="0"/>
              <a:t>end-to-end customer service workflows case context retrieval,</a:t>
            </a:r>
          </a:p>
          <a:p>
            <a:r>
              <a:rPr lang="en-US" sz="1800" dirty="0" smtClean="0"/>
              <a:t>knowledge-base search, issue resolution, satisfaction</a:t>
            </a:r>
          </a:p>
          <a:p>
            <a:r>
              <a:rPr lang="en-US" sz="1800" dirty="0" smtClean="0"/>
              <a:t>feedback, escalation to human and continuous</a:t>
            </a:r>
          </a:p>
          <a:p>
            <a:r>
              <a:rPr lang="en-US" sz="1800" dirty="0" smtClean="0"/>
              <a:t>knowledge-base learning without requiring a custom integration project for</a:t>
            </a:r>
          </a:p>
          <a:p>
            <a:r>
              <a:rPr lang="en-US" sz="1800" dirty="0" smtClean="0"/>
              <a:t>every customer.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 supervisor agent orchestrates multiple</a:t>
            </a:r>
          </a:p>
          <a:p>
            <a:r>
              <a:rPr lang="en-US" sz="1800" dirty="0" smtClean="0"/>
              <a:t>specialist agents, each with a narrow, well-defined responsibility, so requests</a:t>
            </a:r>
          </a:p>
          <a:p>
            <a:r>
              <a:rPr lang="en-US" sz="1800" dirty="0" smtClean="0"/>
              <a:t>are routed to the right specialist automatically based on customer intent and</a:t>
            </a:r>
          </a:p>
          <a:p>
            <a:r>
              <a:rPr lang="en-US" sz="1800" dirty="0" smtClean="0"/>
              <a:t>case priority.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What sets it apart is autonomous</a:t>
            </a:r>
          </a:p>
          <a:p>
            <a:r>
              <a:rPr lang="en-US" sz="1800" dirty="0" smtClean="0"/>
              <a:t>schema mapping: rather than requiring your team to hand-build connectors for</a:t>
            </a:r>
          </a:p>
          <a:p>
            <a:r>
              <a:rPr lang="en-US" sz="1800" dirty="0" smtClean="0"/>
              <a:t>each customer's database, the agent uses a domain ontology covering</a:t>
            </a:r>
          </a:p>
          <a:p>
            <a:r>
              <a:rPr lang="en-US" sz="1800" dirty="0" smtClean="0"/>
              <a:t>Retail/E-Commerce, Logistics, Financial Services, Telecommunications, etc to</a:t>
            </a:r>
          </a:p>
          <a:p>
            <a:r>
              <a:rPr lang="en-US" sz="1800" dirty="0" smtClean="0"/>
              <a:t>automatically discover, map, and validate a customer's existing</a:t>
            </a:r>
          </a:p>
          <a:p>
            <a:r>
              <a:rPr lang="en-US" sz="1800" dirty="0" smtClean="0"/>
              <a:t>case/order/customer tables into the agent's canonical schema This is what lets</a:t>
            </a:r>
          </a:p>
          <a:p>
            <a:r>
              <a:rPr lang="en-US" sz="1800" dirty="0" smtClean="0"/>
              <a:t>the same packaged agent be provisioned against a new customer's data with</a:t>
            </a:r>
          </a:p>
          <a:p>
            <a:r>
              <a:rPr lang="en-US" sz="1800" dirty="0" smtClean="0"/>
              <a:t>configuration, not custom development.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Once connected, the agent</a:t>
            </a:r>
          </a:p>
          <a:p>
            <a:r>
              <a:rPr lang="en-US" sz="1800" dirty="0" smtClean="0"/>
              <a:t>resolves common issues automatically (order status, returns, billing questions,</a:t>
            </a:r>
          </a:p>
          <a:p>
            <a:r>
              <a:rPr lang="en-US" sz="1800" dirty="0" smtClean="0"/>
              <a:t>password resets, etc as applicable), escalates to a human when automated</a:t>
            </a:r>
          </a:p>
          <a:p>
            <a:r>
              <a:rPr lang="en-US" sz="1800" dirty="0" smtClean="0"/>
              <a:t>resolution isn't appropriate, and closes the loop by collecting Customer</a:t>
            </a:r>
          </a:p>
          <a:p>
            <a:r>
              <a:rPr lang="en-US" sz="1800" dirty="0" smtClean="0"/>
              <a:t>Satisfaction Feedback and feeding resolved-case patterns</a:t>
            </a:r>
          </a:p>
          <a:p>
            <a:r>
              <a:rPr lang="en-US" sz="1800" dirty="0" smtClean="0"/>
              <a:t>back into the knowledge base so answer quality improves over</a:t>
            </a:r>
          </a:p>
          <a:p>
            <a:r>
              <a:rPr lang="en-US" sz="1800" dirty="0" smtClean="0"/>
              <a:t>time.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3K Technologies, LLC (dba 3K Global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https://cloud.ibm.com/catalog/services/3k-technologies-predictive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Medical Scribe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generating structured clinical notes from conversations, reducing documentation time and improving accuracy and completen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AI Medical Scribe Agent is an intelligent documentation assistant that captures and transforms clinical conversations into structured, accurate, and compliant medical notes in real time.</a:t>
            </a:r>
          </a:p>
          <a:p>
            <a:r>
              <a:rPr lang="en-US" sz="1800" dirty="0" smtClean="0"/>
              <a:t>Clinicians spend a significant portion of their time on documentation, often leading to burnout, incomplete records, and reduced patient interaction. This agent addresses these challenges by automatically generating clinical notes from voice or text inputs, aligned with standardized formats such as SOAP.</a:t>
            </a:r>
          </a:p>
          <a:p>
            <a:r>
              <a:rPr lang="en-US" sz="1800" dirty="0" smtClean="0"/>
              <a:t>Integrated directly into clinical workflows, the agent structures information into history, examination findings, assessments, and plans, while preserving clinical context and relevance. It supports customization based on specialty-specific templates and organizational requirements.</a:t>
            </a:r>
          </a:p>
          <a:p>
            <a:r>
              <a:rPr lang="en-US" sz="1800" dirty="0" smtClean="0"/>
              <a:t>The agent also enhances documentation quality by ensuring completeness and consistency, which supports downstream processes such as coding, billing, and clinical decision-making.</a:t>
            </a:r>
          </a:p>
          <a:p>
            <a:r>
              <a:rPr lang="en-US" sz="1800" dirty="0" smtClean="0"/>
              <a:t>By reducing manual data entry and streamlining documentation workflows, the AI Medical Scribe Agent improves clinician efficiency, increases time available for patient care, and supports high-quality, compliant medical records.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https://cloud.ibm.com/catalog/services/viclinic-inc-medical-ai-scribe-agent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Banking Agent from Incede.ai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Helps customers quickly find the most convenient branch, identify the right banker based on their needs and schedule appointments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AI-powered banking agent that automates customer service through natural conversation: branch lookups, appointment scheduling, and booking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Incede.ai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https://cloud.ibm.com/catalog/services/incede-skubanking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BeX Legal AI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Digital Employee for legal teams — contract drafting, review, negotiation, research, and compliance, guided by your playbook.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BeX Legal AI Assistant is an enterprise AI Digital Employee that automates legal workflows — contract drafting, review, negotiation, research, and compliance analysis — within IBM watsonx Orchestrate. </a:t>
            </a:r>
          </a:p>
          <a:p>
            <a:r>
              <a:rPr lang="en-US" sz="1800" dirty="0" smtClean="0"/>
              <a:t>Driven by configurable legal playbooks, it produces structured, auditable outputs aligned to your organisation's own standards, with a purpose-built dynamic UI and the ability to execute tasks autonomously end-to-end.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PPIC Technologies Pte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https://cloud.ibm.com/catalog/services/ppic-technologies-pte-ltd-legal-ai-assistant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BioLLM Culture Query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agent for querying and analyzing biological culture data using large language model capabilities.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BioLLM Culture Query Agent is an AI-powered native agent built on IBM watsonx Orchestrate that enables researchers, lab technicians, and bioinformaticians to interact with biological culture databases using natural language queries.</a:t>
            </a:r>
          </a:p>
          <a:p>
            <a:r>
              <a:rPr lang="en-US" sz="1800" dirty="0" smtClean="0"/>
              <a:t/>
            </a:r>
          </a:p>
          <a:p>
            <a:r>
              <a:rPr lang="en-US" sz="1800" dirty="0" smtClean="0"/>
              <a:t>The agent leverages large language model (LLM) capabilities to understand complex biological queries, retrieve relevant culture data, and deliver actionable insights—eliminating the need for specialized query languages or manual database navigation.</a:t>
            </a:r>
          </a:p>
          <a:p>
            <a:r>
              <a:rPr lang="en-US" sz="1800" dirty="0" smtClean="0"/>
              <a:t/>
            </a:r>
          </a:p>
          <a:p>
            <a:r>
              <a:rPr lang="en-US" sz="1800" dirty="0" smtClean="0"/>
              <a:t>Key capabilities include natural language querying of culture collections, intelligent data retrieval and summarization, cross-referencing of culture metadata, and seamless integration with existing laboratory information management systems (LIMS). Whether you are managing microbial cultures, cell lines, or other biological specimens, BioLLM Culture Query Agent streamlines data access and accelerates research workflows.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BioLLM 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https://cloud.ibm.com/catalog/services/biollm-culture-query-agent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Branch FLOW</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Branch FLOW™ is an AI-powered operations agent providing real-time insights into branch demand, utilization, and wait times.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Branch FLOW™ enables institutions to transform branch operational data into actionable intelligence that improves customer experience, workforce productivity, and operational efficiency.</a:t>
            </a:r>
          </a:p>
          <a:p>
            <a:r>
              <a:rPr lang="en-US" sz="1800" dirty="0" smtClean="0"/>
              <a:t/>
            </a:r>
          </a:p>
          <a:p>
            <a:r>
              <a:rPr lang="en-US" sz="1800" dirty="0" smtClean="0"/>
              <a:t>The platform continuously analyzes branch demand, serving capacity, transaction patterns, staffing levels, and utilization metrics to identify operational stress, peak traffic periods, service bottlenecks, and emerging operational risks. By combining operational analytics with AI-driven decision support, Branch FLOW™ helps branch managers, operations teams, and business leaders make faster, more informed decisions.</a:t>
            </a:r>
          </a:p>
          <a:p>
            <a:r>
              <a:rPr lang="en-US" sz="1800" dirty="0" smtClean="0"/>
              <a:t/>
            </a:r>
          </a:p>
          <a:p>
            <a:r>
              <a:rPr lang="en-US" sz="1800" dirty="0" smtClean="0"/>
              <a:t>Through a conversational AI experience, users can explore branch performance using natural language. The platform provides visibility into operational stress, staffing effectiveness, wait-time risks, queue pressure, utilization trends, and capacity constraints, enabling proactive intervention before service levels are impacted.</a:t>
            </a:r>
          </a:p>
          <a:p>
            <a:r>
              <a:rPr lang="en-US" sz="1800" dirty="0" smtClean="0"/>
              <a:t/>
            </a:r>
          </a:p>
          <a:p>
            <a:r>
              <a:rPr lang="en-US" sz="1800" dirty="0" smtClean="0"/>
              <a:t>Powered by a proprietary six-signal scoring engine, Branch FLOW™ moves organizations beyond traditional reporting to always-on operational intelligence. Helps organizations improve service consistency, reduce customer wait times, optimize workforce allocation, enhance operational productivity, and accelerate decision-making.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Essex Lake Group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https://cloud.ibm.com/catalog/services/essex-lake-group-branch-flow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Care Coordinator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specialized healthcare agent built for appointment recalls and reminders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Hubkom AI Care Coordinator is a HIPAA-compliant voice assistant engineered to automate and optimize patient communication, care coordination, and administrative workflows across your medical practice. Acting as an intelligent orchestration layer, it manages proactive outreach through specialized care programs, including appointment recalls and appointment reminders.</a:t>
            </a:r>
          </a:p>
          <a:p>
            <a:r>
              <a:rPr lang="en-US" sz="1800" dirty="0" smtClean="0"/>
              <a:t/>
            </a:r>
          </a:p>
          <a:p>
            <a:r>
              <a:rPr lang="en-US" sz="1800" dirty="0" smtClean="0"/>
              <a:t>Hubkom AI Care Coordinator leverages advanced conversational intelligence to streamline medical administrative tasks that traditionally place a heavy burden on front-desk staff. Through specialized care workflows, it evaluates patient records, identifies care gaps, initiates timely outreach, schedules appointments, answers common clinical and administrative questions, assesses follow-up needs, and supports multilingual patient interactions to improve access and continuity of care.</a:t>
            </a:r>
          </a:p>
          <a:p>
            <a:r>
              <a:rPr lang="en-US" sz="1800" dirty="0" smtClean="0"/>
              <a:t/>
            </a:r>
          </a:p>
          <a:p>
            <a:r>
              <a:rPr lang="en-US" sz="1800" dirty="0" smtClean="0"/>
              <a:t>Designed to coordinate multiple AI-driven patient engagement workflows, the Care Coordinator intelligently routes each conversation to the appropriate care program while maintaining a seamless and personalized patient experience. This modular architecture enables healthcare organizations to expand automation across new outreach initiatives without changing the patient experience.</a:t>
            </a:r>
          </a:p>
          <a:p>
            <a:r>
              <a:rPr lang="en-US" sz="1800" dirty="0" smtClean="0"/>
              <a:t/>
            </a:r>
          </a:p>
          <a:p>
            <a:r>
              <a:rPr lang="en-US" sz="1800" dirty="0" smtClean="0"/>
              <a:t>Built by Hubkom Solutions, a provider dedicated to empowering medical practices with physician-designed smart support and secure digital health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Hubkom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https://cloud.ibm.com/catalog/services/hubkom-solutions-appointment-recall-agent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Mumbai - Airtel (in-mum)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Commissioning Readiness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Is your facility ready to commission? Gate-by-gate readiness, the blockers, and the evidence. No connection needed to start.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Commissioning Readiness answers the question every commissioning lead carries into a readiness review: is this facility ready to start up, and if not, what is blocking it and where is the proof? It reviews readiness gate by gate across the commissioning disciplines (mechanical, electrical, instrumentation, controls, safety, environmental, operational), and returns a readiness score with a ranked list of blockers, each tied to its source evidence, grounded in the CII SR19-01 DR310 commissioning-completion lifecycle. No system connection is needed to start. Connect IBM Maximo to score your own records. It is deterministic and standards-grounded. It speaks to the commissioning lead (gate-by-gate sign-off), the programme director (portfolio readiness), the project manager (in-flight blockers), and the discipline lead (clean status recording)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https://cloud.ibm.com/catalog/services/vistergy-ltd-commissioning-readiness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No system connection is needed. Connect IBM Maximo when you want it to read live work-pack state. On your authorisation it then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CyberVR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Instant, agentless Thin Digital Twins of production for cyber recovery, testing, pentesting and safe change on x86 and IBM Power.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CyberVR creates Thin Digital Twins: near-instant, disposable, production-realistic copies of VMware vSphere environments, built from immutable SAN snapshots with no data copy and no agents. Each twin reproduces the complete business service, including operating systems, applications, databases, networks, storage mappings and identity relationships, in an isolated environment.</a:t>
            </a:r>
          </a:p>
          <a:p>
            <a:r>
              <a:rPr lang="en-US" sz="1800" dirty="0" smtClean="0"/>
              <a:t/>
            </a:r>
          </a:p>
          <a:p>
            <a:r>
              <a:rPr lang="en-US" sz="1800" dirty="0" smtClean="0"/>
              <a:t>The same twin serves many purposes. Teams use it to recover critical services after a cyberattack, run resilience drills, execute penetration tests against an exact replica, validate patches and configuration changes before promotion, and evaluate AI agents and workloads without touching production. Each exercise produces defensible evidence for DORA, NIS2, NYDFS 500.16 and NIST CSF 2.0.</a:t>
            </a:r>
          </a:p>
          <a:p>
            <a:r>
              <a:rPr lang="en-US" sz="1800" dirty="0" smtClean="0"/>
              <a:t/>
            </a:r>
          </a:p>
          <a:p>
            <a:r>
              <a:rPr lang="en-US" sz="1800" dirty="0" smtClean="0"/>
              <a:t>Twins spin up and tear down in minutes, regardless of data volume, so exercises can run as often as needed. CyberVR works with existing backup tools and with storage from Hitachi Vantara, IBM, Dell, NetApp, Infinidat, HPE and Pure Storage, and deploys in hours with automatic discovery.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VM2020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https://cloud.ibm.com/catalog/services/cybervr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Transactional email via SMTP relay, plus event-driven automation and alerting across webhooks, Code Engine, SMS, Slack, and more. One centralized service. Rapid, no-code routing.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 fully managed, cloud-native communication and notification service that helps organizations respond to events and communicate important information at scale. It supports two core use cases: event-driven operational alerting and automation, and outbound transactional business communication. With this one service, organizations can route operational events to service management ecosystem tools like Slack, MS Teams, and ServiceNow, trigger automations with webhooks or Code Engine integrations, and deliver transactional business messages to customers and users through channels such as email, SMS, and push notifications.</a:t>
            </a:r>
          </a:p>
          <a:p>
            <a:r>
              <a:rPr lang="en-US" sz="1800" dirty="0" smtClean="0"/>
              <a:t/>
            </a:r>
          </a:p>
          <a:p>
            <a:r>
              <a:rPr lang="en-US" sz="1800" dirty="0" smtClean="0"/>
              <a:t/>
            </a:r>
          </a:p>
          <a:p>
            <a:r>
              <a:rPr lang="en-US" sz="1800" dirty="0" smtClean="0"/>
              <a:t>**Operational Use Cases**</a:t>
            </a:r>
          </a:p>
          <a:p>
            <a:r>
              <a:rPr lang="en-US" sz="1800" dirty="0" smtClean="0"/>
              <a:t/>
            </a:r>
          </a:p>
          <a:p>
            <a:r>
              <a:rPr lang="en-US" sz="1800" dirty="0" smtClean="0"/>
              <a:t>* **Monitoring:** Alerts, threshold breaches, uptime notifications, and escalations.</a:t>
            </a:r>
          </a:p>
          <a:p>
            <a:r>
              <a:rPr lang="en-US" sz="1800" dirty="0" smtClean="0"/>
              <a:t>* **Jobs:** Batch/ETL results, backups, scheduled reports, and export-ready notifications.</a:t>
            </a:r>
          </a:p>
          <a:p>
            <a:r>
              <a:rPr lang="en-US" sz="1800" dirty="0" smtClean="0"/>
              <a:t>* **CI/CD:** Build failures, deployment confirmations, and test results.</a:t>
            </a:r>
          </a:p>
          <a:p>
            <a:r>
              <a:rPr lang="en-US" sz="1800" dirty="0" smtClean="0"/>
              <a:t>* **Infrastructure:** Certificate expiry, quota warnings, and capacity alerts.</a:t>
            </a:r>
          </a:p>
          <a:p>
            <a:r>
              <a:rPr lang="en-US" sz="1800" dirty="0" smtClean="0"/>
              <a:t>* **Audit:** Configuration changes, permission grants, and administrative actions.</a:t>
            </a:r>
          </a:p>
          <a:p>
            <a:r>
              <a:rPr lang="en-US" sz="1800" dirty="0" smtClean="0"/>
              <a:t/>
            </a:r>
          </a:p>
          <a:p>
            <a:r>
              <a:rPr lang="en-US" sz="1800" dirty="0" smtClean="0"/>
              <a:t>**Outbound Business Communication Use Cases**</a:t>
            </a:r>
          </a:p>
          <a:p>
            <a:r>
              <a:rPr lang="en-US" sz="1800" dirty="0" smtClean="0"/>
              <a:t/>
            </a:r>
          </a:p>
          <a:p>
            <a:r>
              <a:rPr lang="en-US" sz="1800" dirty="0" smtClean="0"/>
              <a:t>* **Account:** Verification, password reset, OTP &amp; MFA, and security alerts.</a:t>
            </a:r>
          </a:p>
          <a:p>
            <a:r>
              <a:rPr lang="en-US" sz="1800" dirty="0" smtClean="0"/>
              <a:t>* **Commerce:** Order confirmations, receipts, shipping, and tracking notifications.</a:t>
            </a:r>
          </a:p>
          <a:p>
            <a:r>
              <a:rPr lang="en-US" sz="1800" dirty="0" smtClean="0"/>
              <a:t>* **Billing:** Invoices, payment confirmations, dunning, and renewal notifications.</a:t>
            </a:r>
          </a:p>
          <a:p>
            <a:r>
              <a:rPr lang="en-US" sz="1800" dirty="0" smtClean="0"/>
              <a:t>* **Product:** Mentions, assignments, approvals, and sharing invitations.</a:t>
            </a:r>
          </a:p>
          <a:p>
            <a:r>
              <a:rPr lang="en-US" sz="1800" dirty="0" smtClean="0"/>
              <a:t>* **Support:** Ticket updates and appointment reminders.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No system connection is needed. Connect IBM Maximo when you want it to read your live handover packages, asset records, and document status.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Flacron AR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analyzes property inspection photos for damage, generates repair scopes, and produces cost estimates.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Flacron AR Agent automates the repetitive part of property inspection follow up. Feed it an inspection photo and it identifies visible damage type, location, severity, and a recommended action. From there, it turns those findings into a structured repair scope of work, and prices that scope into a full cost estimate with labor, material, and total line items.</a:t>
            </a:r>
          </a:p>
          <a:p>
            <a:r>
              <a:rPr lang="en-US" sz="1800" dirty="0" smtClean="0"/>
              <a:t>Each action is a discrete, callable tool with a defined input and output, so it fits directly into an automated workflow: trigger damage analysis on a new photo, generate the scope from the findings, generate the estimate from the scope. Authentication is a company-scoped API key, so every call is tied to the right account and project.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Flacron Enterprises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https://cloud.ibm.com/catalog/services/flacron-ar-ai-agent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GBG Reach - Address Email and Phone Verification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Verify, standardise and cleanse address, email and phone data using GBG Loqate, with policy-aware decisions.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GBG Reach is a data quality agent for IBM watsonx Orchestrate that verifies, validates, and cleanses key elements of your customer data - postal addresses, email addresses, and phone numbers - using GBG Loqate's trusted global reference data.</a:t>
            </a:r>
          </a:p>
          <a:p>
            <a:r>
              <a:rPr lang="en-US" sz="1800" dirty="0" smtClean="0"/>
              <a:t/>
            </a:r>
          </a:p>
          <a:p>
            <a:r>
              <a:rPr lang="en-US" sz="1800" dirty="0" smtClean="0"/>
              <a:t>Hand Reach a single value, several records, a block of free-form text, or an uploaded CSV, and it automatically detects every address, email, and phone number present, then returns a clear, policy-aware recommendation for each: accept, review, or reject, complete with a confidence score and clean, standardized output. Your agent gets a decision it can act on - without any custom parsing logic.</a:t>
            </a:r>
          </a:p>
          <a:p>
            <a:r>
              <a:rPr lang="en-US" sz="1800" dirty="0" smtClean="0"/>
              <a:t/>
            </a:r>
          </a:p>
          <a:p>
            <a:r>
              <a:rPr lang="en-US" sz="1800" dirty="0" smtClean="0"/>
              <a:t>Use Reach the way that suits your workflow:</a:t>
            </a:r>
          </a:p>
          <a:p>
            <a:r>
              <a:rPr lang="en-US" sz="1800" dirty="0" smtClean="0"/>
              <a:t>- Chat with it directly for quick, ad-hoc verification.</a:t>
            </a:r>
          </a:p>
          <a:p>
            <a:r>
              <a:rPr lang="en-US" sz="1800" dirty="0" smtClean="0"/>
              <a:t>- Add it as a collaborator to your own agent so it cleans data mid-conversation, for example validating a customer's address during onboarding before you save it.</a:t>
            </a:r>
          </a:p>
          <a:p>
            <a:r>
              <a:rPr lang="en-US" sz="1800" dirty="0" smtClean="0"/>
              <a:t>- Build it into an automated workflow to verify and standardize records at scale.</a:t>
            </a:r>
          </a:p>
          <a:p>
            <a:r>
              <a:rPr lang="en-US" sz="1800" dirty="0" smtClean="0"/>
              <a:t/>
            </a:r>
          </a:p>
          <a:p>
            <a:r>
              <a:rPr lang="en-US" sz="1800" dirty="0" smtClean="0"/>
              <a:t>Because every decision is policy-aware, you control how strict verification is for each scenario, from light-touch marketing list hygiene to strict KYC and onboarding checks. Teams use Reach to improve email deliverability, reduce failed deliveries and shipping costs, cut fraud and returns, clean up CRM and marketing data, and keep customer records accurate and up to date. Every decision can be logged for auditability, giving you a record for compliance review or reporting.</a:t>
            </a:r>
          </a:p>
          <a:p>
            <a:r>
              <a:rPr lang="en-US" sz="1800" dirty="0" smtClean="0"/>
              <a:t/>
            </a:r>
          </a:p>
          <a:p>
            <a:r>
              <a:rPr lang="en-US" sz="1800" dirty="0" smtClean="0"/>
              <a:t>Powered by GBG Loqate's global address verification, email verification, and phone validation, Reach stops bad data at the source so you can act on information you trust - backed by the engine enterprises rely on, verifying data across 245 countries and 3 billion times a 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Loqate Inc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https://cloud.ibm.com/catalog/services/gbg-reach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Lenses DevX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experience and control plane for platform teams to manage Kafka and securely provide access &amp; tooling for app teams.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Lenses is a developer experience and governance layer for Apache Kafka. It gives application and data teams secure self-service access to streaming data, while platform teams keep control of who sees what.</a:t>
            </a:r>
          </a:p>
          <a:p>
            <a:r>
              <a:rPr lang="en-US" sz="1800" dirty="0" smtClean="0"/>
              <a:t/>
            </a:r>
          </a:p>
          <a:p>
            <a:r>
              <a:rPr lang="en-US" sz="1800" dirty="0" smtClean="0"/>
              <a:t>Developers explore topics, schemas, Kafka Connect and consumer groups from one console, and query live streams with SQL to troubleshoot without writing consumer code or copying data out. Topology and lineage show every producer, consumer and dependency, so teams see the blast radius before they change anything.</a:t>
            </a:r>
          </a:p>
          <a:p>
            <a:r>
              <a:rPr lang="en-US" sz="1800" dirty="0" smtClean="0"/>
              <a:t/>
            </a:r>
          </a:p>
          <a:p>
            <a:r>
              <a:rPr lang="en-US" sz="1800" dirty="0" smtClean="0"/>
              <a:t>Platform teams get scoped RBAC, namespace isolation, data masking and a full audit trail across every cluster, with SSO and SAML through your existing identity provider. Consumer lag, quota and broker health metrics feed your monitoring stack via JMX and Prometheus.</a:t>
            </a:r>
          </a:p>
          <a:p>
            <a:r>
              <a:rPr lang="en-US" sz="1800" dirty="0" smtClean="0"/>
              <a:t/>
            </a:r>
          </a:p>
          <a:p>
            <a:r>
              <a:rPr lang="en-US" sz="1800" dirty="0" smtClean="0"/>
              <a:t>Lenses works with IBM Event Streams, Apache Kafka, Amazon MSK, Confluent, Azure Event Hubs and any Kafka-compatible service. Deploy it in your own Kubernetes or Red Hat OpenShift cluster, on IBM Cloud, on premises or hybrid. Your data stays in your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Lenses.io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https://cloud.ibm.com/catalog/services/lenses-hq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Medical Coding And RCM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analyzing clinical data to automate coding, improve accuracy, and optimize revenue cycle workflows and claim outcomes.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Medical Coding &amp; RCM Agent is an AI-powered solution that automates and enhances clinical coding and revenue cycle workflows by transforming structured and unstructured clinical data into accurate, compliant, and billable outputs.</a:t>
            </a:r>
          </a:p>
          <a:p>
            <a:r>
              <a:rPr lang="en-US" sz="1800" dirty="0" smtClean="0"/>
              <a:t>Healthcare organizations often face revenue loss due to incomplete documentation, coding errors, and delayed claim submissions. This agent addresses these challenges by analyzing clinical notes, diagnoses, procedures, and supporting data to generate coding suggestions aligned with ICD and CPT standards.</a:t>
            </a:r>
          </a:p>
          <a:p>
            <a:r>
              <a:rPr lang="en-US" sz="1800" dirty="0" smtClean="0"/>
              <a:t>Integrated directly into clinical workflows, the agent ensures that coding begins early in the care process and continues through discharge. It identifies missing documentation elements, suggests improvements, and supports clean claim submission by aligning clinical data with payer requirements.</a:t>
            </a:r>
          </a:p>
          <a:p>
            <a:r>
              <a:rPr lang="en-US" sz="1800" dirty="0" smtClean="0"/>
              <a:t>The agent also enables proactive denial prevention by flagging inconsistencies, incomplete records, or potential compliance risks before claims are submitted. This improves claim acceptance rates, reduces rework, and accelerates reimbursement cycles.</a:t>
            </a:r>
          </a:p>
          <a:p>
            <a:r>
              <a:rPr lang="en-US" sz="1800" dirty="0" smtClean="0"/>
              <a:t>By combining clinical intelligence with workflow orchestration, the Medical Coding &amp; RCM Agent reduces administrative burden, improves coding accuracy, and delivers measurable financial impact across the revenue cycle.</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https://cloud.ibm.com/catalog/services/viclinic-inc-medical-coding-agent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MyLUA Care Recommendation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maternal client data and surfaces personalized, evidence-based care recommendations for birthing parents.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Employers, health plans, and care teams struggle to identify which maternal members need support before risks become crises. The MyLÚA Care Recommendation Agent analyzes client documentation including health assessments, intake forms, case notes, lab reports, discharge summaries, and clinical records, then returns structured, evidence-based care recommendations for each member. For every client submitted, the agent surfaces a prioritized needs summary, urgency-classified outreach actions, a step-by-step care pathway sequence, referral and escalation routing, and validated community resources sourced in real time. It supports both individual-level care planning and population-level trend analysis, helping care coordinators act earlier and organizations demonstrate measurable impact across their maternal health programs. Integrating organizations are responsible for implementing appropriate data safeguards before submitting client information to the agent.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MyLUA Health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https://cloud.ibm.com/catalog/services/mylua-health-inc-mylua-care-recommendation-agent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Newcode Agentic AI Legal Workflows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well-tested set of Agentic AI Workflows for legal teams to automate complex tasks and enhance their daily operational activities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Newcode.ai helps enterprise legal teams turn AI into measurable business value through secure, scalable, and practical automation. Its Agentic AI Legal Workflows streamline high-impact tasks such as contract analysis and negotiation, document drafting from approved templates, monitoring legal updates, procurement processes, and invoice review. These workflows can be embedded directly into the client’s existing environment and help legal operations achieve faster turnaround times, improve operational accuracy and consistency, and scale legal support across functions while keeping legal professionals responsible for review, judgment, and final decision-making.</a:t>
            </a:r>
          </a:p>
          <a:p>
            <a:r>
              <a:rPr lang="en-US" sz="1800" dirty="0" smtClean="0"/>
              <a:t>Newcode’s AI workflows also complement products such as Nova Web, Nova Cowork, Nova Outlook add-in, Nova Word add-in, and Nova mobile app.</a:t>
            </a:r>
          </a:p>
          <a:p>
            <a:r>
              <a:rPr lang="en-US" sz="1800" dirty="0" smtClean="0"/>
              <a:t/>
            </a:r>
          </a:p>
          <a:p>
            <a:r>
              <a:rPr lang="en-US" sz="1800" dirty="0" smtClean="0"/>
              <a:t>Disclaimer: these AI workflows are designed to support legal work and operational efficiency. They do not provide legal advice, and all outputs should be reviewed by qualified professionals before use.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Newcode.ai,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https://cloud.ibm.com/catalog/services/newcode-ai-mcp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 (Hospitals and Clinics)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Meet the Intelligent Patient AI Agent, a secure, 99% accurate agentic AI solution built on IBM Watsonx Orchestrate. It's a fully autonomous patient engagement agent that handles incoming inquiries across channels (like web and voice), understands patient intent, and takes action end to end by connecting with EMR - not just a chat assistant, but an agent that gets things done.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PreVisit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first AI agent to orchestrate pre-visit workflows, accelerating pre-authorization and improving coding accuracy at discharge.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Pre-Visit AI Intake Agent captures and structures patient symptoms, history, and clinical inputs before the encounter, enabling providers to begin each visit with complete and actionable data.</a:t>
            </a:r>
          </a:p>
          <a:p>
            <a:r>
              <a:rPr lang="en-US" sz="1800" dirty="0" smtClean="0"/>
              <a:t>By guiding patients through a conversational intake process, the agent collects relevant clinical information and converts it into structured, EMR-ready formats. This improves triage, supports clinical decision-making, and reduces repetitive data collection during visits.</a:t>
            </a:r>
          </a:p>
          <a:p>
            <a:r>
              <a:rPr lang="en-US" sz="1800" dirty="0" smtClean="0"/>
              <a:t>The agent also plays a critical role in revenue cycle performance by capturing the data required for pre-authorization and ensuring documentation readiness early in the care process.</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https://cloud.ibm.com/catalog/services/viclinic-inc-previsit-agent-public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Prior Authorization Eligibility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streamlining prior authorization and eligibility workflows, accelerating approvals and reducing delays in care delivery.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Prior Authorization &amp; Eligibility Agent is an AI-powered solution designed to streamline payer-related workflows by automating eligibility verification and prior authorization processes.</a:t>
            </a:r>
          </a:p>
          <a:p>
            <a:r>
              <a:rPr lang="en-US" sz="1800" dirty="0" smtClean="0"/>
              <a:t>Delays in prior authorization and incomplete eligibility checks are among the leading causes of care disruption, administrative burden, and revenue loss in healthcare systems. This agent addresses these challenges by capturing, validating, and structuring the clinical and administrative data required for payer review.</a:t>
            </a:r>
          </a:p>
          <a:p>
            <a:r>
              <a:rPr lang="en-US" sz="1800" dirty="0" smtClean="0"/>
              <a:t>Working in coordination with pre-visit and clinical documentation workflows, the agent ensures that all necessary information is prepared before submission. It supports eligibility verification, identifies missing data, and aligns clinical inputs with payer requirements to improve approval rates.</a:t>
            </a:r>
          </a:p>
          <a:p>
            <a:r>
              <a:rPr lang="en-US" sz="1800" dirty="0" smtClean="0"/>
              <a:t>The agent reduces manual back-and-forth between providers and payers by enabling cleaner, more complete submissions and by flagging potential issues early in the process. This results in faster approvals, fewer delays, and improved patient access to care.</a:t>
            </a:r>
          </a:p>
          <a:p>
            <a:r>
              <a:rPr lang="en-US" sz="1800" dirty="0" smtClean="0"/>
              <a:t>By integrating payer workflows into the broader clinical process, the Prior Authorization &amp; Eligibility Agent improves operational efficiency, enhances revenue cycle performance, and supports a more seamless care experience.</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https://cloud.ibm.com/catalog/services/viclinic-inc-prior-authorization-eligibility-agent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Disaster Recovery Subscription ( Annual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Subscription ( Per Unit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Secrets Manager provides two plans for securely managing secrets and credentials: **Standard** and **Vault Dedicated**.</a:t>
            </a:r>
          </a:p>
          <a:p>
            <a:r>
              <a:rPr lang="en-US" sz="1800" dirty="0" smtClean="0"/>
              <a:t/>
            </a:r>
          </a:p>
          <a:p>
            <a:r>
              <a:rPr lang="en-US" sz="1800" dirty="0" smtClean="0"/>
              <a:t>With the **Standard plan**, you can create, lease, and centrally manage secrets that are used in IBM Cloud services or your custom-built applications. Secrets are stored in a dedicated instance of Secrets Manager, built on open source HashiCorp Vault.</a:t>
            </a:r>
          </a:p>
          <a:p>
            <a:r>
              <a:rPr lang="en-US" sz="1800" dirty="0" smtClean="0"/>
              <a:t/>
            </a:r>
          </a:p>
          <a:p>
            <a:r>
              <a:rPr lang="en-US" sz="1800" dirty="0" smtClean="0"/>
              <a:t>**Vault Dedicated** provides a dedicated HashiCorp Vault environment for organizations that want to use Vault capabilities and workflows while running Vault as a managed service on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Straker AI Dubbing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multilingual, lip-synced video directly from IBM watsonx Orchestrate while preserving speaker’s voice, emotion, and intent.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Designed for training, marketing, product education, customer communications, and internal content, arbitr AI Dubbing helps teams produce localized video without leaving their existing agent workflow. It preserves the speaker’s voice, emotion, and intent and supports 30 documented target languages across core, additional, and lip-sync coverage. Conversations with the agent are in English, while the dubbing language is selected independently for each job.</a:t>
            </a:r>
          </a:p>
          <a:p>
            <a:r>
              <a:rPr lang="en-US" sz="1800" dirty="0" smtClean="0"/>
              <a:t/>
            </a:r>
          </a:p>
          <a:p>
            <a:r>
              <a:rPr lang="en-US" sz="1800" dirty="0" smtClean="0"/>
              <a:t>arbitr AI Dubbing is delivered as an external collaborator. A watsonx Orchestrate administrator adds it to a native agent before end users can invoke it.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Straker Japan K.K.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https://cloud.ibm.com/catalog/services/straker-japan-kk-straker-ai-dubbing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Succinctly Enterprise Intelligence and Help Desk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Succinctly's uses AI to instantly respond to employee requests, find information across the enterprise, and route complex issues.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Succinctly — AI Help Desk Automation, Enterprise Search, and Business Intelligence in One Assistant</a:t>
            </a:r>
          </a:p>
          <a:p>
            <a:r>
              <a:rPr lang="en-US" sz="1800" dirty="0" smtClean="0"/>
              <a:t/>
            </a:r>
          </a:p>
          <a:p>
            <a:r>
              <a:rPr lang="en-US" sz="1800" dirty="0" smtClean="0"/>
              <a:t>Succinctly is your company's AI-powered work assistant. Employees ask questions in plain English — through chat or email — and get instant, accurate answers drawn from your own company data. No tickets, no waiting, no digging through file shares.</a:t>
            </a:r>
          </a:p>
          <a:p>
            <a:r>
              <a:rPr lang="en-US" sz="1800" dirty="0" smtClean="0"/>
              <a:t/>
            </a:r>
          </a:p>
          <a:p>
            <a:r>
              <a:rPr lang="en-US" sz="1800" dirty="0" smtClean="0"/>
              <a:t>Succinctly resolves up to 95% of help desk requests automatically. It answers common IT and HR questions, handles routine tasks like password resets and PTO logging, and intelligently routes complex issues to the right team. Response times drop 10x while your support staff focuses on work that actually needs a human.</a:t>
            </a:r>
          </a:p>
          <a:p>
            <a:r>
              <a:rPr lang="en-US" sz="1800" dirty="0" smtClean="0"/>
              <a:t/>
            </a:r>
          </a:p>
          <a:p>
            <a:r>
              <a:rPr lang="en-US" sz="1800" dirty="0" smtClean="0"/>
              <a:t>Beyond the help desk, Succinctly acts as an enterprise search engine and virtual analyst. Ask business intelligence questions in natural language and get answers in seconds — as text or charts — pulled from your databases, documents, file shares, and any system with an API. It can even review and compare contracts.</a:t>
            </a:r>
          </a:p>
          <a:p>
            <a:r>
              <a:rPr lang="en-US" sz="1800" dirty="0" smtClean="0"/>
              <a:t/>
            </a:r>
          </a:p>
          <a:p>
            <a:r>
              <a:rPr lang="en-US" sz="1800" dirty="0" smtClean="0"/>
              <a:t>Built for the enterprise: Succinctly runs in the cloud, on-premises, or hosted, integrates with your SSO and permission schemes, and connects to platforms like Zendesk, Zoho, ServiceNow, and Salesforce. Access it via chat, API, or MCP. With no license fees for up to 1,000 users, it delivers value SaaS-only tools can't match.</a:t>
            </a:r>
          </a:p>
          <a:p>
            <a:r>
              <a:rPr lang="en-US" sz="1800" dirty="0" smtClean="0"/>
              <a:t/>
            </a:r>
          </a:p>
          <a:p>
            <a:r>
              <a:rPr lang="en-US" sz="1800" dirty="0" smtClean="0"/>
              <a:t>Stop drowning in tickets. Start getting answers — succinctly.</a:t>
            </a:r>
          </a:p>
          <a:p>
            <a:r>
              <a:rPr lang="en-US" sz="1800" dirty="0" smtClean="0"/>
              <a:t/>
            </a:r>
          </a:p>
          <a:p>
            <a:r>
              <a:rPr lang="en-US" sz="1800" dirty="0" smtClean="0"/>
              <a:t>Keywords: AI help desk automation, IT ticket deflection, enterprise search, AI chatbot for employees, business intelligence assistant, natural language BI, internal support automation, knowledge management, ITSM integration, on-premises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Austin Artificial Intelligence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https://cloud.ibm.com/catalog/services/austin-artificial-intelligence-succinctly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software licensing for TapestryX - Networked Accounting Ledger (NAL)™ technology deployed across B2B networks and multi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L4S Corp. provides commercial software licensing for Networked Accounting Ledger (NAL)™ technology and the TapestryX platform. Our software licensing services grant enterprises and institutional consortia the right to deploy, operate, and integrate a real-time, high-capacity, secure, and scalable decentralized double-entry transaction synchronization and accounting protocol.</a:t>
            </a:r>
          </a:p>
          <a:p>
            <a:r>
              <a:rPr lang="en-US" sz="1800" dirty="0" smtClean="0"/>
              <a:t/>
            </a:r>
          </a:p>
          <a:p>
            <a:r>
              <a:rPr lang="en-US" sz="1800" dirty="0" smtClean="0"/>
              <a:t>• Software Licensing Scope: Commercial node licensing and enterprise deployment rights for Networked Accounting Ledger (NAL)™ software across single-tenant or multi-tenant environments.</a:t>
            </a:r>
          </a:p>
          <a:p>
            <a:r>
              <a:rPr lang="en-US" sz="1800" dirty="0" smtClean="0"/>
              <a:t/>
            </a:r>
          </a:p>
          <a:p>
            <a:r>
              <a:rPr lang="en-US" sz="1800" dirty="0" smtClean="0"/>
              <a:t>• Decentralized Ledger Node Control: Each licensed node (representing an institutional participant) controls its segment of the interlinked platform ledger.</a:t>
            </a:r>
          </a:p>
          <a:p>
            <a:r>
              <a:rPr lang="en-US" sz="1800" dirty="0" smtClean="0"/>
              <a:t/>
            </a:r>
          </a:p>
          <a:p>
            <a:r>
              <a:rPr lang="en-US" sz="1800" dirty="0" smtClean="0"/>
              <a:t>• Self-Synchronizing Protocol: Event-driven, real-time synchronization derived entirely from transaction data without consensus voting, mining, or third-party validator overhead (U.S. Pat. No. 11,631,063 B2).</a:t>
            </a:r>
          </a:p>
          <a:p>
            <a:r>
              <a:rPr lang="en-US" sz="1800" dirty="0" smtClean="0"/>
              <a:t/>
            </a:r>
          </a:p>
          <a:p>
            <a:r>
              <a:rPr lang="en-US" sz="1800" dirty="0" smtClean="0"/>
              <a:t>• Immutable Double-Entry Records: Nodes record both asset transfers and future-dated obligations directly into immutable ledgers.</a:t>
            </a:r>
          </a:p>
          <a:p>
            <a:r>
              <a:rPr lang="en-US" sz="1800" dirty="0" smtClean="0"/>
              <a:t/>
            </a:r>
          </a:p>
          <a:p>
            <a:r>
              <a:rPr lang="en-US" sz="1800" dirty="0" smtClean="0"/>
              <a:t>• Accounting Periods &amp; Active Optimization: Native transacting periods support automated period archiving and active memory optimization.</a:t>
            </a:r>
          </a:p>
          <a:p>
            <a:r>
              <a:rPr lang="en-US" sz="1800" dirty="0" smtClean="0"/>
              <a:t/>
            </a:r>
          </a:p>
          <a:p>
            <a:r>
              <a:rPr lang="en-US" sz="1800" dirty="0" smtClean="0"/>
              <a:t>• Deterministic Scripting: Asset-agnostic and transaction-lifecycle-agnostic building blocks.</a:t>
            </a:r>
          </a:p>
          <a:p>
            <a:r>
              <a:rPr lang="en-US" sz="1800" dirty="0" smtClean="0"/>
              <a:t/>
            </a:r>
          </a:p>
          <a:p>
            <a:r>
              <a:rPr lang="en-US" sz="1800" dirty="0" smtClean="0"/>
              <a:t>• Legacy ERP &amp; Core Banking Interoperability: Secure data integration via built-in Airlock bridge technology.</a:t>
            </a:r>
          </a:p>
          <a:p>
            <a:r>
              <a:rPr lang="en-US" sz="1800" dirty="0" smtClean="0"/>
              <a:t/>
            </a:r>
          </a:p>
          <a:p>
            <a:r>
              <a:rPr lang="en-US" sz="1800" dirty="0" smtClean="0"/>
              <a:t>• Enterprise Reporting &amp; Compliance: Configurable for GAAP and IFRS financial accounting and reporting standards.</a:t>
            </a:r>
          </a:p>
          <a:p>
            <a:r>
              <a:rPr lang="en-US" sz="1800" dirty="0" smtClean="0"/>
              <a:t/>
            </a:r>
          </a:p>
          <a:p>
            <a:r>
              <a:rPr lang="en-US" sz="1800" dirty="0" smtClean="0"/>
              <a:t>• Resilient, High-Throughput Architecture: High performance (~100,000 TPS) with decentralized initiation, validation, and fault-tolerant zero-single-point-of-failure design.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ViClinic agentic healthcare orchestration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platform orchestrating healthcare workflows with multiple agents, improving efficiency, outcomes, and revenue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ViClinic Agentic Healthcare Orchestration Platform (AHOS) is a SaaS solution designed to coordinate multiple AI agents across clinical and administrative workflows, enabling healthcare organizations to automate processes, improve decision-making, and achieve measurable operational and financial outcomes.</a:t>
            </a:r>
          </a:p>
          <a:p>
            <a:r>
              <a:rPr lang="en-US" sz="1800" dirty="0" smtClean="0"/>
              <a:t>Unlike standalone AI tools, ViClinic AHOS embeds intelligent agents directly into the care delivery process—from patient intake and triage to documentation, coding, discharge, and follow-up. These agents work together within a unified system, sharing structured clinical context and operating under clinician supervision.</a:t>
            </a:r>
          </a:p>
          <a:p>
            <a:r>
              <a:rPr lang="en-US" sz="1800" dirty="0" smtClean="0"/>
              <a:t>The platform transforms fragmented workflows into a coordinated, end-to-end process. By connecting clinical data, patient interactions, and administrative tasks, it ensures that each step of care is supported by accurate, timely, and actionable information.</a:t>
            </a:r>
          </a:p>
          <a:p>
            <a:r>
              <a:rPr lang="en-US" sz="1800" dirty="0" smtClean="0"/>
              <a:t>ViClinic AHOS integrates with existing EMR/EHR systems and supports interoperability through standardized data structures. It enables healthcare providers to enhance efficiency without replacing their current systems, acting as an execution layer that brings AI into real-world clinical operations.</a:t>
            </a:r>
          </a:p>
          <a:p>
            <a:r>
              <a:rPr lang="en-US" sz="1800" dirty="0" smtClean="0"/>
              <a:t>By combining workflow orchestration, shared clinical context, and human-in-the-loop governance, the platform reduces administrative burden, improves care quality, accelerates revenue cycle processes, and enhances patient engagement.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https://cloud.ibm.com/catalog/services/viclinic-agentic-orchestration-platform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WANDA Agentic AI  - AIOps as a Service -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AIOps solution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295</a:t>
            </a:r>
            <a:endParaRPr lang="en-US"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296</a:t>
            </a:r>
            <a:endParaRPr lang="en-US"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297</a:t>
            </a:r>
            <a:endParaRPr lang="en-US"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298</a:t>
            </a:r>
            <a:endParaRPr lang="en-US" dirty="0"/>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name="Slide 2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299</a:t>
            </a:r>
            <a:endParaRPr lang="en-US" dirty="0"/>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name="Slide 3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 (formerly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is now watsonx Orchestrate and comes with all of its Agentic capabilities and control plane.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is now watsonx Orchestrate.</a:t>
            </a:r>
          </a:p>
          <a:p>
            <a:r>
              <a:rPr lang="en-US" sz="1800" dirty="0" smtClean="0"/>
              <a:t/>
            </a:r>
          </a:p>
          <a:p>
            <a:r>
              <a:rPr lang="en-US" sz="1800" dirty="0" smtClean="0"/>
              <a:t>We are rolling out an upgrade to all customers of watsonx Assistant. Account eligibility for upgrade is rolling out to clients in stages, please see the documentation link here for more information: https://cloud.ibm.com/docs/watson-assistant?topic=watson-assistant-in-place-upgrade</a:t>
            </a:r>
          </a:p>
          <a:p>
            <a:r>
              <a:rPr lang="en-US" sz="1800" dirty="0" smtClean="0"/>
              <a:t/>
            </a:r>
          </a:p>
          <a:p>
            <a:r>
              <a:rPr lang="en-US" sz="1800" dirty="0" smtClean="0"/>
              <a:t>IBM watsonx Orchestrate (formerly Assistant), continues to provide the AI Assistant building capabilities with no disruption to customers. Existing dialogs, actions, extensions and other settings remain active and can continue to be authored.</a:t>
            </a:r>
          </a:p>
          <a:p>
            <a:r>
              <a:rPr lang="en-US" sz="1800" dirty="0" smtClean="0"/>
              <a:t/>
            </a:r>
          </a:p>
          <a:p>
            <a:r>
              <a:rPr lang="en-US" sz="1800" dirty="0" smtClean="0"/>
              <a:t>The now including AI Agent building, life cycle, and control plane experiences allow teams to start exploring and building AI Agents for their use cases to modernize Assistant experiences.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300</a:t>
            </a:r>
            <a:endParaRPr lang="en-US" dirty="0"/>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name="Slide 3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301</a:t>
            </a:r>
            <a:endParaRPr lang="en-US" dirty="0"/>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name="Slide 3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302</a:t>
            </a:r>
            <a:endParaRPr lang="en-US" dirty="0"/>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name="Slide 3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303</a:t>
            </a:r>
            <a:endParaRPr lang="en-US" dirty="0"/>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name="Slide 3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304</a:t>
            </a:r>
            <a:endParaRPr lang="en-US" dirty="0"/>
          </a:p>
        </p:txBody>
      </p:sp>
    </p:spTree>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name="Slide 3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305</a:t>
            </a:r>
            <a:endParaRPr lang="en-US" dirty="0"/>
          </a:p>
        </p:txBody>
      </p:sp>
    </p:spTree>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name="Slide 3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306</a:t>
            </a:r>
            <a:endParaRPr lang="en-US" dirty="0"/>
          </a:p>
        </p:txBody>
      </p:sp>
    </p:spTree>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name="Slide 3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307</a:t>
            </a:r>
            <a:endParaRPr lang="en-US" dirty="0"/>
          </a:p>
        </p:txBody>
      </p:sp>
    </p:spTree>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name="Slide 3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308</a:t>
            </a:r>
            <a:endParaRPr lang="en-US" dirty="0"/>
          </a:p>
        </p:txBody>
      </p:sp>
    </p:spTree>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p:cSld name="Slide 3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309</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309</Slides>
  <Notes>0</Notes>
  <HiddenSlides>0</HiddenSlides>
  <MMClips>0</MMClips>
  <ScaleCrop>false</ScaleCrop>
  <HeadingPairs>
    <vt:vector size="4" baseType="variant">
      <vt:variant>
        <vt:lpstr>Theme</vt:lpstr>
      </vt:variant>
      <vt:variant>
        <vt:i4>1</vt:i4>
      </vt:variant>
      <vt:variant>
        <vt:lpstr>Slide Titles</vt:lpstr>
      </vt:variant>
      <vt:variant>
        <vt:i4>309</vt:i4>
      </vt:variant>
    </vt:vector>
  </HeadingPairs>
  <TitlesOfParts>
    <vt:vector size="310"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lpstr>Slide 299</vt:lpstr>
      <vt:lpstr>Slide 300</vt:lpstr>
      <vt:lpstr>Slide 301</vt:lpstr>
      <vt:lpstr>Slide 302</vt:lpstr>
      <vt:lpstr>Slide 303</vt:lpstr>
      <vt:lpstr>Slide 304</vt:lpstr>
      <vt:lpstr>Slide 305</vt:lpstr>
      <vt:lpstr>Slide 306</vt:lpstr>
      <vt:lpstr>Slide 307</vt:lpstr>
      <vt:lpstr>Slide 308</vt:lpstr>
      <vt:lpstr>Slide 309</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2026-10-20T16:44:11Z</dcterms:created>
  <dcterms:modified xsi:type="dcterms:W3CDTF">2026-10-20T16:44:11Z</dcterms:modified>
</cp:coreProperties>
</file>