
<file path=[Content_Types].xml><?xml version="1.0" encoding="utf-8"?>
<Types xmlns="http://schemas.openxmlformats.org/package/2006/content-types">
  <Default Extension="rels" ContentType="application/vnd.openxmlformats-package.relationships+xml"/>
  <Default Extension="xml" ContentType="application/xml"/>
  <Default Extension="jpeg" ContentType="image/jpeg"/>
  <Default Extension="jpg" ContentType="image/jpg"/>
  <Default Extension="png" ContentType="image/png"/>
  <Default Extension="gif" ContentType="image/gif"/>
  <Override PartName="/docProps/app.xml" ContentType="application/vnd.openxmlformats-officedocument.extended-properties+xml"/>
  <Override PartName="/ppt/theme/theme1.xml" ContentType="application/vnd.openxmlformats-officedocument.theme+xml"/>
  <Override PartName="/docProps/core.xml" ContentType="application/vnd.openxmlformats-package.core-properties+xml"/>
  <Override PartName="/ppt/slideMasters/slideMaster1.xml" ContentType="application/vnd.openxmlformats-officedocument.presentationml.slide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tableStyles.xml" ContentType="application/vnd.openxmlformats-officedocument.presentationml.tableStyles+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s/slide265.xml" ContentType="application/vnd.openxmlformats-officedocument.presentationml.slide+xml"/>
  <Override PartName="/ppt/slides/slide266.xml" ContentType="application/vnd.openxmlformats-officedocument.presentationml.slide+xml"/>
  <Override PartName="/ppt/slides/slide267.xml" ContentType="application/vnd.openxmlformats-officedocument.presentationml.slide+xml"/>
  <Override PartName="/ppt/slides/slide268.xml" ContentType="application/vnd.openxmlformats-officedocument.presentationml.slide+xml"/>
  <Override PartName="/ppt/slides/slide269.xml" ContentType="application/vnd.openxmlformats-officedocument.presentationml.slide+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 id="374" r:id="rId120"/>
    <p:sldId id="375" r:id="rId121"/>
    <p:sldId id="376" r:id="rId122"/>
    <p:sldId id="377" r:id="rId123"/>
    <p:sldId id="378" r:id="rId124"/>
    <p:sldId id="379" r:id="rId125"/>
    <p:sldId id="380" r:id="rId126"/>
    <p:sldId id="381" r:id="rId127"/>
    <p:sldId id="382" r:id="rId128"/>
    <p:sldId id="383" r:id="rId129"/>
    <p:sldId id="384" r:id="rId130"/>
    <p:sldId id="385" r:id="rId131"/>
    <p:sldId id="386" r:id="rId132"/>
    <p:sldId id="387" r:id="rId133"/>
    <p:sldId id="388" r:id="rId134"/>
    <p:sldId id="389" r:id="rId135"/>
    <p:sldId id="390" r:id="rId136"/>
    <p:sldId id="391" r:id="rId137"/>
    <p:sldId id="392" r:id="rId138"/>
    <p:sldId id="393" r:id="rId139"/>
    <p:sldId id="394" r:id="rId140"/>
    <p:sldId id="395" r:id="rId141"/>
    <p:sldId id="396" r:id="rId142"/>
    <p:sldId id="397" r:id="rId143"/>
    <p:sldId id="398" r:id="rId144"/>
    <p:sldId id="399" r:id="rId145"/>
    <p:sldId id="400" r:id="rId146"/>
    <p:sldId id="401" r:id="rId147"/>
    <p:sldId id="402" r:id="rId148"/>
    <p:sldId id="403" r:id="rId149"/>
    <p:sldId id="404" r:id="rId150"/>
    <p:sldId id="405" r:id="rId151"/>
    <p:sldId id="406" r:id="rId152"/>
    <p:sldId id="407" r:id="rId153"/>
    <p:sldId id="408" r:id="rId154"/>
    <p:sldId id="409" r:id="rId155"/>
    <p:sldId id="410" r:id="rId156"/>
    <p:sldId id="411" r:id="rId157"/>
    <p:sldId id="412" r:id="rId158"/>
    <p:sldId id="413" r:id="rId159"/>
    <p:sldId id="414" r:id="rId160"/>
    <p:sldId id="415" r:id="rId161"/>
    <p:sldId id="416" r:id="rId162"/>
    <p:sldId id="417" r:id="rId163"/>
    <p:sldId id="418" r:id="rId164"/>
    <p:sldId id="419" r:id="rId165"/>
    <p:sldId id="420" r:id="rId166"/>
    <p:sldId id="421" r:id="rId167"/>
    <p:sldId id="422" r:id="rId168"/>
    <p:sldId id="423" r:id="rId169"/>
    <p:sldId id="424" r:id="rId170"/>
    <p:sldId id="425" r:id="rId171"/>
    <p:sldId id="426" r:id="rId172"/>
    <p:sldId id="427" r:id="rId173"/>
    <p:sldId id="428" r:id="rId174"/>
    <p:sldId id="429" r:id="rId175"/>
    <p:sldId id="430" r:id="rId176"/>
    <p:sldId id="431" r:id="rId177"/>
    <p:sldId id="432" r:id="rId178"/>
    <p:sldId id="433" r:id="rId179"/>
    <p:sldId id="434" r:id="rId180"/>
    <p:sldId id="435" r:id="rId181"/>
    <p:sldId id="436" r:id="rId182"/>
    <p:sldId id="437" r:id="rId183"/>
    <p:sldId id="438" r:id="rId184"/>
    <p:sldId id="439" r:id="rId185"/>
    <p:sldId id="440" r:id="rId186"/>
    <p:sldId id="441" r:id="rId187"/>
    <p:sldId id="442" r:id="rId188"/>
    <p:sldId id="443" r:id="rId189"/>
    <p:sldId id="444" r:id="rId190"/>
    <p:sldId id="445" r:id="rId191"/>
    <p:sldId id="446" r:id="rId192"/>
    <p:sldId id="447" r:id="rId193"/>
    <p:sldId id="448" r:id="rId194"/>
    <p:sldId id="449" r:id="rId195"/>
    <p:sldId id="450" r:id="rId196"/>
    <p:sldId id="451" r:id="rId197"/>
    <p:sldId id="452" r:id="rId198"/>
    <p:sldId id="453" r:id="rId199"/>
    <p:sldId id="454" r:id="rId200"/>
    <p:sldId id="455" r:id="rId201"/>
    <p:sldId id="456" r:id="rId202"/>
    <p:sldId id="457" r:id="rId203"/>
    <p:sldId id="458" r:id="rId204"/>
    <p:sldId id="459" r:id="rId205"/>
    <p:sldId id="460" r:id="rId206"/>
    <p:sldId id="461" r:id="rId207"/>
    <p:sldId id="462" r:id="rId208"/>
    <p:sldId id="463" r:id="rId209"/>
    <p:sldId id="464" r:id="rId210"/>
    <p:sldId id="465" r:id="rId211"/>
    <p:sldId id="466" r:id="rId212"/>
    <p:sldId id="467" r:id="rId213"/>
    <p:sldId id="468" r:id="rId214"/>
    <p:sldId id="469" r:id="rId215"/>
    <p:sldId id="470" r:id="rId216"/>
    <p:sldId id="471" r:id="rId217"/>
    <p:sldId id="472" r:id="rId218"/>
    <p:sldId id="473" r:id="rId219"/>
    <p:sldId id="474" r:id="rId220"/>
    <p:sldId id="475" r:id="rId221"/>
    <p:sldId id="476" r:id="rId222"/>
    <p:sldId id="477" r:id="rId223"/>
    <p:sldId id="478" r:id="rId224"/>
    <p:sldId id="479" r:id="rId225"/>
    <p:sldId id="480" r:id="rId226"/>
    <p:sldId id="481" r:id="rId227"/>
    <p:sldId id="482" r:id="rId228"/>
    <p:sldId id="483" r:id="rId229"/>
    <p:sldId id="484" r:id="rId230"/>
    <p:sldId id="485" r:id="rId231"/>
    <p:sldId id="486" r:id="rId232"/>
    <p:sldId id="487" r:id="rId233"/>
    <p:sldId id="488" r:id="rId234"/>
    <p:sldId id="489" r:id="rId235"/>
    <p:sldId id="490" r:id="rId236"/>
    <p:sldId id="491" r:id="rId237"/>
    <p:sldId id="492" r:id="rId238"/>
    <p:sldId id="493" r:id="rId239"/>
    <p:sldId id="494" r:id="rId240"/>
    <p:sldId id="495" r:id="rId241"/>
    <p:sldId id="496" r:id="rId242"/>
    <p:sldId id="497" r:id="rId243"/>
    <p:sldId id="498" r:id="rId244"/>
    <p:sldId id="499" r:id="rId245"/>
    <p:sldId id="500" r:id="rId246"/>
    <p:sldId id="501" r:id="rId247"/>
    <p:sldId id="502" r:id="rId248"/>
    <p:sldId id="503" r:id="rId249"/>
    <p:sldId id="504" r:id="rId250"/>
    <p:sldId id="505" r:id="rId251"/>
    <p:sldId id="506" r:id="rId252"/>
    <p:sldId id="507" r:id="rId253"/>
    <p:sldId id="508" r:id="rId254"/>
    <p:sldId id="509" r:id="rId255"/>
    <p:sldId id="510" r:id="rId256"/>
    <p:sldId id="511" r:id="rId257"/>
    <p:sldId id="512" r:id="rId258"/>
    <p:sldId id="513" r:id="rId259"/>
    <p:sldId id="514" r:id="rId260"/>
    <p:sldId id="515" r:id="rId261"/>
    <p:sldId id="516" r:id="rId262"/>
    <p:sldId id="517" r:id="rId263"/>
    <p:sldId id="518" r:id="rId264"/>
    <p:sldId id="519" r:id="rId265"/>
    <p:sldId id="520" r:id="rId266"/>
    <p:sldId id="521" r:id="rId267"/>
    <p:sldId id="522" r:id="rId268"/>
    <p:sldId id="523" r:id="rId269"/>
    <p:sldId id="524" r:id="rId270"/>
  </p:sldIdLst>
  <p:sldSz cx="12192000" cy="6858000" type="screen16x9"/>
  <p:notesSz cx="6858000" cy="12192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p:cViewPr varScale="1">
        <p:scale>
          <a:sx n="64" d="100"/>
          <a:sy n="64" d="100"/>
        </p:scale>
        <p:origin x="-1392" y="-96"/>
      </p:cViewPr>
      <p:guideLst>
        <p:guide orient="horz" pos="2160"/>
        <p:guide pos="2880"/>
      </p:guideLst>
    </p:cSldViewPr>
  </p:slideViewPr>
  <p:notesTextViewPr>
    <p:cViewPr>
      <p:scale>
        <a:sx n="100" d="100"/>
        <a:sy n="100" d="100"/>
      </p:scale>
      <p:origin x="0" y="0"/>
    </p:cViewPr>
  </p:notesTextViewPr>
  <p:gridSpacing cx="78028800" cy="780288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slide" Target="slides/slide118.xml"/><Relationship Id="rId120" Type="http://schemas.openxmlformats.org/officeDocument/2006/relationships/slide" Target="slides/slide119.xml"/><Relationship Id="rId121" Type="http://schemas.openxmlformats.org/officeDocument/2006/relationships/slide" Target="slides/slide120.xml"/><Relationship Id="rId122" Type="http://schemas.openxmlformats.org/officeDocument/2006/relationships/slide" Target="slides/slide121.xml"/><Relationship Id="rId123" Type="http://schemas.openxmlformats.org/officeDocument/2006/relationships/slide" Target="slides/slide122.xml"/><Relationship Id="rId124" Type="http://schemas.openxmlformats.org/officeDocument/2006/relationships/slide" Target="slides/slide123.xml"/><Relationship Id="rId125" Type="http://schemas.openxmlformats.org/officeDocument/2006/relationships/slide" Target="slides/slide124.xml"/><Relationship Id="rId126" Type="http://schemas.openxmlformats.org/officeDocument/2006/relationships/slide" Target="slides/slide125.xml"/><Relationship Id="rId127" Type="http://schemas.openxmlformats.org/officeDocument/2006/relationships/slide" Target="slides/slide126.xml"/><Relationship Id="rId128" Type="http://schemas.openxmlformats.org/officeDocument/2006/relationships/slide" Target="slides/slide127.xml"/><Relationship Id="rId129" Type="http://schemas.openxmlformats.org/officeDocument/2006/relationships/slide" Target="slides/slide128.xml"/><Relationship Id="rId130" Type="http://schemas.openxmlformats.org/officeDocument/2006/relationships/slide" Target="slides/slide129.xml"/><Relationship Id="rId131" Type="http://schemas.openxmlformats.org/officeDocument/2006/relationships/slide" Target="slides/slide130.xml"/><Relationship Id="rId132" Type="http://schemas.openxmlformats.org/officeDocument/2006/relationships/slide" Target="slides/slide131.xml"/><Relationship Id="rId133" Type="http://schemas.openxmlformats.org/officeDocument/2006/relationships/slide" Target="slides/slide132.xml"/><Relationship Id="rId134" Type="http://schemas.openxmlformats.org/officeDocument/2006/relationships/slide" Target="slides/slide133.xml"/><Relationship Id="rId135" Type="http://schemas.openxmlformats.org/officeDocument/2006/relationships/slide" Target="slides/slide134.xml"/><Relationship Id="rId136" Type="http://schemas.openxmlformats.org/officeDocument/2006/relationships/slide" Target="slides/slide135.xml"/><Relationship Id="rId137" Type="http://schemas.openxmlformats.org/officeDocument/2006/relationships/slide" Target="slides/slide136.xml"/><Relationship Id="rId138" Type="http://schemas.openxmlformats.org/officeDocument/2006/relationships/slide" Target="slides/slide137.xml"/><Relationship Id="rId139" Type="http://schemas.openxmlformats.org/officeDocument/2006/relationships/slide" Target="slides/slide138.xml"/><Relationship Id="rId140" Type="http://schemas.openxmlformats.org/officeDocument/2006/relationships/slide" Target="slides/slide139.xml"/><Relationship Id="rId141" Type="http://schemas.openxmlformats.org/officeDocument/2006/relationships/slide" Target="slides/slide140.xml"/><Relationship Id="rId142" Type="http://schemas.openxmlformats.org/officeDocument/2006/relationships/slide" Target="slides/slide141.xml"/><Relationship Id="rId143" Type="http://schemas.openxmlformats.org/officeDocument/2006/relationships/slide" Target="slides/slide142.xml"/><Relationship Id="rId144" Type="http://schemas.openxmlformats.org/officeDocument/2006/relationships/slide" Target="slides/slide143.xml"/><Relationship Id="rId145" Type="http://schemas.openxmlformats.org/officeDocument/2006/relationships/slide" Target="slides/slide144.xml"/><Relationship Id="rId146" Type="http://schemas.openxmlformats.org/officeDocument/2006/relationships/slide" Target="slides/slide145.xml"/><Relationship Id="rId147" Type="http://schemas.openxmlformats.org/officeDocument/2006/relationships/slide" Target="slides/slide146.xml"/><Relationship Id="rId148" Type="http://schemas.openxmlformats.org/officeDocument/2006/relationships/slide" Target="slides/slide147.xml"/><Relationship Id="rId149" Type="http://schemas.openxmlformats.org/officeDocument/2006/relationships/slide" Target="slides/slide148.xml"/><Relationship Id="rId150" Type="http://schemas.openxmlformats.org/officeDocument/2006/relationships/slide" Target="slides/slide149.xml"/><Relationship Id="rId151" Type="http://schemas.openxmlformats.org/officeDocument/2006/relationships/slide" Target="slides/slide150.xml"/><Relationship Id="rId152" Type="http://schemas.openxmlformats.org/officeDocument/2006/relationships/slide" Target="slides/slide151.xml"/><Relationship Id="rId153" Type="http://schemas.openxmlformats.org/officeDocument/2006/relationships/slide" Target="slides/slide152.xml"/><Relationship Id="rId154" Type="http://schemas.openxmlformats.org/officeDocument/2006/relationships/slide" Target="slides/slide153.xml"/><Relationship Id="rId155" Type="http://schemas.openxmlformats.org/officeDocument/2006/relationships/slide" Target="slides/slide154.xml"/><Relationship Id="rId156" Type="http://schemas.openxmlformats.org/officeDocument/2006/relationships/slide" Target="slides/slide155.xml"/><Relationship Id="rId157" Type="http://schemas.openxmlformats.org/officeDocument/2006/relationships/slide" Target="slides/slide156.xml"/><Relationship Id="rId158" Type="http://schemas.openxmlformats.org/officeDocument/2006/relationships/slide" Target="slides/slide157.xml"/><Relationship Id="rId159" Type="http://schemas.openxmlformats.org/officeDocument/2006/relationships/slide" Target="slides/slide158.xml"/><Relationship Id="rId160" Type="http://schemas.openxmlformats.org/officeDocument/2006/relationships/slide" Target="slides/slide159.xml"/><Relationship Id="rId161" Type="http://schemas.openxmlformats.org/officeDocument/2006/relationships/slide" Target="slides/slide160.xml"/><Relationship Id="rId162" Type="http://schemas.openxmlformats.org/officeDocument/2006/relationships/slide" Target="slides/slide161.xml"/><Relationship Id="rId163" Type="http://schemas.openxmlformats.org/officeDocument/2006/relationships/slide" Target="slides/slide162.xml"/><Relationship Id="rId164" Type="http://schemas.openxmlformats.org/officeDocument/2006/relationships/slide" Target="slides/slide163.xml"/><Relationship Id="rId165" Type="http://schemas.openxmlformats.org/officeDocument/2006/relationships/slide" Target="slides/slide164.xml"/><Relationship Id="rId166" Type="http://schemas.openxmlformats.org/officeDocument/2006/relationships/slide" Target="slides/slide165.xml"/><Relationship Id="rId167" Type="http://schemas.openxmlformats.org/officeDocument/2006/relationships/slide" Target="slides/slide166.xml"/><Relationship Id="rId168" Type="http://schemas.openxmlformats.org/officeDocument/2006/relationships/slide" Target="slides/slide167.xml"/><Relationship Id="rId169" Type="http://schemas.openxmlformats.org/officeDocument/2006/relationships/slide" Target="slides/slide168.xml"/><Relationship Id="rId170" Type="http://schemas.openxmlformats.org/officeDocument/2006/relationships/slide" Target="slides/slide169.xml"/><Relationship Id="rId171" Type="http://schemas.openxmlformats.org/officeDocument/2006/relationships/slide" Target="slides/slide170.xml"/><Relationship Id="rId172" Type="http://schemas.openxmlformats.org/officeDocument/2006/relationships/slide" Target="slides/slide171.xml"/><Relationship Id="rId173" Type="http://schemas.openxmlformats.org/officeDocument/2006/relationships/slide" Target="slides/slide172.xml"/><Relationship Id="rId174" Type="http://schemas.openxmlformats.org/officeDocument/2006/relationships/slide" Target="slides/slide173.xml"/><Relationship Id="rId175" Type="http://schemas.openxmlformats.org/officeDocument/2006/relationships/slide" Target="slides/slide174.xml"/><Relationship Id="rId176" Type="http://schemas.openxmlformats.org/officeDocument/2006/relationships/slide" Target="slides/slide175.xml"/><Relationship Id="rId177" Type="http://schemas.openxmlformats.org/officeDocument/2006/relationships/slide" Target="slides/slide176.xml"/><Relationship Id="rId178" Type="http://schemas.openxmlformats.org/officeDocument/2006/relationships/slide" Target="slides/slide177.xml"/><Relationship Id="rId179" Type="http://schemas.openxmlformats.org/officeDocument/2006/relationships/slide" Target="slides/slide178.xml"/><Relationship Id="rId180" Type="http://schemas.openxmlformats.org/officeDocument/2006/relationships/slide" Target="slides/slide179.xml"/><Relationship Id="rId181" Type="http://schemas.openxmlformats.org/officeDocument/2006/relationships/slide" Target="slides/slide180.xml"/><Relationship Id="rId182" Type="http://schemas.openxmlformats.org/officeDocument/2006/relationships/slide" Target="slides/slide181.xml"/><Relationship Id="rId183" Type="http://schemas.openxmlformats.org/officeDocument/2006/relationships/slide" Target="slides/slide182.xml"/><Relationship Id="rId184" Type="http://schemas.openxmlformats.org/officeDocument/2006/relationships/slide" Target="slides/slide183.xml"/><Relationship Id="rId185" Type="http://schemas.openxmlformats.org/officeDocument/2006/relationships/slide" Target="slides/slide184.xml"/><Relationship Id="rId186" Type="http://schemas.openxmlformats.org/officeDocument/2006/relationships/slide" Target="slides/slide185.xml"/><Relationship Id="rId187" Type="http://schemas.openxmlformats.org/officeDocument/2006/relationships/slide" Target="slides/slide186.xml"/><Relationship Id="rId188" Type="http://schemas.openxmlformats.org/officeDocument/2006/relationships/slide" Target="slides/slide187.xml"/><Relationship Id="rId189" Type="http://schemas.openxmlformats.org/officeDocument/2006/relationships/slide" Target="slides/slide188.xml"/><Relationship Id="rId190" Type="http://schemas.openxmlformats.org/officeDocument/2006/relationships/slide" Target="slides/slide189.xml"/><Relationship Id="rId191" Type="http://schemas.openxmlformats.org/officeDocument/2006/relationships/slide" Target="slides/slide190.xml"/><Relationship Id="rId192" Type="http://schemas.openxmlformats.org/officeDocument/2006/relationships/slide" Target="slides/slide191.xml"/><Relationship Id="rId193" Type="http://schemas.openxmlformats.org/officeDocument/2006/relationships/slide" Target="slides/slide192.xml"/><Relationship Id="rId194" Type="http://schemas.openxmlformats.org/officeDocument/2006/relationships/slide" Target="slides/slide193.xml"/><Relationship Id="rId195" Type="http://schemas.openxmlformats.org/officeDocument/2006/relationships/slide" Target="slides/slide194.xml"/><Relationship Id="rId196" Type="http://schemas.openxmlformats.org/officeDocument/2006/relationships/slide" Target="slides/slide195.xml"/><Relationship Id="rId197" Type="http://schemas.openxmlformats.org/officeDocument/2006/relationships/slide" Target="slides/slide196.xml"/><Relationship Id="rId198" Type="http://schemas.openxmlformats.org/officeDocument/2006/relationships/slide" Target="slides/slide197.xml"/><Relationship Id="rId199" Type="http://schemas.openxmlformats.org/officeDocument/2006/relationships/slide" Target="slides/slide198.xml"/><Relationship Id="rId200" Type="http://schemas.openxmlformats.org/officeDocument/2006/relationships/slide" Target="slides/slide199.xml"/><Relationship Id="rId201" Type="http://schemas.openxmlformats.org/officeDocument/2006/relationships/slide" Target="slides/slide200.xml"/><Relationship Id="rId202" Type="http://schemas.openxmlformats.org/officeDocument/2006/relationships/slide" Target="slides/slide201.xml"/><Relationship Id="rId203" Type="http://schemas.openxmlformats.org/officeDocument/2006/relationships/slide" Target="slides/slide202.xml"/><Relationship Id="rId204" Type="http://schemas.openxmlformats.org/officeDocument/2006/relationships/slide" Target="slides/slide203.xml"/><Relationship Id="rId205" Type="http://schemas.openxmlformats.org/officeDocument/2006/relationships/slide" Target="slides/slide204.xml"/><Relationship Id="rId206" Type="http://schemas.openxmlformats.org/officeDocument/2006/relationships/slide" Target="slides/slide205.xml"/><Relationship Id="rId207" Type="http://schemas.openxmlformats.org/officeDocument/2006/relationships/slide" Target="slides/slide206.xml"/><Relationship Id="rId208" Type="http://schemas.openxmlformats.org/officeDocument/2006/relationships/slide" Target="slides/slide207.xml"/><Relationship Id="rId209" Type="http://schemas.openxmlformats.org/officeDocument/2006/relationships/slide" Target="slides/slide208.xml"/><Relationship Id="rId210" Type="http://schemas.openxmlformats.org/officeDocument/2006/relationships/slide" Target="slides/slide209.xml"/><Relationship Id="rId211" Type="http://schemas.openxmlformats.org/officeDocument/2006/relationships/slide" Target="slides/slide210.xml"/><Relationship Id="rId212" Type="http://schemas.openxmlformats.org/officeDocument/2006/relationships/slide" Target="slides/slide211.xml"/><Relationship Id="rId213" Type="http://schemas.openxmlformats.org/officeDocument/2006/relationships/slide" Target="slides/slide212.xml"/><Relationship Id="rId214" Type="http://schemas.openxmlformats.org/officeDocument/2006/relationships/slide" Target="slides/slide213.xml"/><Relationship Id="rId215" Type="http://schemas.openxmlformats.org/officeDocument/2006/relationships/slide" Target="slides/slide214.xml"/><Relationship Id="rId216" Type="http://schemas.openxmlformats.org/officeDocument/2006/relationships/slide" Target="slides/slide215.xml"/><Relationship Id="rId217" Type="http://schemas.openxmlformats.org/officeDocument/2006/relationships/slide" Target="slides/slide216.xml"/><Relationship Id="rId218" Type="http://schemas.openxmlformats.org/officeDocument/2006/relationships/slide" Target="slides/slide217.xml"/><Relationship Id="rId219" Type="http://schemas.openxmlformats.org/officeDocument/2006/relationships/slide" Target="slides/slide218.xml"/><Relationship Id="rId220" Type="http://schemas.openxmlformats.org/officeDocument/2006/relationships/slide" Target="slides/slide219.xml"/><Relationship Id="rId221" Type="http://schemas.openxmlformats.org/officeDocument/2006/relationships/slide" Target="slides/slide220.xml"/><Relationship Id="rId222" Type="http://schemas.openxmlformats.org/officeDocument/2006/relationships/slide" Target="slides/slide221.xml"/><Relationship Id="rId223" Type="http://schemas.openxmlformats.org/officeDocument/2006/relationships/slide" Target="slides/slide222.xml"/><Relationship Id="rId224" Type="http://schemas.openxmlformats.org/officeDocument/2006/relationships/slide" Target="slides/slide223.xml"/><Relationship Id="rId225" Type="http://schemas.openxmlformats.org/officeDocument/2006/relationships/slide" Target="slides/slide224.xml"/><Relationship Id="rId226" Type="http://schemas.openxmlformats.org/officeDocument/2006/relationships/slide" Target="slides/slide225.xml"/><Relationship Id="rId227" Type="http://schemas.openxmlformats.org/officeDocument/2006/relationships/slide" Target="slides/slide226.xml"/><Relationship Id="rId228" Type="http://schemas.openxmlformats.org/officeDocument/2006/relationships/slide" Target="slides/slide227.xml"/><Relationship Id="rId229" Type="http://schemas.openxmlformats.org/officeDocument/2006/relationships/slide" Target="slides/slide228.xml"/><Relationship Id="rId230" Type="http://schemas.openxmlformats.org/officeDocument/2006/relationships/slide" Target="slides/slide229.xml"/><Relationship Id="rId231" Type="http://schemas.openxmlformats.org/officeDocument/2006/relationships/slide" Target="slides/slide230.xml"/><Relationship Id="rId232" Type="http://schemas.openxmlformats.org/officeDocument/2006/relationships/slide" Target="slides/slide231.xml"/><Relationship Id="rId233" Type="http://schemas.openxmlformats.org/officeDocument/2006/relationships/slide" Target="slides/slide232.xml"/><Relationship Id="rId234" Type="http://schemas.openxmlformats.org/officeDocument/2006/relationships/slide" Target="slides/slide233.xml"/><Relationship Id="rId235" Type="http://schemas.openxmlformats.org/officeDocument/2006/relationships/slide" Target="slides/slide234.xml"/><Relationship Id="rId236" Type="http://schemas.openxmlformats.org/officeDocument/2006/relationships/slide" Target="slides/slide235.xml"/><Relationship Id="rId237" Type="http://schemas.openxmlformats.org/officeDocument/2006/relationships/slide" Target="slides/slide236.xml"/><Relationship Id="rId238" Type="http://schemas.openxmlformats.org/officeDocument/2006/relationships/slide" Target="slides/slide237.xml"/><Relationship Id="rId239" Type="http://schemas.openxmlformats.org/officeDocument/2006/relationships/slide" Target="slides/slide238.xml"/><Relationship Id="rId240" Type="http://schemas.openxmlformats.org/officeDocument/2006/relationships/slide" Target="slides/slide239.xml"/><Relationship Id="rId241" Type="http://schemas.openxmlformats.org/officeDocument/2006/relationships/slide" Target="slides/slide240.xml"/><Relationship Id="rId242" Type="http://schemas.openxmlformats.org/officeDocument/2006/relationships/slide" Target="slides/slide241.xml"/><Relationship Id="rId243" Type="http://schemas.openxmlformats.org/officeDocument/2006/relationships/slide" Target="slides/slide242.xml"/><Relationship Id="rId244" Type="http://schemas.openxmlformats.org/officeDocument/2006/relationships/slide" Target="slides/slide243.xml"/><Relationship Id="rId245" Type="http://schemas.openxmlformats.org/officeDocument/2006/relationships/slide" Target="slides/slide244.xml"/><Relationship Id="rId246" Type="http://schemas.openxmlformats.org/officeDocument/2006/relationships/slide" Target="slides/slide245.xml"/><Relationship Id="rId247" Type="http://schemas.openxmlformats.org/officeDocument/2006/relationships/slide" Target="slides/slide246.xml"/><Relationship Id="rId248" Type="http://schemas.openxmlformats.org/officeDocument/2006/relationships/slide" Target="slides/slide247.xml"/><Relationship Id="rId249" Type="http://schemas.openxmlformats.org/officeDocument/2006/relationships/slide" Target="slides/slide248.xml"/><Relationship Id="rId250" Type="http://schemas.openxmlformats.org/officeDocument/2006/relationships/slide" Target="slides/slide249.xml"/><Relationship Id="rId251" Type="http://schemas.openxmlformats.org/officeDocument/2006/relationships/slide" Target="slides/slide250.xml"/><Relationship Id="rId252" Type="http://schemas.openxmlformats.org/officeDocument/2006/relationships/slide" Target="slides/slide251.xml"/><Relationship Id="rId253" Type="http://schemas.openxmlformats.org/officeDocument/2006/relationships/slide" Target="slides/slide252.xml"/><Relationship Id="rId254" Type="http://schemas.openxmlformats.org/officeDocument/2006/relationships/slide" Target="slides/slide253.xml"/><Relationship Id="rId255" Type="http://schemas.openxmlformats.org/officeDocument/2006/relationships/slide" Target="slides/slide254.xml"/><Relationship Id="rId256" Type="http://schemas.openxmlformats.org/officeDocument/2006/relationships/slide" Target="slides/slide255.xml"/><Relationship Id="rId257" Type="http://schemas.openxmlformats.org/officeDocument/2006/relationships/slide" Target="slides/slide256.xml"/><Relationship Id="rId258" Type="http://schemas.openxmlformats.org/officeDocument/2006/relationships/slide" Target="slides/slide257.xml"/><Relationship Id="rId259" Type="http://schemas.openxmlformats.org/officeDocument/2006/relationships/slide" Target="slides/slide258.xml"/><Relationship Id="rId260" Type="http://schemas.openxmlformats.org/officeDocument/2006/relationships/slide" Target="slides/slide259.xml"/><Relationship Id="rId261" Type="http://schemas.openxmlformats.org/officeDocument/2006/relationships/slide" Target="slides/slide260.xml"/><Relationship Id="rId262" Type="http://schemas.openxmlformats.org/officeDocument/2006/relationships/slide" Target="slides/slide261.xml"/><Relationship Id="rId263" Type="http://schemas.openxmlformats.org/officeDocument/2006/relationships/slide" Target="slides/slide262.xml"/><Relationship Id="rId264" Type="http://schemas.openxmlformats.org/officeDocument/2006/relationships/slide" Target="slides/slide263.xml"/><Relationship Id="rId265" Type="http://schemas.openxmlformats.org/officeDocument/2006/relationships/slide" Target="slides/slide264.xml"/><Relationship Id="rId266" Type="http://schemas.openxmlformats.org/officeDocument/2006/relationships/slide" Target="slides/slide265.xml"/><Relationship Id="rId267" Type="http://schemas.openxmlformats.org/officeDocument/2006/relationships/slide" Target="slides/slide266.xml"/><Relationship Id="rId268" Type="http://schemas.openxmlformats.org/officeDocument/2006/relationships/slide" Target="slides/slide267.xml"/><Relationship Id="rId269" Type="http://schemas.openxmlformats.org/officeDocument/2006/relationships/slide" Target="slides/slide268.xml"/><Relationship Id="rId270" Type="http://schemas.openxmlformats.org/officeDocument/2006/relationships/slide" Target="slides/slide269.xml"/><Relationship Id="rId271" Type="http://schemas.openxmlformats.org/officeDocument/2006/relationships/presProps" Target="presProps.xml"/><Relationship Id="rId272" Type="http://schemas.openxmlformats.org/officeDocument/2006/relationships/viewProps" Target="viewProps.xml"/><Relationship Id="rId273" Type="http://schemas.openxmlformats.org/officeDocument/2006/relationships/theme" Target="theme/theme1.xml"/><Relationship Id="rId274"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F8166F1F-CE9B-4651-A6AA-CD717754106B}" type="datetimeFigureOut">
              <a:rPr lang="en-US" smtClean="0"/>
              <a:t>3/7/2026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buChar char="•"/>
            </a:pPr>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3/7/2026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A76116CE-C4A3-4A05-B2D7-7C2E9A889C0F}" type="datetimeFigureOut">
              <a:rPr lang="en-US" smtClean="0"/>
              <a:t>3/7/2026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A76116CE-C4A3-4A05-B2D7-7C2E9A889C0F}" type="datetimeFigureOut">
              <a:rPr lang="en-US" smtClean="0"/>
              <a:t>1/30/2017</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A76116CE-C4A3-4A05-B2D7-7C2E9A889C0F}" type="datetimeFigureOut">
              <a:rPr lang="en-US" smtClean="0"/>
              <a:t>1/30/2017</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A76116CE-C4A3-4A05-B2D7-7C2E9A889C0F}" type="datetimeFigureOut">
              <a:rPr lang="en-US" smtClean="0"/>
              <a:t>1/30/2017</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F8166F1F-CE9B-4651-A6AA-CD717754106B}" type="datetimeFigureOut">
              <a:rPr lang="en-US" smtClean="0"/>
              <a:t>6/13/2013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7021451-1387-4CA6-816F-3879F97B5CBC}" type="slidenum">
              <a:rPr lang="en-US" smtClean="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png"/><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png"/><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png"/><Relationship Id="rId3"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png"/><Relationship Id="rId3"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png"/><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png"/><Relationship Id="rId3"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png"/><Relationship Id="rId3"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png"/><Relationship Id="rId3"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png"/><Relationship Id="rId3"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png"/><Relationship Id="rId3"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 Id="rId3"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png"/><Relationship Id="rId3" Type="http://schemas.openxmlformats.org/officeDocument/2006/relationships/image" Target="../media/image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png"/><Relationship Id="rId3" Type="http://schemas.openxmlformats.org/officeDocument/2006/relationships/image" Target="../media/image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png"/><Relationship Id="rId3" Type="http://schemas.openxmlformats.org/officeDocument/2006/relationships/image" Target="../media/image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png"/><Relationship Id="rId3" Type="http://schemas.openxmlformats.org/officeDocument/2006/relationships/image" Target="../media/image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png"/><Relationship Id="rId3" Type="http://schemas.openxmlformats.org/officeDocument/2006/relationships/image" Target="../media/image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png"/><Relationship Id="rId3" Type="http://schemas.openxmlformats.org/officeDocument/2006/relationships/image" Target="../media/image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png"/><Relationship Id="rId3" Type="http://schemas.openxmlformats.org/officeDocument/2006/relationships/image" Target="../media/image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png"/><Relationship Id="rId3" Type="http://schemas.openxmlformats.org/officeDocument/2006/relationships/image" Target="../media/image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png"/><Relationship Id="rId3" Type="http://schemas.openxmlformats.org/officeDocument/2006/relationships/image" Target="../media/image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png"/><Relationship Id="rId3"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png"/><Relationship Id="rId3" Type="http://schemas.openxmlformats.org/officeDocument/2006/relationships/image" Target="../media/image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png"/><Relationship Id="rId3" Type="http://schemas.openxmlformats.org/officeDocument/2006/relationships/image" Target="../media/image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png"/><Relationship Id="rId3"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png"/><Relationship Id="rId3"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1.png"/><Relationship Id="rId3"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2.png"/><Relationship Id="rId3" Type="http://schemas.openxmlformats.org/officeDocument/2006/relationships/image" Target="../media/image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3.png"/><Relationship Id="rId3" Type="http://schemas.openxmlformats.org/officeDocument/2006/relationships/image" Target="../media/image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4.png"/><Relationship Id="rId3" Type="http://schemas.openxmlformats.org/officeDocument/2006/relationships/image" Target="../media/image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5.png"/><Relationship Id="rId3" Type="http://schemas.openxmlformats.org/officeDocument/2006/relationships/image" Target="../media/image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6.png"/><Relationship Id="rId3" Type="http://schemas.openxmlformats.org/officeDocument/2006/relationships/image" Target="../media/image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7.png"/><Relationship Id="rId3" Type="http://schemas.openxmlformats.org/officeDocument/2006/relationships/image" Target="../media/image1.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8.png"/><Relationship Id="rId3" Type="http://schemas.openxmlformats.org/officeDocument/2006/relationships/image" Target="../media/image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9.png"/><Relationship Id="rId3" Type="http://schemas.openxmlformats.org/officeDocument/2006/relationships/image" Target="../media/image1.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0.png"/><Relationship Id="rId3" Type="http://schemas.openxmlformats.org/officeDocument/2006/relationships/image" Target="../media/image1.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1.png"/><Relationship Id="rId3" Type="http://schemas.openxmlformats.org/officeDocument/2006/relationships/image" Target="../media/image1.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2.png"/><Relationship Id="rId3" Type="http://schemas.openxmlformats.org/officeDocument/2006/relationships/image" Target="../media/image1.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3.png"/><Relationship Id="rId3" Type="http://schemas.openxmlformats.org/officeDocument/2006/relationships/image" Target="../media/image1.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4.png"/><Relationship Id="rId3" Type="http://schemas.openxmlformats.org/officeDocument/2006/relationships/image" Target="../media/image1.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5.png"/><Relationship Id="rId3" Type="http://schemas.openxmlformats.org/officeDocument/2006/relationships/image" Target="../media/image1.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6.png"/><Relationship Id="rId3" Type="http://schemas.openxmlformats.org/officeDocument/2006/relationships/image" Target="../media/image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7.png"/><Relationship Id="rId3" Type="http://schemas.openxmlformats.org/officeDocument/2006/relationships/image" Target="../media/image1.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8.png"/><Relationship Id="rId3" Type="http://schemas.openxmlformats.org/officeDocument/2006/relationships/image" Target="../media/image1.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9.png"/><Relationship Id="rId3" Type="http://schemas.openxmlformats.org/officeDocument/2006/relationships/image" Target="../media/image1.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0.png"/><Relationship Id="rId3" Type="http://schemas.openxmlformats.org/officeDocument/2006/relationships/image" Target="../media/image1.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1.png"/><Relationship Id="rId3" Type="http://schemas.openxmlformats.org/officeDocument/2006/relationships/image" Target="../media/image1.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2.png"/><Relationship Id="rId3" Type="http://schemas.openxmlformats.org/officeDocument/2006/relationships/image" Target="../media/image1.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3.png"/><Relationship Id="rId3" Type="http://schemas.openxmlformats.org/officeDocument/2006/relationships/image" Target="../media/image1.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4.png"/><Relationship Id="rId3" Type="http://schemas.openxmlformats.org/officeDocument/2006/relationships/image" Target="../media/image1.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5.png"/><Relationship Id="rId3" Type="http://schemas.openxmlformats.org/officeDocument/2006/relationships/image" Target="../media/image1.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6.png"/><Relationship Id="rId3" Type="http://schemas.openxmlformats.org/officeDocument/2006/relationships/image" Target="../media/image1.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7.png"/><Relationship Id="rId3" Type="http://schemas.openxmlformats.org/officeDocument/2006/relationships/image" Target="../media/image1.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8.png"/><Relationship Id="rId3" Type="http://schemas.openxmlformats.org/officeDocument/2006/relationships/image" Target="../media/image1.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9.png"/><Relationship Id="rId3" Type="http://schemas.openxmlformats.org/officeDocument/2006/relationships/image" Target="../media/image1.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0.png"/><Relationship Id="rId3" Type="http://schemas.openxmlformats.org/officeDocument/2006/relationships/image" Target="../media/image1.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1.png"/><Relationship Id="rId3" Type="http://schemas.openxmlformats.org/officeDocument/2006/relationships/image" Target="../media/image1.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2.png"/><Relationship Id="rId3" Type="http://schemas.openxmlformats.org/officeDocument/2006/relationships/image" Target="../media/image1.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3.png"/><Relationship Id="rId3" Type="http://schemas.openxmlformats.org/officeDocument/2006/relationships/image" Target="../media/image1.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4.png"/><Relationship Id="rId3" Type="http://schemas.openxmlformats.org/officeDocument/2006/relationships/image" Target="../media/image1.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5.png"/><Relationship Id="rId3" Type="http://schemas.openxmlformats.org/officeDocument/2006/relationships/image" Target="../media/image1.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6.png"/><Relationship Id="rId3" Type="http://schemas.openxmlformats.org/officeDocument/2006/relationships/image" Target="../media/image1.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7.png"/><Relationship Id="rId3" Type="http://schemas.openxmlformats.org/officeDocument/2006/relationships/image" Target="../media/image1.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8.png"/><Relationship Id="rId3" Type="http://schemas.openxmlformats.org/officeDocument/2006/relationships/image" Target="../media/image1.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9.png"/><Relationship Id="rId3" Type="http://schemas.openxmlformats.org/officeDocument/2006/relationships/image" Target="../media/image1.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0.png"/><Relationship Id="rId3" Type="http://schemas.openxmlformats.org/officeDocument/2006/relationships/image" Target="../media/image1.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1.png"/><Relationship Id="rId3" Type="http://schemas.openxmlformats.org/officeDocument/2006/relationships/image" Target="../media/image1.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2.png"/><Relationship Id="rId3" Type="http://schemas.openxmlformats.org/officeDocument/2006/relationships/image" Target="../media/image1.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3.png"/><Relationship Id="rId3" Type="http://schemas.openxmlformats.org/officeDocument/2006/relationships/image" Target="../media/image1.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4.png"/><Relationship Id="rId3" Type="http://schemas.openxmlformats.org/officeDocument/2006/relationships/image" Target="../media/image1.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5.png"/><Relationship Id="rId3" Type="http://schemas.openxmlformats.org/officeDocument/2006/relationships/image" Target="../media/image1.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6.png"/><Relationship Id="rId3" Type="http://schemas.openxmlformats.org/officeDocument/2006/relationships/image" Target="../media/image1.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7.png"/><Relationship Id="rId3" Type="http://schemas.openxmlformats.org/officeDocument/2006/relationships/image" Target="../media/image1.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8.png"/><Relationship Id="rId3" Type="http://schemas.openxmlformats.org/officeDocument/2006/relationships/image" Target="../media/image1.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9.png"/><Relationship Id="rId3" Type="http://schemas.openxmlformats.org/officeDocument/2006/relationships/image" Target="../media/image1.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0.png"/><Relationship Id="rId3" Type="http://schemas.openxmlformats.org/officeDocument/2006/relationships/image" Target="../media/image1.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1.png"/><Relationship Id="rId3" Type="http://schemas.openxmlformats.org/officeDocument/2006/relationships/image" Target="../media/image1.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2.png"/><Relationship Id="rId3" Type="http://schemas.openxmlformats.org/officeDocument/2006/relationships/image" Target="../media/image1.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3.png"/><Relationship Id="rId3" Type="http://schemas.openxmlformats.org/officeDocument/2006/relationships/image" Target="../media/image1.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4.png"/><Relationship Id="rId3" Type="http://schemas.openxmlformats.org/officeDocument/2006/relationships/image" Target="../media/image1.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5.png"/><Relationship Id="rId3" Type="http://schemas.openxmlformats.org/officeDocument/2006/relationships/image" Target="../media/image1.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6.png"/><Relationship Id="rId3" Type="http://schemas.openxmlformats.org/officeDocument/2006/relationships/image" Target="../media/image1.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7.png"/><Relationship Id="rId3" Type="http://schemas.openxmlformats.org/officeDocument/2006/relationships/image" Target="../media/image1.pn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8.png"/><Relationship Id="rId3" Type="http://schemas.openxmlformats.org/officeDocument/2006/relationships/image" Target="../media/image1.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9.png"/><Relationship Id="rId3" Type="http://schemas.openxmlformats.org/officeDocument/2006/relationships/image" Target="../media/image1.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0.png"/><Relationship Id="rId3" Type="http://schemas.openxmlformats.org/officeDocument/2006/relationships/image" Target="../media/image1.pn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1.png"/><Relationship Id="rId3" Type="http://schemas.openxmlformats.org/officeDocument/2006/relationships/image" Target="../media/image1.png"/></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2.png"/><Relationship Id="rId3" Type="http://schemas.openxmlformats.org/officeDocument/2006/relationships/image" Target="../media/image1.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3.png"/><Relationship Id="rId3" Type="http://schemas.openxmlformats.org/officeDocument/2006/relationships/image" Target="../media/image1.png"/></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4.png"/><Relationship Id="rId3" Type="http://schemas.openxmlformats.org/officeDocument/2006/relationships/image" Target="../media/image1.png"/></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5.png"/><Relationship Id="rId3" Type="http://schemas.openxmlformats.org/officeDocument/2006/relationships/image" Target="../media/image1.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6.png"/><Relationship Id="rId3" Type="http://schemas.openxmlformats.org/officeDocument/2006/relationships/image" Target="../media/image1.png"/></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7.png"/><Relationship Id="rId3" Type="http://schemas.openxmlformats.org/officeDocument/2006/relationships/image" Target="../media/image1.png"/></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8.png"/><Relationship Id="rId3" Type="http://schemas.openxmlformats.org/officeDocument/2006/relationships/image" Target="../media/image1.png"/></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9.png"/><Relationship Id="rId3" Type="http://schemas.openxmlformats.org/officeDocument/2006/relationships/image" Target="../media/image1.png"/></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0.png"/><Relationship Id="rId3" Type="http://schemas.openxmlformats.org/officeDocument/2006/relationships/image" Target="../media/image1.png"/></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1.png"/><Relationship Id="rId3" Type="http://schemas.openxmlformats.org/officeDocument/2006/relationships/image" Target="../media/image1.png"/></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2.png"/><Relationship Id="rId3" Type="http://schemas.openxmlformats.org/officeDocument/2006/relationships/image" Target="../media/image1.png"/></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3.png"/><Relationship Id="rId3" Type="http://schemas.openxmlformats.org/officeDocument/2006/relationships/image" Target="../media/image1.png"/></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4.png"/><Relationship Id="rId3" Type="http://schemas.openxmlformats.org/officeDocument/2006/relationships/image" Target="../media/image1.png"/></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5.png"/><Relationship Id="rId3" Type="http://schemas.openxmlformats.org/officeDocument/2006/relationships/image" Target="../media/image1.pn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6.png"/><Relationship Id="rId3" Type="http://schemas.openxmlformats.org/officeDocument/2006/relationships/image" Target="../media/image1.png"/></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7.png"/><Relationship Id="rId3" Type="http://schemas.openxmlformats.org/officeDocument/2006/relationships/image" Target="../media/image1.png"/></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8.png"/><Relationship Id="rId3" Type="http://schemas.openxmlformats.org/officeDocument/2006/relationships/image" Target="../media/image1.png"/></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9.png"/><Relationship Id="rId3" Type="http://schemas.openxmlformats.org/officeDocument/2006/relationships/image" Target="../media/image1.png"/></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0.png"/><Relationship Id="rId3" Type="http://schemas.openxmlformats.org/officeDocument/2006/relationships/image" Target="../media/image1.png"/></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1.png"/><Relationship Id="rId3" Type="http://schemas.openxmlformats.org/officeDocument/2006/relationships/image" Target="../media/image1.png"/></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2.png"/><Relationship Id="rId3" Type="http://schemas.openxmlformats.org/officeDocument/2006/relationships/image" Target="../media/image1.png"/></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3.png"/><Relationship Id="rId3" Type="http://schemas.openxmlformats.org/officeDocument/2006/relationships/image" Target="../media/image1.png"/></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4.png"/><Relationship Id="rId3" Type="http://schemas.openxmlformats.org/officeDocument/2006/relationships/image" Target="../media/image1.png"/></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5.png"/><Relationship Id="rId3" Type="http://schemas.openxmlformats.org/officeDocument/2006/relationships/image" Target="../media/image1.png"/></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6.png"/><Relationship Id="rId3" Type="http://schemas.openxmlformats.org/officeDocument/2006/relationships/image" Target="../media/image1.png"/></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7.png"/><Relationship Id="rId3" Type="http://schemas.openxmlformats.org/officeDocument/2006/relationships/image" Target="../media/image1.png"/></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8.png"/><Relationship Id="rId3" Type="http://schemas.openxmlformats.org/officeDocument/2006/relationships/image" Target="../media/image1.png"/></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9.png"/><Relationship Id="rId3" Type="http://schemas.openxmlformats.org/officeDocument/2006/relationships/image" Target="../media/image1.png"/></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0.png"/><Relationship Id="rId3" Type="http://schemas.openxmlformats.org/officeDocument/2006/relationships/image" Target="../media/image1.png"/></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1.png"/><Relationship Id="rId3" Type="http://schemas.openxmlformats.org/officeDocument/2006/relationships/image" Target="../media/image1.png"/></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2.png"/><Relationship Id="rId3" Type="http://schemas.openxmlformats.org/officeDocument/2006/relationships/image" Target="../media/image1.png"/></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3.png"/><Relationship Id="rId3" Type="http://schemas.openxmlformats.org/officeDocument/2006/relationships/image" Target="../media/image1.png"/></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4.png"/><Relationship Id="rId3" Type="http://schemas.openxmlformats.org/officeDocument/2006/relationships/image" Target="../media/image1.png"/></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5.png"/><Relationship Id="rId3" Type="http://schemas.openxmlformats.org/officeDocument/2006/relationships/image" Target="../media/image1.png"/></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6.png"/><Relationship Id="rId3" Type="http://schemas.openxmlformats.org/officeDocument/2006/relationships/image" Target="../media/image1.png"/></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7.png"/><Relationship Id="rId3" Type="http://schemas.openxmlformats.org/officeDocument/2006/relationships/image" Target="../media/image1.png"/></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8.png"/><Relationship Id="rId3" Type="http://schemas.openxmlformats.org/officeDocument/2006/relationships/image" Target="../media/image1.png"/></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9.png"/><Relationship Id="rId3" Type="http://schemas.openxmlformats.org/officeDocument/2006/relationships/image" Target="../media/image1.png"/></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0.png"/><Relationship Id="rId3" Type="http://schemas.openxmlformats.org/officeDocument/2006/relationships/image" Target="../media/image1.png"/></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1.png"/><Relationship Id="rId3" Type="http://schemas.openxmlformats.org/officeDocument/2006/relationships/image" Target="../media/image1.png"/></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2.png"/><Relationship Id="rId3" Type="http://schemas.openxmlformats.org/officeDocument/2006/relationships/image" Target="../media/image1.png"/></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3.png"/><Relationship Id="rId3" Type="http://schemas.openxmlformats.org/officeDocument/2006/relationships/image" Target="../media/image1.png"/></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4.png"/><Relationship Id="rId3" Type="http://schemas.openxmlformats.org/officeDocument/2006/relationships/image" Target="../media/image1.png"/></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5.png"/><Relationship Id="rId3" Type="http://schemas.openxmlformats.org/officeDocument/2006/relationships/image" Target="../media/image1.png"/></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6.png"/><Relationship Id="rId3" Type="http://schemas.openxmlformats.org/officeDocument/2006/relationships/image" Target="../media/image1.png"/></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7.png"/><Relationship Id="rId3" Type="http://schemas.openxmlformats.org/officeDocument/2006/relationships/image" Target="../media/image1.png"/></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8.png"/><Relationship Id="rId3" Type="http://schemas.openxmlformats.org/officeDocument/2006/relationships/image" Target="../media/image1.png"/></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9.png"/><Relationship Id="rId3" Type="http://schemas.openxmlformats.org/officeDocument/2006/relationships/image" Target="../media/image1.png"/></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0.png"/><Relationship Id="rId3" Type="http://schemas.openxmlformats.org/officeDocument/2006/relationships/image" Target="../media/image1.png"/></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1.png"/><Relationship Id="rId3" Type="http://schemas.openxmlformats.org/officeDocument/2006/relationships/image" Target="../media/image1.png"/></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2.png"/><Relationship Id="rId3" Type="http://schemas.openxmlformats.org/officeDocument/2006/relationships/image" Target="../media/image1.png"/></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3.png"/><Relationship Id="rId3" Type="http://schemas.openxmlformats.org/officeDocument/2006/relationships/image" Target="../media/image1.png"/></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4.png"/><Relationship Id="rId3" Type="http://schemas.openxmlformats.org/officeDocument/2006/relationships/image" Target="../media/image1.png"/></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5.png"/><Relationship Id="rId3" Type="http://schemas.openxmlformats.org/officeDocument/2006/relationships/image" Target="../media/image1.png"/></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6.png"/><Relationship Id="rId3" Type="http://schemas.openxmlformats.org/officeDocument/2006/relationships/image" Target="../media/image1.png"/></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7.png"/><Relationship Id="rId3" Type="http://schemas.openxmlformats.org/officeDocument/2006/relationships/image" Target="../media/image1.png"/></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8.png"/><Relationship Id="rId3" Type="http://schemas.openxmlformats.org/officeDocument/2006/relationships/image" Target="../media/image1.png"/></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9.png"/><Relationship Id="rId3" Type="http://schemas.openxmlformats.org/officeDocument/2006/relationships/image" Target="../media/image1.png"/></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0.png"/><Relationship Id="rId3" Type="http://schemas.openxmlformats.org/officeDocument/2006/relationships/image" Target="../media/image1.png"/></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1.png"/><Relationship Id="rId3" Type="http://schemas.openxmlformats.org/officeDocument/2006/relationships/image" Target="../media/image1.png"/></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2.png"/><Relationship Id="rId3" Type="http://schemas.openxmlformats.org/officeDocument/2006/relationships/image" Target="../media/image1.png"/></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3.png"/><Relationship Id="rId3" Type="http://schemas.openxmlformats.org/officeDocument/2006/relationships/image" Target="../media/image1.png"/></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4.png"/><Relationship Id="rId3" Type="http://schemas.openxmlformats.org/officeDocument/2006/relationships/image" Target="../media/image1.png"/></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5.png"/><Relationship Id="rId3" Type="http://schemas.openxmlformats.org/officeDocument/2006/relationships/image" Target="../media/image1.png"/></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6.png"/><Relationship Id="rId3" Type="http://schemas.openxmlformats.org/officeDocument/2006/relationships/image" Target="../media/image1.png"/></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7.png"/><Relationship Id="rId3" Type="http://schemas.openxmlformats.org/officeDocument/2006/relationships/image" Target="../media/image1.png"/></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8.png"/><Relationship Id="rId3" Type="http://schemas.openxmlformats.org/officeDocument/2006/relationships/image" Target="../media/image1.png"/></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9.png"/><Relationship Id="rId3" Type="http://schemas.openxmlformats.org/officeDocument/2006/relationships/image" Target="../media/image1.png"/></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0.png"/><Relationship Id="rId3" Type="http://schemas.openxmlformats.org/officeDocument/2006/relationships/image" Target="../media/image1.png"/></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1.png"/><Relationship Id="rId3" Type="http://schemas.openxmlformats.org/officeDocument/2006/relationships/image" Target="../media/image1.png"/></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2.png"/><Relationship Id="rId3" Type="http://schemas.openxmlformats.org/officeDocument/2006/relationships/image" Target="../media/image1.png"/></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3.png"/><Relationship Id="rId3" Type="http://schemas.openxmlformats.org/officeDocument/2006/relationships/image" Target="../media/image1.png"/></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4.png"/><Relationship Id="rId3" Type="http://schemas.openxmlformats.org/officeDocument/2006/relationships/image" Target="../media/image1.png"/></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5.png"/><Relationship Id="rId3" Type="http://schemas.openxmlformats.org/officeDocument/2006/relationships/image" Target="../media/image1.png"/></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6.png"/><Relationship Id="rId3" Type="http://schemas.openxmlformats.org/officeDocument/2006/relationships/image" Target="../media/image1.png"/></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7.png"/><Relationship Id="rId3" Type="http://schemas.openxmlformats.org/officeDocument/2006/relationships/image" Target="../media/image1.png"/></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8.png"/><Relationship Id="rId3" Type="http://schemas.openxmlformats.org/officeDocument/2006/relationships/image" Target="../media/image1.png"/></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9.png"/><Relationship Id="rId3" Type="http://schemas.openxmlformats.org/officeDocument/2006/relationships/image" Target="../media/image1.png"/></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0.png"/><Relationship Id="rId3" Type="http://schemas.openxmlformats.org/officeDocument/2006/relationships/image" Target="../media/image1.png"/></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1.png"/><Relationship Id="rId3" Type="http://schemas.openxmlformats.org/officeDocument/2006/relationships/image" Target="../media/image1.png"/></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2.png"/><Relationship Id="rId3" Type="http://schemas.openxmlformats.org/officeDocument/2006/relationships/image" Target="../media/image1.png"/></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3.png"/><Relationship Id="rId3" Type="http://schemas.openxmlformats.org/officeDocument/2006/relationships/image" Target="../media/image1.png"/></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4.png"/><Relationship Id="rId3" Type="http://schemas.openxmlformats.org/officeDocument/2006/relationships/image" Target="../media/image1.png"/></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5.png"/><Relationship Id="rId3" Type="http://schemas.openxmlformats.org/officeDocument/2006/relationships/image" Target="../media/image1.png"/></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6.png"/><Relationship Id="rId3" Type="http://schemas.openxmlformats.org/officeDocument/2006/relationships/image" Target="../media/image1.png"/></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7.png"/><Relationship Id="rId3" Type="http://schemas.openxmlformats.org/officeDocument/2006/relationships/image" Target="../media/image1.png"/></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8.png"/><Relationship Id="rId3" Type="http://schemas.openxmlformats.org/officeDocument/2006/relationships/image" Target="../media/image1.png"/></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9.png"/><Relationship Id="rId3" Type="http://schemas.openxmlformats.org/officeDocument/2006/relationships/image" Target="../media/image1.png"/></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0.png"/><Relationship Id="rId3" Type="http://schemas.openxmlformats.org/officeDocument/2006/relationships/image" Target="../media/image1.png"/></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1.png"/><Relationship Id="rId3" Type="http://schemas.openxmlformats.org/officeDocument/2006/relationships/image" Target="../media/image1.png"/></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2.png"/><Relationship Id="rId3" Type="http://schemas.openxmlformats.org/officeDocument/2006/relationships/image" Target="../media/image1.png"/></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3.png"/><Relationship Id="rId3" Type="http://schemas.openxmlformats.org/officeDocument/2006/relationships/image" Target="../media/image1.png"/></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4.png"/><Relationship Id="rId3" Type="http://schemas.openxmlformats.org/officeDocument/2006/relationships/image" Target="../media/image1.png"/></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5.png"/><Relationship Id="rId3" Type="http://schemas.openxmlformats.org/officeDocument/2006/relationships/image" Target="../media/image1.png"/></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6.png"/><Relationship Id="rId3" Type="http://schemas.openxmlformats.org/officeDocument/2006/relationships/image" Target="../media/image1.png"/></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7.png"/><Relationship Id="rId3" Type="http://schemas.openxmlformats.org/officeDocument/2006/relationships/image" Target="../media/image1.png"/></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8.png"/><Relationship Id="rId3" Type="http://schemas.openxmlformats.org/officeDocument/2006/relationships/image" Target="../media/image1.png"/></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9.png"/><Relationship Id="rId3" Type="http://schemas.openxmlformats.org/officeDocument/2006/relationships/image" Target="../media/image1.png"/></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0.png"/><Relationship Id="rId3" Type="http://schemas.openxmlformats.org/officeDocument/2006/relationships/image" Target="../media/image1.png"/></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1.png"/><Relationship Id="rId3" Type="http://schemas.openxmlformats.org/officeDocument/2006/relationships/image" Target="../media/image1.png"/></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2.png"/><Relationship Id="rId3" Type="http://schemas.openxmlformats.org/officeDocument/2006/relationships/image" Target="../media/image1.png"/></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3.png"/><Relationship Id="rId3" Type="http://schemas.openxmlformats.org/officeDocument/2006/relationships/image" Target="../media/image1.png"/></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4.png"/><Relationship Id="rId3" Type="http://schemas.openxmlformats.org/officeDocument/2006/relationships/image" Target="../media/image1.png"/></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5.png"/><Relationship Id="rId3" Type="http://schemas.openxmlformats.org/officeDocument/2006/relationships/image" Target="../media/image1.png"/></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6.png"/><Relationship Id="rId3" Type="http://schemas.openxmlformats.org/officeDocument/2006/relationships/image" Target="../media/image1.png"/></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7.png"/><Relationship Id="rId3" Type="http://schemas.openxmlformats.org/officeDocument/2006/relationships/image" Target="../media/image1.png"/></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8.png"/><Relationship Id="rId3" Type="http://schemas.openxmlformats.org/officeDocument/2006/relationships/image" Target="../media/image1.png"/></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9.png"/><Relationship Id="rId3" Type="http://schemas.openxmlformats.org/officeDocument/2006/relationships/image" Target="../media/image1.png"/></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0.png"/><Relationship Id="rId3" Type="http://schemas.openxmlformats.org/officeDocument/2006/relationships/image" Target="../media/image1.png"/></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1.png"/><Relationship Id="rId3" Type="http://schemas.openxmlformats.org/officeDocument/2006/relationships/image" Target="../media/image1.png"/></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2.png"/><Relationship Id="rId3" Type="http://schemas.openxmlformats.org/officeDocument/2006/relationships/image" Target="../media/image1.png"/></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3.png"/><Relationship Id="rId3" Type="http://schemas.openxmlformats.org/officeDocument/2006/relationships/image" Target="../media/image1.png"/></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4.png"/><Relationship Id="rId3" Type="http://schemas.openxmlformats.org/officeDocument/2006/relationships/image" Target="../media/image1.png"/></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5.png"/><Relationship Id="rId3" Type="http://schemas.openxmlformats.org/officeDocument/2006/relationships/image" Target="../media/image1.png"/></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6.png"/><Relationship Id="rId3" Type="http://schemas.openxmlformats.org/officeDocument/2006/relationships/image" Target="../media/image1.png"/></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7.png"/><Relationship Id="rId3" Type="http://schemas.openxmlformats.org/officeDocument/2006/relationships/image" Target="../media/image1.png"/></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8.png"/><Relationship Id="rId3" Type="http://schemas.openxmlformats.org/officeDocument/2006/relationships/image" Target="../media/image1.png"/></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9.png"/><Relationship Id="rId3" Type="http://schemas.openxmlformats.org/officeDocument/2006/relationships/image" Target="../media/image1.png"/></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0.png"/><Relationship Id="rId3" Type="http://schemas.openxmlformats.org/officeDocument/2006/relationships/image" Target="../media/image1.png"/></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1.png"/><Relationship Id="rId3" Type="http://schemas.openxmlformats.org/officeDocument/2006/relationships/image" Target="../media/image1.png"/></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2.png"/><Relationship Id="rId3" Type="http://schemas.openxmlformats.org/officeDocument/2006/relationships/image" Target="../media/image1.png"/></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3.png"/><Relationship Id="rId3" Type="http://schemas.openxmlformats.org/officeDocument/2006/relationships/image" Target="../media/image1.png"/></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4.png"/><Relationship Id="rId3" Type="http://schemas.openxmlformats.org/officeDocument/2006/relationships/image" Target="../media/image1.png"/></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5.png"/><Relationship Id="rId3" Type="http://schemas.openxmlformats.org/officeDocument/2006/relationships/image" Target="../media/image1.png"/></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6.png"/><Relationship Id="rId3" Type="http://schemas.openxmlformats.org/officeDocument/2006/relationships/image" Target="../media/image1.png"/></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7.png"/><Relationship Id="rId3" Type="http://schemas.openxmlformats.org/officeDocument/2006/relationships/image" Target="../media/image1.png"/></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8.png"/><Relationship Id="rId3" Type="http://schemas.openxmlformats.org/officeDocument/2006/relationships/image" Target="../media/image1.png"/></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9.png"/><Relationship Id="rId3" Type="http://schemas.openxmlformats.org/officeDocument/2006/relationships/image" Target="../media/image1.png"/></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0.png"/><Relationship Id="rId3" Type="http://schemas.openxmlformats.org/officeDocument/2006/relationships/image" Target="../media/image1.png"/></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1.png"/><Relationship Id="rId3" Type="http://schemas.openxmlformats.org/officeDocument/2006/relationships/image" Target="../media/image1.png"/></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2.png"/><Relationship Id="rId3" Type="http://schemas.openxmlformats.org/officeDocument/2006/relationships/image" Target="../media/image1.png"/></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3.png"/><Relationship Id="rId3" Type="http://schemas.openxmlformats.org/officeDocument/2006/relationships/image" Target="../media/image1.png"/></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4.png"/><Relationship Id="rId3" Type="http://schemas.openxmlformats.org/officeDocument/2006/relationships/image" Target="../media/image1.png"/></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5.png"/><Relationship Id="rId3" Type="http://schemas.openxmlformats.org/officeDocument/2006/relationships/image" Target="../media/image1.png"/></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6.png"/><Relationship Id="rId3" Type="http://schemas.openxmlformats.org/officeDocument/2006/relationships/image" Target="../media/image1.png"/></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7.png"/><Relationship Id="rId3" Type="http://schemas.openxmlformats.org/officeDocument/2006/relationships/image" Target="../media/image1.png"/></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8.png"/><Relationship Id="rId3" Type="http://schemas.openxmlformats.org/officeDocument/2006/relationships/image" Target="../media/image1.png"/></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9.png"/><Relationship Id="rId3" Type="http://schemas.openxmlformats.org/officeDocument/2006/relationships/image" Target="../media/image1.png"/></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0.png"/><Relationship Id="rId3" Type="http://schemas.openxmlformats.org/officeDocument/2006/relationships/image" Target="../media/image1.png"/></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1.png"/><Relationship Id="rId3" Type="http://schemas.openxmlformats.org/officeDocument/2006/relationships/image" Target="../media/image1.png"/></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2.png"/><Relationship Id="rId3" Type="http://schemas.openxmlformats.org/officeDocument/2006/relationships/image" Target="../media/image1.png"/></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3.png"/><Relationship Id="rId3" Type="http://schemas.openxmlformats.org/officeDocument/2006/relationships/image" Target="../media/image1.png"/></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4.png"/><Relationship Id="rId3" Type="http://schemas.openxmlformats.org/officeDocument/2006/relationships/image" Target="../media/image1.png"/></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5.png"/><Relationship Id="rId3" Type="http://schemas.openxmlformats.org/officeDocument/2006/relationships/image" Target="../media/image1.png"/></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6.png"/><Relationship Id="rId3" Type="http://schemas.openxmlformats.org/officeDocument/2006/relationships/image" Target="../media/image1.png"/></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7.png"/><Relationship Id="rId3" Type="http://schemas.openxmlformats.org/officeDocument/2006/relationships/image" Target="../media/image1.png"/></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8.png"/><Relationship Id="rId3" Type="http://schemas.openxmlformats.org/officeDocument/2006/relationships/image" Target="../media/image1.png"/></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9.png"/><Relationship Id="rId3" Type="http://schemas.openxmlformats.org/officeDocument/2006/relationships/image" Target="../media/image1.png"/></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0.png"/><Relationship Id="rId3" Type="http://schemas.openxmlformats.org/officeDocument/2006/relationships/image" Target="../media/image1.png"/></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1.png"/><Relationship Id="rId3" Type="http://schemas.openxmlformats.org/officeDocument/2006/relationships/image" Target="../media/image1.png"/></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2.png"/><Relationship Id="rId3" Type="http://schemas.openxmlformats.org/officeDocument/2006/relationships/image" Target="../media/image1.png"/></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3.png"/><Relationship Id="rId3" Type="http://schemas.openxmlformats.org/officeDocument/2006/relationships/image" Target="../media/image1.png"/></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4.png"/><Relationship Id="rId3" Type="http://schemas.openxmlformats.org/officeDocument/2006/relationships/image" Target="../media/image1.png"/></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5.png"/><Relationship Id="rId3" Type="http://schemas.openxmlformats.org/officeDocument/2006/relationships/image" Target="../media/image1.png"/></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6.png"/><Relationship Id="rId3" Type="http://schemas.openxmlformats.org/officeDocument/2006/relationships/image" Target="../media/image1.png"/></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7.png"/><Relationship Id="rId3" Type="http://schemas.openxmlformats.org/officeDocument/2006/relationships/image" Target="../media/image1.png"/></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8.png"/><Relationship Id="rId3" Type="http://schemas.openxmlformats.org/officeDocument/2006/relationships/image" Target="../media/image1.png"/></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9.png"/><Relationship Id="rId3" Type="http://schemas.openxmlformats.org/officeDocument/2006/relationships/image" Target="../media/image1.png"/></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0.png"/><Relationship Id="rId3" Type="http://schemas.openxmlformats.org/officeDocument/2006/relationships/image" Target="../media/image1.png"/></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1.png"/><Relationship Id="rId3" Type="http://schemas.openxmlformats.org/officeDocument/2006/relationships/image" Target="../media/image1.png"/></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2.png"/><Relationship Id="rId3" Type="http://schemas.openxmlformats.org/officeDocument/2006/relationships/image" Target="../media/image1.png"/></Relationships>

</file>

<file path=ppt/slides/_rels/slide2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3.png"/><Relationship Id="rId3" Type="http://schemas.openxmlformats.org/officeDocument/2006/relationships/image" Target="../media/image1.png"/></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4.png"/><Relationship Id="rId3" Type="http://schemas.openxmlformats.org/officeDocument/2006/relationships/image" Target="../media/image1.png"/></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5.png"/><Relationship Id="rId3" Type="http://schemas.openxmlformats.org/officeDocument/2006/relationships/image" Target="../media/image1.png"/></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6.png"/><Relationship Id="rId3" Type="http://schemas.openxmlformats.org/officeDocument/2006/relationships/image" Target="../media/image1.png"/></Relationships>

</file>

<file path=ppt/slides/_rels/slide2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7.png"/><Relationship Id="rId3" Type="http://schemas.openxmlformats.org/officeDocument/2006/relationships/image" Target="../media/image1.png"/></Relationships>

</file>

<file path=ppt/slides/_rels/slide2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8.png"/><Relationship Id="rId3" Type="http://schemas.openxmlformats.org/officeDocument/2006/relationships/image" Target="../media/image1.png"/></Relationships>

</file>

<file path=ppt/slides/_rels/slide2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9.png"/><Relationship Id="rId3" Type="http://schemas.openxmlformats.org/officeDocument/2006/relationships/image" Target="../media/image1.png"/></Relationships>

</file>

<file path=ppt/slides/_rels/slide2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0.png"/><Relationship Id="rId3" Type="http://schemas.openxmlformats.org/officeDocument/2006/relationships/image" Target="../media/image1.png"/></Relationships>

</file>

<file path=ppt/slides/_rels/slide2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1.png"/><Relationship Id="rId3" Type="http://schemas.openxmlformats.org/officeDocument/2006/relationships/image" Target="../media/image1.png"/></Relationships>

</file>

<file path=ppt/slides/_rels/slide2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2.png"/><Relationship Id="rId3" Type="http://schemas.openxmlformats.org/officeDocument/2006/relationships/image" Target="../media/image1.png"/></Relationships>

</file>

<file path=ppt/slides/_rels/slide2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3.png"/><Relationship Id="rId3" Type="http://schemas.openxmlformats.org/officeDocument/2006/relationships/image" Target="../media/image1.png"/></Relationships>

</file>

<file path=ppt/slides/_rels/slide2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4.png"/><Relationship Id="rId3" Type="http://schemas.openxmlformats.org/officeDocument/2006/relationships/image" Target="../media/image1.png"/></Relationships>

</file>

<file path=ppt/slides/_rels/slide2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5.png"/><Relationship Id="rId3" Type="http://schemas.openxmlformats.org/officeDocument/2006/relationships/image" Target="../media/image1.png"/></Relationships>

</file>

<file path=ppt/slides/_rels/slide2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6.png"/><Relationship Id="rId3" Type="http://schemas.openxmlformats.org/officeDocument/2006/relationships/image" Target="../media/image1.png"/></Relationships>

</file>

<file path=ppt/slides/_rels/slide2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7.png"/><Relationship Id="rId3" Type="http://schemas.openxmlformats.org/officeDocument/2006/relationships/image" Target="../media/image1.png"/></Relationships>

</file>

<file path=ppt/slides/_rels/slide2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8.png"/><Relationship Id="rId3" Type="http://schemas.openxmlformats.org/officeDocument/2006/relationships/image" Target="../media/image1.png"/></Relationships>

</file>

<file path=ppt/slides/_rels/slide2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9.png"/><Relationship Id="rId3"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Object 2"/>
          <p:cNvSpPr txBox="1"/>
          <p:nvPr/>
        </p:nvSpPr>
        <p:spPr>
          <a:xfrm>
            <a:off x="1500000" y="1000000"/>
            <a:ext cx="12192000" cy="369332"/>
          </a:xfrm>
          <a:prstGeom prst="rect">
            <a:avLst/>
          </a:prstGeom>
          <a:noFill/>
        </p:spPr>
        <p:txBody>
          <a:bodyPr wrap="square" rtlCol="0"/>
          <a:lstStyle/>
          <a:p>
            <a:r>
              <a:rPr lang="en-US" sz="4000" b="1" dirty="0" smtClean="0">
                <a:solidFill>
                  <a:srgbClr val="2a6d9e"/>
                </a:solidFill>
              </a:rPr>
              <a:t>My Catalog</a:t>
            </a:r>
            <a:endParaRPr lang="en-US" sz="4000" dirty="0"/>
          </a:p>
        </p:txBody>
      </p:sp>
      <p:sp>
        <p:nvSpPr>
          <p:cNvPr id="3" name="Object 3"/>
          <p:cNvSpPr txBox="1"/>
          <p:nvPr/>
        </p:nvSpPr>
        <p:spPr>
          <a:xfrm>
            <a:off x="1500000" y="1800000"/>
            <a:ext cx="12192000" cy="369332"/>
          </a:xfrm>
          <a:prstGeom prst="rect">
            <a:avLst/>
          </a:prstGeom>
          <a:noFill/>
        </p:spPr>
        <p:txBody>
          <a:bodyPr wrap="square" rtlCol="0"/>
          <a:lstStyle/>
          <a:p>
            <a:r>
              <a:rPr lang="en-US" sz="4000" b="1" dirty="0" smtClean="0">
                <a:solidFill>
                  <a:srgbClr val="2a6d9e"/>
                </a:solidFill>
              </a:rPr>
              <a:t>Exported on March 07, 2026</a:t>
            </a:r>
            <a:endParaRPr lang="en-US" sz="4000" dirty="0"/>
          </a:p>
        </p:txBody>
      </p:sp>
      <p:sp>
        <p:nvSpPr>
          <p:cNvPr id="4" name="Object 4"/>
          <p:cNvSpPr txBox="1"/>
          <p:nvPr/>
        </p:nvSpPr>
        <p:spPr>
          <a:xfrm>
            <a:off x="1500000" y="5000000"/>
            <a:ext cx="9000000" cy="369332"/>
          </a:xfrm>
          <a:prstGeom prst="rect">
            <a:avLst/>
          </a:prstGeom>
          <a:noFill/>
        </p:spPr>
        <p:txBody>
          <a:bodyPr wrap="square" rtlCol="0"/>
          <a:lstStyle/>
          <a:p>
            <a:r>
              <a:rPr lang="en-US" sz="2000" dirty="0" smtClean="0">
                <a:solidFill>
                  <a:srgbClr val="ff0000"/>
                </a:solidFill>
              </a:rPr>
              <a:t>The list of services in this document was extracted from the IBM Cloud catalog using the public catalog API. This content attempts to be as accurate as possible. Use with care and refer to the official IBM Cloud Catalog https://cloud.ibm.com/catalog#services.</a:t>
            </a:r>
            <a:endParaRPr lang="en-US" sz="2000" dirty="0"/>
          </a:p>
        </p:txBody>
      </p:sp>
      <p:pic>
        <p:nvPicPr>
          <p:cNvPr id="5" name="Object 4"/>
          <p:cNvPicPr>
            <a:picLocks noChangeAspect="1"/>
          </p:cNvPicPr>
          <p:nvPr/>
        </p:nvPicPr>
        <p:blipFill>
          <a:blip r:embed="rId2" cstate="print"/>
          <a:stretch>
            <a:fillRect/>
          </a:stretch>
        </p:blipFill>
        <p:spPr>
          <a:xfrm>
            <a:off x="10000000" y="300000"/>
            <a:ext cx="1500000" cy="1000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AgileCDN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one-stop global CDN</a:t>
            </a:r>
          </a:p>
          <a:p>
            <a:r>
              <a:rPr lang="en-US" sz="2000" dirty="0" smtClean="0">
                <a:solidFill>
                  <a:srgbClr val="808080"/>
                </a:solidFill>
              </a:rPr>
              <a:t>acceleration platform</a:t>
            </a:r>
          </a:p>
          <a:p>
            <a:r>
              <a:rPr lang="en-US" sz="2000" dirty="0" smtClean="0">
                <a:solidFill>
                  <a:srgbClr val="808080"/>
                </a:solidFill>
              </a:rPr>
              <a:t>Global acceleration for websites and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AgileCDN is a one-stop SaaS platform that focuses on global information delivery acceleration services, committed to providing customers with faster, more secure, and easier-to-use CDN solutions. Through powerful infrastructure and intelligent technology covering the world, AgileCDN helps enterprises improve information delivery efficiency, optimize User Experience, and ensure cyber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AGILEWING TECHNOLOGY CO.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https://cloud.ibm.com/catalog/services/agilecdn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a:t>
            </a:r>
            <a:endParaRPr lang="en-US"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 Squared Sparx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AI-driven “chat with your data” platform that connects to your data and delivers instant insights through natural-language search.</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 Squared Sparx is an AI-driven “chat with your data” platform that connects to your existing systems, unifies your data, and delivers instant insights through natural-language search.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Squared Global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https://cloud.ibm.com/catalog/services/ai-squared-global-ai-squared-sparx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a:t>
            </a:r>
            <a:endParaRPr lang="en-US"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AiSolved - Seekers Of Knowledge Meet AI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AiSolved: AI optimization with IBM CPLEX for business modeling, strategic growth,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AiSolved democratizes AI optimization for all businesses, leveraging IBM CPLEX for advanced modeling. It enables strategic partnerships, enhancing capabilities without upfront costs. With real-time updates and seamless integration, AiSolved supports revenue growth through strategic AI applications, making informed decision-making accessible. This initiative aims for a future where optimal strategies powered by AI are available to every enterprise.</a:t>
            </a:r>
          </a:p>
          <a:p>
            <a:r>
              <a:rPr lang="en-US" sz="1800" dirty="0" smtClean="0"/>
              <a:t/>
            </a:r>
          </a:p>
          <a:p>
            <a:r>
              <a:rPr lang="en-US" sz="1800" dirty="0" smtClean="0"/>
              <a:t>AiSolved &amp; IBM Cplex</a:t>
            </a:r>
          </a:p>
          <a:p>
            <a:r>
              <a:rPr lang="en-US" sz="1800" dirty="0" smtClean="0"/>
              <a:t/>
            </a:r>
          </a:p>
          <a:p>
            <a:r>
              <a:rPr lang="en-US" sz="1800" dirty="0" smtClean="0"/>
              <a:t>AiSolved is where cutting-edge optimization meets the transformative power of AI. In today's landscape where resources are finite and choices vast, optimization is about making the best possible decisions within constraints. Our groundbreaking platform taps into IBM Cplex's potential, bridging challenges to data-driven, AI-enhanced solutions. Venture into a revolution with AiSolved, transforming abstract visions into tangible, optimized realities.</a:t>
            </a:r>
          </a:p>
          <a:p>
            <a:r>
              <a:rPr lang="en-US" sz="1800" dirty="0" smtClean="0"/>
              <a:t/>
            </a:r>
          </a:p>
          <a:p>
            <a:r>
              <a:rPr lang="en-US" sz="1800" dirty="0" smtClean="0"/>
              <a:t>Pioneering AI-Infused Platform Integration</a:t>
            </a:r>
          </a:p>
          <a:p>
            <a:r>
              <a:rPr lang="en-US" sz="1800" dirty="0" smtClean="0"/>
              <a:t/>
            </a:r>
          </a:p>
          <a:p>
            <a:r>
              <a:rPr lang="en-US" sz="1800" dirty="0" smtClean="0"/>
              <a:t>Sophisticated Meets Agile: Our platform merges mathematical modeling with AI-driven agility, shering in the next-gen of efficient problem solving. Seamless Power: By empowering Cplex experts with AI capabilities, we ensure a swifter, more redictive model conceptualization, development, and deployment. Dynamic Decision-making: Harnessing both structured and unstructured data, AI's predictive analytics yields results that are dynamic and forward-thinking.</a:t>
            </a:r>
          </a:p>
          <a:p>
            <a:r>
              <a:rPr lang="en-US" sz="1800" dirty="0" smtClean="0"/>
              <a:t/>
            </a:r>
          </a:p>
          <a:p>
            <a:r>
              <a:rPr lang="en-US" sz="1800" dirty="0" smtClean="0"/>
              <a:t>Collaborative Expertise with Cplex &amp; AI Brilliance</a:t>
            </a:r>
          </a:p>
          <a:p>
            <a:r>
              <a:rPr lang="en-US" sz="1800" dirty="0" smtClean="0"/>
              <a:t/>
            </a:r>
          </a:p>
          <a:p>
            <a:r>
              <a:rPr lang="en-US" sz="1800" dirty="0" smtClean="0"/>
              <a:t>Expert Assembly: Our team consists of select Cplex experts with a knack for AI, ensuring a blend of revolutionary and practical solutions. Beyond Model Building: We elevate the experience of Cplex experts by providing a rich AI toolkit, bridging the gap between vision and reality. Unity in Diversity: Promoting collaboration, our experts pool their unique strengths, ensuring solutions are holistic, precise, and AI-optimized.</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Blue Sky Creations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https://cloud.ibm.com/catalog/services/aisolved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a:t>
            </a:r>
            <a:endParaRPr lang="en-US"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Akasia FinOps Modeler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Model Costs for your existing VMware Infrastructure for IBM Cloud for VMware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Akasia FinOps Modeler provides cost comparisons of an existing VMware environment, its VCF and VVF pricing as well as its in-Cloud pricing for AWS, Azure, GCP, IBM Cloud and Oracle Cloud. The Akasia TCO models allow service providers, consulting experts, and IT managers in the VMware and cloud ecosystem to quickly analyze data center environments and provide projected costs, allowing IT management teams to make an informed decision regarding their data center transformation.</a:t>
            </a:r>
          </a:p>
          <a:p>
            <a:r>
              <a:rPr lang="en-US" sz="1800" dirty="0" smtClean="0"/>
              <a:t/>
            </a:r>
          </a:p>
          <a:p>
            <a:r>
              <a:rPr lang="en-US" sz="1800" dirty="0" smtClean="0"/>
              <a:t>The Akasia FinOps Modeler analyzes and optimizes for the following infrastructure scenarios:</a:t>
            </a:r>
          </a:p>
          <a:p>
            <a:r>
              <a:rPr lang="en-US" sz="1800" dirty="0" smtClean="0"/>
              <a:t>•	Providing analysis for comparing current costs to the new, revamped VMware pricing structure </a:t>
            </a:r>
          </a:p>
          <a:p>
            <a:r>
              <a:rPr lang="en-US" sz="1800" dirty="0" smtClean="0"/>
              <a:t>•	Right-sizing existing VMware workloads to keep costs low under the new VMware pricing structure</a:t>
            </a:r>
          </a:p>
          <a:p>
            <a:r>
              <a:rPr lang="en-US" sz="1800" dirty="0" smtClean="0"/>
              <a:t>•	TCO analysis and modeling if the client migrates to VMware-on-Cloud  such as VMware on AWS, Azure VMware Solution, IBM Cloud for VMware, Google Cloud VMware Engine and Oracle Cloud VMware Solution. </a:t>
            </a:r>
          </a:p>
          <a:p>
            <a:r>
              <a:rPr lang="en-US" sz="1800" dirty="0" smtClean="0"/>
              <a:t>•	TCO analysis if the client wants to migrate away from VMware to a cloud-native platform</a:t>
            </a:r>
          </a:p>
          <a:p>
            <a:r>
              <a:rPr lang="en-US" sz="1800" dirty="0" smtClean="0"/>
              <a:t>•	TCO analysis and modeling for migrating workloads to Nutanix or Microsoft Azure Stack</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Akasia,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https://cloud.ibm.com/catalog/services/akasiafinopsmodeler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a:t>
            </a:r>
            <a:endParaRPr lang="en-US"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11x AI SDR that provides granular customer research and drives outreach campaigns converting prospects into high-value leads.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11x's Alice provides deep, granular customer research, drives email and LinkedIn outreach, mastering your playbook, converting prospects into high-value leads.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11x 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https://cloud.ibm.com/catalog/services/11x-alice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a:t>
            </a:r>
            <a:endParaRPr lang="en-US"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Alta data-driven AI GTM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 Data-Driven AI Revenue Workforce for Sales &amp; Marketing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⁠Alta: Your data-driven AI Revenue Workforce</a:t>
            </a:r>
          </a:p>
          <a:p>
            <a:r>
              <a:rPr lang="en-US" sz="1800" dirty="0" smtClean="0"/>
              <a:t/>
            </a:r>
          </a:p>
          <a:p>
            <a:r>
              <a:rPr lang="en-US" sz="1800" dirty="0" smtClean="0"/>
              <a:t>Alta uses data and AI to drive revenue across your entire go-to-market team. Our AI agents—Katie (AI SDR), Alex (AI Calling Agent), and Luna (AI RevOps)—handle the heavy lifting, from prospecting to pipeline reporting.</a:t>
            </a:r>
          </a:p>
          <a:p>
            <a:r>
              <a:rPr lang="en-US" sz="1800" dirty="0" smtClean="0"/>
              <a:t/>
            </a:r>
          </a:p>
          <a:p>
            <a:r>
              <a:rPr lang="en-US" sz="1800" dirty="0" smtClean="0"/>
              <a:t>Katie finds and engages top prospects with personalized outreach.</a:t>
            </a:r>
          </a:p>
          <a:p>
            <a:r>
              <a:rPr lang="en-US" sz="1800" dirty="0" smtClean="0"/>
              <a:t/>
            </a:r>
          </a:p>
          <a:p>
            <a:r>
              <a:rPr lang="en-US" sz="1800" dirty="0" smtClean="0"/>
              <a:t>Alex handles outbound calls, inbound lead response, and follow-ups—booking meetings at scale.</a:t>
            </a:r>
          </a:p>
          <a:p>
            <a:r>
              <a:rPr lang="en-US" sz="1800" dirty="0" smtClean="0"/>
              <a:t/>
            </a:r>
          </a:p>
          <a:p>
            <a:r>
              <a:rPr lang="en-US" sz="1800" dirty="0" smtClean="0"/>
              <a:t>Luna surfaces real-time insights and alerts leadership to what matters most.</a:t>
            </a:r>
          </a:p>
          <a:p>
            <a:r>
              <a:rPr lang="en-US" sz="1800" dirty="0" smtClean="0"/>
              <a:t/>
            </a:r>
          </a:p>
          <a:p>
            <a:r>
              <a:rPr lang="en-US" sz="1800" dirty="0" smtClean="0"/>
              <a:t>Alta connects strategy with flawless execution—so you can grow faster, close more, and operate smarter.</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Alta AI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https://cloud.ibm.com/catalog/services/alta-agent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a:t>
            </a:r>
            <a:endParaRPr lang="en-US"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Analytics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Submit your Apache Spark applications as needed and customize the Spark runtimes to satisfy the requirements of your application.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IBM Analytics Engine instance is allocated compute and memory resources on demand when Spark applications are started. When an application is not in running state, no computing resources are allocated to the instance. Pricing is based on the amount of resources consumed by the applications running in the instance, billed on a per second basis.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https://cloud.ibm.com/catalog/services/ibmanalyticsengine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a:t>
            </a:r>
            <a:endParaRPr lang="en-US"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AnonTech ViziVault Platform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personal information as-a-service safely, securely, and in compliance with data privacy regulations using ViziVault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The AnonTech team is revolutionizing personal information management and re-defining the data privacy space with ViziVault.</a:t>
            </a:r>
          </a:p>
          <a:p>
            <a:r>
              <a:rPr lang="en-US" sz="1800" dirty="0" smtClean="0"/>
              <a:t/>
            </a:r>
          </a:p>
          <a:p>
            <a:r>
              <a:rPr lang="en-US" sz="1800" dirty="0" smtClean="0"/>
              <a:t>Our personal information management platform, ViziVault, allows you to isolate, manage, analyze, and protect your customer's personal information. Our powerful, easy-to-use, API makes integration a breeze and handles all data encryption &amp; decryption. The ViziVault Enterprise management console allows the right people to monitor and administer personal information usage, keeping your organization safe, secure, and in compliance with data privacy regulations.</a:t>
            </a:r>
          </a:p>
          <a:p>
            <a:r>
              <a:rPr lang="en-US" sz="1800" dirty="0" smtClean="0"/>
              <a:t/>
            </a:r>
          </a:p>
          <a:p>
            <a:r>
              <a:rPr lang="en-US" sz="1800" dirty="0" smtClean="0"/>
              <a:t>Engineers use the technology as a data source-of-truth &amp; achieve full data security, administrators have complete role-based access control over who has access to what data, data privacy officers get visibility into risk levels within an organization, and management gets peace-of-mind knowing they are safe from data breaches and in full compliance with government &amp; corporate data privacy regulations.</a:t>
            </a:r>
          </a:p>
          <a:p>
            <a:r>
              <a:rPr lang="en-US" sz="1800" dirty="0" smtClean="0"/>
              <a:t/>
            </a:r>
          </a:p>
          <a:p>
            <a:r>
              <a:rPr lang="en-US" sz="1800" dirty="0" smtClean="0"/>
              <a:t>The AnonTech team has leveraged their 15+ years of legal and compliance experience to develop a new data privacy technology, called ViziVault, which bridges the gap between security and compliance. With ViziVault, data privacy is built into products by design instead of being an afterthought.</a:t>
            </a:r>
          </a:p>
          <a:p>
            <a:r>
              <a:rPr lang="en-US" sz="1800" dirty="0" smtClean="0"/>
              <a:t/>
            </a:r>
          </a:p>
          <a:p>
            <a:r>
              <a:rPr lang="en-US" sz="1800" dirty="0" smtClean="0"/>
              <a:t>Getting Support</a:t>
            </a:r>
          </a:p>
          <a:p>
            <a:r>
              <a:rPr lang="en-US" sz="1800" dirty="0" smtClean="0"/>
              <a:t>Please submit issues directly to our support form on our website: https://www.anontech.io/support 24/7/365. Please include as much detail as possible on the issue. Daytime support is available during standard business hours (M-F 9-5 US EST). Off-hour support is limited and responses may be delayed. Prior to submitting an issue, please take a moment to review our documentation here: docs.anontech.io. To submit additional information, include attachments/screenshots, or escalate an urgent issue, please e-mail us at support@anontech.io. A member of our team will respond immediately upon receipt.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Anon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https://cloud.ibm.com/catalog/services/3p-anontech-xaas-vizivault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a:t>
            </a:r>
            <a:endParaRPr lang="en-US"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Microsoft 365 backup service protecting Exchange, OneDrive, SharePoint, and Teams with secure cloud-to-cloud backup and restore.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
            </a:r>
          </a:p>
          <a:p>
            <a:r>
              <a:rPr lang="en-US" sz="1800" dirty="0" smtClean="0"/>
              <a:t>Anycloud Backup for 365 is a partner-ready SaaS backup service designed to protect organizational data stored in Microsoft 365. The solution provides cloud-to-cloud backup and recovery for Exchange Online, OneDrive for Business, SharePoint Online, and Microsoft Teams. The service creates an independent copy of Microsoft 365 data by transferring backup data directly to IBM Cloud. By storing backups outside the Microsoft 365 environment, organizations maintain an additional recovery option in cases such as accidental deletion, configuration errors, ransomware incidents, or data retention changes.</a:t>
            </a:r>
          </a:p>
          <a:p>
            <a:r>
              <a:rPr lang="en-US" sz="1800" dirty="0" smtClean="0"/>
              <a:t>Anycloud Backup for 365 is designed to be delivered by IT partners, managed service providers, and distributors as a scalable data protection service for organizations using Microsoft 365.</a:t>
            </a:r>
          </a:p>
          <a:p>
            <a:r>
              <a:rPr lang="en-US" sz="1800" dirty="0" smtClean="0"/>
              <a:t>Backup storage is hosted in IBM Cloud data centers located across multiple global regions, allowing customers to select the storage location during deployment.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MANAGEMENT AND OPERATIONS</a:t>
            </a:r>
          </a:p>
          <a:p>
            <a:r>
              <a:rPr lang="en-US" sz="1800" dirty="0" smtClean="0"/>
              <a:t>The service is managed through a web-based management portal that provides centralized control of backup and restore operations. Partners and administrators can configure backup jobs, manage tenants, monitor operations, and control restore activities through a unified interface. </a:t>
            </a:r>
          </a:p>
          <a:p>
            <a:r>
              <a:rPr lang="en-US" sz="1800" dirty="0" smtClean="0"/>
              <a:t>• Centralized management of Microsoft 365 backup jobs</a:t>
            </a:r>
          </a:p>
          <a:p>
            <a:r>
              <a:rPr lang="en-US" sz="1800" dirty="0" smtClean="0"/>
              <a:t>• Automated backup scheduling</a:t>
            </a:r>
          </a:p>
          <a:p>
            <a:r>
              <a:rPr lang="en-US" sz="1800" dirty="0" smtClean="0"/>
              <a:t>• Self-service restore functionality for email and OneDrive data</a:t>
            </a:r>
          </a:p>
          <a:p>
            <a:r>
              <a:rPr lang="en-US" sz="1800" dirty="0" smtClean="0"/>
              <a:t>• Administrator-driven restore for files, folders, mailboxes, and SharePoint sites</a:t>
            </a:r>
          </a:p>
          <a:p>
            <a:r>
              <a:rPr lang="en-US" sz="1800" dirty="0" smtClean="0"/>
              <a:t>• Multi-tenant management designed for service providers</a:t>
            </a:r>
          </a:p>
          <a:p>
            <a:r>
              <a:rPr lang="en-US" sz="1800" dirty="0" smtClean="0"/>
              <a:t/>
            </a:r>
          </a:p>
          <a:p>
            <a:r>
              <a:rPr lang="en-US" sz="1800" dirty="0" smtClean="0"/>
              <a:t>Backup operations run automatically according to the configured schedule and generate activity logs for operational visibility.</a:t>
            </a:r>
          </a:p>
          <a:p>
            <a:r>
              <a:rPr lang="en-US" sz="1800" dirty="0" smtClean="0"/>
              <a:t/>
            </a:r>
          </a:p>
          <a:p>
            <a:r>
              <a:rPr lang="en-US" sz="1800" dirty="0" smtClean="0"/>
              <a:t>KEY CAPABILITIES</a:t>
            </a:r>
          </a:p>
          <a:p>
            <a:r>
              <a:rPr lang="en-US" sz="1800" dirty="0" smtClean="0"/>
              <a:t>Anycloud Backup for 365 provides capabilities designed to support structured Microsoft 365 data protection.</a:t>
            </a:r>
          </a:p>
          <a:p>
            <a:r>
              <a:rPr lang="en-US" sz="1800" dirty="0" smtClean="0"/>
              <a:t>• Cloud-to-cloud architecture separating backup data from the Microsoft 365 tenant</a:t>
            </a:r>
          </a:p>
          <a:p>
            <a:r>
              <a:rPr lang="en-US" sz="1800" dirty="0" smtClean="0"/>
              <a:t>• Independent backup storage hosted in IBM Cloud infrastucture, with the possibility of choosing a climate-friendly site</a:t>
            </a:r>
          </a:p>
          <a:p>
            <a:r>
              <a:rPr lang="en-US" sz="1800" dirty="0" smtClean="0"/>
              <a:t>• Role-based access control for administrative access management</a:t>
            </a:r>
          </a:p>
          <a:p>
            <a:r>
              <a:rPr lang="en-US" sz="1800" dirty="0" smtClean="0"/>
              <a:t>• Multi-tenant platform supporting partner and MSP operations</a:t>
            </a:r>
          </a:p>
          <a:p>
            <a:r>
              <a:rPr lang="en-US" sz="1800" dirty="0" smtClean="0"/>
              <a:t>• Protection mechanisms preventing deletion of backup data during a defined safeguard period</a:t>
            </a:r>
          </a:p>
          <a:p>
            <a:r>
              <a:rPr lang="en-US" sz="1800" dirty="0" smtClean="0"/>
              <a:t/>
            </a:r>
          </a:p>
          <a:p>
            <a:r>
              <a:rPr lang="en-US" sz="1800" dirty="0" smtClean="0"/>
              <a:t>These capabilities enable partners to deliver Microsoft 365 backup services to their customers through a centralized platform.</a:t>
            </a:r>
          </a:p>
          <a:p>
            <a:r>
              <a:rPr lang="en-US" sz="1800" dirty="0" smtClean="0"/>
              <a:t/>
            </a:r>
          </a:p>
          <a:p>
            <a:r>
              <a:rPr lang="en-US" sz="1800" dirty="0" smtClean="0"/>
              <a:t>SECURITY AND DATA PROTECTION</a:t>
            </a:r>
          </a:p>
          <a:p>
            <a:r>
              <a:rPr lang="en-US" sz="1800" dirty="0" smtClean="0"/>
              <a:t>Backup data is encrypted using AES-256 encryption both during transmission and while stored. Customers select the storage region during the onboarding process, and backup data remains stored in the selected location. The platform includes operational features that support governance and operational transparency, including activity logging for backup and restore operations and capabilities for removing user data from retention when required by applicable regulations.</a:t>
            </a:r>
          </a:p>
          <a:p>
            <a:r>
              <a:rPr lang="en-US" sz="1800" dirty="0" smtClean="0"/>
              <a:t>IBM Cloud data centers used by the service maintain recognized industry certifications, including ISO 27001 and SOC reporting.</a:t>
            </a:r>
          </a:p>
          <a:p>
            <a:r>
              <a:rPr lang="en-US" sz="1800" dirty="0" smtClean="0"/>
              <a:t/>
            </a:r>
          </a:p>
          <a:p>
            <a:r>
              <a:rPr lang="en-US" sz="1800" dirty="0" smtClean="0"/>
              <a:t>TECHNICAL CHARACTERISTICS</a:t>
            </a:r>
          </a:p>
          <a:p>
            <a:r>
              <a:rPr lang="en-US" sz="1800" dirty="0" smtClean="0"/>
              <a:t>• SaaS-based cloud-to-cloud Microsoft 365 backup service</a:t>
            </a:r>
          </a:p>
          <a:p>
            <a:r>
              <a:rPr lang="en-US" sz="1800" dirty="0" smtClean="0"/>
              <a:t>• Protection for Exchange Online, OneDrive for Business, SharePoint, and Microsoft Teams</a:t>
            </a:r>
          </a:p>
          <a:p>
            <a:r>
              <a:rPr lang="en-US" sz="1800" dirty="0" smtClean="0"/>
              <a:t>• AES-256 encryption for data in transit and at rest</a:t>
            </a:r>
          </a:p>
          <a:p>
            <a:r>
              <a:rPr lang="en-US" sz="1800" dirty="0" smtClean="0"/>
              <a:t>• Retention configuration from 1 year to 25 years</a:t>
            </a:r>
          </a:p>
          <a:p>
            <a:r>
              <a:rPr lang="en-US" sz="1800" dirty="0" smtClean="0"/>
              <a:t>• Item-level and full restore capabilities</a:t>
            </a:r>
          </a:p>
          <a:p>
            <a:r>
              <a:rPr lang="en-US" sz="1800" dirty="0" smtClean="0"/>
              <a:t>• Hosted across IBM Cloud data centers globally</a:t>
            </a:r>
          </a:p>
          <a:p>
            <a:r>
              <a:rPr lang="en-US" sz="1800" dirty="0" smtClean="0"/>
              <a:t/>
            </a:r>
          </a:p>
          <a:p>
            <a:r>
              <a:rPr lang="en-US" sz="1800" dirty="0" smtClean="0"/>
              <a:t>EXTENDED PROTECTION FOR MICROSOFT ENVIRONMENTA</a:t>
            </a:r>
          </a:p>
          <a:p>
            <a:r>
              <a:rPr lang="en-US" sz="1800" dirty="0" smtClean="0"/>
              <a:t>Anycloud Backup for 365 protects collaboration and productivity data such as email, files, and team contect. Anycloud Backup for Entra ID protects identity configuration elements including users, groups, roles, and access policies. When deployed together, the service provide backup coverage across both the data layer and identity layer of Microsoft environments.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https://cloud.ibm.com/catalog/services/anycloud-365-backup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a:t>
            </a:r>
            <a:endParaRPr lang="en-US"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 and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SaaS bundle for Microsoft 365 and Entra ID with fast restore, identity dashboards, and GDPR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ABOUT</a:t>
            </a:r>
          </a:p>
          <a:p>
            <a:r>
              <a:rPr lang="en-US" sz="1800" dirty="0" smtClean="0"/>
              <a:t>Anycloud Backup for 365 + Entra ID bundle combines protection of Microsoft 365 data with security for Microsoft Entra ID identities. The solution unites Anycloud Backup for 365 and Anycloud Backup for Entra ID into one offering, delivering complete cloud-to-cloud backup of both business-critical content and identity objects. Data and identities are stored securely in IBM Cloud datacenters worldwide, with compliance, resilience, and fast restore at the core.</a:t>
            </a:r>
          </a:p>
          <a:p>
            <a:r>
              <a:rPr lang="en-US" sz="1800" dirty="0" smtClean="0"/>
              <a:t/>
            </a:r>
          </a:p>
          <a:p>
            <a:r>
              <a:rPr lang="en-US" sz="1800" dirty="0" smtClean="0"/>
              <a:t/>
            </a:r>
          </a:p>
          <a:p>
            <a:r>
              <a:rPr lang="en-US" sz="1800" dirty="0" smtClean="0"/>
              <a:t>USER-FRIENDLY PORTALS</a:t>
            </a:r>
          </a:p>
          <a:p>
            <a:r>
              <a:rPr lang="en-US" sz="1800" dirty="0" smtClean="0"/>
              <a:t>The bundle is operated through intuitive web portals:</a:t>
            </a:r>
          </a:p>
          <a:p>
            <a:r>
              <a:rPr lang="en-US" sz="1800" dirty="0" smtClean="0"/>
              <a:t/>
            </a:r>
          </a:p>
          <a:p>
            <a:r>
              <a:rPr lang="en-US" sz="1800" dirty="0" smtClean="0"/>
              <a:t>• Management Portal for scheduling backups, defining retention policies, and managing both data and identity backups</a:t>
            </a:r>
          </a:p>
          <a:p>
            <a:r>
              <a:rPr lang="en-US" sz="1800" dirty="0" smtClean="0"/>
              <a:t>• Self-Service Restore Portal for end-users to recover emails and OneDrive data</a:t>
            </a:r>
          </a:p>
          <a:p>
            <a:r>
              <a:rPr lang="en-US" sz="1800" dirty="0" smtClean="0"/>
              <a:t>• Restore Portals for administrators to restore Microsoft 365 content and Entra ID identity objects such as users, groups, roles, and conditional access policies</a:t>
            </a:r>
          </a:p>
          <a:p>
            <a:r>
              <a:rPr lang="en-US" sz="1800" dirty="0" smtClean="0"/>
              <a:t/>
            </a:r>
          </a:p>
          <a:p>
            <a:r>
              <a:rPr lang="en-US" sz="1800" dirty="0" smtClean="0"/>
              <a:t/>
            </a:r>
          </a:p>
          <a:p>
            <a:r>
              <a:rPr lang="en-US" sz="1800" dirty="0" smtClean="0"/>
              <a:t>KEY BENEFITS</a:t>
            </a:r>
          </a:p>
          <a:p>
            <a:r>
              <a:rPr lang="en-US" sz="1800" dirty="0" smtClean="0"/>
              <a:t/>
            </a:r>
          </a:p>
          <a:p>
            <a:r>
              <a:rPr lang="en-US" sz="1800" dirty="0" smtClean="0"/>
              <a:t>• One combined service covering both Microsoft 365 content and Entra ID identity infrastructure</a:t>
            </a:r>
          </a:p>
          <a:p>
            <a:r>
              <a:rPr lang="en-US" sz="1800" dirty="0" smtClean="0"/>
              <a:t>• Cloud-to-cloud backup with segregation from Microsoft ensuring independence and resilience</a:t>
            </a:r>
          </a:p>
          <a:p>
            <a:r>
              <a:rPr lang="en-US" sz="1800" dirty="0" smtClean="0"/>
              <a:t>• Fast restore of files, folders, mailboxes, and identity objects to minimize downtime</a:t>
            </a:r>
          </a:p>
          <a:p>
            <a:r>
              <a:rPr lang="en-US" sz="1800" dirty="0" smtClean="0"/>
              <a:t>• Geographical redundancy across IBM Cloud Tier-3+ datacenters with global data locality options</a:t>
            </a:r>
          </a:p>
          <a:p>
            <a:r>
              <a:rPr lang="en-US" sz="1800" dirty="0" smtClean="0"/>
              <a:t>• Insider Threat Protection with 30-day undelete safeguard</a:t>
            </a:r>
          </a:p>
          <a:p>
            <a:r>
              <a:rPr lang="en-US" sz="1800" dirty="0" smtClean="0"/>
              <a:t>• Fully scalable solution with predictable cost model</a:t>
            </a:r>
          </a:p>
          <a:p>
            <a:r>
              <a:rPr lang="en-US" sz="1800" dirty="0" smtClean="0"/>
              <a:t/>
            </a:r>
          </a:p>
          <a:p>
            <a:r>
              <a:rPr lang="en-US" sz="1800" dirty="0" smtClean="0"/>
              <a:t/>
            </a:r>
          </a:p>
          <a:p>
            <a:r>
              <a:rPr lang="en-US" sz="1800" dirty="0" smtClean="0"/>
              <a:t>COMPLIANCE AND SECURITY</a:t>
            </a:r>
          </a:p>
          <a:p>
            <a:r>
              <a:rPr lang="en-US" sz="1800" dirty="0" smtClean="0"/>
              <a:t>The bundle is designed to meet strict compliance and security requirements. Data is encrypted with AES-256 in transit and at rest, with fixed storage locality once selected. Both services fully support GDPR, including right-to-be-forgotten, and provide complete audit trails. IBM Cloud datacenters are ISO 27001, ISO 27017, ISO 27018, and SOC certified.</a:t>
            </a:r>
          </a:p>
          <a:p>
            <a:r>
              <a:rPr lang="en-US" sz="1800" dirty="0" smtClean="0"/>
              <a:t/>
            </a:r>
          </a:p>
          <a:p>
            <a:r>
              <a:rPr lang="en-US" sz="1800" dirty="0" smtClean="0"/>
              <a:t/>
            </a:r>
          </a:p>
          <a:p>
            <a:r>
              <a:rPr lang="en-US" sz="1800" dirty="0" smtClean="0"/>
              <a:t>TECHNICAL SPECIFICATIONS</a:t>
            </a:r>
          </a:p>
          <a:p>
            <a:r>
              <a:rPr lang="en-US" sz="1800" dirty="0" smtClean="0"/>
              <a:t>• 99.9% SLA uptime</a:t>
            </a:r>
          </a:p>
          <a:p>
            <a:r>
              <a:rPr lang="en-US" sz="1800" dirty="0" smtClean="0"/>
              <a:t>• AES-256 encryption in transit and at rest</a:t>
            </a:r>
          </a:p>
          <a:p>
            <a:r>
              <a:rPr lang="en-US" sz="1800" dirty="0" smtClean="0"/>
              <a:t>• Retention from 1 year up to 25 years with unlimited storage under fair usage</a:t>
            </a:r>
          </a:p>
          <a:p>
            <a:r>
              <a:rPr lang="en-US" sz="1800" dirty="0" smtClean="0"/>
              <a:t>• GDPR compliance including right-to-be-forgotten and support for industry regulatory standards</a:t>
            </a:r>
          </a:p>
          <a:p>
            <a:r>
              <a:rPr lang="en-US" sz="1800" dirty="0" smtClean="0"/>
              <a:t>• Automated backup jobs configured to meet customer RTO and RPO targets</a:t>
            </a:r>
          </a:p>
          <a:p>
            <a:r>
              <a:rPr lang="en-US" sz="1800" dirty="0" smtClean="0"/>
              <a:t>• Hosted in 16+ IBM Cloud datacenters worldwide</a:t>
            </a:r>
          </a:p>
          <a:p>
            <a:r>
              <a:rPr lang="en-US" sz="1800" dirty="0" smtClean="0"/>
              <a:t>• Unified bundle license covering both data and identity protection</a:t>
            </a:r>
          </a:p>
          <a:p>
            <a:r>
              <a:rPr lang="en-US" sz="1800" dirty="0" smtClean="0"/>
              <a:t/>
            </a:r>
          </a:p>
          <a:p>
            <a:r>
              <a:rPr lang="en-US" sz="1800" dirty="0" smtClean="0"/>
              <a:t/>
            </a:r>
          </a:p>
          <a:p>
            <a:r>
              <a:rPr lang="en-US" sz="1800" dirty="0" smtClean="0"/>
              <a:t>BETTER TOGETHER</a:t>
            </a:r>
          </a:p>
          <a:p>
            <a:r>
              <a:rPr lang="en-US" sz="1800" dirty="0" smtClean="0"/>
              <a:t>Microsoft 365 is only fully protected when both data and identity are secured. By combining Anycloud Backup for 365 and Anycloud Backup for Entra ID, organizations close the gap between content loss and identity compromise. The bundle ensures that emails, files, and Teams data can be restored alongside critical identity objects such as users, groups, and access policies. This integrated protection reduces downtime, ensures compliance, and provides a future-proof safeguard for the entire Microsoft 365 environment.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https://cloud.ibm.com/catalog/services/anycloudbackup365andentra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a:t>
            </a:r>
            <a:endParaRPr lang="en-US"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Cloud-to-cloud backup for Microsoft Entra ID enabling recovery of users, groups, roles, and identity policies with security score.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Anycloud backup for Entra ID is a partner-ready SaaS backup service designed to protect identity configurations within Microsoft Entra ID. The solution enables backup and recovery of users, groups, roles, applications, and identity policies. </a:t>
            </a:r>
          </a:p>
          <a:p>
            <a:r>
              <a:rPr lang="en-US" sz="1800" dirty="0" smtClean="0"/>
              <a:t>Identity systems play a central role in access management and security operations. Changes to identity configurations, whether caused by administrative errors, misconfigurations, or security incidents, can disrupt access to business systems and cloud services. Anycloud Backup for Entra ID create independent backups of identity configurations and eables organizations to restore critical identity objects when needed. This helps IT teams recover from unintended changes and maintain operational continuity. The service also provides visibility into identity security by presenting insights related to Microsoft Entra ID security score metrics. The solution is designed to be delivered by IT partners and managed service providers as part of a managed identity protection service for organizations using Microsoft Entra ID.</a:t>
            </a:r>
          </a:p>
          <a:p>
            <a:r>
              <a:rPr lang="en-US" sz="1800" dirty="0" smtClean="0"/>
              <a:t/>
            </a:r>
          </a:p>
          <a:p>
            <a:r>
              <a:rPr lang="en-US" sz="1800" dirty="0" smtClean="0"/>
              <a:t>MANAGEMENT AND OPERATIONS</a:t>
            </a:r>
          </a:p>
          <a:p>
            <a:r>
              <a:rPr lang="en-US" sz="1800" dirty="0" smtClean="0"/>
              <a:t>The service is managed through a web-based portal that provides centralized administration of backup and recovery operations. Administrators and partners can monitor identity configuration changes, review security insights, and perform recovery operations through a unified interface. Operational capabilities include: </a:t>
            </a:r>
          </a:p>
          <a:p>
            <a:r>
              <a:rPr lang="en-US" sz="1800" dirty="0" smtClean="0"/>
              <a:t>• Backup of Entra ID indetity objects and configuration elements</a:t>
            </a:r>
          </a:p>
          <a:p>
            <a:r>
              <a:rPr lang="en-US" sz="1800" dirty="0" smtClean="0"/>
              <a:t>• Monitoring of identity security score insights</a:t>
            </a:r>
          </a:p>
          <a:p>
            <a:r>
              <a:rPr lang="en-US" sz="1800" dirty="0" smtClean="0"/>
              <a:t>• Administrative visibility into identity configuration changes</a:t>
            </a:r>
          </a:p>
          <a:p>
            <a:r>
              <a:rPr lang="en-US" sz="1800" dirty="0" smtClean="0"/>
              <a:t>• Multi-tenant management for partners and managed service providers</a:t>
            </a:r>
          </a:p>
          <a:p>
            <a:r>
              <a:rPr lang="en-US" sz="1800" dirty="0" smtClean="0"/>
              <a:t>Backup and monitoring operations run automatically and generate activity logs that provide operational transparency. </a:t>
            </a:r>
          </a:p>
          <a:p>
            <a:r>
              <a:rPr lang="en-US" sz="1800" dirty="0" smtClean="0"/>
              <a:t/>
            </a:r>
          </a:p>
          <a:p>
            <a:r>
              <a:rPr lang="en-US" sz="1800" dirty="0" smtClean="0"/>
              <a:t>KEY CAPABILITIES</a:t>
            </a:r>
          </a:p>
          <a:p>
            <a:r>
              <a:rPr lang="en-US" sz="1800" dirty="0" smtClean="0"/>
              <a:t>Anycloud Backup for Entra ID provides capabilities designed to support identity resilience and recovery.</a:t>
            </a:r>
          </a:p>
          <a:p>
            <a:r>
              <a:rPr lang="en-US" sz="1800" dirty="0" smtClean="0"/>
              <a:t>• Backup and recovery of Microsoft Entra ID identity configurations</a:t>
            </a:r>
          </a:p>
          <a:p>
            <a:r>
              <a:rPr lang="en-US" sz="1800" dirty="0" smtClean="0"/>
              <a:t>• Protection of users, groups, roles, applications, and access policies</a:t>
            </a:r>
          </a:p>
          <a:p>
            <a:r>
              <a:rPr lang="en-US" sz="1800" dirty="0" smtClean="0"/>
              <a:t>• Identity security score insights providing visibility into identity posture</a:t>
            </a:r>
          </a:p>
          <a:p>
            <a:r>
              <a:rPr lang="en-US" sz="1800" dirty="0" smtClean="0"/>
              <a:t>• Centralized identity recovery workflows</a:t>
            </a:r>
          </a:p>
          <a:p>
            <a:r>
              <a:rPr lang="en-US" sz="1800" dirty="0" smtClean="0"/>
              <a:t>• Role-based access control for administrative operations</a:t>
            </a:r>
          </a:p>
          <a:p>
            <a:r>
              <a:rPr lang="en-US" sz="1800" dirty="0" smtClean="0"/>
              <a:t>• Multi-tenant management for partner and MSP environments</a:t>
            </a:r>
          </a:p>
          <a:p>
            <a:r>
              <a:rPr lang="en-US" sz="1800" dirty="0" smtClean="0"/>
              <a:t>These capabilities allow partners to provide identity protection services for organizations relying on Microsoft Entra ID. </a:t>
            </a:r>
          </a:p>
          <a:p>
            <a:r>
              <a:rPr lang="en-US" sz="1800" dirty="0" smtClean="0"/>
              <a:t/>
            </a:r>
          </a:p>
          <a:p>
            <a:r>
              <a:rPr lang="en-US" sz="1800" dirty="0" smtClean="0"/>
              <a:t>SECURITY AND DATA PROTECTION</a:t>
            </a:r>
          </a:p>
          <a:p>
            <a:r>
              <a:rPr lang="en-US" sz="1800" dirty="0" smtClean="0"/>
              <a:t>The platform stores backup data using encryption for both data in transit and data at rest. Activity logs record backup and recovery operations, providing operational visibility and traceability of identity configuration changes. The service is delivered using cloud infrastructure designed to support global deployments. </a:t>
            </a:r>
          </a:p>
          <a:p>
            <a:r>
              <a:rPr lang="en-US" sz="1800" dirty="0" smtClean="0"/>
              <a:t/>
            </a:r>
          </a:p>
          <a:p>
            <a:r>
              <a:rPr lang="en-US" sz="1800" dirty="0" smtClean="0"/>
              <a:t>TECHNICAL CHARACTERISTICS</a:t>
            </a:r>
          </a:p>
          <a:p>
            <a:r>
              <a:rPr lang="en-US" sz="1800" dirty="0" smtClean="0"/>
              <a:t>• Backup of Microsoft Entra ID users, groups, roles, applications, and policies</a:t>
            </a:r>
          </a:p>
          <a:p>
            <a:r>
              <a:rPr lang="en-US" sz="1800" dirty="0" smtClean="0"/>
              <a:t>• Security score insight visibility</a:t>
            </a:r>
          </a:p>
          <a:p>
            <a:r>
              <a:rPr lang="en-US" sz="1800" dirty="0" smtClean="0"/>
              <a:t>• Automated monitoring and backup operations </a:t>
            </a:r>
          </a:p>
          <a:p>
            <a:r>
              <a:rPr lang="en-US" sz="1800" dirty="0" smtClean="0"/>
              <a:t>• Multi-tenant platform designed for partner environments</a:t>
            </a:r>
          </a:p>
          <a:p>
            <a:r>
              <a:rPr lang="en-US" sz="1800" dirty="0" smtClean="0"/>
              <a:t/>
            </a:r>
          </a:p>
          <a:p>
            <a:r>
              <a:rPr lang="en-US" sz="1800" dirty="0" smtClean="0"/>
              <a:t>EXTENTED PROTECTION FOR MICROSOFT ENVIRONMENTS</a:t>
            </a:r>
          </a:p>
          <a:p>
            <a:r>
              <a:rPr lang="en-US" sz="1800" dirty="0" smtClean="0"/>
              <a:t>Anycloud Backup for 365 and Anycloud Backup for Entra ID address different layers of the Microsoft cloud environment. Anycloud Backup for 365 protects collaboration and productivity data such as email, files, and team content across Exchange Online, OneDrive, SharePoint, and Microsoft Teams. Anycloud Backup for Entra ID protects the identity configuration layer including users, groups, roles, applications, and identity policies. </a:t>
            </a:r>
          </a:p>
          <a:p>
            <a:r>
              <a:rPr lang="en-US" sz="1800" dirty="0" smtClean="0"/>
              <a:t>When deployed together, the services provide backup coverage across both the data layer and identity layer, enabling organizations and partners to manage recovery for Microsoft environments through a unified protection approach.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a:t>
            </a:r>
            <a:endParaRPr lang="en-US"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API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enterprise-grade platform for creating, securing, managing, sharing, monetizing, and analyzing custom APIs located on-premises and on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API Connect is a comprehensive, end-to-end API management solution for creating, securing, managing, sharing, monetizing, and analyzing APIs located on cloud and on-premises.</a:t>
            </a:r>
          </a:p>
          <a:p>
            <a:r>
              <a:rPr lang="en-US" sz="1800" dirty="0" smtClean="0"/>
              <a:t/>
            </a:r>
          </a:p>
          <a:p>
            <a:r>
              <a:rPr lang="en-US" sz="1800" dirty="0" smtClean="0"/>
              <a:t/>
            </a:r>
          </a:p>
          <a:p>
            <a:r>
              <a:rPr lang="en-US" sz="1800" dirty="0" smtClean="0"/>
              <a:t/>
            </a:r>
          </a:p>
          <a:p>
            <a:r>
              <a:rPr lang="en-US" sz="1800" dirty="0" smtClean="0"/>
              <a:t>The Reserved Instance plan provides a dedicated, multi-zone high availability deployment of API Connect v10 that leverages core IBM Cloud services for common tasks like identity management, monitoring, auditing, and logging. It includes the management, gateway, analytics, and portal server components of API Connect, as well as tools for registering and managing existing gateways located on-premises and on third-party clouds.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https://cloud.ibm.com/catalog/services/apiconnect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a:t>
            </a:r>
            <a:endParaRPr lang="en-US"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Configuration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Centralized, in-flight configuration for web and mobile applications and distributed environments.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App Configuration is a centralized feature management and configuration service for use with web and mobile applications, microservices, and distributed environments.</a:t>
            </a:r>
          </a:p>
          <a:p>
            <a:r>
              <a:rPr lang="en-US" sz="1800" dirty="0" smtClean="0"/>
              <a:t>Instrument your applications with App Configuration SDKs, and use the App Configuration dashboard or administrator API to define feature flags, organize them into collections, and target them to segments (groups) of users or resources that you define. Change feature flag states in the cloud to activate or deactivate features in your application or environment, often without re-starting.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https://cloud.ibm.com/catalog/services/apprapp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a:t>
            </a:r>
            <a:endParaRPr lang="en-US"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User Authentication and User Profiles for your apps.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App ID to add authentication to your mobile and web apps and protect your APIs and back-ends running anywhere. No code change or redeploy is required for your containerised apps.</a:t>
            </a:r>
          </a:p>
          <a:p>
            <a:r>
              <a:rPr lang="en-US" sz="1800" dirty="0" smtClean="0"/>
              <a:t/>
            </a:r>
          </a:p>
          <a:p>
            <a:r>
              <a:rPr lang="en-US" sz="1800" dirty="0" smtClean="0"/>
              <a:t>Add email/password based sign-up and sign-in, and MFA with App ID's scalable user registry - Cloud Directory, or social log-in with Google or Facebook. For employee apps, use SAML 2.0 federation to let users sign-in with their enterprise credentials. For all app users, enrich their profiles with additional info so you can build engaging experiences.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https://cloud.ibm.com/catalog/services/appid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a:t>
            </a:r>
            <a:endParaRPr lang="en-US"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ASPR AI Sales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wins and reduce churn by 10+% in less than 60 days using AI Sales Assistants that make every rep your best.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ASPR AI is a unified Sales Assistant powered by five specialized AI agents that transform sales productivity and accelerate deal outcomes. By grounding insights in CRM data, emails, transcripts, and playbooks, ASPR AI eliminates hallucinations, automates manual work, and democratizes resident knowledge across teams.</a:t>
            </a:r>
          </a:p>
          <a:p>
            <a:r>
              <a:rPr lang="en-US" sz="1800" dirty="0" smtClean="0"/>
              <a:t/>
            </a:r>
          </a:p>
          <a:p>
            <a:r>
              <a:rPr lang="en-US" sz="1800" dirty="0" smtClean="0"/>
              <a:t>Sales teams use ASPR AI to:</a:t>
            </a:r>
          </a:p>
          <a:p>
            <a:r>
              <a:rPr lang="en-US" sz="1800" dirty="0" smtClean="0"/>
              <a:t/>
            </a:r>
          </a:p>
          <a:p>
            <a:r>
              <a:rPr lang="en-US" sz="1800" dirty="0" smtClean="0"/>
              <a:t/>
            </a:r>
          </a:p>
          <a:p>
            <a:r>
              <a:rPr lang="en-US" sz="1800" dirty="0" smtClean="0"/>
              <a:t/>
            </a:r>
          </a:p>
          <a:p>
            <a:r>
              <a:rPr lang="en-US" sz="1800" dirty="0" smtClean="0"/>
              <a:t>-Save 25+ hours per week per rep.</a:t>
            </a:r>
          </a:p>
          <a:p>
            <a:r>
              <a:rPr lang="en-US" sz="1800" dirty="0" smtClean="0"/>
              <a:t>-Cut sales tool costs by 50% or more.</a:t>
            </a:r>
          </a:p>
          <a:p>
            <a:r>
              <a:rPr lang="en-US" sz="1800" dirty="0" smtClean="0"/>
              <a:t>-Accelerate wins and reduce churn by 10% in under 60 days.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ASPR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https://cloud.ibm.com/catalog/services/aspr-ai-inc-aspr-ai-sales-assistant-resident-knowledge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a:t>
            </a:r>
            <a:endParaRPr lang="en-US"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Auto Scale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 Scale for VPC is a fast, easy way to optimize the performance and cost of your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Auto Scale for VPC is a fast, easy way to optimize the performance and cost of your applications at no additional cost other than the compute resources used.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a:t>
            </a:r>
            <a:endParaRPr lang="en-US"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Backup and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and Recovery is a managed service for File and folder backup &amp; Database servers (such as MS SQL Server) in VMware and VPC environments running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Backup and Recovery is a managed backup service for File and folder &amp; Database servers (such as MS SQL Server) in VMware and VPC environments running on IBM Cloud. This service lets you define backup schedules to routinely protect data sources using a secure, agent-based, application-consistent backup service. Backup infrastructure is managed by IBM.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https://cloud.ibm.com/catalog/services/backup-recovery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a:t>
            </a:r>
            <a:endParaRPr lang="en-US"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Bare Metal Servers provide performance, flexibility, on-demand provisioning, and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Bare Metal Server provides performance, flexibility, on-demand provisioning, and control. Choose between hourly or monthly pre-configured servers or customize with single to quad processing solutions that range from 4 to 72 cores. Bare metal servers are available worldwide and with no monthly contracts so you can build the best solution for your workloads.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https://cloud.ibm.com/catalog/infrastructure/bare-metal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a:t>
            </a:r>
            <a:endParaRPr lang="en-US"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x86 servers with physical single tenancy and high performance offering end user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Bare metal servers for VPC are dedicated servers offering direct hardware performance and is integrated as a first-class compute offering within Virtual Private Cloud. Users can leverage existing VPC services across storage, networking, and security with bare metal for VPC and can incorporate its higher end hardware profiles with the additional benefit of end-user managed virtualization.</a:t>
            </a:r>
          </a:p>
          <a:p>
            <a:r>
              <a:rPr lang="en-US" sz="1800" dirty="0" smtClean="0"/>
              <a:t/>
            </a:r>
          </a:p>
          <a:p>
            <a:r>
              <a:rPr lang="en-US" sz="1800" dirty="0" smtClean="0"/>
              <a:t>#### Pricing</a:t>
            </a:r>
          </a:p>
          <a:p>
            <a:r>
              <a:rPr lang="en-US" sz="1800" dirty="0" smtClean="0"/>
              <a:t/>
            </a:r>
          </a:p>
          <a:p>
            <a:r>
              <a:rPr lang="en-US" sz="1800" dirty="0" smtClean="0"/>
              <a:t>##### Hourly, pay-as-you-go</a:t>
            </a:r>
          </a:p>
          <a:p>
            <a:r>
              <a:rPr lang="en-US" sz="1800" dirty="0" smtClean="0"/>
              <a:t>Pay-as-you-go bandwidth is per gigabyte. Your billing charges accrue from provision to cancellation, and are billed in arrears. This VPC product does not support suspended billing and will continue to bill regardless of the power state. Total pricing includes bare metal server instance profiles and software, internet data transfers, and optional VPC services. Each additional component is priced separately and included as part of your total IBM Cloud VPC charge. Service tiers are bound to your account, not to any specific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https://cloud.ibm.com/catalog/services/is.bare-metal-server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a:t>
            </a:r>
            <a:endParaRPr lang="en-US"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Beam Agent - Invoice Reconciliation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Automates invoice status tracking by reading emails, checking payment status, and sending responses to suppliers &amp; internal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Beam's Invoice Reconciliaton Agents streamlines invoice status management. Beam's agent autmatomatically</a:t>
            </a:r>
          </a:p>
          <a:p>
            <a:r>
              <a:rPr lang="en-US" sz="1800" dirty="0" smtClean="0"/>
              <a:t>1. Detects and validates email relevance to filter invoice-related commmunications</a:t>
            </a:r>
          </a:p>
          <a:p>
            <a:r>
              <a:rPr lang="en-US" sz="1800" dirty="0" smtClean="0"/>
              <a:t>2. Extracts key information from incoming emails and attachments including invoices and external data</a:t>
            </a:r>
          </a:p>
          <a:p>
            <a:r>
              <a:rPr lang="en-US" sz="1800" dirty="0" smtClean="0"/>
              <a:t>3. Integrates with internal systems to check invoice status and retrieve payment and transactions history</a:t>
            </a:r>
          </a:p>
          <a:p>
            <a:r>
              <a:rPr lang="en-US" sz="1800" dirty="0" smtClean="0"/>
              <a:t>4. Reasoning on invoice status and determining whether invoices are paid, pending, in processing, not received, or required status clarification.</a:t>
            </a:r>
          </a:p>
          <a:p>
            <a:r>
              <a:rPr lang="en-US" sz="1800" dirty="0" smtClean="0"/>
              <a:t>5. Generates automated responses and appropiate email formatting based on invoice status.</a:t>
            </a:r>
          </a:p>
          <a:p>
            <a:r>
              <a:rPr lang="en-US" sz="1800" dirty="0" smtClean="0"/>
              <a:t/>
            </a:r>
          </a:p>
          <a:p>
            <a:r>
              <a:rPr lang="en-US" sz="1800" dirty="0" smtClean="0"/>
              <a:t>Includes POC verficiation for addtional validation and quality assurance.</a:t>
            </a:r>
          </a:p>
          <a:p>
            <a:r>
              <a:rPr lang="en-US" sz="1800" dirty="0" smtClean="0"/>
              <a:t/>
            </a:r>
          </a:p>
          <a:p>
            <a:r>
              <a:rPr lang="en-US" sz="1800" dirty="0" smtClean="0"/>
              <a:t/>
            </a:r>
          </a:p>
          <a:p>
            <a:r>
              <a:rPr lang="en-US" sz="1800" dirty="0" smtClean="0"/>
              <a:t>Key benefits:</a:t>
            </a:r>
          </a:p>
          <a:p>
            <a:r>
              <a:rPr lang="en-US" sz="1800" dirty="0" smtClean="0"/>
              <a:t>1. Reduces manual invoice tracking and follow-ups up to 80%</a:t>
            </a:r>
          </a:p>
          <a:p>
            <a:r>
              <a:rPr lang="en-US" sz="1800" dirty="0" smtClean="0"/>
              <a:t>2. Maintains accuracte records through system integration with accuracy scores at 95%</a:t>
            </a:r>
          </a:p>
          <a:p>
            <a:r>
              <a:rPr lang="en-US" sz="1800" dirty="0" smtClean="0"/>
              <a:t>3. Provides consistent communciation with suppliers and internal teams</a:t>
            </a:r>
          </a:p>
          <a:p>
            <a:r>
              <a:rPr lang="en-US" sz="1800" dirty="0" smtClean="0"/>
              <a:t>4. Minimizes human error by 5 - 15%</a:t>
            </a:r>
          </a:p>
          <a:p>
            <a:r>
              <a:rPr lang="en-US" sz="1800" dirty="0" smtClean="0"/>
              <a:t>5. Scale efficiently to handle high volume invoice inquiries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Beam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https://cloud.ibm.com/catalog/services/beam-invoice-rec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a:t>
            </a:r>
            <a:endParaRPr lang="en-US"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Bespoken Automated Testing For IVR and Chat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Bespoken is a leader in fully automated testing for IVR systems, conversational AI, and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Bespoken is the AI-powered solution built to reduce the time, cost, and tedium of testing, monitoring, and scaling your contact center. </a:t>
            </a:r>
          </a:p>
          <a:p>
            <a:r>
              <a:rPr lang="en-US" sz="1800" dirty="0" smtClean="0"/>
              <a:t>Our platform automates testing, monitoring, and load simulation to ensure your voice and chatbot experiences are working exactly as they should — every time.</a:t>
            </a:r>
          </a:p>
          <a:p>
            <a:r>
              <a:rPr lang="en-US" sz="1800" dirty="0" smtClean="0"/>
              <a:t/>
            </a:r>
          </a:p>
          <a:p>
            <a:r>
              <a:rPr lang="en-US" sz="1800" dirty="0" smtClean="0"/>
              <a:t>Bespoken helps your contact center deliver flawless customer interactions, reduce costs, and scale with confidence.  Our suite of tools ensures better customer experiences and better business outcomes.</a:t>
            </a:r>
          </a:p>
          <a:p>
            <a:r>
              <a:rPr lang="en-US" sz="1800" dirty="0" smtClean="0"/>
              <a:t/>
            </a:r>
          </a:p>
          <a:p>
            <a:r>
              <a:rPr lang="en-US" sz="1800" dirty="0" smtClean="0"/>
              <a:t>The Bespoken platform consists of five products: Exploratory Testing, Functional Testing, Continuous Monitoring, Model/LLM Testing, and Load Testing.</a:t>
            </a:r>
          </a:p>
          <a:p>
            <a:r>
              <a:rPr lang="en-US" sz="1800" dirty="0" smtClean="0"/>
              <a:t/>
            </a:r>
          </a:p>
          <a:p>
            <a:r>
              <a:rPr lang="en-US" sz="1800" dirty="0" smtClean="0"/>
              <a:t>Exploratory Testing, Functional Testing, and Continuous Monitoring are included in all Bespoken subscriptions (Self-Serve Professional, Guided Professional, and Enterprise).  Model/LLM Testing is available with Guided Professional and higher, and Load Testing is a separate product priced on the load test parameters.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Bespoken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https://cloud.ibm.com/catalog/services/automated-testing-and-monitoring-for-voice-and-chat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a:t>
            </a:r>
            <a:endParaRPr lang="en-US"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iSCSI based storage with high-powered performance and capacity up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and Bare Metal Servers with a maximum of 48k IOPs. Deploy flash-backed block storage volumes from 20GB to 12TB–and customize it all with a variety of capabilities.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https://cloud.ibm.com/catalog/infrastructure/block-storage-group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a:t>
            </a:r>
            <a:endParaRPr lang="en-US"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storage for use as boot and data storage for  Virtual Servers in a VPC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with a maximum of 48k IOPS. Deploy flash-backed block storage volumes from 20GB to 16TB–and customize it all with a variety of capabilities.</a:t>
            </a:r>
          </a:p>
          <a:p>
            <a:r>
              <a:rPr lang="en-US" sz="1800" dirty="0" smtClean="0"/>
              <a:t/>
            </a:r>
          </a:p>
          <a:p>
            <a:r>
              <a:rPr lang="en-US" sz="1800" dirty="0" smtClean="0"/>
              <a:t>Choose an IOPS tier profile for simple, predefined, per-GB pricing—ideal for workloads without well-defined performance requirements.</a:t>
            </a:r>
          </a:p>
          <a:p>
            <a:r>
              <a:rPr lang="en-US" sz="1800" dirty="0" smtClean="0"/>
              <a:t/>
            </a:r>
          </a:p>
          <a:p>
            <a:r>
              <a:rPr lang="en-US" sz="1800" dirty="0" smtClean="0"/>
              <a:t>Or, build a fine-tuned environment with allocated IOPS using a Custom IOPS profile—ideal for workloads without well-understood requirements that fall outside of the predefined IOPS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a:t>
            </a:r>
            <a:endParaRPr lang="en-US"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 up block storage volumes to IBM Cloud Object Storage with this regional snapshot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this service, you can create point-in-time copies of your block storage boot and data volumes. The snapshots are stored in Cloud Object Storage.</a:t>
            </a:r>
          </a:p>
          <a:p>
            <a:r>
              <a:rPr lang="en-US" sz="1800" dirty="0" smtClean="0"/>
              <a:t/>
            </a:r>
          </a:p>
          <a:p>
            <a:r>
              <a:rPr lang="en-US" sz="1800" dirty="0" smtClean="0"/>
              <a:t>The first snapshot is a full backup of the volume. The subsequent snapshots of the same volume are incremental; they capture only the changes that occurred since the last snapshot was taken. </a:t>
            </a:r>
          </a:p>
          <a:p>
            <a:r>
              <a:rPr lang="en-US" sz="1800" dirty="0" smtClean="0"/>
              <a:t/>
            </a:r>
          </a:p>
          <a:p>
            <a:r>
              <a:rPr lang="en-US" sz="1800" dirty="0" smtClean="0"/>
              <a:t>You can take snapshots of individual volumes and you can create a consistency group to take snapshots of multiple volumes that are attached to the same VSI simultaneously.</a:t>
            </a:r>
          </a:p>
          <a:p>
            <a:r>
              <a:rPr lang="en-US" sz="1800" dirty="0" smtClean="0"/>
              <a:t/>
            </a:r>
          </a:p>
          <a:p>
            <a:r>
              <a:rPr lang="en-US" sz="1800" dirty="0" smtClean="0"/>
              <a:t>You can use these snapshots later to create stand-alone data volumes, provision new virtual server instances, or add new data volumes to existing virtual server instance. You can use the snapshots to recover operations after a disastrous event or to expand your VPC to other regions.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a:t>
            </a:r>
            <a:endParaRPr lang="en-US"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 Data Web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 Data Web Agent is an AI-powered assistant that enables real-time web access in scale - without getting blocked.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 Data Web Agent is an AI-driven assistant that lets your applications (or LLM-based agents) unlock the public web. Sitting on top of Bright Data’s global network and unblocking stack. You can simply send a query, and Bright Data Agent streams back, Markdown-perfect for real-time market monitoring, competitive intelligence, or grounding AI responses-while abstracting away proxy management, concurrency, retries and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 Data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https://cloud.ibm.com/catalog/services/bright-data-bright-data-mcp-model-context-protocol-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a:t>
            </a:r>
            <a:endParaRPr lang="en-US"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BrightAgent is your agentic data companion that makes the end to end complex data analysis work easy for everyone!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BrightAgent is your agentic data companion that makes the end to end complex data analysis work easy for everyone! Powered by a team of specialized data agents that are engineered to focus on the end to end data workflow - ingestion, governance, retervial, engineering, analytics and visualization - BrightAgent orchestrates every step of the data workflow for you. A conversational natural langugage user interface empowers you to work with BrightAgent without needing any technical data skills. Every team member, regarless of technical skill level, can easily unlock rich insights from all their data assets, wherever the data lives. From 600+ connectors for data ingestion, plus ability to upload structured and unstructured dat, BrightAgent guides you through data quality checks, governance tasks, schema creation, metadata management, and full data transformations to ensure clean data pipelines are established to power all your agentic insight and analytics needs. The data workflow journey is broken and BrightAgent, your super data agent, is able to fix it end to end, transforming everyone's work to be data informed 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Brighthive ,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https://cloud.ibm.com/catalog/services/brighthive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a:t>
            </a:r>
            <a:endParaRPr lang="en-US"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BUS4i System Copy - Migrate 23 for Power 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BUS4i System Copy moves and migrates your IBM I to another. Backup and restore your data and applications in a single step</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 Copy simplifies the process of moving and migrating your IBM I to another IBM I System, whether it's in the cloud or on-premise. Here's how it works:</a:t>
            </a:r>
          </a:p>
          <a:p>
            <a:r>
              <a:rPr lang="en-US" sz="1800" dirty="0" smtClean="0"/>
              <a:t/>
            </a:r>
          </a:p>
          <a:p>
            <a:r>
              <a:rPr lang="en-US" sz="1800" dirty="0" smtClean="0"/>
              <a:t>1. Effortless Backup and Restore:</a:t>
            </a:r>
          </a:p>
          <a:p>
            <a:r>
              <a:rPr lang="en-US" sz="1800" dirty="0" smtClean="0"/>
              <a:t>   - No tapes or additional disk space/storage are needed.</a:t>
            </a:r>
          </a:p>
          <a:p>
            <a:r>
              <a:rPr lang="en-US" sz="1800" dirty="0" smtClean="0"/>
              <a:t>   - A simple IP connection is sufficient.</a:t>
            </a:r>
          </a:p>
          <a:p>
            <a:r>
              <a:rPr lang="en-US" sz="1800" dirty="0" smtClean="0"/>
              <a:t>   - The restoration process begins simultaneously with the backup.</a:t>
            </a:r>
          </a:p>
          <a:p>
            <a:r>
              <a:rPr lang="en-US" sz="1800" dirty="0" smtClean="0"/>
              <a:t/>
            </a:r>
          </a:p>
          <a:p>
            <a:r>
              <a:rPr lang="en-US" sz="1800" dirty="0" smtClean="0"/>
              <a:t>2. Email Notifications:</a:t>
            </a:r>
          </a:p>
          <a:p>
            <a:r>
              <a:rPr lang="en-US" sz="1800" dirty="0" smtClean="0"/>
              <a:t>   - Receive an email notification as soon as your restore is  completed.</a:t>
            </a:r>
          </a:p>
          <a:p>
            <a:r>
              <a:rPr lang="en-US" sz="1800" dirty="0" smtClean="0"/>
              <a:t/>
            </a:r>
          </a:p>
          <a:p>
            <a:r>
              <a:rPr lang="en-US" sz="1800" dirty="0" smtClean="0"/>
              <a:t>3. User-Friendly Experience:</a:t>
            </a:r>
          </a:p>
          <a:p>
            <a:r>
              <a:rPr lang="en-US" sz="1800" dirty="0" smtClean="0"/>
              <a:t>   - The entire procedure is designed for user convenience.</a:t>
            </a:r>
          </a:p>
          <a:p>
            <a:r>
              <a:rPr lang="en-US" sz="1800" dirty="0" smtClean="0"/>
              <a:t>   - Enjoy testing your new system hassle-free.</a:t>
            </a:r>
          </a:p>
          <a:p>
            <a:r>
              <a:rPr lang="en-US" sz="1800" dirty="0" smtClean="0"/>
              <a:t/>
            </a:r>
          </a:p>
          <a:p>
            <a:r>
              <a:rPr lang="en-US" sz="1800" dirty="0" smtClean="0"/>
              <a:t>Experience a smooth and efficient transition with BUS4i System Copy.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https://cloud.ibm.com/catalog/services/tsp-bus4i-system-copy-migrate-23-for-power-i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a:t>
            </a:r>
            <a:endParaRPr lang="en-US"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Caveonix RiskForesight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cyber and compliance risk with proactive monitoring and automated defense controls to protect against threats and meet industry or government regulations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cyber and compliance risk with proactive monitoring and automated defense controls to protect against threats and meet industry or government regulations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https://cloud.ibm.com/catalog/services/caveonix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a:t>
            </a:r>
            <a:endParaRPr lang="en-US"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CopyAssure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Continuous recovery and clean room testing with snapshots, clones &amp; exports—aligned with IBM Cyber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CopyAssure – Clean, Fast, and Secure Cyber Recovery for IBM PowerVS</a:t>
            </a:r>
          </a:p>
          <a:p>
            <a:r>
              <a:rPr lang="en-US" sz="1800" dirty="0" smtClean="0"/>
              <a:t/>
            </a:r>
          </a:p>
          <a:p>
            <a:r>
              <a:rPr lang="en-US" sz="1800" dirty="0" smtClean="0"/>
              <a:t>**CopyAssure** is Celerity’s advanced cyber recovery and data resilience solution for **IBM Power Virtual Server (PowerVS)** environments, supporting **IBM i, AIX, and Linux**.  </a:t>
            </a:r>
          </a:p>
          <a:p>
            <a:r>
              <a:rPr lang="en-US" sz="1800" dirty="0" smtClean="0"/>
              <a:t>Built for mission-critical workloads, CopyAssure delivers automated, verified recovery using continuously tested backup copies. Based on IBM’s **Cyber Vault blueprint**, it combines frequent data copies, immutable storage, cleanroom validation, and end-to-end orchestration—helping organisations recover with confidence from even the most disruptive cyberattacks and more.</a:t>
            </a:r>
          </a:p>
          <a:p>
            <a:r>
              <a:rPr lang="en-US" sz="1800" dirty="0" smtClean="0"/>
              <a:t/>
            </a:r>
          </a:p>
          <a:p>
            <a:r>
              <a:rPr lang="en-US" sz="1800" dirty="0" smtClean="0"/>
              <a:t>CopyAssure can also be leveraged to spin up clean, digital twin system copies for testing, development, or even **AI training**—without risking the integrity of the core environment.</a:t>
            </a:r>
          </a:p>
          <a:p>
            <a:r>
              <a:rPr lang="en-US" sz="1800" dirty="0" smtClean="0"/>
              <a:t/>
            </a:r>
          </a:p>
          <a:p>
            <a:r>
              <a:rPr lang="en-US" sz="1800" dirty="0" smtClean="0"/>
              <a:t>Find out more: https://celerity-uk.com/data-security-and-resilience/copyassure</a:t>
            </a:r>
          </a:p>
          <a:p>
            <a:r>
              <a:rPr lang="en-US" sz="1800" dirty="0" smtClean="0"/>
              <a:t/>
            </a:r>
          </a:p>
          <a:p>
            <a:r>
              <a:rPr lang="en-US" sz="1800" dirty="0" smtClean="0"/>
              <a:t>---</a:t>
            </a:r>
          </a:p>
          <a:p>
            <a:r>
              <a:rPr lang="en-US" sz="1800" dirty="0" smtClean="0"/>
              <a:t/>
            </a:r>
          </a:p>
          <a:p>
            <a:r>
              <a:rPr lang="en-US" sz="1800" dirty="0" smtClean="0"/>
              <a:t>### Key Features</a:t>
            </a:r>
          </a:p>
          <a:p>
            <a:r>
              <a:rPr lang="en-US" sz="1800" dirty="0" smtClean="0"/>
              <a:t/>
            </a:r>
          </a:p>
          <a:p>
            <a:r>
              <a:rPr lang="en-US" sz="1800" dirty="0" smtClean="0"/>
              <a:t>---</a:t>
            </a:r>
          </a:p>
          <a:p>
            <a:r>
              <a:rPr lang="en-US" sz="1800" dirty="0" smtClean="0"/>
              <a:t/>
            </a:r>
          </a:p>
          <a:p>
            <a:r>
              <a:rPr lang="en-US" sz="1800" dirty="0" smtClean="0"/>
              <a:t>### Scheduled Snapshots, Cloning &amp; Exports with Continuous Testing</a:t>
            </a:r>
          </a:p>
          <a:p>
            <a:r>
              <a:rPr lang="en-US" sz="1800" dirty="0" smtClean="0"/>
              <a:t/>
            </a:r>
          </a:p>
          <a:p>
            <a:r>
              <a:rPr lang="en-US" sz="1800" dirty="0" smtClean="0"/>
              <a:t>CopyAssure orchestrates scheduled snapshots, volume clones, and optional image export to IBM Cloud Object Storage (COS) to provide layered, resilient recovery points with immutability. These are continuously tested to demonstrate recoverability within defined RPO and RTO thresholds.</a:t>
            </a:r>
          </a:p>
          <a:p>
            <a:r>
              <a:rPr lang="en-US" sz="1800" dirty="0" smtClean="0"/>
              <a:t/>
            </a:r>
          </a:p>
          <a:p>
            <a:r>
              <a:rPr lang="en-US" sz="1800" dirty="0" smtClean="0"/>
              <a:t>To extend assurance further, the service includes automated system validation through a proprietary virtual operator. This technology emulates real user interactions—such as 5250 terminal sessions for IBM i, and interactive workloads for AIX and Linux—to verify that systems are fully operational post-recovery.</a:t>
            </a:r>
          </a:p>
          <a:p>
            <a:r>
              <a:rPr lang="en-US" sz="1800" dirty="0" smtClean="0"/>
              <a:t/>
            </a:r>
          </a:p>
          <a:p>
            <a:r>
              <a:rPr lang="en-US" sz="1800" dirty="0" smtClean="0"/>
              <a:t>---</a:t>
            </a:r>
          </a:p>
          <a:p>
            <a:r>
              <a:rPr lang="en-US" sz="1800" dirty="0" smtClean="0"/>
              <a:t/>
            </a:r>
          </a:p>
          <a:p>
            <a:r>
              <a:rPr lang="en-US" sz="1800" dirty="0" smtClean="0"/>
              <a:t>### Proactive Air-Gapped Copies</a:t>
            </a:r>
          </a:p>
          <a:p>
            <a:r>
              <a:rPr lang="en-US" sz="1800" dirty="0" smtClean="0"/>
              <a:t/>
            </a:r>
          </a:p>
          <a:p>
            <a:r>
              <a:rPr lang="en-US" sz="1800" dirty="0" smtClean="0"/>
              <a:t>CopyAssure leverages PowerVS volume clone technology to create logically air-gapped snapshots. This approach provides an additional layer of defence against ransomware and insider threats by ensuring backup copies are inaccessible from compromised systems.</a:t>
            </a:r>
          </a:p>
          <a:p>
            <a:r>
              <a:rPr lang="en-US" sz="1800" dirty="0" smtClean="0"/>
              <a:t/>
            </a:r>
          </a:p>
          <a:p>
            <a:r>
              <a:rPr lang="en-US" sz="1800" dirty="0" smtClean="0"/>
              <a:t>---</a:t>
            </a:r>
          </a:p>
          <a:p>
            <a:r>
              <a:rPr lang="en-US" sz="1800" dirty="0" smtClean="0"/>
              <a:t/>
            </a:r>
          </a:p>
          <a:p>
            <a:r>
              <a:rPr lang="en-US" sz="1800" dirty="0" smtClean="0"/>
              <a:t>### Immutable Data Protection</a:t>
            </a:r>
          </a:p>
          <a:p>
            <a:r>
              <a:rPr lang="en-US" sz="1800" dirty="0" smtClean="0"/>
              <a:t/>
            </a:r>
          </a:p>
          <a:p>
            <a:r>
              <a:rPr lang="en-US" sz="1800" dirty="0" smtClean="0"/>
              <a:t>CopyAssure supports image export to IBM Cloud Object Storage (COS) using write-once, read-many (WORM) storage, providing immutable backup copies protected against tampering, deletion, or ransomware encryption. This capability supports long-term data integrity and aligns with regulatory and audit-readiness requirements.</a:t>
            </a:r>
          </a:p>
          <a:p>
            <a:r>
              <a:rPr lang="en-US" sz="1800" dirty="0" smtClean="0"/>
              <a:t/>
            </a:r>
          </a:p>
          <a:p>
            <a:r>
              <a:rPr lang="en-US" sz="1800" dirty="0" smtClean="0"/>
              <a:t>---</a:t>
            </a:r>
          </a:p>
          <a:p>
            <a:r>
              <a:rPr lang="en-US" sz="1800" dirty="0" smtClean="0"/>
              <a:t/>
            </a:r>
          </a:p>
          <a:p>
            <a:r>
              <a:rPr lang="en-US" sz="1800" dirty="0" smtClean="0"/>
              <a:t>### Continuous Recoverability Validation</a:t>
            </a:r>
          </a:p>
          <a:p>
            <a:r>
              <a:rPr lang="en-US" sz="1800" dirty="0" smtClean="0"/>
              <a:t/>
            </a:r>
          </a:p>
          <a:p>
            <a:r>
              <a:rPr lang="en-US" sz="1800" dirty="0" smtClean="0"/>
              <a:t>Aligned with IBM’s Cyber Vault methodology, CopyAssure provisions secure cleanroom environments to validate cloned backups prior to restoration. This process proves that a system is fully recoverable through controlled boot procedures, OS-level checks, and bespoke validation of user activity and application services.</a:t>
            </a:r>
          </a:p>
          <a:p>
            <a:r>
              <a:rPr lang="en-US" sz="1800" dirty="0" smtClean="0"/>
              <a:t/>
            </a:r>
          </a:p>
          <a:p>
            <a:r>
              <a:rPr lang="en-US" sz="1800" dirty="0" smtClean="0"/>
              <a:t>**The validation framework includes multiple stages:**</a:t>
            </a:r>
          </a:p>
          <a:p>
            <a:r>
              <a:rPr lang="en-US" sz="1800" dirty="0" smtClean="0"/>
              <a:t/>
            </a:r>
          </a:p>
          <a:p>
            <a:r>
              <a:rPr lang="en-US" sz="1800" dirty="0" smtClean="0"/>
              <a:t>- **T1 – System Validation**: Confirms successful boot and core OS integrity  </a:t>
            </a:r>
          </a:p>
          <a:p>
            <a:r>
              <a:rPr lang="en-US" sz="1800" dirty="0" smtClean="0"/>
              <a:t>- **T2 – Application Validation**: Verifies application availability and service responsiveness  </a:t>
            </a:r>
          </a:p>
          <a:p>
            <a:r>
              <a:rPr lang="en-US" sz="1800" dirty="0" smtClean="0"/>
              <a:t>- **T3 – Data Validation**: Confirms access to critical data and consistency within key datasets</a:t>
            </a:r>
          </a:p>
          <a:p>
            <a:r>
              <a:rPr lang="en-US" sz="1800" dirty="0" smtClean="0"/>
              <a:t/>
            </a:r>
          </a:p>
          <a:p>
            <a:r>
              <a:rPr lang="en-US" sz="1800" dirty="0" smtClean="0"/>
              <a:t>This multi-layered approach ensures only clean, operational recovery points are promoted for restoration.</a:t>
            </a:r>
          </a:p>
          <a:p>
            <a:r>
              <a:rPr lang="en-US" sz="1800" dirty="0" smtClean="0"/>
              <a:t/>
            </a:r>
          </a:p>
          <a:p>
            <a:r>
              <a:rPr lang="en-US" sz="1800" dirty="0" smtClean="0"/>
              <a:t>---</a:t>
            </a:r>
          </a:p>
          <a:p>
            <a:r>
              <a:rPr lang="en-US" sz="1800" dirty="0" smtClean="0"/>
              <a:t/>
            </a:r>
          </a:p>
          <a:p>
            <a:r>
              <a:rPr lang="en-US" sz="1800" dirty="0" smtClean="0"/>
              <a:t>### Fully Automated Workflow</a:t>
            </a:r>
          </a:p>
          <a:p>
            <a:r>
              <a:rPr lang="en-US" sz="1800" dirty="0" smtClean="0"/>
              <a:t/>
            </a:r>
          </a:p>
          <a:p>
            <a:r>
              <a:rPr lang="en-US" sz="1800" dirty="0" smtClean="0"/>
              <a:t>CopyAssure delivers end-to-end automation across backup validation and recovery orchestration. By removing manual steps, the service improves consistency, reduces human error, and accelerates recovery across complex environments—enabling repeatable, policy-driven execution at scale.</a:t>
            </a:r>
          </a:p>
          <a:p>
            <a:r>
              <a:rPr lang="en-US" sz="1800" dirty="0" smtClean="0"/>
              <a:t/>
            </a:r>
          </a:p>
          <a:p>
            <a:r>
              <a:rPr lang="en-US" sz="1800" dirty="0" smtClean="0"/>
              <a:t>---</a:t>
            </a:r>
          </a:p>
          <a:p>
            <a:r>
              <a:rPr lang="en-US" sz="1800" dirty="0" smtClean="0"/>
              <a:t/>
            </a:r>
          </a:p>
          <a:p>
            <a:r>
              <a:rPr lang="en-US" sz="1800" dirty="0" smtClean="0"/>
              <a:t>### NIST-Aligned Architecture</a:t>
            </a:r>
          </a:p>
          <a:p>
            <a:r>
              <a:rPr lang="en-US" sz="1800" dirty="0" smtClean="0"/>
              <a:t/>
            </a:r>
          </a:p>
          <a:p>
            <a:r>
              <a:rPr lang="en-US" sz="1800" dirty="0" smtClean="0"/>
              <a:t>CopyAssure is aligned with the NIST Cybersecurity Framework, supporting the core functions of Identify, Protect, Detect, Respond, and Recover. This alignment helps organisations strengthen their cyber resilience strategy, meet regulatory expectations, and streamline audit readiness.</a:t>
            </a:r>
          </a:p>
          <a:p>
            <a:r>
              <a:rPr lang="en-US" sz="1800" dirty="0" smtClean="0"/>
              <a:t/>
            </a:r>
          </a:p>
          <a:p>
            <a:r>
              <a:rPr lang="en-US" sz="1800" dirty="0" smtClean="0"/>
              <a:t>---</a:t>
            </a:r>
          </a:p>
          <a:p>
            <a:r>
              <a:rPr lang="en-US" sz="1800" dirty="0" smtClean="0"/>
              <a:t/>
            </a:r>
          </a:p>
          <a:p>
            <a:r>
              <a:rPr lang="en-US" sz="1800" dirty="0" smtClean="0"/>
              <a:t>### Operational Continuity</a:t>
            </a:r>
          </a:p>
          <a:p>
            <a:r>
              <a:rPr lang="en-US" sz="1800" dirty="0" smtClean="0"/>
              <a:t/>
            </a:r>
          </a:p>
          <a:p>
            <a:r>
              <a:rPr lang="en-US" sz="1800" dirty="0" smtClean="0"/>
              <a:t>CopyAssure enables secure, verified recovery without interrupting production systems. All validation and testing occur in isolated cleanroom environments, ensuring non-disruptive assurance for high-availability workloads and regulated operations. This supports continuous business operations, even during threat response or audit preparation.</a:t>
            </a:r>
          </a:p>
          <a:p>
            <a:r>
              <a:rPr lang="en-US" sz="1800" dirty="0" smtClean="0"/>
              <a:t/>
            </a:r>
          </a:p>
          <a:p>
            <a:r>
              <a:rPr lang="en-US" sz="1800" dirty="0" smtClean="0"/>
              <a:t>---</a:t>
            </a:r>
          </a:p>
          <a:p>
            <a:r>
              <a:rPr lang="en-US" sz="1800" dirty="0" smtClean="0"/>
              <a:t/>
            </a:r>
          </a:p>
          <a:p>
            <a:r>
              <a:rPr lang="en-US" sz="1800" dirty="0" smtClean="0"/>
              <a:t>### Cost Efficiency</a:t>
            </a:r>
          </a:p>
          <a:p>
            <a:r>
              <a:rPr lang="en-US" sz="1800" dirty="0" smtClean="0"/>
              <a:t/>
            </a:r>
          </a:p>
          <a:p>
            <a:r>
              <a:rPr lang="en-US" sz="1800" dirty="0" smtClean="0"/>
              <a:t>CopyAssure helps reduce both direct and hidden costs associated with cyber recovery—including unplanned downtime, manual recovery labour, extended investigation cycles, and potential ransomware-related losses. Automated processes and cleanroom validation reduce operational burden while accelerating time-to-recovery.</a:t>
            </a:r>
          </a:p>
          <a:p>
            <a:r>
              <a:rPr lang="en-US" sz="1800" dirty="0" smtClean="0"/>
              <a:t/>
            </a:r>
          </a:p>
          <a:p>
            <a:r>
              <a:rPr lang="en-US" sz="1800" dirty="0" smtClean="0"/>
              <a:t>---</a:t>
            </a:r>
          </a:p>
          <a:p>
            <a:r>
              <a:rPr lang="en-US" sz="1800" dirty="0" smtClean="0"/>
              <a:t/>
            </a:r>
          </a:p>
          <a:p>
            <a:r>
              <a:rPr lang="en-US" sz="1800" dirty="0" smtClean="0"/>
              <a:t>### Peace of Mind</a:t>
            </a:r>
          </a:p>
          <a:p>
            <a:r>
              <a:rPr lang="en-US" sz="1800" dirty="0" smtClean="0"/>
              <a:t/>
            </a:r>
          </a:p>
          <a:p>
            <a:r>
              <a:rPr lang="en-US" sz="1800" dirty="0" smtClean="0"/>
              <a:t>With immutable storage, automated cleanroom validation, and proven recovery workflows, CopyAssure gives organisations confidence that every restore point is secure, tested, and reliable. This assurance supports both operational resilience and regulatory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https://cloud.ibm.com/catalog/services/celerity-copy-assure-for-powervs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a:t>
            </a:r>
            <a:endParaRPr lang="en-US"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Professional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Expert services for IBM i, AIX &amp; Linux on PowerVS including Migrations, Cyber Resilience, Backups &amp; DR + Performance Optimisation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Expert Power Systems Services for PowerVS and Hybrid Cloud</a:t>
            </a:r>
          </a:p>
          <a:p>
            <a:r>
              <a:rPr lang="en-US" sz="1800" dirty="0" smtClean="0"/>
              <a:t/>
            </a:r>
          </a:p>
          <a:p>
            <a:r>
              <a:rPr lang="en-US" sz="1800" dirty="0" smtClean="0"/>
              <a:t>### Ensure Resilience, Security, and Performance</a:t>
            </a:r>
          </a:p>
          <a:p>
            <a:r>
              <a:rPr lang="en-US" sz="1800" dirty="0" smtClean="0"/>
              <a:t/>
            </a:r>
          </a:p>
          <a:p>
            <a:r>
              <a:rPr lang="en-US" sz="1800" dirty="0" smtClean="0"/>
              <a:t>Expert services for IBM i, AIX, and Linux on Power to ensure critical workloads in PowerVS and hybrid cloud remain resilient, secure, and performant.</a:t>
            </a:r>
          </a:p>
          <a:p>
            <a:r>
              <a:rPr lang="en-US" sz="1800" dirty="0" smtClean="0"/>
              <a:t/>
            </a:r>
          </a:p>
          <a:p>
            <a:r>
              <a:rPr lang="en-US" sz="1800" dirty="0" smtClean="0"/>
              <a:t>---</a:t>
            </a:r>
          </a:p>
          <a:p>
            <a:r>
              <a:rPr lang="en-US" sz="1800" dirty="0" smtClean="0"/>
              <a:t/>
            </a:r>
          </a:p>
          <a:p>
            <a:r>
              <a:rPr lang="en-US" sz="1800" dirty="0" smtClean="0"/>
              <a:t>### Migration to PowerVS</a:t>
            </a:r>
          </a:p>
          <a:p>
            <a:r>
              <a:rPr lang="en-US" sz="1800" dirty="0" smtClean="0"/>
              <a:t/>
            </a:r>
          </a:p>
          <a:p>
            <a:r>
              <a:rPr lang="en-US" sz="1800" dirty="0" smtClean="0"/>
              <a:t>- Full end-to-end workload migrations for IBM i, AIX, and Linux on Power—with minimal downtime.</a:t>
            </a:r>
          </a:p>
          <a:p>
            <a:r>
              <a:rPr lang="en-US" sz="1800" dirty="0" smtClean="0"/>
              <a:t>- Industry-leading replication tools ensure data integrity and seamless cutover without disrupting operations.</a:t>
            </a:r>
          </a:p>
          <a:p>
            <a:r>
              <a:rPr lang="en-US" sz="1800" dirty="0" smtClean="0"/>
              <a:t>- Support for deploying cloud-native applications and AI to IBM i and AIX VMs in PowerVS.</a:t>
            </a:r>
          </a:p>
          <a:p>
            <a:r>
              <a:rPr lang="en-US" sz="1800" dirty="0" smtClean="0"/>
              <a:t>- Modernise data management by moving away from traditional tape and multiple VTL instances.</a:t>
            </a:r>
          </a:p>
          <a:p>
            <a:r>
              <a:rPr lang="en-US" sz="1800" dirty="0" smtClean="0"/>
              <a:t/>
            </a:r>
          </a:p>
          <a:p>
            <a:r>
              <a:rPr lang="en-US" sz="1800" dirty="0" smtClean="0"/>
              <a:t>---</a:t>
            </a:r>
          </a:p>
          <a:p>
            <a:r>
              <a:rPr lang="en-US" sz="1800" dirty="0" smtClean="0"/>
              <a:t/>
            </a:r>
          </a:p>
          <a:p>
            <a:r>
              <a:rPr lang="en-US" sz="1800" dirty="0" smtClean="0"/>
              <a:t>### Disaster Recovery (DR) in the Cloud</a:t>
            </a:r>
          </a:p>
          <a:p>
            <a:r>
              <a:rPr lang="en-US" sz="1800" dirty="0" smtClean="0"/>
              <a:t/>
            </a:r>
          </a:p>
          <a:p>
            <a:r>
              <a:rPr lang="en-US" sz="1800" dirty="0" smtClean="0"/>
              <a:t>- Proven DR strategies for IBM i, AIX, and Linux on Power, tailored to environments of any size.</a:t>
            </a:r>
          </a:p>
          <a:p>
            <a:r>
              <a:rPr lang="en-US" sz="1800" dirty="0" smtClean="0"/>
              <a:t>- DR designs that dynamically scale to match production capacity.</a:t>
            </a:r>
          </a:p>
          <a:p>
            <a:r>
              <a:rPr lang="en-US" sz="1800" dirty="0" smtClean="0"/>
              <a:t>- Testing and validation to ensure DR readiness and reliability.</a:t>
            </a:r>
          </a:p>
          <a:p>
            <a:r>
              <a:rPr lang="en-US" sz="1800" dirty="0" smtClean="0"/>
              <a:t/>
            </a:r>
          </a:p>
          <a:p>
            <a:r>
              <a:rPr lang="en-US" sz="1800" dirty="0" smtClean="0"/>
              <a:t>---</a:t>
            </a:r>
          </a:p>
          <a:p>
            <a:r>
              <a:rPr lang="en-US" sz="1800" dirty="0" smtClean="0"/>
              <a:t/>
            </a:r>
          </a:p>
          <a:p>
            <a:r>
              <a:rPr lang="en-US" sz="1800" dirty="0" smtClean="0"/>
              <a:t>### System Design and Sizing in PowerVS</a:t>
            </a:r>
          </a:p>
          <a:p>
            <a:r>
              <a:rPr lang="en-US" sz="1800" dirty="0" smtClean="0"/>
              <a:t/>
            </a:r>
          </a:p>
          <a:p>
            <a:r>
              <a:rPr lang="en-US" sz="1800" dirty="0" smtClean="0"/>
              <a:t>- Expert resource planning for compute, storage, and network requirements.</a:t>
            </a:r>
          </a:p>
          <a:p>
            <a:r>
              <a:rPr lang="en-US" sz="1800" dirty="0" smtClean="0"/>
              <a:t>- Design includes secure routing, workload optimization, and hybrid or multi-cloud integration.</a:t>
            </a:r>
          </a:p>
          <a:p>
            <a:r>
              <a:rPr lang="en-US" sz="1800" dirty="0" smtClean="0"/>
              <a:t/>
            </a:r>
          </a:p>
          <a:p>
            <a:r>
              <a:rPr lang="en-US" sz="1800" dirty="0" smtClean="0"/>
              <a:t>---</a:t>
            </a:r>
          </a:p>
          <a:p>
            <a:r>
              <a:rPr lang="en-US" sz="1800" dirty="0" smtClean="0"/>
              <a:t/>
            </a:r>
          </a:p>
          <a:p>
            <a:r>
              <a:rPr lang="en-US" sz="1800" dirty="0" smtClean="0"/>
              <a:t>### Data Resilience in the Cloud</a:t>
            </a:r>
          </a:p>
          <a:p>
            <a:r>
              <a:rPr lang="en-US" sz="1800" dirty="0" smtClean="0"/>
              <a:t/>
            </a:r>
          </a:p>
          <a:p>
            <a:r>
              <a:rPr lang="en-US" sz="1800" dirty="0" smtClean="0"/>
              <a:t>- Cloud-based VTL solutions and native storage backups.</a:t>
            </a:r>
          </a:p>
          <a:p>
            <a:r>
              <a:rPr lang="en-US" sz="1800" dirty="0" smtClean="0"/>
              <a:t>- Use of software replication and snapshot technology for layered protection.</a:t>
            </a:r>
          </a:p>
          <a:p>
            <a:r>
              <a:rPr lang="en-US" sz="1800" dirty="0" smtClean="0"/>
              <a:t>- Cross-cloud and hybrid replication options for added resilience.</a:t>
            </a:r>
          </a:p>
          <a:p>
            <a:r>
              <a:rPr lang="en-US" sz="1800" dirty="0" smtClean="0"/>
              <a:t/>
            </a:r>
          </a:p>
          <a:p>
            <a:r>
              <a:rPr lang="en-US" sz="1800" dirty="0" smtClean="0"/>
              <a:t>---</a:t>
            </a:r>
          </a:p>
          <a:p>
            <a:r>
              <a:rPr lang="en-US" sz="1800" dirty="0" smtClean="0"/>
              <a:t/>
            </a:r>
          </a:p>
          <a:p>
            <a:r>
              <a:rPr lang="en-US" sz="1800" dirty="0" smtClean="0"/>
              <a:t>### Ongoing Support and Monitoring</a:t>
            </a:r>
          </a:p>
          <a:p>
            <a:r>
              <a:rPr lang="en-US" sz="1800" dirty="0" smtClean="0"/>
              <a:t/>
            </a:r>
          </a:p>
          <a:p>
            <a:r>
              <a:rPr lang="en-US" sz="1800" dirty="0" smtClean="0"/>
              <a:t>- Proactive monitoring and support for IBM i, AIX, and Linux workloads in PowerVS.</a:t>
            </a:r>
          </a:p>
          <a:p>
            <a:r>
              <a:rPr lang="en-US" sz="1800" dirty="0" smtClean="0"/>
              <a:t>- Ensure continuous system health, performance, and compliance.</a:t>
            </a:r>
          </a:p>
          <a:p>
            <a:r>
              <a:rPr lang="en-US" sz="1800" dirty="0" smtClean="0"/>
              <a:t/>
            </a:r>
          </a:p>
          <a:p>
            <a:r>
              <a:rPr lang="en-US" sz="1800" dirty="0" smtClean="0"/>
              <a:t>---</a:t>
            </a:r>
          </a:p>
          <a:p>
            <a:r>
              <a:rPr lang="en-US" sz="1800" dirty="0" smtClean="0"/>
              <a:t/>
            </a:r>
          </a:p>
          <a:p>
            <a:r>
              <a:rPr lang="en-US" sz="1800" dirty="0" smtClean="0"/>
              <a:t>### Security for IBM Power Workloads in PowerVS</a:t>
            </a:r>
          </a:p>
          <a:p>
            <a:r>
              <a:rPr lang="en-US" sz="1800" dirty="0" smtClean="0"/>
              <a:t/>
            </a:r>
          </a:p>
          <a:p>
            <a:r>
              <a:rPr lang="en-US" sz="1800" dirty="0" smtClean="0"/>
              <a:t>- TLS and certificate management across platforms.</a:t>
            </a:r>
          </a:p>
          <a:p>
            <a:r>
              <a:rPr lang="en-US" sz="1800" dirty="0" smtClean="0"/>
              <a:t>- IBM i exit point controls and hardened remote access.</a:t>
            </a:r>
          </a:p>
          <a:p>
            <a:r>
              <a:rPr lang="en-US" sz="1800" dirty="0" smtClean="0"/>
              <a:t>- OS-level lockdowns and configuration reviews for AIX and Linux.</a:t>
            </a:r>
          </a:p>
          <a:p>
            <a:r>
              <a:rPr lang="en-US" sz="1800" dirty="0" smtClean="0"/>
              <a:t>- Continuous compliance assessments.</a:t>
            </a:r>
          </a:p>
          <a:p>
            <a:r>
              <a:rPr lang="en-US" sz="1800" dirty="0" smtClean="0"/>
              <a:t/>
            </a:r>
          </a:p>
          <a:p>
            <a:r>
              <a:rPr lang="en-US" sz="1800" dirty="0" smtClean="0"/>
              <a:t>---</a:t>
            </a:r>
          </a:p>
          <a:p>
            <a:r>
              <a:rPr lang="en-US" sz="1800" dirty="0" smtClean="0"/>
              <a:t/>
            </a:r>
          </a:p>
          <a:p>
            <a:r>
              <a:rPr lang="en-US" sz="1800" dirty="0" smtClean="0"/>
              <a:t>### SIEM Integration</a:t>
            </a:r>
          </a:p>
          <a:p>
            <a:r>
              <a:rPr lang="en-US" sz="1800" dirty="0" smtClean="0"/>
              <a:t/>
            </a:r>
          </a:p>
          <a:p>
            <a:r>
              <a:rPr lang="en-US" sz="1800" dirty="0" smtClean="0"/>
              <a:t>- Centralised log and event forwarding to your SIEM platform.</a:t>
            </a:r>
          </a:p>
          <a:p>
            <a:r>
              <a:rPr lang="en-US" sz="1800" dirty="0" smtClean="0"/>
              <a:t>- Support for IBM i logs, AIX syslogs, and Linux event streams.</a:t>
            </a:r>
          </a:p>
          <a:p>
            <a:r>
              <a:rPr lang="en-US" sz="1800" dirty="0" smtClean="0"/>
              <a:t>- Integration with cloud or on-prem SIEM, configured and tuned by our SOC experts.</a:t>
            </a:r>
          </a:p>
          <a:p>
            <a:r>
              <a:rPr lang="en-US" sz="1800" dirty="0" smtClean="0"/>
              <a:t/>
            </a:r>
          </a:p>
          <a:p>
            <a:r>
              <a:rPr lang="en-US" sz="1800" dirty="0" smtClean="0"/>
              <a:t>---</a:t>
            </a:r>
          </a:p>
          <a:p>
            <a:r>
              <a:rPr lang="en-US" sz="1800" dirty="0" smtClean="0"/>
              <a:t/>
            </a:r>
          </a:p>
          <a:p>
            <a:r>
              <a:rPr lang="en-US" sz="1800" dirty="0" smtClean="0"/>
              <a:t>### Scoping Our Professional Services</a:t>
            </a:r>
          </a:p>
          <a:p>
            <a:r>
              <a:rPr lang="en-US" sz="1800" dirty="0" smtClean="0"/>
              <a:t/>
            </a:r>
          </a:p>
          <a:p>
            <a:r>
              <a:rPr lang="en-US" sz="1800" dirty="0" smtClean="0"/>
              <a:t>- Engagements begin with a structured discovery phase to define scope and objectives.</a:t>
            </a:r>
          </a:p>
          <a:p>
            <a:r>
              <a:rPr lang="en-US" sz="1800" dirty="0" smtClean="0"/>
              <a:t>- All services are delivered remotely via secure connections.</a:t>
            </a:r>
          </a:p>
          <a:p>
            <a:r>
              <a:rPr lang="en-US" sz="1800" dirty="0" smtClean="0"/>
              <a:t>- Regular communication and reporting ensure project visibility and success.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https://cloud.ibm.com/catalog/services/celerity-professional-services-for-powervs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31</a:t>
            </a:r>
            <a:endParaRPr lang="en-US"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Check-a-roo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Cryptocurrency risk analysis and compliance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provide risk analysis for cryptocurrency addresses so you can be proactive about choosing which entities you transact with.  Quickly get a grade from A to F on a cryptocurrency address of interest and make your business decisions quickly.</a:t>
            </a:r>
          </a:p>
          <a:p>
            <a:r>
              <a:rPr lang="en-US" sz="1800" dirty="0" smtClean="0"/>
              <a:t/>
            </a:r>
          </a:p>
          <a:p>
            <a:r>
              <a:rPr lang="en-US" sz="1800" dirty="0" smtClean="0"/>
              <a:t>We are behavior-based not KYC-based, as our AI algorithms combine on-chain and off-chain intelligence with blockchain analysis. </a:t>
            </a:r>
          </a:p>
          <a:p>
            <a:r>
              <a:rPr lang="en-US" sz="1800" dirty="0" smtClean="0"/>
              <a:t/>
            </a:r>
          </a:p>
          <a:p>
            <a:r>
              <a:rPr lang="en-US" sz="1800" dirty="0" smtClean="0"/>
              <a:t>This product is the API version of our visual Ledger Navigator product (https://www.blockpliance.com/services/tokenomics).</a:t>
            </a:r>
          </a:p>
          <a:p>
            <a:r>
              <a:rPr lang="en-US" sz="1800" dirty="0" smtClean="0"/>
              <a:t/>
            </a:r>
          </a:p>
          <a:p>
            <a:r>
              <a:rPr lang="en-US" sz="1800" dirty="0" smtClean="0"/>
              <a:t>Our algorithm analyzes for 30 categories of risk including money laundering, human trafficking, CSAM, terrorist financing, ransomware, scams and other criminal activity.</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Blockpliance,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https://cloud.ibm.com/catalog/services/blockpliance-check-a-roo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32</a:t>
            </a:r>
            <a:endParaRPr lang="en-US"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Citrix NetScaler VPX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Application delivery controller from vendor Citrix with complete administrative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Citrix NetScaler VPX is an industry-leading application delivery controller that enables seamless delivery of business applications - to any device and location – with superior layer 4-7 load balancing, advanced application optimization and unmatched security. It can be used for local load balancing of traffic among servers within a single data center and also global load balancing of traffic among servers spread across multiple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https://cloud.ibm.com/catalog/infrastructure/CITRIX_NETSCALER_VPX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33</a:t>
            </a:r>
            <a:endParaRPr lang="en-US"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Claira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Hire agents, power people. Competency AI advisor that maps your workforce, then assigns agents to roles, tasks and people.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Claira is your talent expert, helping you hire AI, hire humans and build a collaborative workforce. Using competencies, Claira creates profiles for agents and people and matches them to roles, projects or tasks - streamlining operations, cutting costs and driving productivity.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CLAIRA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https://cloud.ibm.com/catalog/services/claira-technologies-inc-claira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34</a:t>
            </a:r>
            <a:endParaRPr lang="en-US"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Client 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connect to your IBM Cloud resources from anywhere through a client-to-site VPN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Client VPN for VPC provides an open-source compatible client-to-site VPN solution that allows users to connect to IBM Cloud resources through secure, encrypted connections.  When your users are working remotely, traveling or at a location without a site-to-site VPN connection, they can use an OpenVPN client to connect to VPN servers on your IBM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35</a:t>
            </a:r>
            <a:endParaRPr lang="en-US"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fast and flexible backup solution that is managed by IBM Cloud and provides capacity options to scale perfectly with your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automated agent-based multi-tenant backup system, that provides users with a method to back up data between servers in one or more data centers on the IBM Cloud. IBM Cloud Backup is an enterprise-level backup storage and disaster recovery solution that is available for local access across globally dispersed data centers. With IBM Cloud Backup, you can add cloud-based backup to any physical, virtual, or hybrid server environment, leverage system image and granular recovery options and restore capabilities for dissimilar hardware, and schedule backups and retention schemes to follow custom timetables or employ the daily, or weekly preconfigured schedules as needed. Backups can target full systems, specific directories, or even individual files, and will incorporate block-level change processing, data deduplication, and intelligent on-the-fly compression, and employ point and click downed-system restoration, from central management and administration via a very intuitive web-based utility from anywhere in the world. With end-to-end encryption that is enforced for IBM Cloud Backup, your data is always secure – from source to vault, and can scale as needed, to satisfy all of your backup workload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36</a:t>
            </a:r>
            <a:endParaRPr lang="en-US"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the ability to schedule VPC block storage snapshot backups and manage retention through backup policies.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Backup for VPC is an enterprise-level backup solution that automates creation and retention of your VPC block storage volumes. This service lets you set a scheduled backup of your block storage volumes and snapshots created from those volumes.</a:t>
            </a:r>
          </a:p>
          <a:p>
            <a:r>
              <a:rPr lang="en-US" sz="1800" dirty="0" smtClean="0"/>
              <a:t/>
            </a:r>
          </a:p>
          <a:p>
            <a:r>
              <a:rPr lang="en-US" sz="1800" dirty="0" smtClean="0"/>
              <a:t>When a backup is triggered, it creates a new snapshot of the volume contents. A snapshot is a point-in-time copy of your block storage volume. The entire contents of the volume are copied and retained. Subsequent snapshots will capture the incremental changes from the previous snapshots.</a:t>
            </a:r>
          </a:p>
          <a:p>
            <a:r>
              <a:rPr lang="en-US" sz="1800" dirty="0" smtClean="0"/>
              <a:t/>
            </a:r>
          </a:p>
          <a:p>
            <a:r>
              <a:rPr lang="en-US" sz="1800" dirty="0" smtClean="0"/>
              <a:t>#### Pricing</a:t>
            </a:r>
          </a:p>
          <a:p>
            <a:r>
              <a:rPr lang="en-US" sz="1800" dirty="0" smtClean="0"/>
              <a:t/>
            </a:r>
          </a:p>
          <a:p>
            <a:r>
              <a:rPr lang="en-US" sz="1800" dirty="0" smtClean="0"/>
              <a:t>You will be charged for the storage capacity used for each of your backups. To estimate pricing while you create a backup policy, use the "Add to estimate" button on the Create tab. For more information, see the [Backup service documentation](/docs/vpc?topic=vpc-backup-service-about).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https://cloud.ibm.com/catalog/services/is.backup-policy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37</a:t>
            </a:r>
            <a:endParaRPr lang="en-US"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HSM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keys and secrets in a dedicated hardware security module.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hardware security module (HSM) is a dedicated crypto processor designed for the protection of the crypto key life cycle. HSMs act as trust anchors that protect the cryptographic infrastructure of some of the most security-conscious organizations in the world by securely managing, processing, and storing cryptographic keys inside a hardened, tamper-resistant device. Cloud HSM is a FIPS 140-2 Level 3 validated, single-tenant device available around the world where you need it most.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https://cloud.ibm.com/catalog/infrastructure/hardware-security-module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38</a:t>
            </a:r>
            <a:endParaRPr lang="en-US"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Load Balancer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service offers variety of application delivery features such as layer-4 load balancing of TCP based applications, periodic checking of application server health, SSL offload, intuitive graphical interface, and built-in high reliability. The service is charged as per its actual consumption - per the total number of hours its used and the total amount of data it has processed. Public outbound bandwidth charges will be extra.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https://cloud.ibm.com/catalog/infrastructure/ibm-cloud-load-balancer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39</a:t>
            </a:r>
            <a:endParaRPr lang="en-US"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Logs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log analysis and management for rapid issue resolution and proactively avoid downtime.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Logs turns log data into actionable insights, reducing operational costs and boosting system reliability. Fully integrated with IBM Cloud, IBM Cloud Logs allows quick issue detection, performance optimization, and ensures strong security compliance without traditional log indexing overhead.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https://cloud.ibm.com/catalog/services/logs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40</a:t>
            </a:r>
            <a:endParaRPr lang="en-US"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Monitoring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Offers visibility into the performance and health of your infrastructure and apps, with in-depth troubleshooting and alerting.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Monitoring is a managed enterprise grade monitoring service that provides operational visibility into the performance and health of applications, services and infrastructure. It offers administrators, DevOps teams and developers full stack telemetry with advanced features to monitor and troubleshoot, define alerts, and design custom dashboards.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https://cloud.ibm.com/catalog/services/sysdig-monitor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41</a:t>
            </a:r>
            <a:endParaRPr lang="en-US"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Native Storage and Data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Robin Cloud Native Storage and Data Service is a high-performance Storage and Data Management solution for your Stateful Applications on IBM Cloud IKS.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Robin Cloud Native Storage and Data Service brings high performance storage and application-aware data management to Kubernetes. It is a IBM certified operator that installs natively on IKS and OpenShift and delivers block and file storage for stateful applications such as databases, data analytics, and AI/ML applications. Robin CNS automates storage and data management operations on OpenShift and provides a simple API for developers and DevOps teams so that they can easily manage stateful applications without having to become storage experts</a:t>
            </a:r>
          </a:p>
          <a:p>
            <a:r>
              <a:rPr lang="en-US" sz="1800" dirty="0" smtClean="0"/>
              <a:t>&amp;nbsp;</a:t>
            </a:r>
          </a:p>
          <a:p>
            <a:r>
              <a:rPr lang="en-US" sz="1800" dirty="0" smtClean="0"/>
              <a:t>&amp;nbsp;</a:t>
            </a:r>
          </a:p>
          <a:p>
            <a:r>
              <a:rPr lang="en-US" sz="1800" dirty="0" smtClean="0"/>
              <a:t>GETTING SUPPORT</a:t>
            </a:r>
          </a:p>
          <a:p>
            <a:r>
              <a:rPr lang="en-US" sz="1800" dirty="0" smtClean="0"/>
              <a:t>This product is provided and supported by Robin.io. Robin support is available 24x7x365. Please reach out to Robin on Slack (slack.robin.io) for immediate assistance. Alternatively you can contact Robin support by emailing support@robin.com. Include a contact information and any details you can provide on the issue. Please include severity of the issue in the subject line. Robin will reply back within 24 hours.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Robin.io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https://cloud.ibm.com/catalog/services/robin-storage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42</a:t>
            </a:r>
            <a:endParaRPr lang="en-US"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Developer enabled data storage for cloud applications integrated with IBM Cloud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Object Storage is a highly scalable cloud storage service, designed for high durability, resiliency and security. Store, manage and access your data via our self-service portal and RESTful APIs. Connect applications directly to Cloud Object Storage use other IBM Cloud Services with your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https://cloud.ibm.com/catalog/services/cloud-object-storage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43</a:t>
            </a:r>
            <a:endParaRPr lang="en-US"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Data storage for backup, archive, regulatory data and cloud infrastructure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Object storage is ideal for cost-effectively storing large volumes of unstructured data with durability, security, availability and reliability. Store content for your analytics, IoT, social, cognitive and mobile workloads, or for archiving and backup. Store and access your unstructured data via our self-service portal and APIs.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https://cloud.ibm.com/catalog/infrastructure/cloud-object-storage-infrastructure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44</a:t>
            </a:r>
            <a:endParaRPr lang="en-US"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Platform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Professional services to support cloud platform operations and enable customers to build and optimise custom software solutions.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Platform Professional Services offers expert support to help organizations leverage cloud platforms effectively. Our services include platform setup, optimization, software development, and CI/CD pipeline implementation. Whether you need help deploying OpenShift clusters, scaling workloads, or building tailored software solutions, our team delivers results aligned with your business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Lyticly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https://cloud.ibm.com/catalog/services/cloud-platform-professional-services-lyticly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45</a:t>
            </a:r>
            <a:endParaRPr lang="en-US"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Reservations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Save up to 60% by reserving capacity in advance on IBM Cloud Virtual Servers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IBM’s next-generation public cloud infrastructure, IBM Cloud VPC (virtual private cloud), offers customers up to a 60% discount through IBM Cloud Reservations pricing – now available on IBM Cloud Virtual Servers for VPC. Customers can create 1-year and 3-year capacity reservations at significantly lower prices when compared to current, on-demand prices inside IBM Cloud VPC. The freedom to choose between multiple payment options when building high-performance clouds is here.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https://cloud.ibm.com/catalog/services/is.reservation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46</a:t>
            </a:r>
            <a:endParaRPr lang="en-US"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Secure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workloads and simplify compliance using IBM Cloud Secure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workloads and simplify compliance using IBM Cloud Secure Virtualization.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47</a:t>
            </a:r>
            <a:endParaRPr lang="en-US"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scalable JSON document database for web, mobile, IoT, and serverless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Cloudant is a fully managed JSON document database that offers independent serverless scaling of provisioned throughput capacity and storage. Cloudant is compatible with Apache CouchDB and accessible through a simple to use HTTPS API for web, mobile, and IoT applications.  Cloudant is SOC2 and ISO 27001 compliant with HIPAA readiness optional for Dedicated Hardware environments. Cloudant Standard plan instances come with a 99.99% SLA. All data is encrypted at rest and over the wire. Cloudant JSON documents are stored in triplicate across three separate availability zones for in-region HA/DR in regions that support AZ's. Any Cloudant instance deployed from the Frankfurt region/location will be in an EU-managed environment. See https://ibm.com/cloud/cloudant, or select View docs from the Actions menu for more details. Use the new Standard on Transaction Engine plan which offers cheaper storage and query costs, strongly consistent reads, scalable and consistent global secondary indexes, elimination of in region document conflicts, and additional in database encryption of data values.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https://cloud.ibm.com/catalog/services/cloudantnosqldb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48</a:t>
            </a:r>
            <a:endParaRPr lang="en-US"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Cloudsway CDN Pro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Cloudsway CDN is a new generation of content delivery platform, which can provide users with programmable CDN interactive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1.Programmable Delivery: Nginx based programmable delivery for rapid debugging and release under complex requirements. New configuration interface designed for simplicity and ease of use, reliably supporting any complex business logic. Improved configuration version management can easily embedded in enterprise DevOps.</a:t>
            </a:r>
          </a:p>
          <a:p>
            <a:r>
              <a:rPr lang="en-US" sz="1800" dirty="0" smtClean="0"/>
              <a:t>2.Secure and Reliable: Enabling 4 layer and 7 layer DDoS defense mechanisms, while extending support for high-performance Web application firewalls. </a:t>
            </a:r>
          </a:p>
          <a:p>
            <a:r>
              <a:rPr lang="en-US" sz="1800" dirty="0" smtClean="0"/>
              <a:t>Reject suspicious packets and forward secure packets back to the source site based on real-time analytics.</a:t>
            </a:r>
          </a:p>
          <a:p>
            <a:r>
              <a:rPr lang="en-US" sz="1800" dirty="0" smtClean="0"/>
              <a:t>3.Excellent Performance: Accurate intelligent scheduling system based on real-time detection and Wangsu's proprietary private high-speed return to source protocol comprehensively improve the performance of edge access and return to source connection.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HONGKONG CLOUDSWAY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https://cloud.ibm.com/catalog/services/cloudsway-cdn-global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49</a:t>
            </a:r>
            <a:endParaRPr lang="en-US"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Cluster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Cluster Network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cluster network is a collection of interconnected systems working together and acting as a single entity. This combined grouping of systems allows for a high level of processing power for very complicated computations, primarily AI model training. IBM Cluster Networks use the NVIDIA H100 instance profile, which supports up to 15 VNI and vNICs with full network capabilities, 1.5 TB of memory, and 152 vCPUs running with the 8474C processor.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https://cloud.ibm.com/catalog/services/is.cluster-network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50</a:t>
            </a:r>
            <a:endParaRPr lang="en-US"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Code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your application, batch job, or container on a managed serverless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your container, source-code, application, or batch job on a fully managed runtime. Go live in seconds and pay only for what you use. Scale up and down – even to zero.</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51</a:t>
            </a:r>
            <a:endParaRPr lang="en-US"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Company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Performs in-depth company analysis. Ideal for investors, analysts, business researchers seeking a systematic &amp;  complete overview.</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multi-stage company research agent is a specialized AI-driven solution that delivers deep, structured insights into any company. Designed to support professionals in investment, strategy, consulting, and business development, the agent follows a systematic research process to ensure no critical area is overlooked.</a:t>
            </a:r>
          </a:p>
          <a:p>
            <a:r>
              <a:rPr lang="en-US" sz="1800" dirty="0" smtClean="0"/>
              <a:t/>
            </a:r>
          </a:p>
          <a:p>
            <a:r>
              <a:rPr lang="en-US" sz="1800" dirty="0" smtClean="0"/>
              <a:t>It analyzes a company across multiple dimensions—including business operations, financial health, competitive positioning, market presence, leadership, innovation, and risks—providing a complete picture of the organization's strengths, challenges, and strategic direction.</a:t>
            </a:r>
          </a:p>
          <a:p>
            <a:r>
              <a:rPr lang="en-US" sz="1800" dirty="0" smtClean="0"/>
              <a:t/>
            </a:r>
          </a:p>
          <a:p>
            <a:r>
              <a:rPr lang="en-US" sz="1800" dirty="0" smtClean="0"/>
              <a:t>The agent’s methodology ensures that the research output is consistent, comprehensive, and aligned with industry standards—making it ideal for due diligence, enterprise evaluations, and executive decision-making.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Lyzr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https://cloud.ibm.com/catalog/services/lyzr-company-research-agent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52</a:t>
            </a:r>
            <a:endParaRPr lang="en-US"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Compliance and Customer Experience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customer and employee communication channels to automate customer experience, and compliance &amp; conduct risk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Cognitive View monitors customer and employee interactions to help firms meet compliance, reduce conduct risk, and improve customer experience. It proactively detects security, data loss, and compliance risks across all communication channels, enabling firms to meet compliance, reduce conduct risk and improve customer experience.</a:t>
            </a:r>
          </a:p>
          <a:p>
            <a:r>
              <a:rPr lang="en-US" sz="1800" dirty="0" smtClean="0"/>
              <a:t/>
            </a:r>
          </a:p>
          <a:p>
            <a:r>
              <a:rPr lang="en-US" sz="1800" dirty="0" smtClean="0"/>
              <a:t/>
            </a:r>
          </a:p>
          <a:p>
            <a:r>
              <a:rPr lang="en-US" sz="1800" dirty="0" smtClean="0"/>
              <a:t>Compliance &amp; Conduct risk</a:t>
            </a:r>
          </a:p>
          <a:p>
            <a:r>
              <a:rPr lang="en-US" sz="1800" dirty="0" smtClean="0"/>
              <a:t>- Voice, video, and text analytics to automate workforce monitoring</a:t>
            </a:r>
          </a:p>
          <a:p>
            <a:r>
              <a:rPr lang="en-US" sz="1800" dirty="0" smtClean="0"/>
              <a:t>- Customer conversation analytics to ensure there are no compliance and conduct risk</a:t>
            </a:r>
          </a:p>
          <a:p>
            <a:r>
              <a:rPr lang="en-US" sz="1800" dirty="0" smtClean="0"/>
              <a:t>- Monitors employee conversations for lousy behavior patterns, including racism, sexual harassment, stalking, and bullying, to end toxic work culture.</a:t>
            </a:r>
          </a:p>
          <a:p>
            <a:r>
              <a:rPr lang="en-US" sz="1800" dirty="0" smtClean="0"/>
              <a:t/>
            </a:r>
          </a:p>
          <a:p>
            <a:r>
              <a:rPr lang="en-US" sz="1800" dirty="0" smtClean="0"/>
              <a:t>Customer Experience &amp; Complaints</a:t>
            </a:r>
          </a:p>
          <a:p>
            <a:r>
              <a:rPr lang="en-US" sz="1800" dirty="0" smtClean="0"/>
              <a:t>- Sentiment &amp; tone analysis</a:t>
            </a:r>
          </a:p>
          <a:p>
            <a:r>
              <a:rPr lang="en-US" sz="1800" dirty="0" smtClean="0"/>
              <a:t>- Predict customer concern &amp; churn early and prevent complaints escalation</a:t>
            </a:r>
          </a:p>
          <a:p>
            <a:r>
              <a:rPr lang="en-US" sz="1800" dirty="0" smtClean="0"/>
              <a:t/>
            </a:r>
          </a:p>
          <a:p>
            <a:r>
              <a:rPr lang="en-US" sz="1800" dirty="0" smtClean="0"/>
              <a:t>Complaint Insights</a:t>
            </a:r>
          </a:p>
          <a:p>
            <a:r>
              <a:rPr lang="en-US" sz="1800" dirty="0" smtClean="0"/>
              <a:t>- Industry-wide complaint reference data to support dispute resolution professionals in helping of faster decission making process</a:t>
            </a:r>
          </a:p>
          <a:p>
            <a:r>
              <a:rPr lang="en-US" sz="1800" dirty="0" smtClean="0"/>
              <a:t>- Learn more about past and emerging complaint patterns, top compliance issues, and industry trends</a:t>
            </a:r>
          </a:p>
          <a:p>
            <a:r>
              <a:rPr lang="en-US" sz="1800" dirty="0" smtClean="0"/>
              <a:t>- Compare &amp; benchmark complaints &amp; process gaps against the industry peers or product lines to identify systemic risks, improvements made, and opportunities for improvement.</a:t>
            </a:r>
          </a:p>
          <a:p>
            <a:r>
              <a:rPr lang="en-US" sz="1800" dirty="0" smtClean="0"/>
              <a:t/>
            </a:r>
          </a:p>
          <a:p>
            <a:r>
              <a:rPr lang="en-US" sz="1800" dirty="0" smtClean="0"/>
              <a:t/>
            </a:r>
          </a:p>
          <a:p>
            <a:r>
              <a:rPr lang="en-US" sz="1800" dirty="0" smtClean="0"/>
              <a:t>In addition, Cognitive View offers custom pricing for advanced modules like compliance, conduct risk, and video analytics which is not mentioned here. Please connect with mailto:sales@cognitiveview.com to discuss your requirements.</a:t>
            </a:r>
          </a:p>
          <a:p>
            <a:r>
              <a:rPr lang="en-US" sz="1800" dirty="0" smtClean="0"/>
              <a:t/>
            </a:r>
          </a:p>
          <a:p>
            <a:r>
              <a:rPr lang="en-US" sz="1800" dirty="0" smtClean="0"/>
              <a:t>Support Information:</a:t>
            </a:r>
          </a:p>
          <a:p>
            <a:r>
              <a:rPr lang="en-US" sz="1800" dirty="0" smtClean="0"/>
              <a:t/>
            </a:r>
          </a:p>
          <a:p>
            <a:r>
              <a:rPr lang="en-US" sz="1800" dirty="0" smtClean="0"/>
              <a:t>Customers can submit issues directly to our support team from our website: https://help.cognitiveview.com (24/7/365). The site allows customer to submit an issue report or leave a message through the chat support. Please include as much detail as possible on the issue. Online support is available during standard business hours (M-F 10:30 AM -9 PM AEST). Off-hours support is finite and responses may be delayed.</a:t>
            </a:r>
          </a:p>
          <a:p>
            <a:r>
              <a:rPr lang="en-US" sz="1800" dirty="0" smtClean="0"/>
              <a:t/>
            </a:r>
          </a:p>
          <a:p>
            <a:r>
              <a:rPr lang="en-US" sz="1800" dirty="0" smtClean="0"/>
              <a:t>To submit additional information, include attachments/screenshots, or escalate an urgent issue, please e-mail us at support@cognitiveview.com.</a:t>
            </a:r>
          </a:p>
          <a:p>
            <a:r>
              <a:rPr lang="en-US" sz="1800" dirty="0" smtClean="0"/>
              <a:t/>
            </a:r>
          </a:p>
          <a:p>
            <a:r>
              <a:rPr lang="en-US" sz="1800" dirty="0" smtClean="0"/>
              <a:t>A member of our team will respond immediately upon receipt. For further information please visit: https://www.cognitiveview.com/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Cognitive View</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https://cloud.ibm.com/catalog/services/3p-cognitiveview-xaas-cognitiveview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53</a:t>
            </a:r>
            <a:endParaRPr lang="en-US"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Registry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store container images and monitor their vulnerabilities in a private registry.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Docker container images in a fully managed private registry. Push private images into this registry to run them in IBM Cloud Kubernetes Service and other runtime environments. Images are checked for security issues, so that you can make informed decisions about your deployments.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https://cloud.ibm.com/catalog/services/container-registry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54</a:t>
            </a:r>
            <a:endParaRPr lang="en-US"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Assess, design, implement and manage Container Security solutions that will help secure your entire DevSecOps processes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Integrate security across the software development lifecycle (SDLC) and help bring Security Professionals and DevOps together to transform into a consolidated set of practices called DevSecOps, for rapid and secure software development and deployment. </a:t>
            </a:r>
          </a:p>
          <a:p>
            <a:r>
              <a:rPr lang="en-US" sz="1800" dirty="0" smtClean="0"/>
              <a:t/>
            </a:r>
          </a:p>
          <a:p>
            <a:r>
              <a:rPr lang="en-US" sz="1800" dirty="0" smtClean="0"/>
              <a:t>Our security services include assessment, solution design, implementation and managed security services for all phases of container lifecycle, backed by expertise and technologies to automate security processes within the development pipeline. </a:t>
            </a:r>
          </a:p>
          <a:p>
            <a:r>
              <a:rPr lang="en-US" sz="1800" dirty="0" smtClean="0"/>
              <a:t/>
            </a:r>
          </a:p>
          <a:p>
            <a:r>
              <a:rPr lang="en-US" sz="1800" dirty="0" smtClean="0"/>
              <a:t>As a trusted security advisor and partner, we can help enterprises overcome the security challenges of all major container risk areas.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https://cloud.ibm.com/catalog/infrastructure/container-consulting-referral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55</a:t>
            </a:r>
            <a:endParaRPr lang="en-US"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Continuous Delivery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Support DevOps best practices by using Git, issue tracking, source code vulnerability analysis, and CI/CD pipelines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https://cloud.ibm.com/catalog/services/continuous-delivery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56</a:t>
            </a:r>
            <a:endParaRPr lang="en-US"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Converlistics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Observability, component traceability, and reuse for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Converlistics provides Enterprise Observability, component traceability, and reuse for chatbots.  Our end-to end platform allows teams to manage, understand, iterate, and enhance the Virtual Agents &amp; ChatBots that run your business.</a:t>
            </a:r>
          </a:p>
          <a:p>
            <a:r>
              <a:rPr lang="en-US" sz="1800" dirty="0" smtClean="0"/>
              <a:t/>
            </a:r>
          </a:p>
          <a:p>
            <a:r>
              <a:rPr lang="en-US" sz="1800" dirty="0" smtClean="0"/>
              <a:t/>
            </a:r>
          </a:p>
          <a:p>
            <a:r>
              <a:rPr lang="en-US" sz="1800" dirty="0" smtClean="0"/>
              <a:t>We support Google Dialogflow CX, Kore.ai, Watson Assistant Dialog, and AWS Lex v2. Component merge export functions are currently limited to AWS Lex v2 and Watson Assistant Dialog. EG: You may merge Kore.ai and DialogflowCX components, but any export of the merge must be to AWS Lex V2 or IBM Watson Dialog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https://cloud.ibm.com/catalog/services/converlistics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57</a:t>
            </a:r>
            <a:endParaRPr lang="en-US"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ConvertIO Workload Migration and Conversion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 and conversion to Cloud VPC performed at scale using the conversion/migration ConvertIO engine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the ConvertIO product platform, wrapped in services, targets VMware customers seeking to modernize and embrace IBM cloud-native VSI workloads running in IBM Cloud VPC.</a:t>
            </a:r>
          </a:p>
          <a:p>
            <a:r>
              <a:rPr lang="en-US" sz="1800" dirty="0" smtClean="0"/>
              <a:t>While PrimaryIO offers SaaS products in support of the Cloud Journey targeting data resiliency, this catalog offering encompasses the scoping, sizing, migration and conversion of VMware estates into IBM Cloud VPC domiciled VSI workloads.  This option is targeting enterprises looking to reduce their VMware VCF estate and become more cloud-native.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this catalog entry.</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58</a:t>
            </a:r>
            <a:endParaRPr lang="en-US"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CORIZANCE AML Screening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AML screening against global sanctions and PEP lists to help detect financial crime and ensure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Corizance AML Screening is a cloud-based compliance solution that enables organizations to automatically screen individuals and entities against global sanctions lists, politically exposed persons (PEP), and watchlists. Designed to support anti-money laundering (AML) obligations, this service helps financial institutions, fintechs, and regulated businesses detect potential risks and prevent financial crime.</a:t>
            </a:r>
          </a:p>
          <a:p>
            <a:r>
              <a:rPr lang="en-US" sz="1800" dirty="0" smtClean="0"/>
              <a:t/>
            </a:r>
          </a:p>
          <a:p>
            <a:r>
              <a:rPr lang="en-US" sz="1800" dirty="0" smtClean="0"/>
              <a:t>The platform supports bulk data uploads, API-based integration, and real-time search, offering flexibility for both batch and interactive workflows. With robust matching algorithms, fuzzy logic, and regular updates of sanctions data from official sources (OFAC, UN, EU, UK, Australia, SEBI), Corizance AML Screening ensures high accuracy and comprehensive coverage.</a:t>
            </a:r>
          </a:p>
          <a:p>
            <a:r>
              <a:rPr lang="en-US" sz="1800" dirty="0" smtClean="0"/>
              <a:t/>
            </a:r>
          </a:p>
          <a:p>
            <a:r>
              <a:rPr lang="en-US" sz="1800" dirty="0" smtClean="0"/>
              <a:t>Key features include:</a:t>
            </a:r>
          </a:p>
          <a:p>
            <a:r>
              <a:rPr lang="en-US" sz="1800" dirty="0" smtClean="0"/>
              <a:t/>
            </a:r>
          </a:p>
          <a:p>
            <a:r>
              <a:rPr lang="en-US" sz="1800" dirty="0" smtClean="0"/>
              <a:t>1.Sanctions and PEP screening using structured and unstructured data</a:t>
            </a:r>
          </a:p>
          <a:p>
            <a:r>
              <a:rPr lang="en-US" sz="1800" dirty="0" smtClean="0"/>
              <a:t/>
            </a:r>
          </a:p>
          <a:p>
            <a:r>
              <a:rPr lang="en-US" sz="1800" dirty="0" smtClean="0"/>
              <a:t>2.Support for CSV, Excel, form-based, and JSON input</a:t>
            </a:r>
          </a:p>
          <a:p>
            <a:r>
              <a:rPr lang="en-US" sz="1800" dirty="0" smtClean="0"/>
              <a:t/>
            </a:r>
          </a:p>
          <a:p>
            <a:r>
              <a:rPr lang="en-US" sz="1800" dirty="0" smtClean="0"/>
              <a:t>3.Real-time and bulk screening capabilities</a:t>
            </a:r>
          </a:p>
          <a:p>
            <a:r>
              <a:rPr lang="en-US" sz="1800" dirty="0" smtClean="0"/>
              <a:t/>
            </a:r>
          </a:p>
          <a:p>
            <a:r>
              <a:rPr lang="en-US" sz="1800" dirty="0" smtClean="0"/>
              <a:t>4.High-performance matching with fuzzy logic</a:t>
            </a:r>
          </a:p>
          <a:p>
            <a:r>
              <a:rPr lang="en-US" sz="1800" dirty="0" smtClean="0"/>
              <a:t/>
            </a:r>
          </a:p>
          <a:p>
            <a:r>
              <a:rPr lang="en-US" sz="1800" dirty="0" smtClean="0"/>
              <a:t>Whether you’re onboarding new customers, conducting periodic reviews, or ensuring continuous compliance, Corizance AML Screening provides a scalable and efficient solution to meet your regulatory requirements.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CORIZANCE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https://cloud.ibm.com/catalog/services/corizance-aml-screening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59</a:t>
            </a:r>
            <a:endParaRPr lang="en-US"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CrushBank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CrushBank uses WatsonX to transform IT support, enabling faster resolutions, fewer escalations, and unparalleled analytics.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CrushBank Technology created the award-winning AI system that uses trustworthy AI from IBM watsonX to transform IT support, enabling faster resolutions, fewer escalations, and unparalleled analytics. CrushBank creates Smart Data for your business filling critical gaps in support information, leading to enhanced client relations and better outcomes.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CrushBank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https://cloud.ibm.com/catalog/services/crushbank-crushbank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60</a:t>
            </a:r>
            <a:endParaRPr lang="en-US"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CtrlAgent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AI-native platform to build, deploy &amp; govern intelligent agents that automate enterprise processes securely.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CtrlAgent.ai is an AI-native enterprise transformation platform that empowers large organizations to build, deploy, and govern intelligent digital agents (or “digital workers”) at scale. With CtrlAgent, businesses can redesign core operations — from customer support and HR to IT and financial services — by automating processes with human-level conversation, cross-agent collaboration, and built-in security &amp; compliance.</a:t>
            </a:r>
          </a:p>
          <a:p>
            <a:r>
              <a:rPr lang="en-US" sz="1800" dirty="0" smtClean="0"/>
              <a:t/>
            </a:r>
          </a:p>
          <a:p>
            <a:r>
              <a:rPr lang="en-US" sz="1800" dirty="0" smtClean="0"/>
              <a:t/>
            </a:r>
          </a:p>
          <a:p>
            <a:r>
              <a:rPr lang="en-US" sz="1800" dirty="0" smtClean="0"/>
              <a:t/>
            </a:r>
          </a:p>
          <a:p>
            <a:r>
              <a:rPr lang="en-US" sz="1800" dirty="0" smtClean="0"/>
              <a:t/>
            </a:r>
          </a:p>
          <a:p>
            <a:r>
              <a:rPr lang="en-US" sz="1800" dirty="0" smtClean="0"/>
              <a:t>Rather than having isolated bots or fixed workflows, CtrlAgent gives you:</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Seamless orchestration &amp; collaboration across multiple agents and systems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Customizable business rules via a flexible studio to enforce deterministic outcomes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Lifelike multi-channel engagement (voice, web, mobile) in 130+ languages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Enterprise-grade governance &amp; compliance built-in</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Actionable monitoring and insights to continuously optimize performance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With CtrlAgent, you avoid long, costly AI projects and instead get a unified, secure, scalable “autonomous AI factory” — turning your enterprise into a self-driving, insight-rich system that delivers speed, precision, and ROI across verticals like banking, insurance, telecom, healthcare, HR, and more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CtrlAgent,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https://cloud.ibm.com/catalog/services/ctrlagent-inc-ctrlagent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61</a:t>
            </a:r>
            <a:endParaRPr lang="en-US"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Custom Migrations DR and Management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Custom Multi-Cloud Migrations and Disaster Recovery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and accelerated way of taking your current environment, be it on-premises or cloud, and backing it or migrating  as well as managing it post-migration to your desired IBM cloud account and region. </a:t>
            </a:r>
          </a:p>
          <a:p>
            <a:r>
              <a:rPr lang="en-US" sz="1800" dirty="0" smtClean="0"/>
              <a:t/>
            </a:r>
          </a:p>
          <a:p>
            <a:r>
              <a:rPr lang="en-US" sz="1800" dirty="0" smtClean="0"/>
              <a:t/>
            </a:r>
          </a:p>
          <a:p>
            <a:r>
              <a:rPr lang="en-US" sz="1800" dirty="0" smtClean="0"/>
              <a:t>With this offering we can backup, restore, migrate, and manage:</a:t>
            </a:r>
          </a:p>
          <a:p>
            <a:r>
              <a:rPr lang="en-US" sz="1800" dirty="0" smtClean="0"/>
              <a:t/>
            </a:r>
          </a:p>
          <a:p>
            <a:r>
              <a:rPr lang="en-US" sz="1800" dirty="0" smtClean="0"/>
              <a:t>- IBM Cloud VSIs &amp; Data</a:t>
            </a:r>
          </a:p>
          <a:p>
            <a:r>
              <a:rPr lang="en-US" sz="1800" dirty="0" smtClean="0"/>
              <a:t>- VMWare Infrastructure on-prem</a:t>
            </a:r>
          </a:p>
          <a:p>
            <a:r>
              <a:rPr lang="en-US" sz="1800" dirty="0" smtClean="0"/>
              <a:t>- VMware VMs and Data on-premise or within IBM Classic or AWS</a:t>
            </a:r>
          </a:p>
          <a:p>
            <a:r>
              <a:rPr lang="en-US" sz="1800" dirty="0" smtClean="0"/>
              <a:t>- On Premise Linux, Window, Data, OpenShift, K8s, Data</a:t>
            </a:r>
          </a:p>
          <a:p>
            <a:r>
              <a:rPr lang="en-US" sz="1800" dirty="0" smtClean="0"/>
              <a:t>- Kubernetes and Red Hat Openshift</a:t>
            </a:r>
          </a:p>
          <a:p>
            <a:r>
              <a:rPr lang="en-US" sz="1800" dirty="0" smtClean="0"/>
              <a:t>- IKS and ROKS clusters</a:t>
            </a:r>
          </a:p>
          <a:p>
            <a:r>
              <a:rPr lang="en-US" sz="1800" dirty="0" smtClean="0"/>
              <a:t>- AWS VMs, Data, EKS, VPC Resources</a:t>
            </a:r>
          </a:p>
          <a:p>
            <a:r>
              <a:rPr lang="en-US" sz="1800" dirty="0" smtClean="0"/>
              <a:t>- Google Cloud VMs, GKE, Data, and Workloads</a:t>
            </a:r>
          </a:p>
          <a:p>
            <a:r>
              <a:rPr lang="en-US" sz="1800" dirty="0" smtClean="0"/>
              <a:t>- Microsoft Azure VMs, AKS, Data and workloads</a:t>
            </a:r>
          </a:p>
          <a:p>
            <a:r>
              <a:rPr lang="en-US" sz="1800" dirty="0" smtClean="0"/>
              <a:t>- On Prem IBM Power System LPARs (AIX, IBMi, x86, Linux on Power )</a:t>
            </a:r>
          </a:p>
          <a:p>
            <a:r>
              <a:rPr lang="en-US" sz="1800" dirty="0" smtClean="0"/>
              <a:t/>
            </a:r>
          </a:p>
          <a:p>
            <a:r>
              <a:rPr lang="en-US" sz="1800" dirty="0" smtClean="0"/>
              <a:t>to:</a:t>
            </a:r>
          </a:p>
          <a:p>
            <a:r>
              <a:rPr lang="en-US" sz="1800" dirty="0" smtClean="0"/>
              <a:t/>
            </a:r>
          </a:p>
          <a:p>
            <a:r>
              <a:rPr lang="en-US" sz="1800" dirty="0" smtClean="0"/>
              <a:t>- IBM Cloud</a:t>
            </a:r>
          </a:p>
          <a:p>
            <a:r>
              <a:rPr lang="en-US" sz="1800" dirty="0" smtClean="0"/>
              <a:t>- IBM Cloud Classic</a:t>
            </a:r>
          </a:p>
          <a:p>
            <a:r>
              <a:rPr lang="en-US" sz="1800" dirty="0" smtClean="0"/>
              <a:t>- IBM Cloud Satellite (for Red Hat Openshift)</a:t>
            </a:r>
          </a:p>
          <a:p>
            <a:r>
              <a:rPr lang="en-US" sz="1800" dirty="0" smtClean="0"/>
              <a:t/>
            </a:r>
          </a:p>
          <a:p>
            <a:r>
              <a:rPr lang="en-US" sz="1800" dirty="0" smtClean="0"/>
              <a:t/>
            </a:r>
          </a:p>
          <a:p>
            <a:r>
              <a:rPr lang="en-US" sz="1800" dirty="0" smtClean="0"/>
              <a:t>Disaster Recovery Setup and Migration scenarios coverage;</a:t>
            </a:r>
          </a:p>
          <a:p>
            <a:r>
              <a:rPr lang="en-US" sz="1800" dirty="0" smtClean="0"/>
              <a:t/>
            </a:r>
          </a:p>
          <a:p>
            <a:r>
              <a:rPr lang="en-US" sz="1800" dirty="0" smtClean="0"/>
              <a:t>- VMware (on-premise) to IBM Cloud VPC</a:t>
            </a:r>
          </a:p>
          <a:p>
            <a:r>
              <a:rPr lang="en-US" sz="1800" dirty="0" smtClean="0"/>
              <a:t>- VMware (in Classic) to Cloud VPC</a:t>
            </a:r>
          </a:p>
          <a:p>
            <a:r>
              <a:rPr lang="en-US" sz="1800" dirty="0" smtClean="0"/>
              <a:t>- VMware (on-premise) to VMware on Cloud</a:t>
            </a:r>
          </a:p>
          <a:p>
            <a:r>
              <a:rPr lang="en-US" sz="1800" dirty="0" smtClean="0"/>
              <a:t>- Red Hat Openshift to Red Hat Openshift on Cloud</a:t>
            </a:r>
          </a:p>
          <a:p>
            <a:r>
              <a:rPr lang="en-US" sz="1800" dirty="0" smtClean="0"/>
              <a:t>- Kubernetes deployments from on-prem or other public clouds</a:t>
            </a:r>
          </a:p>
          <a:p>
            <a:r>
              <a:rPr lang="en-US" sz="1800" dirty="0" smtClean="0"/>
              <a:t>- Linux Servers (RHEL, Ubuntu, CentOS, SUSE, Debian versions supported by cloud)</a:t>
            </a:r>
          </a:p>
          <a:p>
            <a:r>
              <a:rPr lang="en-US" sz="1800" dirty="0" smtClean="0"/>
              <a:t>- Windows Servers (versions supported by cloud)</a:t>
            </a:r>
          </a:p>
          <a:p>
            <a:r>
              <a:rPr lang="en-US" sz="1800" dirty="0" smtClean="0"/>
              <a:t>- Data and Storage</a:t>
            </a:r>
          </a:p>
          <a:p>
            <a:r>
              <a:rPr lang="en-US" sz="1800" dirty="0" smtClean="0"/>
              <a:t/>
            </a:r>
          </a:p>
          <a:p>
            <a:r>
              <a:rPr lang="en-US" sz="1800" dirty="0" smtClean="0"/>
              <a:t>Managed Service:</a:t>
            </a:r>
          </a:p>
          <a:p>
            <a:r>
              <a:rPr lang="en-US" sz="1800" dirty="0" smtClean="0"/>
              <a:t/>
            </a:r>
          </a:p>
          <a:p>
            <a:r>
              <a:rPr lang="en-US" sz="1800" dirty="0" smtClean="0"/>
              <a:t>- Setup, Configure, and Maintain IBM Cloud Environment (VPC)</a:t>
            </a:r>
          </a:p>
          <a:p>
            <a:r>
              <a:rPr lang="en-US" sz="1800" dirty="0" smtClean="0"/>
              <a:t>- Device Management (Linux, Windows)</a:t>
            </a:r>
          </a:p>
          <a:p>
            <a:r>
              <a:rPr lang="en-US" sz="1800" dirty="0" smtClean="0"/>
              <a:t>- Help customer setup and maintain security policies, ACLs, and Firewalls</a:t>
            </a:r>
          </a:p>
          <a:p>
            <a:r>
              <a:rPr lang="en-US" sz="1800" dirty="0" smtClean="0"/>
              <a:t>- Backup IBM Cloud VPC workloads to the same or different regions (VPC Configs, VSIs, Kubernetes, Red Hat Openshift)</a:t>
            </a:r>
          </a:p>
          <a:p>
            <a:r>
              <a:rPr lang="en-US" sz="1800" dirty="0" smtClean="0"/>
              <a:t>- Manage IBM IKS (Kubernetes) and ROKS (Red Hat Openshift)</a:t>
            </a:r>
          </a:p>
          <a:p>
            <a:r>
              <a:rPr lang="en-US" sz="1800" dirty="0" smtClean="0"/>
              <a:t>- Optimize Cloud Infrastructure and Cloud Spending</a:t>
            </a:r>
          </a:p>
          <a:p>
            <a:r>
              <a:rPr lang="en-US" sz="1800" dirty="0" smtClean="0"/>
              <a:t>- Ongong Consultation regarding changes, scaling, optimizing infrastructure</a:t>
            </a:r>
          </a:p>
          <a:p>
            <a:r>
              <a:rPr lang="en-US" sz="1800" dirty="0" smtClean="0"/>
              <a:t>- Infrastructure Monitoring</a:t>
            </a:r>
          </a:p>
          <a:p>
            <a:r>
              <a:rPr lang="en-US" sz="1800" dirty="0" smtClean="0"/>
              <a:t>- 8x5 support (This doesn't replace IBM's 24x7 cloud support)</a:t>
            </a:r>
          </a:p>
          <a:p>
            <a:r>
              <a:rPr lang="en-US" sz="1800" dirty="0" smtClean="0"/>
              <a:t/>
            </a:r>
          </a:p>
          <a:p>
            <a:r>
              <a:rPr lang="en-US" sz="1800" dirty="0" smtClean="0"/>
              <a:t>Our team of experts leverage our VPC+ Automation Suite which is hosted on IBM Cloud to fast-track the entire process and eliminate the long, complicated and error-prone manual processes.</a:t>
            </a:r>
          </a:p>
          <a:p>
            <a:r>
              <a:rPr lang="en-US" sz="1800" dirty="0" smtClean="0"/>
              <a:t/>
            </a:r>
          </a:p>
          <a:p>
            <a:r>
              <a:rPr lang="en-US" sz="1800" dirty="0" smtClean="0"/>
              <a:t>There are three categories of this offering:</a:t>
            </a:r>
          </a:p>
          <a:p>
            <a:r>
              <a:rPr lang="en-US" sz="1800" dirty="0" smtClean="0"/>
              <a:t/>
            </a:r>
          </a:p>
          <a:p>
            <a:r>
              <a:rPr lang="en-US" sz="1800" dirty="0" smtClean="0"/>
              <a:t>- Disaster Recovery as a Service</a:t>
            </a:r>
          </a:p>
          <a:p>
            <a:r>
              <a:rPr lang="en-US" sz="1800" dirty="0" smtClean="0"/>
              <a:t>- Migrations as a Service</a:t>
            </a:r>
          </a:p>
          <a:p>
            <a:r>
              <a:rPr lang="en-US" sz="1800" dirty="0" smtClean="0"/>
              <a:t>- Ongoing Managed Service</a:t>
            </a:r>
          </a:p>
          <a:p>
            <a:r>
              <a:rPr lang="en-US" sz="1800" dirty="0" smtClean="0"/>
              <a:t/>
            </a:r>
          </a:p>
          <a:p>
            <a:r>
              <a:rPr lang="en-US" sz="1800" dirty="0" smtClean="0"/>
              <a:t>Disaster Recovery as a Service:</a:t>
            </a:r>
          </a:p>
          <a:p>
            <a:r>
              <a:rPr lang="en-US" sz="1800" dirty="0" smtClean="0"/>
              <a:t/>
            </a:r>
          </a:p>
          <a:p>
            <a:r>
              <a:rPr lang="en-US" sz="1800" dirty="0" smtClean="0"/>
              <a:t>- Minimum of 1 year subscription</a:t>
            </a:r>
          </a:p>
          <a:p>
            <a:r>
              <a:rPr lang="en-US" sz="1800" dirty="0" smtClean="0"/>
              <a:t>- Kick-off, Onboard the customer on VPC+</a:t>
            </a:r>
          </a:p>
          <a:p>
            <a:r>
              <a:rPr lang="en-US" sz="1800" dirty="0" smtClean="0"/>
              <a:t>- Discover source environment</a:t>
            </a:r>
          </a:p>
          <a:p>
            <a:r>
              <a:rPr lang="en-US" sz="1800" dirty="0" smtClean="0"/>
              <a:t>- Setup Cloud VPC Infrastructure for DR</a:t>
            </a:r>
          </a:p>
          <a:p>
            <a:r>
              <a:rPr lang="en-US" sz="1800" dirty="0" smtClean="0"/>
              <a:t>- Backup workloads to cloud object store</a:t>
            </a:r>
          </a:p>
          <a:p>
            <a:r>
              <a:rPr lang="en-US" sz="1800" dirty="0" smtClean="0"/>
              <a:t>- Configure DR scenario according to customer RPO, RTO goals</a:t>
            </a:r>
          </a:p>
          <a:p>
            <a:r>
              <a:rPr lang="en-US" sz="1800" dirty="0" smtClean="0"/>
              <a:t>- Provide cloud support for the DR setup</a:t>
            </a:r>
          </a:p>
          <a:p>
            <a:r>
              <a:rPr lang="en-US" sz="1800" dirty="0" smtClean="0"/>
              <a:t>- Customer to facilitate access and actively collaborate with   Wanclouds</a:t>
            </a:r>
          </a:p>
          <a:p>
            <a:r>
              <a:rPr lang="en-US" sz="1800" dirty="0" smtClean="0"/>
              <a:t>- All source OSs and software must be compatible with cloud</a:t>
            </a:r>
          </a:p>
          <a:p>
            <a:r>
              <a:rPr lang="en-US" sz="1800" dirty="0" smtClean="0"/>
              <a:t/>
            </a:r>
          </a:p>
          <a:p>
            <a:r>
              <a:rPr lang="en-US" sz="1800" dirty="0" smtClean="0"/>
              <a:t/>
            </a:r>
          </a:p>
          <a:p>
            <a:r>
              <a:rPr lang="en-US" sz="1800" dirty="0" smtClean="0"/>
              <a:t>Migrations as a Service (MaaS):</a:t>
            </a:r>
          </a:p>
          <a:p>
            <a:r>
              <a:rPr lang="en-US" sz="1800" dirty="0" smtClean="0"/>
              <a:t/>
            </a:r>
          </a:p>
          <a:p>
            <a:r>
              <a:rPr lang="en-US" sz="1800" dirty="0" smtClean="0"/>
              <a:t>The following tasks are involved:</a:t>
            </a:r>
          </a:p>
          <a:p>
            <a:r>
              <a:rPr lang="en-US" sz="1800" dirty="0" smtClean="0"/>
              <a:t>- Kick-off</a:t>
            </a:r>
          </a:p>
          <a:p>
            <a:r>
              <a:rPr lang="en-US" sz="1800" dirty="0" smtClean="0"/>
              <a:t>- Project/Program Management </a:t>
            </a:r>
          </a:p>
          <a:p>
            <a:r>
              <a:rPr lang="en-US" sz="1800" dirty="0" smtClean="0"/>
              <a:t>- Discover the source environment</a:t>
            </a:r>
          </a:p>
          <a:p>
            <a:r>
              <a:rPr lang="en-US" sz="1800" dirty="0" smtClean="0"/>
              <a:t>- Workout migration timeline and schedule</a:t>
            </a:r>
          </a:p>
          <a:p>
            <a:r>
              <a:rPr lang="en-US" sz="1800" dirty="0" smtClean="0"/>
              <a:t>- Design and Setup the Cloud environment </a:t>
            </a:r>
          </a:p>
          <a:p>
            <a:r>
              <a:rPr lang="en-US" sz="1800" dirty="0" smtClean="0"/>
              <a:t>- Perform the migration in the least disruptive manner using VPC+</a:t>
            </a:r>
          </a:p>
          <a:p>
            <a:r>
              <a:rPr lang="en-US" sz="1800" dirty="0" smtClean="0"/>
              <a:t>- Verify that everything is working as expected</a:t>
            </a:r>
          </a:p>
          <a:p>
            <a:r>
              <a:rPr lang="en-US" sz="1800" dirty="0" smtClean="0"/>
              <a:t>- Customer to facilitate access to the source and cloud environments and actively collaborate with Wanclouds</a:t>
            </a:r>
          </a:p>
          <a:p>
            <a:r>
              <a:rPr lang="en-US" sz="1800" dirty="0" smtClean="0"/>
              <a:t>- Migration tasks are completed within 4-6 weeks</a:t>
            </a:r>
          </a:p>
          <a:p>
            <a:r>
              <a:rPr lang="en-US" sz="1800" dirty="0" smtClean="0"/>
              <a:t>- Post Migration cloud support </a:t>
            </a:r>
          </a:p>
          <a:p>
            <a:r>
              <a:rPr lang="en-US" sz="1800" dirty="0" smtClean="0"/>
              <a:t>-    Options of 1 month, 3 months, 1 year</a:t>
            </a:r>
          </a:p>
          <a:p>
            <a:r>
              <a:rPr lang="en-US" sz="1800" dirty="0" smtClean="0"/>
              <a:t>-    8x5 workdays - support portal </a:t>
            </a:r>
          </a:p>
          <a:p>
            <a:r>
              <a:rPr lang="en-US" sz="1800" dirty="0" smtClean="0"/>
              <a:t>- All source OSs and software must be compatible with cloud</a:t>
            </a:r>
          </a:p>
          <a:p>
            <a:r>
              <a:rPr lang="en-US" sz="1800" dirty="0" smtClean="0"/>
              <a:t/>
            </a:r>
          </a:p>
          <a:p>
            <a:r>
              <a:rPr lang="en-US" sz="1800" dirty="0" smtClean="0"/>
              <a:t>Managed Service</a:t>
            </a:r>
          </a:p>
          <a:p>
            <a:r>
              <a:rPr lang="en-US" sz="1800" dirty="0" smtClean="0"/>
              <a:t/>
            </a:r>
          </a:p>
          <a:p>
            <a:r>
              <a:rPr lang="en-US" sz="1800" dirty="0" smtClean="0"/>
              <a:t>- Mininum 1 year subscription</a:t>
            </a:r>
          </a:p>
          <a:p>
            <a:r>
              <a:rPr lang="en-US" sz="1800" dirty="0" smtClean="0"/>
              <a:t/>
            </a:r>
          </a:p>
          <a:p>
            <a:r>
              <a:rPr lang="en-US" sz="1800" dirty="0" smtClean="0"/>
              <a:t/>
            </a:r>
          </a:p>
          <a:p>
            <a:r>
              <a:rPr lang="en-US" sz="1800" dirty="0" smtClean="0"/>
              <a:t>Why choose Wanclouds ?</a:t>
            </a:r>
          </a:p>
          <a:p>
            <a:r>
              <a:rPr lang="en-US" sz="1800" dirty="0" smtClean="0"/>
              <a:t/>
            </a:r>
          </a:p>
          <a:p>
            <a:r>
              <a:rPr lang="en-US" sz="1800" dirty="0" smtClean="0"/>
              <a:t>- Fast, simple, and accelerated timelines</a:t>
            </a:r>
          </a:p>
          <a:p>
            <a:r>
              <a:rPr lang="en-US" sz="1800" dirty="0" smtClean="0"/>
              <a:t>- Comprehensive coverage for diverse resources and platforms</a:t>
            </a:r>
          </a:p>
          <a:p>
            <a:r>
              <a:rPr lang="en-US" sz="1800" dirty="0" smtClean="0"/>
              <a:t>- Efficient RTO and Flexible RPO</a:t>
            </a:r>
          </a:p>
          <a:p>
            <a:r>
              <a:rPr lang="en-US" sz="1800" dirty="0" smtClean="0"/>
              <a:t>- Setup Cold DR, Warm DR, or Hot DR</a:t>
            </a:r>
          </a:p>
          <a:p>
            <a:r>
              <a:rPr lang="en-US" sz="1800" dirty="0" smtClean="0"/>
              <a:t>- Comprehensive - Single Pane of Glass for VMware, Kubernetes, Data, and Cloud Infra.</a:t>
            </a:r>
          </a:p>
          <a:p>
            <a:r>
              <a:rPr lang="en-US" sz="1800" dirty="0" smtClean="0"/>
              <a:t>- Flexible DR - On-Prem to Cloud and across Clouds</a:t>
            </a:r>
          </a:p>
          <a:p>
            <a:r>
              <a:rPr lang="en-US" sz="1800" dirty="0" smtClean="0"/>
              <a:t>- Encryption - in transit and at rest</a:t>
            </a:r>
          </a:p>
          <a:p>
            <a:r>
              <a:rPr lang="en-US" sz="1800" dirty="0" smtClean="0"/>
              <a:t>- Non-Disruptive to running environments</a:t>
            </a:r>
          </a:p>
          <a:p>
            <a:r>
              <a:rPr lang="en-US" sz="1800" dirty="0" smtClean="0"/>
              <a:t>- Cost-effective</a:t>
            </a:r>
          </a:p>
          <a:p>
            <a:r>
              <a:rPr lang="en-US" sz="1800" dirty="0" smtClean="0"/>
              <a:t>- Fully managed - no need to learn clouds, multiple tools</a:t>
            </a:r>
          </a:p>
          <a:p>
            <a:r>
              <a:rPr lang="en-US" sz="1800" dirty="0" smtClean="0"/>
              <a:t/>
            </a:r>
          </a:p>
          <a:p>
            <a:r>
              <a:rPr lang="en-US" sz="1800" dirty="0" smtClean="0"/>
              <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https://cloud.ibm.com/catalog/services/wanclouds-custom-migration-as-a-service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62</a:t>
            </a:r>
            <a:endParaRPr lang="en-US"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CVVkey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Card Security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Debit and Credit Cards Fraud Prevention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Keyno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https://cloud.ibm.com/catalog/services/keyno-cvvkey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63</a:t>
            </a:r>
            <a:endParaRPr lang="en-US"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CyberStrong by CyberSaint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CyberStrong platform empowers security leaders with a comprehensive view of their cyber risk landscape utilizing generative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CyberSaint is an innovative company delivering a powerfully automated Cyber Risk Management platform, CyberStrong. Fortune 50 titans and high-growth startups alike rely on CyberSaint's platform to achieve real-time risk management and continuous compliance from assessment to Boardroom.</a:t>
            </a:r>
          </a:p>
          <a:p>
            <a:r>
              <a:rPr lang="en-US" sz="1800" dirty="0" smtClean="0"/>
              <a:t/>
            </a:r>
          </a:p>
          <a:p>
            <a:r>
              <a:rPr lang="en-US" sz="1800" dirty="0" smtClean="0"/>
              <a:t>CyberStrong empowers CISOs, CIOs, cyber risk professionals and IT compliance teams to mitigate even the most unprecedented risks while automating control compliance assessments at scale. Customers leverage CyberSaint to standardize on frameworks and standards, implement risk quantification, and communicate their real-time cybersecurity posture- leading to faster, more informed decision-making at the executive level and millions in cost-savings.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CyberSaint Security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https://cloud.ibm.com/catalog/services/cyberstrong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64</a:t>
            </a:r>
            <a:endParaRPr lang="en-US"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Replication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efficient change data capture and near real-time data delivery with transactional integrity.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Data Replication provides efficient change data capture and near real-time data delivery with transactional integrity to support big data integration and consolidation, warehousing and analytics initiatives at scale. It provides you the flexibility to replicate data between a variety of sources and targets.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https://cloud.ibm.com/catalog/services/data-replication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65</a:t>
            </a:r>
            <a:endParaRPr lang="en-US"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Lite-tier provisioning is no longer available due to the sunsetting of Data Virtualization as a Service (DVaaS). Enterprise-tier provisioning remains available and now requires approval from a product manager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decades, companies have tried to break down silos by copying data from different operational systems into central data stores for analysis, such as data marts, data warehouses and data lakes. These methods can be costly and are prone to error. Most struggle to manage an average of 33 unique data sources, which are diverse in structure and often trapped within inaccessible data silos. With Data Virtualization, you can query data across many systems without having to copy and replicate it, saving time and reducing costs. Data Virtualization queries data from its source, simplifying your analytics by providing the latest and most accurate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https://cloud.ibm.com/catalog/services/data-virtualization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66</a:t>
            </a:r>
            <a:endParaRPr lang="en-US"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Elasticsearch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Elasticsearch combines the power of a full text search engine with the indexing strengths of a JSON document database.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Elasticsearch combines the power of a full text search engine with the indexing strengths of a JSON document database to create a powerful tool for rich data analysis on large volumes of data. Databases for Elasticsearch makes Elasticsearch even better by managing it for you. Features include high availability, automated backup orchestration, autoscaling, and de-coupled allocation of storage, RAM, and vCPUs. Databases for Elasticsearch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https://cloud.ibm.com/catalog/services/databases-for-elasticsearch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67</a:t>
            </a:r>
            <a:endParaRPr lang="en-US"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MongoDB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MongoDB is a JSON document store with a rich query and aggregation framework.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MongoDB is a JSON document store with a rich query and aggregation framework. Databases for MongoDB makes MongoDB even better by managing it for you. Features include high availability, automated backup orchestration, autoscaling, and de-coupled allocation of storage, RAM, and vCPUs. Databases for MongoDB pricing is based on underlying disk and RAM allocation, as well as backup storage usage. MongoDB Standard and Enterprise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https://cloud.ibm.com/catalog/services/databases-for-mongodb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68</a:t>
            </a:r>
            <a:endParaRPr lang="en-US"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MySQL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mission critical web applications that offer high performance with scalability and security.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MySQL is a fast, easy-to-use, and flexible RDBMS. As the central component of the LAMP (Linux, Apache, MySQL and PHP) web service model, it sports a number of connectors, including Python, PHP and C++ for development needs. Databases for MySQL makes MySQL even better by managing it for you. Features include high availability, automated backup orchestration, autoscaling, and de-coupled allocation of storage, RAM, and vCPUs. Databases for MySQL pricing is based on underlying disk, RAM, and optional vCPU allocation, as well as backup storage usage.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https://cloud.ibm.com/catalog/services/databases-for-mysql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69</a:t>
            </a:r>
            <a:endParaRPr lang="en-US"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PostgreSQL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PostgreSQL is a powerful, open source object-relational database that is highly customizable.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PostgreSQL is a powerful, open source object-relational database that is highly customizable. It’s a feature-rich enterprise database with JSON support, giving you the best of both the SQL and NoSQL worlds. Databases for PostgreSQL makes PostgreSQL even better by managing it for you. Features include high availability, automated backup orchestration, autoscaling, and de-coupled allocation of storage, RAM, and vCPUs. Databases for PostgreSQL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https://cloud.ibm.com/catalog/services/databases-for-postgresql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70</a:t>
            </a:r>
            <a:endParaRPr lang="en-US"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Redis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Redis is a blazingly fast, in-memory data structure 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Redis is an open source, in-memory data structure store, used as a database, cache and message broker. It supports data structures such as strings, hashes, lists, sets, sorted sets with range queries, bitmaps, hyperloglogs and geospatial indexes with radius queries. Databases for Redis makes Redis even better by managing it for you. Features include high availability, automated backup orchestration, autoscaling, and de-coupled allocation of storage, RAM, and vCPUs. Databases for Redis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https://cloud.ibm.com/catalog/services/databases-for-redis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71</a:t>
            </a:r>
            <a:endParaRPr lang="en-US"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DataStage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ETL and data pipeline services for real-time, micro-batch, and batch data orchestration.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DataStage® offers industry-leading batch and real-time data integration to build trusted data pipelines across on-premises and hybrid cloud environments allowing any integration style (ETL, ELT) to prepare data for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https://cloud.ibm.com/catalog/services/datastage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72</a:t>
            </a:r>
            <a:endParaRPr lang="en-US"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Datavalue®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Make faster, more confident decisions with your data using the Datavalue agent to assess data compliance and data valuation.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Datavalue® agent provides a standardized benchmark to assess data readiness for analytics, compliance, and monetization. This empowers organizations to make faster, more confident decisions around commercially viable derivative data.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Datavault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https://cloud.ibm.com/catalog/services/datavault-ai-inc-datavault-ai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73</a:t>
            </a:r>
            <a:endParaRPr lang="en-US"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high performance transactional database for mission critical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Built to run the world’s mission-critical workloads, IBM® Db2® database engine supports low-latency transactions and real-time analytics workloads to empower enterprises while modernizing data workloads to meet organizational AI and hybrid cloud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https://cloud.ibm.com/catalog/services/dashdb-for-transactions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74</a:t>
            </a:r>
            <a:endParaRPr lang="en-US"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 Warehouse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Db2 Warehouse on Cloud is a flexible and powerful data warehouse for enterprise-level analytics.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Db2 Warehouse on Cloud is a fully-managed, enterprise-class, cloud data warehouse service. Powered by IBM BLU Acceleration, Db2 Warehouse on Cloud provides you with unmatched query performance. The service is offered in multiple form factors: SMP for cost-effective cloud data warehousing, and MPP for high-performance parallel query processing and high availability.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75</a:t>
            </a:r>
            <a:endParaRPr lang="en-US"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single-tenant hosts that offer dedicated resources and maximum control over instance placement.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Dedicated Hosts for VPC are single-tenant hosts that are available exclusively for your use.  Dedicated hosts provide the flexibility for you to use your own software licenses, and provide maximum isolation and control over instance placement to help address corporate compliance and regulatory requirements.</a:t>
            </a:r>
          </a:p>
          <a:p>
            <a:r>
              <a:rPr lang="en-US" sz="1800" dirty="0" smtClean="0"/>
              <a:t/>
            </a:r>
          </a:p>
          <a:p>
            <a:r>
              <a:rPr lang="en-US" sz="1800" dirty="0" smtClean="0"/>
              <a:t/>
            </a:r>
          </a:p>
          <a:p>
            <a:r>
              <a:rPr lang="en-US" sz="1800" dirty="0" smtClean="0"/>
              <a:t>Dedicated host groups are built into the solution and can help you define one or more dedicated hosts for a specific business purpose.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76</a:t>
            </a:r>
            <a:endParaRPr lang="en-US"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Digilabs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Lab and LMS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Digilabs is at the forefront of digital transformation, offering cutting-edge labs and training programs designed to equip the next generation of technology leaders with the skills they need to excel. Our labs, hosted on IBM’s industry-leading cloud platform, provide a hands-on learning experience that bridges the gap between theoretical knowledge and practical application.</a:t>
            </a:r>
          </a:p>
          <a:p>
            <a:r>
              <a:rPr lang="en-US" sz="1800" dirty="0" smtClean="0"/>
              <a:t/>
            </a:r>
          </a:p>
          <a:p>
            <a:r>
              <a:rPr lang="en-US" sz="1800" dirty="0" smtClean="0"/>
              <a:t>-------------------------------------------------------------------</a:t>
            </a:r>
          </a:p>
          <a:p>
            <a:r>
              <a:rPr lang="en-US" sz="1800" dirty="0" smtClean="0"/>
              <a:t/>
            </a:r>
          </a:p>
          <a:p>
            <a:r>
              <a:rPr lang="en-US" sz="1800" dirty="0" smtClean="0"/>
              <a:t>Key Benefits:</a:t>
            </a:r>
          </a:p>
          <a:p>
            <a:r>
              <a:rPr lang="en-US" sz="1800" dirty="0" smtClean="0"/>
              <a:t/>
            </a:r>
          </a:p>
          <a:p>
            <a:r>
              <a:rPr lang="en-US" sz="1800" dirty="0" smtClean="0"/>
              <a:t>Enhanced Learning Experience: Students gain practical insights and develop essential skills through hands-on experience in a real-world setting.</a:t>
            </a:r>
          </a:p>
          <a:p>
            <a:r>
              <a:rPr lang="en-US" sz="1800" dirty="0" smtClean="0"/>
              <a:t/>
            </a:r>
          </a:p>
          <a:p>
            <a:r>
              <a:rPr lang="en-US" sz="1800" dirty="0" smtClean="0"/>
              <a:t>Improved Learning Outcomes: Practical application of concepts leads to deeper understanding and better retention.</a:t>
            </a:r>
          </a:p>
          <a:p>
            <a:r>
              <a:rPr lang="en-US" sz="1800" dirty="0" smtClean="0"/>
              <a:t/>
            </a:r>
          </a:p>
          <a:p>
            <a:r>
              <a:rPr lang="en-US" sz="1800" dirty="0" smtClean="0"/>
              <a:t>Accessibility and Flexibility: Students can access labs anytime, anywhere, promoting flexible and self-paced learning.</a:t>
            </a:r>
          </a:p>
          <a:p>
            <a:r>
              <a:rPr lang="en-US" sz="1800" dirty="0" smtClean="0"/>
              <a:t/>
            </a:r>
          </a:p>
          <a:p>
            <a:r>
              <a:rPr lang="en-US" sz="1800" dirty="0" smtClean="0"/>
              <a:t>Industry-Relevant Skills: Labs align with industry demands, equipping students with skills needed for success in the workforce.</a:t>
            </a:r>
          </a:p>
          <a:p>
            <a:r>
              <a:rPr lang="en-US" sz="1800" dirty="0" smtClean="0"/>
              <a:t/>
            </a:r>
          </a:p>
          <a:p>
            <a:r>
              <a:rPr lang="en-US" sz="1800" dirty="0" smtClean="0"/>
              <a:t>Streamlined Workflow: Seamless LMS integration simplifies access and management for both students and educators.</a:t>
            </a:r>
          </a:p>
          <a:p>
            <a:r>
              <a:rPr lang="en-US" sz="1800" dirty="0" smtClean="0"/>
              <a:t/>
            </a:r>
          </a:p>
          <a:p>
            <a:r>
              <a:rPr lang="en-US" sz="1800" dirty="0" smtClean="0"/>
              <a:t>Cost-Effective Solution: Virtual labs eliminate the need for expensive physical infrastructure and maintenance.</a:t>
            </a:r>
          </a:p>
          <a:p>
            <a:r>
              <a:rPr lang="en-US" sz="1800" dirty="0" smtClean="0"/>
              <a:t/>
            </a:r>
          </a:p>
          <a:p>
            <a:r>
              <a:rPr lang="en-US" sz="1800" dirty="0" smtClean="0"/>
              <a:t>Multidisciplinary Specializations: Offers a range of specializations, including Cloud Architecture, Data Analytics, Information Security, DevOps, Blockchain, and Cyber Security.</a:t>
            </a:r>
          </a:p>
          <a:p>
            <a:r>
              <a:rPr lang="en-US" sz="1800" dirty="0" smtClean="0"/>
              <a:t/>
            </a:r>
          </a:p>
          <a:p>
            <a:r>
              <a:rPr lang="en-US" sz="1800" dirty="0" smtClean="0"/>
              <a:t>-------------------------------------------------------------------</a:t>
            </a:r>
          </a:p>
          <a:p>
            <a:r>
              <a:rPr lang="en-US" sz="1800" dirty="0" smtClean="0"/>
              <a:t/>
            </a:r>
          </a:p>
          <a:p>
            <a:r>
              <a:rPr lang="en-US" sz="1800" dirty="0" smtClean="0"/>
              <a:t>Our Offerings:</a:t>
            </a:r>
          </a:p>
          <a:p>
            <a:r>
              <a:rPr lang="en-US" sz="1800" dirty="0" smtClean="0"/>
              <a:t/>
            </a:r>
          </a:p>
          <a:p>
            <a:r>
              <a:rPr lang="en-US" sz="1800" dirty="0" smtClean="0"/>
              <a:t>Extensive Cloud Labs: Gain hands-on experience with over 150 labs available on a robust cloud platform</a:t>
            </a:r>
          </a:p>
          <a:p>
            <a:r>
              <a:rPr lang="en-US" sz="1800" dirty="0" smtClean="0"/>
              <a:t/>
            </a:r>
          </a:p>
          <a:p>
            <a:r>
              <a:rPr lang="en-US" sz="1800" dirty="0" smtClean="0"/>
              <a:t>Secure Online Assessments: Complete assessments online with automated proctoring for secure testing.</a:t>
            </a:r>
          </a:p>
          <a:p>
            <a:r>
              <a:rPr lang="en-US" sz="1800" dirty="0" smtClean="0"/>
              <a:t/>
            </a:r>
          </a:p>
          <a:p>
            <a:r>
              <a:rPr lang="en-US" sz="1800" dirty="0" smtClean="0"/>
              <a:t>Schedule Management: Easily track and manage your classes and lab schedules through an integrated system.</a:t>
            </a:r>
          </a:p>
          <a:p>
            <a:r>
              <a:rPr lang="en-US" sz="1800" dirty="0" smtClean="0"/>
              <a:t/>
            </a:r>
          </a:p>
          <a:p>
            <a:r>
              <a:rPr lang="en-US" sz="1800" dirty="0" smtClean="0"/>
              <a:t>Comprehensive Reporting: Access detailed reports on attendance,student performance, and class activities.</a:t>
            </a:r>
          </a:p>
          <a:p>
            <a:r>
              <a:rPr lang="en-US" sz="1800" dirty="0" smtClean="0"/>
              <a:t/>
            </a:r>
          </a:p>
          <a:p>
            <a:r>
              <a:rPr lang="en-US" sz="1800" dirty="0" smtClean="0"/>
              <a:t>Timely Notifications: Receive timely notifications about classes, labs, tests, and other important update</a:t>
            </a:r>
          </a:p>
          <a:p>
            <a:r>
              <a:rPr lang="en-US" sz="1800" dirty="0" smtClean="0"/>
              <a:t/>
            </a:r>
          </a:p>
          <a:p>
            <a:r>
              <a:rPr lang="en-US" sz="1800" dirty="0" smtClean="0"/>
              <a:t>Live Online Classes: Attend live online classes from anywhere, guided by expert instructors.</a:t>
            </a:r>
          </a:p>
          <a:p>
            <a:r>
              <a:rPr lang="en-US" sz="1800" dirty="0" smtClean="0"/>
              <a:t> </a:t>
            </a:r>
          </a:p>
          <a:p>
            <a:r>
              <a:rPr lang="en-US" sz="1800" dirty="0" smtClean="0"/>
              <a:t>Project Guidance: Engage in project discussions and receive monitoring from faculty to ensure progress.</a:t>
            </a:r>
          </a:p>
          <a:p>
            <a:r>
              <a:rPr lang="en-US" sz="1800" dirty="0" smtClean="0"/>
              <a:t/>
            </a:r>
          </a:p>
          <a:p>
            <a:r>
              <a:rPr lang="en-US" sz="1800" dirty="0" smtClean="0"/>
              <a:t>Interactive Forums &amp; Dashboard:Participate in discussions on forums and monitor your progress via a personalized dashboard.</a:t>
            </a:r>
          </a:p>
          <a:p>
            <a:r>
              <a:rPr lang="en-US" sz="1800" dirty="0" smtClean="0"/>
              <a:t/>
            </a:r>
          </a:p>
          <a:p>
            <a:r>
              <a:rPr lang="en-US" sz="1800" dirty="0" smtClean="0"/>
              <a:t>Real-Time Chat: Use the chatbox for real-time interaction between faculty and students, as well as group discussions.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https://cloud.ibm.com/catalog/services/stardigilabs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77</a:t>
            </a:r>
            <a:endParaRPr lang="en-US"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a Service Provider to quickly establish and deliver connectivity to IBM Cloud locations.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78</a:t>
            </a:r>
            <a:endParaRPr lang="en-US"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Connect offers private access to your IBM Cloud infrastructure and to any other clouds linked to your Network Service Provider, through your local IBM Cloud data center.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79</a:t>
            </a:r>
            <a:endParaRPr lang="en-US"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Ensure the security of sensitive data to and from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the 2.0 version of Direct Link. IBM Cloud Direct Link helps ensure the security of sensitive data to and from the IBM Cloud. Back up or store huge volumes of data from your data center on IBM Cloud with predictable bandwidth costs. With a dedicated network connection, your transfer rates are fast, consistent and reliable.</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Reliable</a:t>
            </a:r>
          </a:p>
          <a:p>
            <a:r>
              <a:rPr lang="en-US" sz="1800" dirty="0" smtClean="0"/>
              <a:t>Designed for customers that need more consistent, higher-throughput connectivity between a remote network and their IBM Cloud environments.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https://cloud.ibm.com/catalog/services/directlink.dedicated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80</a:t>
            </a:r>
            <a:endParaRPr lang="en-US"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Hosting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Establish unparalleled network performance to and from your IBM Cloud platform resources, with customized support for your secure, dedicated workloads that require predictable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can arrange the acquisition of colocation space that fits your needs.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https://cloud.ibm.com/catalog/infrastructure/DIRECT_LINK_COLOCATION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81</a:t>
            </a:r>
            <a:endParaRPr lang="en-US"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Connect directly to IBM Cloud through a single-tenant connection, using a dedicated circuit or cross-connect, for unparalleled network performance to and from your IBM Cloud platform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Dedicated is a single-tenant product. It offers a dedicated port that is perfect for banks, insurance companies or anyone with strict compliance policies. Create a fiber cross-connection through a network service provider (NSP) in an IBM Cloud network point of presence (PoP). Our engineers facilitate end-to-end connectivity with your selected NSP, and you have access to your cloud infrastructure in the local IBM Cloud data center. The NSP runs last-mile links directly between a router on your network and an IBM Cloud router. As with all of the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https://cloud.ibm.com/catalog/infrastructure/direct-link-network-service-provider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82</a:t>
            </a:r>
            <a:endParaRPr lang="en-US"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Exchange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Exchange offers multi-tenant connections to your IBM Cloud infrastructure, through your local IBM Cloud data center, perfect for creating multi-cloud connectivity in a single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Exchange offers multi-tenant connections to your IBM Cloud infrastructure, through your local IBM Cloud data center. This option is perfect for creating multi-cloud connectivity in a single environment. We connect customers to the IBM Cloud private network, using a shared bandwidth topology. You can aggregate your MPLS, VPLS, or EVPN into the IBM Cloud network over VLANs, using one of our global network and exchange providers.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https://cloud.ibm.com/catalog/infrastructure/direct-link-cloud-exchange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83</a:t>
            </a:r>
            <a:endParaRPr lang="en-US"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Cloud 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modern, secure, and scalable cloud desktops with Dizzion Cloud PC, a fully managed solution on IBM VPC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Dizzion Cloud PC on IBM Cloud VPC, organizations can streamline their virtual desktop delivery by combining the power of the Dizzion cloud-native platform with the global scale and security of IBM Cloud. This fully managed Desktop as a Service (DaaS) solution enables persistent, personal Windows 11 desktop experiences, built for hybrid work and maximum productivity. We offer two complementary tiers - Core and Complete - to fit every operational model.</a:t>
            </a:r>
          </a:p>
          <a:p>
            <a:r>
              <a:rPr lang="en-US" sz="1800" dirty="0" smtClean="0"/>
              <a:t/>
            </a:r>
          </a:p>
          <a:p>
            <a:r>
              <a:rPr lang="en-US" sz="1800" dirty="0" smtClean="0"/>
              <a:t/>
            </a:r>
          </a:p>
          <a:p>
            <a:r>
              <a:rPr lang="en-US" sz="1800" dirty="0" smtClean="0"/>
              <a:t>The Core Tier is ideal for organizations that already have in-house IT operations, identity services, and endpoint management tools in place. If your team can handle monitoring, patching, and support with existing staff and systems, Core lets you spin up Cloud PCs in minutes - without overhauling your workflows. Companies with 25 or more users can choose from five performance-tuned configurations, plug into your existing AD or run as standalone, and deploy directly over the internet or via private networking.</a:t>
            </a:r>
          </a:p>
          <a:p>
            <a:r>
              <a:rPr lang="en-US" sz="1800" dirty="0" smtClean="0"/>
              <a:t/>
            </a:r>
          </a:p>
          <a:p>
            <a:r>
              <a:rPr lang="en-US" sz="1800" dirty="0" smtClean="0"/>
              <a:t/>
            </a:r>
          </a:p>
          <a:p>
            <a:r>
              <a:rPr lang="en-US" sz="1800" dirty="0" smtClean="0"/>
              <a:t>The Complete Tier builds on the flexibility of Core with enterprise-grade management, security, and unlimited scalability for 50+ desktops, and requires Private Network Access per region. With Dizzion-managed services - Overwatch real-time observability &amp; analytics, automated OS and Application patching, and self-service software deployment for up to two administrators - you get a truly hands-off Cloud PC experience. Tailored for organizations requiring centralized identity, granular performance controls, and seamless global expansion, the Complete Tier also offers a rich add-on catalog - from vulnerability monitoring to advanced firewalling - delivering a turnkey solution that scales with your business. The only elements you manage are end-user support and application deployment.</a:t>
            </a:r>
          </a:p>
          <a:p>
            <a:r>
              <a:rPr lang="en-US" sz="1800" dirty="0" smtClean="0"/>
              <a:t/>
            </a:r>
          </a:p>
          <a:p>
            <a:r>
              <a:rPr lang="en-US" sz="1800" dirty="0" smtClean="0"/>
              <a:t/>
            </a:r>
          </a:p>
          <a:p>
            <a:r>
              <a:rPr lang="en-US" sz="1800" dirty="0" smtClean="0"/>
              <a:t>Whether you are migrating from on-premises VDI or looking to modernize legacy PC deployments, Dizzion Cloud PC provides a seamless path forward with predictable pricing, great user experience, fast provisioning, simplified management, and deployment.</a:t>
            </a:r>
          </a:p>
          <a:p>
            <a:r>
              <a:rPr lang="en-US" sz="1800" dirty="0" smtClean="0"/>
              <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https://cloud.ibm.com/catalog/services/dizzion-cloud-pc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84</a:t>
            </a:r>
            <a:endParaRPr lang="en-US"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Flex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Simply and intuitively deploy and manage virtual desktops and apps on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Dizzion Flex enables clients to simply and intuitively deploy and manage their virtual desktop and app workloads on IBM Cloud VPC, leveraging Dizzion’s cloud-native Frame Desktop as a Service (DaaS) platform. Users securely access the apps, data, and resources they need to be productive from the comfort of their favorite web browser – no clients or plug-ins required. Admins can deploy thousands of digital workspaces across the globe in minutes and enjoy powerful enterprise features all managed from a single pane-of-glass web console. With Dizzion Flex on IBM Cloud VPC, organizations are well-prepared to address the challenges (and reap the benefits) of the modern workplace and workforce by significantly improving the agility, security, and capabilities of their end-user computing strategy.</a:t>
            </a:r>
          </a:p>
          <a:p>
            <a:r>
              <a:rPr lang="en-US" sz="1800" dirty="0" smtClean="0"/>
              <a:t/>
            </a:r>
          </a:p>
          <a:p>
            <a:r>
              <a:rPr lang="en-US" sz="1800" dirty="0" smtClean="0"/>
              <a:t> </a:t>
            </a:r>
          </a:p>
          <a:p>
            <a:r>
              <a:rPr lang="en-US" sz="1800" dirty="0" smtClean="0"/>
              <a:t>- - - </a:t>
            </a:r>
          </a:p>
          <a:p>
            <a:r>
              <a:rPr lang="en-US" sz="1800" dirty="0" smtClean="0"/>
              <a:t/>
            </a:r>
          </a:p>
          <a:p>
            <a:r>
              <a:rPr lang="en-US" sz="1800" dirty="0" smtClean="0"/>
              <a:t/>
            </a:r>
          </a:p>
          <a:p>
            <a:r>
              <a:rPr lang="en-US" sz="1800" dirty="0" smtClean="0"/>
              <a:t>For sales support, reach out to Dizzion directly at channel@dizzion.com.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https://cloud.ibm.com/catalog/services/dizzion-flex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85</a:t>
            </a:r>
            <a:endParaRPr lang="en-US"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DNS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DNS Services on VPC Private Networks to manage hostnames and IP addresses while limiting access to the DNS records from permitted networks only.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DNS Services provides a reliable, secure mechanism to manage DNS records, and resolve domain names from a VPC without adding a custom DNS solution. With DNS Services, you can </a:t>
            </a:r>
          </a:p>
          <a:p>
            <a:r>
              <a:rPr lang="en-US" sz="1800" dirty="0" smtClean="0"/>
              <a:t>- Create private DNS zones which can only be resolved from IBM Cloud's private network.</a:t>
            </a:r>
          </a:p>
          <a:p>
            <a:r>
              <a:rPr lang="en-US" sz="1800" dirty="0" smtClean="0"/>
              <a:t>- Perform forward and reverse DNS lookup.</a:t>
            </a:r>
          </a:p>
          <a:p>
            <a:r>
              <a:rPr lang="en-US" sz="1800" dirty="0" smtClean="0"/>
              <a:t>- Configure zone names with a split-horizon view, which allows a private and a public DNS zone to share the name.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https://cloud.ibm.com/catalog/services/dns-svcs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86</a:t>
            </a:r>
            <a:endParaRPr lang="en-US"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Draup for Sales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sales intelligence platform that finds high-value prospects,reveals buyer priorities,and personalizes outreach to Scale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Draup for Sales is a Global Sales Intelligence platform that transforms how enterprise sales and account teams identify opportunities, plan pursuits, and win complex deals. </a:t>
            </a:r>
          </a:p>
          <a:p>
            <a:r>
              <a:rPr lang="en-US" sz="1800" dirty="0" smtClean="0"/>
              <a:t/>
            </a:r>
          </a:p>
          <a:p>
            <a:r>
              <a:rPr lang="en-US" sz="1800" dirty="0" smtClean="0"/>
              <a:t>Built on rich, proprietary market and labor data ecosystems, Draup delivers contextual, comprehensive, and real-time intelligence across every stage of the enterprise sales lifecycle. </a:t>
            </a:r>
          </a:p>
          <a:p>
            <a:r>
              <a:rPr lang="en-US" sz="1800" dirty="0" smtClean="0"/>
              <a:t/>
            </a:r>
          </a:p>
          <a:p>
            <a:r>
              <a:rPr lang="en-US" sz="1800" dirty="0" smtClean="0"/>
              <a:t>Unlike traditional databases that just list contacts, Draup maps industries, accounts, and buyers into a single explainable interface, showing who to target, why now, and what to say. </a:t>
            </a:r>
          </a:p>
          <a:p>
            <a:r>
              <a:rPr lang="en-US" sz="1800" dirty="0" smtClean="0"/>
              <a:t/>
            </a:r>
          </a:p>
          <a:p>
            <a:r>
              <a:rPr lang="en-US" sz="1800" dirty="0" smtClean="0"/>
              <a:t>Core Modules </a:t>
            </a:r>
          </a:p>
          <a:p>
            <a:r>
              <a:rPr lang="en-US" sz="1800" dirty="0" smtClean="0"/>
              <a:t/>
            </a:r>
          </a:p>
          <a:p>
            <a:r>
              <a:rPr lang="en-US" sz="1800" dirty="0" smtClean="0"/>
              <a:t>·       Industry Intelligence: Explore emerging use cases, market drivers, and investment trends across 33 industries. Identify fast-moving opportunities with live signals from 70K+ data sources. </a:t>
            </a:r>
          </a:p>
          <a:p>
            <a:r>
              <a:rPr lang="en-US" sz="1800" dirty="0" smtClean="0"/>
              <a:t/>
            </a:r>
          </a:p>
          <a:p>
            <a:r>
              <a:rPr lang="en-US" sz="1800" dirty="0" smtClean="0"/>
              <a:t>·       Account Intelligence: Access 360° company profiles with financials, tech stacks, outsourcing vendors, talent demand, business priorities and geo-level workforce trends. </a:t>
            </a:r>
          </a:p>
          <a:p>
            <a:r>
              <a:rPr lang="en-US" sz="1800" dirty="0" smtClean="0"/>
              <a:t/>
            </a:r>
          </a:p>
          <a:p>
            <a:r>
              <a:rPr lang="en-US" sz="1800" dirty="0" smtClean="0"/>
              <a:t>·       Buyer Intelligence: Discover true decision-making committees, track leadership moves, and tailor outreach using intent and influence data. </a:t>
            </a:r>
          </a:p>
          <a:p>
            <a:r>
              <a:rPr lang="en-US" sz="1800" dirty="0" smtClean="0"/>
              <a:t/>
            </a:r>
          </a:p>
          <a:p>
            <a:r>
              <a:rPr lang="en-US" sz="1800" dirty="0" smtClean="0"/>
              <a:t>·       Braindesk: AI-curated repository for on-demand reports and presentations on market, location, and talent trends  </a:t>
            </a:r>
          </a:p>
          <a:p>
            <a:r>
              <a:rPr lang="en-US" sz="1800" dirty="0" smtClean="0"/>
              <a:t/>
            </a:r>
          </a:p>
          <a:p>
            <a:r>
              <a:rPr lang="en-US" sz="1800" dirty="0" smtClean="0"/>
              <a:t>·       Projects: Dedicated workspace to build and manage account plans, bookmark key orgs, and collaborate across pursuits with saved searches, lists, and live signal tracking. </a:t>
            </a:r>
          </a:p>
          <a:p>
            <a:r>
              <a:rPr lang="en-US" sz="1800" dirty="0" smtClean="0"/>
              <a:t/>
            </a:r>
          </a:p>
          <a:p>
            <a:r>
              <a:rPr lang="en-US" sz="1800" dirty="0" smtClean="0"/>
              <a:t> </a:t>
            </a:r>
          </a:p>
          <a:p>
            <a:r>
              <a:rPr lang="en-US" sz="1800" dirty="0" smtClean="0"/>
              <a:t/>
            </a:r>
          </a:p>
          <a:p>
            <a:r>
              <a:rPr lang="en-US" sz="1800" dirty="0" smtClean="0"/>
              <a:t>Why It Matters </a:t>
            </a:r>
          </a:p>
          <a:p>
            <a:r>
              <a:rPr lang="en-US" sz="1800" dirty="0" smtClean="0"/>
              <a:t/>
            </a:r>
          </a:p>
          <a:p>
            <a:r>
              <a:rPr lang="en-US" sz="1800" dirty="0" smtClean="0"/>
              <a:t>·       For Account Executives: Build sharper, faster pursuit plans aligned to each buyer’s priorities. </a:t>
            </a:r>
          </a:p>
          <a:p>
            <a:r>
              <a:rPr lang="en-US" sz="1800" dirty="0" smtClean="0"/>
              <a:t/>
            </a:r>
          </a:p>
          <a:p>
            <a:r>
              <a:rPr lang="en-US" sz="1800" dirty="0" smtClean="0"/>
              <a:t>·       For ABM &amp; Marketing Teams: Target the right industries and accounts at the right moment. </a:t>
            </a:r>
          </a:p>
          <a:p>
            <a:r>
              <a:rPr lang="en-US" sz="1800" dirty="0" smtClean="0"/>
              <a:t/>
            </a:r>
          </a:p>
          <a:p>
            <a:r>
              <a:rPr lang="en-US" sz="1800" dirty="0" smtClean="0"/>
              <a:t>·       For Partner Sales &amp; Alliances: Identify where partnerships can accelerate growth and attach motions. </a:t>
            </a:r>
          </a:p>
          <a:p>
            <a:r>
              <a:rPr lang="en-US" sz="1800" dirty="0" smtClean="0"/>
              <a:t/>
            </a:r>
          </a:p>
          <a:p>
            <a:r>
              <a:rPr lang="en-US" sz="1800" dirty="0" smtClean="0"/>
              <a:t>·       For Sales Leadership: De-risk forecasts with verified real-time signals that show deal readiness and timing.  </a:t>
            </a:r>
          </a:p>
          <a:p>
            <a:r>
              <a:rPr lang="en-US" sz="1800" dirty="0" smtClean="0"/>
              <a:t/>
            </a:r>
          </a:p>
          <a:p>
            <a:r>
              <a:rPr lang="en-US" sz="1800" dirty="0" smtClean="0"/>
              <a:t>Core Use Cases: </a:t>
            </a:r>
          </a:p>
          <a:p>
            <a:r>
              <a:rPr lang="en-US" sz="1800" dirty="0" smtClean="0"/>
              <a:t/>
            </a:r>
          </a:p>
          <a:p>
            <a:r>
              <a:rPr lang="en-US" sz="1800" dirty="0" smtClean="0"/>
              <a:t>·       Account Prioritization &amp; Whitespace Discovery </a:t>
            </a:r>
          </a:p>
          <a:p>
            <a:r>
              <a:rPr lang="en-US" sz="1800" dirty="0" smtClean="0"/>
              <a:t>Identify and rank high-potential accounts using verified intent, fit, and timing signals to focus on where revenue is most likely to convert. </a:t>
            </a:r>
          </a:p>
          <a:p>
            <a:r>
              <a:rPr lang="en-US" sz="1800" dirty="0" smtClean="0"/>
              <a:t/>
            </a:r>
          </a:p>
          <a:p>
            <a:r>
              <a:rPr lang="en-US" sz="1800" dirty="0" smtClean="0"/>
              <a:t>·       Buyer Committee Mapping &amp; Persona Targeting </a:t>
            </a:r>
          </a:p>
          <a:p>
            <a:r>
              <a:rPr lang="en-US" sz="1800" dirty="0" smtClean="0"/>
              <a:t>Uncover true decision-making committees, map influencers and stakeholders, and tailor outreach with persona-level insights and context. </a:t>
            </a:r>
          </a:p>
          <a:p>
            <a:r>
              <a:rPr lang="en-US" sz="1800" dirty="0" smtClean="0"/>
              <a:t/>
            </a:r>
          </a:p>
          <a:p>
            <a:r>
              <a:rPr lang="en-US" sz="1800" dirty="0" smtClean="0"/>
              <a:t>·       Account Planning &amp; Management </a:t>
            </a:r>
          </a:p>
          <a:p>
            <a:r>
              <a:rPr lang="en-US" sz="1800" dirty="0" smtClean="0"/>
              <a:t>Build dynamic, data-backed account plans that track business intentions, tech stacks, partnerships, and executive movements - all in one view. </a:t>
            </a:r>
          </a:p>
          <a:p>
            <a:r>
              <a:rPr lang="en-US" sz="1800" dirty="0" smtClean="0"/>
              <a:t/>
            </a:r>
          </a:p>
          <a:p>
            <a:r>
              <a:rPr lang="en-US" sz="1800" dirty="0" smtClean="0"/>
              <a:t>·       Partner &amp; Channel Sales Enablement </a:t>
            </a:r>
          </a:p>
          <a:p>
            <a:r>
              <a:rPr lang="en-US" sz="1800" dirty="0" smtClean="0"/>
              <a:t>Align sales motions with partner strengths, uncover co-sell opportunities, and accelerate joint wins through verified ecosystem and workload data. </a:t>
            </a:r>
          </a:p>
          <a:p>
            <a:r>
              <a:rPr lang="en-US" sz="1800" dirty="0" smtClean="0"/>
              <a:t/>
            </a:r>
          </a:p>
          <a:p>
            <a:r>
              <a:rPr lang="en-US" sz="1800" dirty="0" smtClean="0"/>
              <a:t>·       Signal-Driven Prospecting (Fit, Intent, and Timing) </a:t>
            </a:r>
          </a:p>
          <a:p>
            <a:r>
              <a:rPr lang="en-US" sz="1800" dirty="0" smtClean="0"/>
              <a:t>Convert millions of live market signals into prioritized prospect lists, targeting the right accounts at the right moment with the right message.  </a:t>
            </a:r>
          </a:p>
          <a:p>
            <a:r>
              <a:rPr lang="en-US" sz="1800" dirty="0" smtClean="0"/>
              <a:t/>
            </a:r>
          </a:p>
          <a:p>
            <a:r>
              <a:rPr lang="en-US" sz="1800" dirty="0" smtClean="0"/>
              <a:t>Key Outcomes: </a:t>
            </a:r>
          </a:p>
          <a:p>
            <a:r>
              <a:rPr lang="en-US" sz="1800" dirty="0" smtClean="0"/>
              <a:t>↑ Win rate &amp; ACV ↓ Sales cycle &amp; research time ↑ Meeting→Opportunity conversion ↓ Forecast slips &amp; cost-to-sell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Draup,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https://cloud.ibm.com/catalog/services/draup-sales-agent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87</a:t>
            </a:r>
            <a:endParaRPr lang="en-US"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Legal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comprehensive legal research agent supporting legal professionals, law students, and individuals requiring legal information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Dynamiq Legal Agent is a comprehensive legal research assistant that supports legal professionals, law students, and individuals requiring legal information through a structured three-phase approach:</a:t>
            </a:r>
          </a:p>
          <a:p>
            <a:r>
              <a:rPr lang="en-US" sz="1800" dirty="0" smtClean="0"/>
              <a:t>1.	Client intake and case analysis</a:t>
            </a:r>
          </a:p>
          <a:p>
            <a:r>
              <a:rPr lang="en-US" sz="1800" dirty="0" smtClean="0"/>
              <a:t>2.	Iterative legal research using EXA search capabilities</a:t>
            </a:r>
          </a:p>
          <a:p>
            <a:r>
              <a:rPr lang="en-US" sz="1800" dirty="0" smtClean="0"/>
              <a:t>3.	Professional legal document structuring and synthesis</a:t>
            </a:r>
          </a:p>
          <a:p>
            <a:r>
              <a:rPr lang="en-US" sz="1800" dirty="0" smtClean="0"/>
              <a:t>The agent operates as a multi-functional tool combining paralegal intake procedures, systematic legal research methodology, and professional document drafting, powered by xAI Grok 4 for advanced reasoning and EXA for precise legal information retrieval.</a:t>
            </a:r>
          </a:p>
          <a:p>
            <a:r>
              <a:rPr lang="en-US" sz="1800" dirty="0" smtClean="0"/>
              <a:t/>
            </a:r>
          </a:p>
          <a:p>
            <a:r>
              <a:rPr lang="en-US" sz="1800" dirty="0" smtClean="0"/>
              <a:t>It is an API-only service designed for IBM watsonx Orchestrate.</a:t>
            </a:r>
          </a:p>
          <a:p>
            <a:r>
              <a:rPr lang="en-US" sz="1800" dirty="0" smtClean="0"/>
              <a:t>Important Disclaimer: This agent is not providing legal advice; this is research synthesis only.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https://cloud.ibm.com/catalog/services/dynamiq-ai-agent-legal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88</a:t>
            </a:r>
            <a:endParaRPr lang="en-US" dirty="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Medical Researcher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This is Medical Researcher AI Agent that supports clinicians, patients, and caregivers.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agent is a medical researcher and assistant  that supports clinicians, patients, and caregivers by providing recommendations and guidance across a wide range of medical conditions. </a:t>
            </a:r>
          </a:p>
          <a:p>
            <a:r>
              <a:rPr lang="en-US" sz="1800" dirty="0" smtClean="0"/>
              <a:t>It can recommend clinical treatment for a patient (decisions belong to the doctor), help with interpretation of diagnostic results, and answer general questions such as guidelines, common practices or research findings.</a:t>
            </a:r>
          </a:p>
          <a:p>
            <a:r>
              <a:rPr lang="en-US" sz="1800" dirty="0" smtClean="0"/>
              <a:t>It is an API-only service designed for IBM watsonx Orchestrate.</a:t>
            </a:r>
          </a:p>
          <a:p>
            <a:r>
              <a:rPr lang="en-US" sz="1800" dirty="0" smtClean="0"/>
              <a:t/>
            </a:r>
          </a:p>
          <a:p>
            <a:r>
              <a:rPr lang="en-US" sz="1800" dirty="0" smtClean="0"/>
              <a:t>⚠️ IMPORTANT MEDICAL DISCLAIMER AND LIMITATION OF LIABILITY</a:t>
            </a:r>
          </a:p>
          <a:p>
            <a:r>
              <a:rPr lang="en-US" sz="1800" dirty="0" smtClean="0"/>
              <a:t>The agent does not replace professional medical judgment or legal requirements.</a:t>
            </a:r>
          </a:p>
          <a:p>
            <a:r>
              <a:rPr lang="en-US" sz="1800" dirty="0" smtClean="0"/>
              <a:t>This AI system is designed **solely for research, educational, and informational purposes and is not intended for clinical decision-making, diagnosis, treatment, or patient care**. </a:t>
            </a:r>
          </a:p>
          <a:p>
            <a:r>
              <a:rPr lang="en-US" sz="1800" dirty="0" smtClean="0"/>
              <a:t>This system does **not provide medical advice, diagnosis, treatment recommendations, or professional healthcare guidance**.</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https://cloud.ibm.com/catalog/services/dynamiq-ai-agent-001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89</a:t>
            </a:r>
            <a:endParaRPr lang="en-US"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Email Delivery, powered by Sendgrid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and Deliver via SMTP or API in 5 Minutes or Less</a:t>
            </a:r>
          </a:p>
          <a:p>
            <a:r>
              <a:rPr lang="en-US" sz="2000" dirty="0" smtClean="0">
                <a:solidFill>
                  <a:srgbClr val="808080"/>
                </a:solidFill>
              </a:rPr>
              <a:t/>
            </a:r>
          </a:p>
          <a:p>
            <a:r>
              <a:rPr lang="en-US" sz="2000" dirty="0" smtClean="0">
                <a:solidFill>
                  <a:srgbClr val="808080"/>
                </a:solidFill>
              </a:rPr>
              <a:t>Our SMTP relay setup and flexible Web and SMTP APIs provide a customizable integration approach for your transactional email.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Your business relies on getting email to the inbox. Your email delivery rate—the rate at which your emails actually make it to the inbox—is the most important metric for your email program's success. While no one can guarantee email deliverability, with SendGrid you can be confident that you’ll have the tools and the expertise you need to optimize your inbox delivery rate.</a:t>
            </a:r>
          </a:p>
          <a:p>
            <a:r>
              <a:rPr lang="en-US" sz="1800" dirty="0" smtClean="0"/>
              <a:t/>
            </a:r>
          </a:p>
          <a:p>
            <a:r>
              <a:rPr lang="en-US" sz="1800" dirty="0" smtClean="0"/>
              <a:t>As a SendGrid customer, your sending is enhanced with artificial intelligence that continually adapts to changing ISP rules. Businesses large and small can increase their delivery rates with ACE, our Adaptive Communication Engine. The SendGrid team's collective knowledge of email best practices is becoming an encoded AI across our platform, further heightening your deliverability and throughput.</a:t>
            </a:r>
          </a:p>
          <a:p>
            <a:r>
              <a:rPr lang="en-US" sz="1800" dirty="0" smtClean="0"/>
              <a:t/>
            </a:r>
          </a:p>
          <a:p>
            <a:r>
              <a:rPr lang="en-US" sz="1800" dirty="0" smtClean="0"/>
              <a:t>We partner with the ISP, compliance, and delivery communities to fight spam and keep email safe for all. We are trusted to work with only the best senders, and use our whitehat position in the industry to advocate for our customers.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SendGrid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https://cloud.ibm.com/catalog/infrastructure/email-delivery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90</a:t>
            </a:r>
            <a:endParaRPr lang="en-US"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Enterprise Application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Enterprise Application Service for Java is an application platform for building, deploying, and running enterprise Java applications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Enterprise Application Service for Java (EASeJ) is a fully managed application platform that simplifies how enterprises build, deploy, and run Java applications in the cloud. EASeJ optimizes the entire Java application lifecycle, enabling users to deliver faster, and focus on innovation and value creation.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https://cloud.ibm.com/catalog/services/enterprise-app-java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91</a:t>
            </a:r>
            <a:endParaRPr lang="en-US" dirty="0"/>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etiCloud secure digital agile workplace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etiCloud Secure Digital Agile Workplace - Secure Desktop-as-a-Service delivered as a private business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 Digital Workplace:</a:t>
            </a:r>
          </a:p>
          <a:p>
            <a:r>
              <a:rPr lang="en-US" sz="1800" dirty="0" smtClean="0"/>
              <a:t>Access documents, files, emails and relevant applications quickly and securely, anytime, anywhere – enabling a truly agile digital workplace to improve cost and time efficiencies.</a:t>
            </a:r>
          </a:p>
          <a:p>
            <a:r>
              <a:rPr lang="en-US" sz="1800" dirty="0" smtClean="0"/>
              <a:t/>
            </a:r>
          </a:p>
          <a:p>
            <a:r>
              <a:rPr lang="en-US" sz="1800" dirty="0" smtClean="0"/>
              <a:t>Computing in the modern workplace:</a:t>
            </a:r>
          </a:p>
          <a:p>
            <a:r>
              <a:rPr lang="en-US" sz="1800" dirty="0" smtClean="0"/>
              <a:t>When it comes to the computing experience in your business, how easy is it for you to access the system and relevant applications? Chances are you’re rolling your eyes because it’s probably a little hit and miss. Right?</a:t>
            </a:r>
          </a:p>
          <a:p>
            <a:r>
              <a:rPr lang="en-US" sz="1800" dirty="0" smtClean="0"/>
              <a:t/>
            </a:r>
          </a:p>
          <a:p>
            <a:r>
              <a:rPr lang="en-US" sz="1800" dirty="0" smtClean="0"/>
              <a:t>If you’re office-based, do you find yourself turning on your laptop and heading to the kitchen to make coffee while the system loads? When you’re travelling on a train, do you have to wait ages to open a single file? And if you’re working from home, do you get frustrated with how long it takes to send an email? Have you simply got used to circumventing the workflow to allow for inefficiencies in the existing IT system?</a:t>
            </a:r>
          </a:p>
          <a:p>
            <a:r>
              <a:rPr lang="en-US" sz="1800" dirty="0" smtClean="0"/>
              <a:t/>
            </a:r>
          </a:p>
          <a:p>
            <a:r>
              <a:rPr lang="en-US" sz="1800" dirty="0" smtClean="0"/>
              <a:t>Many UK companies and organisations employ a range of functionality to deliver IT. A mix of Cloud, on-premise and legacy systems in place, all evolving over time, can lead to an inefficient and cumbersome platform that is simply not fit for purpose. This poses challenges for everyone from end users to IT teams:</a:t>
            </a:r>
          </a:p>
          <a:p>
            <a:r>
              <a:rPr lang="en-US" sz="1800" dirty="0" smtClean="0"/>
              <a:t/>
            </a:r>
          </a:p>
          <a:p>
            <a:r>
              <a:rPr lang="en-US" sz="1800" dirty="0" smtClean="0"/>
              <a:t>Difficulty in accessing information quickly and reliably, irrespective of whether you’re in the office or on the move</a:t>
            </a:r>
          </a:p>
          <a:p>
            <a:r>
              <a:rPr lang="en-US" sz="1800" dirty="0" smtClean="0"/>
              <a:t>Different passwords for different systems</a:t>
            </a:r>
          </a:p>
          <a:p>
            <a:r>
              <a:rPr lang="en-US" sz="1800" dirty="0" smtClean="0"/>
              <a:t>Inadequate cybersecurity protocols for remote working access</a:t>
            </a:r>
          </a:p>
          <a:p>
            <a:r>
              <a:rPr lang="en-US" sz="1800" dirty="0" smtClean="0"/>
              <a:t>Having uniform, fast, secure and reliable ‘round-the-clock’ access to every piece of information you need to do your job efficiently and effectively is imperative for commercial success. Irrespective of your location, whether you’re office-based or on the move, you need data, documents, files, spreadsheets, emails and everything in between instantly at your fingertips. Not possible? Think again. With etiCloud Agile Digital Workplace you can have all of this, and more, in one single place.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etiCloud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https://cloud.ibm.com/catalog/services/eticloud-secure-digital-agile-workplace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92</a:t>
            </a:r>
            <a:endParaRPr lang="en-US"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Notifications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Email, SMS, Webhooks and Push Notifications for your IBM Cloud service events.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Event Notifications is an event notification routing service that notifies you to critical events that occur in your IBM Cloud account or triggers automated actions by using webhooks. You can filter and route event notifications from IBM Cloud services to Email, SMS, Webhooks and Push Notifications.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https://cloud.ibm.com/catalog/services/event-notifications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93</a:t>
            </a:r>
            <a:endParaRPr lang="en-US"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Streams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our fully managed Kafka service to help you build intelligent applications that react to events in real 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Event Streams on IBM Cloud is a fully managed, high-throughput message bus built on Apache Kafka that enables applications and services to communicate. It is optimized for event ingestion into IBM Cloud and event distribution between your services and applications. Event Streams on IBM Cloud allows you to deploy production ready Apache Kafka and build cloud native apps in a secure and highly available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https://cloud.ibm.com/catalog/services/messagehub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94</a:t>
            </a:r>
            <a:endParaRPr lang="en-US"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F5 BIG-IP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F5 BIG-IP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F5 BIG-IP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95</a:t>
            </a:r>
            <a:endParaRPr lang="en-US" dirty="0"/>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Habanero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fully managed IBM Power offsite data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Habanero is a fully managed storage service designed to simplify secure offsite data storage for IBM Power, especially IBM i on-premises environments, delivering ransomware resilient retention, disaster recovery, compliance, and long term archiving at a cost model comparable to object storage and requiring no changes to existing backup infrastructures.</a:t>
            </a:r>
          </a:p>
          <a:p>
            <a:r>
              <a:rPr lang="en-US" sz="1800" dirty="0" smtClean="0"/>
              <a:t/>
            </a:r>
          </a:p>
          <a:p>
            <a:r>
              <a:rPr lang="en-US" sz="1800" dirty="0" smtClean="0"/>
              <a:t>Habanero integrates directly with existing IBM Power backup applications and processes delivering simplified secure offsite data protection for on-premises IBM Power systems including IBM i, AIX, and Linux workloads.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https://cloud.ibm.com/catalog/services/falconstor-software-habanero-service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96</a:t>
            </a:r>
            <a:endParaRPr lang="en-US" dirty="0"/>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StorSafe for Power On-Premises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Decrease your on-premise backup storage capacity by up to 90%, while improving your existing backup solution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StorSafe is a software solution that optimizes backup and restore, to improve performance and significantly reduce backup storage costs, all without requiring changes to the existing backup solution currently being used. With its integrated deduplication, the solution removes redundant copies of data, thereby reducing capacity requirements, decreasing storage costs, and minimizing replication and restore times. StorSafe can be used with all leading backup solutions, and enables both hybrid and native-cloud backup, as well as both workload and tape migration to the cloud, including IBM PowerVS.</a:t>
            </a:r>
          </a:p>
          <a:p>
            <a:r>
              <a:rPr lang="en-US" sz="1800" dirty="0" smtClean="0"/>
              <a:t>This solution is applicable to hybrid cloud deployments where you can have a backup of data on your on-premises deployment in the cloud. You can also use this solution for your on-premises workload migration to the cloud.</a:t>
            </a:r>
          </a:p>
          <a:p>
            <a:r>
              <a:rPr lang="en-US" sz="1800" dirty="0" smtClean="0"/>
              <a:t> </a:t>
            </a:r>
          </a:p>
          <a:p>
            <a:r>
              <a:rPr lang="en-US" sz="1800" dirty="0" smtClean="0"/>
              <a:t>For a free assessment, contact a solution expert at ibmsales@falconstor.com.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https://cloud.ibm.com/catalog/services/falconstor-software-storsafe-vtl-for-power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97</a:t>
            </a:r>
            <a:endParaRPr lang="en-US" dirty="0"/>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Fast and flexible NFS-based file storage with capacity options from 20GB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fast and flexible NFS-based file storage to your IBM Cloud portfolio. Get total control and help minimize costs with flash-backed architecture. Create file shares from 20GB to 12TB—and provision it all with a variety of flexible and power-based options.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https://cloud.ibm.com/catalog/infrastructure/file-storage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98</a:t>
            </a:r>
            <a:endParaRPr lang="en-US" dirty="0"/>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 shared storage that you can share across multiple Virtual Servers within your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Cloud® File Storage for VPC service provides secure, persistent, NSFv4.1 protocol-based file storage. IBM Cloud® File Storage for VPC is backed by All-Flash architecture. You can create file shares with capacity that ranges from 10 GB to 32 TB with flexible options. You can mount the file share on multiple IBM Cloud Virtual Servers for file sharing and collaboration. You have total control over your data as you manage access to the file shares with IAM profiles, security groups, and context-based restrictions. You can also bring your own root keys to add another layer of encryption. You can manage your cost by provisioning only what you need. You can increase the share capacity later when you need more storage, and you can adjust the IOPS to increase or decrease performance anytime.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https://cloud.ibm.com/catalog/services/is.share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99</a:t>
            </a:r>
            <a:endParaRPr lang="en-US" dirty="0"/>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Floating IP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Reserve a Floating IP that gives your virtual servers access to the Internet.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Reserve a Floating IP to use with virtual server instances (VSI) in a virtual private cloud (VPC). Each Floating IP gives your VSIs access to the public Internet, and vice versa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https://cloud.ibm.com/catalog/services/is.floating-ip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100</a:t>
            </a:r>
            <a:endParaRPr lang="en-US" dirty="0"/>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Flow Logs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Enables the capture of information about the Internet Protocol (IP) traffic going to and from networks of your Virtual Private Clouds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Flow Logs for VPC is an add-on feature to IBM Cloud VPC Gen2, enabling the collection of information about the IP traffic going to and from network interfaces in your VPC. Flow logs can help with a number of tasks; for example, to troubleshoot why specific traffic is not reaching an instance, which in turn helps to diagnose security group rules. You can also use flow log output as a source for applications that analyze traffic that is reaching your resources. Flow logs is a critical tool for determine the overall health of network monitoring and root cause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https://cloud.ibm.com/catalog/services/is.flow-log-collector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101</a:t>
            </a:r>
            <a:endParaRPr lang="en-US" dirty="0"/>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IBM i, AIX, Linux or Windows VMs from on premises, private or hybrid cloud 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Migrate IBM i, AIX, Linux and Windows workloads to IBM Cloud. Contact FNTS at https://www.fnts.com/contact-us to schedule an initial planning meeting to discuss the scope of the project. FNTS will work with you to build a migration plan and estimate the service credits required to deliver the project and ongoing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https://cloud.ibm.com/catalog/services/fnts-cloud-migration-services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102</a:t>
            </a:r>
            <a:endParaRPr lang="en-US" dirty="0"/>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Managed Services for PowerVS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instances which includes monitoring, configuration, patching, and capacity management.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FNTS will provide managed services for PowerVS instances (LPARs) running IBM i or AIX. Services include OS troubleshooting support, system monitoring, alerting, fix management, configuration and capacity management.  If your environment includes multiple data centers, FNTS can support several options for data replication to PowerVS based on your business continuity requirements, but it is outside the scope of this service.</a:t>
            </a:r>
          </a:p>
          <a:p>
            <a:r>
              <a:rPr lang="en-US" sz="1800" dirty="0" smtClean="0"/>
              <a:t/>
            </a:r>
          </a:p>
          <a:p>
            <a:r>
              <a:rPr lang="en-US" sz="1800" dirty="0" smtClean="0"/>
              <a:t/>
            </a:r>
          </a:p>
          <a:p>
            <a:r>
              <a:rPr lang="en-US" sz="1800" dirty="0" smtClean="0"/>
              <a:t>FNTS complies with PCI and Soc 2 Type II standards and will support you in your efforts to meet HIPAA and GDPR compliance requirements.</a:t>
            </a:r>
          </a:p>
          <a:p>
            <a:r>
              <a:rPr lang="en-US" sz="1800" dirty="0" smtClean="0"/>
              <a:t/>
            </a:r>
          </a:p>
          <a:p>
            <a:r>
              <a:rPr lang="en-US" sz="1800" dirty="0" smtClean="0"/>
              <a:t/>
            </a:r>
          </a:p>
          <a:p>
            <a:r>
              <a:rPr lang="en-US" sz="1800" dirty="0" smtClean="0"/>
              <a:t>This service is designed for the management of new or existing PowerVS environments. Additional services are available from FNTS for migrating Power LPARs to PowerVS, and performing backup and DR replication services. Contact FNTS at https://www.fnts.com/contact-us for an initial consultation.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https://cloud.ibm.com/catalog/services/fnts-managed-services-for-powervs-cloud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103</a:t>
            </a:r>
            <a:endParaRPr lang="en-US" dirty="0"/>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Order and provision an HA-pair of FortiGate Security Appliance devices through IBM Cloud to protect your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Order and provision an HA-pair of FortiGate Security Appliance devices through IBM Cloud to protect your network.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104</a:t>
            </a:r>
            <a:endParaRPr lang="en-US" dirty="0"/>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 10Gbps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Single-tenant, high throughput firewall protects multiple VLANs on both public and private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high throughput, single-tenant firewall can be configured to protect traffic on multiple VLANs for both public and private networks. To order, navigate to Security &gt; Network Security &gt; Firewalls, then click on the Order Multi VLAN Firewall link in the top right corner.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https://cloud.ibm.com/catalog/infrastructure/fortigate-security-appliance-10gb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105</a:t>
            </a:r>
            <a:endParaRPr lang="en-US" dirty="0"/>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Virtual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Fortinet FortiGate-VM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Fortinet FortiGate-VM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https://cloud.ibm.com/catalog/services/fortigatevm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106</a:t>
            </a:r>
            <a:endParaRPr lang="en-US" dirty="0"/>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Fortinet Virtual FortiGate Security Appliance (vFSA)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Fortinet vFSA offers the same functionality as the  FortiGate Security Appliance (FSA).  It is a single tenant (dedicated), self-managed firewall, offered in two speeds 1Gbps and 10Gbps.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https://cloud.ibm.com/catalog/infrastructure/network-gateway-fortinet-vfsa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107</a:t>
            </a:r>
            <a:endParaRPr lang="en-US" dirty="0"/>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KTLO Application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KTLO offers OS and application management with onboarding, 24x7 support, proactive monitoring, and modern tools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KTLO (Keep The Lights On) provides 24x7 comprehensive managed services for OS/400 and selected applications -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and backup monitoring, and disaster recovery support.</a:t>
            </a:r>
          </a:p>
          <a:p>
            <a:r>
              <a:rPr lang="en-US" sz="1800" dirty="0" smtClean="0"/>
              <a:t> </a:t>
            </a:r>
          </a:p>
          <a:p>
            <a:r>
              <a:rPr lang="en-US" sz="1800" dirty="0" smtClean="0"/>
              <a:t>Our application teams provide on-going support and management for selected applications, including profile management, application message responses, batch job management, application patching and upgrades, report creation,</a:t>
            </a:r>
          </a:p>
          <a:p>
            <a:r>
              <a:rPr lang="en-US" sz="1800" dirty="0" smtClean="0"/>
              <a:t> </a:t>
            </a:r>
          </a:p>
          <a:p>
            <a:r>
              <a:rPr lang="en-US" sz="1800" dirty="0" smtClean="0"/>
              <a:t>Fresche includes our full Security Suite as part of this solution – including auditing, alerting, remediation tools, and encryption capabilities. Remediation work is offered as an additional service.</a:t>
            </a:r>
          </a:p>
          <a:p>
            <a:r>
              <a:rPr lang="en-US" sz="1800" dirty="0" smtClean="0"/>
              <a:t> </a:t>
            </a:r>
          </a:p>
          <a:p>
            <a:r>
              <a:rPr lang="en-US" sz="1800" dirty="0" smtClean="0"/>
              <a:t>Fresche KTLO enables your team to focus on innovation while we handle the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https://cloud.ibm.com/catalog/services/freschetotalops360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108</a:t>
            </a:r>
            <a:endParaRPr lang="en-US" dirty="0"/>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LPAR Operations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provides operating system management for your IBMi, including on-boarding, monitoring, robust management, 24x7 support.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Managed Services provides 24x7 managed services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monitoring, backup and recovery, and disaster recovery (if contracted).</a:t>
            </a:r>
          </a:p>
          <a:p>
            <a:r>
              <a:rPr lang="en-US" sz="1800" dirty="0" smtClean="0"/>
              <a:t> </a:t>
            </a:r>
          </a:p>
          <a:p>
            <a:r>
              <a:rPr lang="en-US" sz="1800" dirty="0" smtClean="0"/>
              <a:t>Fresche includes our Security Audit tool at no additional charge as part of this solution.</a:t>
            </a:r>
          </a:p>
          <a:p>
            <a:r>
              <a:rPr lang="en-US" sz="1800" dirty="0" smtClean="0"/>
              <a:t> </a:t>
            </a:r>
          </a:p>
          <a:p>
            <a:r>
              <a:rPr lang="en-US" sz="1800" dirty="0" smtClean="0"/>
              <a:t>Our services enable your team to focus on innovation while we handle the technical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https://cloud.ibm.com/catalog/services/fresche-managed-services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109</a:t>
            </a:r>
            <a:endParaRPr lang="en-US" dirty="0"/>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Presto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Presto instantly transforms IBM i green screens into modern web and mobile interfaces without changing source code.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Presto is a comprehensive IBM i green screen modernization solution that transforms traditional 5250 interfaces into modern, responsive web and mobile applications without modifying your underlying RPG or COBOL source code.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https://cloud.ibm.com/catalog/services/fresche-presto</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110</a:t>
            </a:r>
            <a:endParaRPr lang="en-US" dirty="0"/>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Security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auditing, compliance, data encryption, and intrusion detection software solutions for IBM i systems.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i Security Suite by Fresche Solutions offers a comprehensive approach to safeguarding your critical business data. This suite addresses key areas of vulnerability, including unauthorized remote access through third-party applications, ODBC connections, file shares, and web servers. It also protects against Integrated File System (IFS) exposures and allows continuous monitoring to ensure system integrity is retained and ransomware attacks are minimized. This solution also monitors real-time system access and escalates critical security events to a Security Information and Event Management (SIEM) system or email server. The suite not only enhances security but also simplifies compliance with industry standards such as PCI and HIPAA through built-in content.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https://cloud.ibm.com/catalog/services/fresche-security-suite-v2</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111</a:t>
            </a:r>
            <a:endParaRPr lang="en-US" dirty="0"/>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X-Analysis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Powered Application Discovery and Understanding tool for managing and modernizing applications that run on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X-Analysis is an AI Powered Application Discovery and Understanding tool that is used to understand and manage applications that run on IBM i.  X-Analyis extracts metadata from application objects and the source code used to create those objects in order to provide a detailed, comprehensive view of how an application interacts with the objects/components that are part of the application.  The tool automates the generation of documentation, performs impact analysis, extracts business rules, maps applications, visualizes data models, and assesses code quality. These features collectively empower development teams to gain a profound understanding of existing applications, thereby accelerating informed decision-making during modernization initiatives.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https://cloud.ibm.com/catalog/services/x-analysis-suite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112</a:t>
            </a:r>
            <a:endParaRPr lang="en-US" dirty="0"/>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1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Generate by Iterate.ai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private agentic platform with advanced document and database search capabilities for analyzing large-scale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Generate is a private, secure agentic AI platform built for multiple industries. </a:t>
            </a:r>
          </a:p>
          <a:p>
            <a:r>
              <a:rPr lang="en-US" sz="1800" dirty="0" smtClean="0"/>
              <a:t>The Healthcare Edition helps hospitals uncover and recover leaked revenue from unpaid and underpaid claims by unifying claims, remits, denials, contracts, and payer policies into a single, action-driven workflow. It highlights recovery opportunities, filing deadlines, root-cause patterns, and ROI impact so teams can collect more while working less.</a:t>
            </a:r>
          </a:p>
          <a:p>
            <a:r>
              <a:rPr lang="en-US" sz="1800" dirty="0" smtClean="0"/>
              <a:t/>
            </a:r>
          </a:p>
          <a:p>
            <a:r>
              <a:rPr lang="en-US" sz="1800" dirty="0" smtClean="0"/>
              <a:t>Hospitals lose revenue every day through underpayments, avoidable denials, missed appeal windows, and documentation gaps. Because billing teams rarely have the capacity to pursue every claim Generate addresses this by turning fragmented data (EHR exports, clearinghouse files, payer remits, contracts, medical policies, SOPs, spreadsheets, emails) into a prioritized recovery pipeline that teams can act on immediately.</a:t>
            </a:r>
          </a:p>
          <a:p>
            <a:r>
              <a:rPr lang="en-US" sz="1800" dirty="0" smtClean="0"/>
              <a:t/>
            </a:r>
          </a:p>
          <a:p>
            <a:r>
              <a:rPr lang="en-US" sz="1800" dirty="0" smtClean="0"/>
              <a:t>Generate can help uncover 4–12% of net patient revenue in underpaid claims by making recovery work systematic and scalable. With data connectors, your team can “connect and forget” the sources you already use. Then Agentic Cards surface what matters most:</a:t>
            </a:r>
          </a:p>
          <a:p>
            <a:r>
              <a:rPr lang="en-US" sz="1800" dirty="0" smtClean="0"/>
              <a:t/>
            </a:r>
          </a:p>
          <a:p>
            <a:r>
              <a:rPr lang="en-US" sz="1800" dirty="0" smtClean="0"/>
              <a:t>1. Claims with recovery potential (underpaid, denied, pending)</a:t>
            </a:r>
          </a:p>
          <a:p>
            <a:r>
              <a:rPr lang="en-US" sz="1800" dirty="0" smtClean="0"/>
              <a:t/>
            </a:r>
          </a:p>
          <a:p>
            <a:r>
              <a:rPr lang="en-US" sz="1800" dirty="0" smtClean="0"/>
              <a:t>2. Estimated dollars at risk and expected recoverable value</a:t>
            </a:r>
          </a:p>
          <a:p>
            <a:r>
              <a:rPr lang="en-US" sz="1800" dirty="0" smtClean="0"/>
              <a:t/>
            </a:r>
          </a:p>
          <a:p>
            <a:r>
              <a:rPr lang="en-US" sz="1800" dirty="0" smtClean="0"/>
              <a:t>3. Deadlines (timely filing, appeals, reconsiderations)</a:t>
            </a:r>
          </a:p>
          <a:p>
            <a:r>
              <a:rPr lang="en-US" sz="1800" dirty="0" smtClean="0"/>
              <a:t/>
            </a:r>
          </a:p>
          <a:p>
            <a:r>
              <a:rPr lang="en-US" sz="1800" dirty="0" smtClean="0"/>
              <a:t>4. Next-best actions with supporting evidence</a:t>
            </a:r>
          </a:p>
          <a:p>
            <a:r>
              <a:rPr lang="en-US" sz="1800" dirty="0" smtClean="0"/>
              <a:t/>
            </a:r>
          </a:p>
          <a:p>
            <a:r>
              <a:rPr lang="en-US" sz="1800" dirty="0" smtClean="0"/>
              <a:t>5. Recurring error patterns that improve first-pass claim accuracy</a:t>
            </a:r>
          </a:p>
          <a:p>
            <a:r>
              <a:rPr lang="en-US" sz="1800" dirty="0" smtClean="0"/>
              <a:t/>
            </a:r>
          </a:p>
          <a:p>
            <a:r>
              <a:rPr lang="en-US" sz="1800" dirty="0" smtClean="0"/>
              <a:t>Generate runs privately within IBM Cloud to support healthcare-grade security and privacy requirements.</a:t>
            </a:r>
          </a:p>
          <a:p>
            <a:r>
              <a:rPr lang="en-US" sz="1800" dirty="0" smtClean="0"/>
              <a:t/>
            </a:r>
          </a:p>
          <a:p>
            <a:r>
              <a:rPr lang="en-US" sz="1800" dirty="0" smtClean="0"/>
              <a:t>Beyond healthcare, Generate is a versatile horizontal platform that enables agentic workflows and analytics across both structured and unstructured data, supporting use cases in finance, legal, public sector, and more.</a:t>
            </a:r>
          </a:p>
          <a:p>
            <a:r>
              <a:rPr lang="en-US" sz="1800" dirty="0" smtClean="0"/>
              <a:t/>
            </a:r>
          </a:p>
          <a:p>
            <a:r>
              <a:rPr lang="en-US" sz="1800" dirty="0" smtClean="0"/>
              <a:t>Customer Quotes</a:t>
            </a:r>
          </a:p>
          <a:p>
            <a:r>
              <a:rPr lang="en-US" sz="1800" dirty="0" smtClean="0"/>
              <a:t>“The data and dashboards have been invaluable… We now understand our true financial picture, can hold vendors accountable, respond to audits, and recover underpaid claims.” — Robin Cetti, Director of Decision Support &amp; Revenue Integrity, Hutchinson Regional Health System</a:t>
            </a:r>
          </a:p>
          <a:p>
            <a:r>
              <a:rPr lang="en-US" sz="1800" dirty="0" smtClean="0"/>
              <a:t/>
            </a:r>
          </a:p>
          <a:p>
            <a:r>
              <a:rPr lang="en-US" sz="1800" dirty="0" smtClean="0"/>
              <a:t>“A playground of answers to all the questions healthcare leaders are asking.” — Dr. F.X. Campion, MIT Research &amp; Engineering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Iterate.ai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https://cloud.ibm.com/catalog/services/iterate-ai-generate-enterprise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113</a:t>
            </a:r>
            <a:endParaRPr lang="en-US" dirty="0"/>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1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GovPulse.io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GovPulse delivers AI-powered government contracting intelligence, providing daily executive briefings, SAM.gov opportunity trackin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GovPulse is an AI-powered government intelligence platform that delivers real-time insights from federal, state, and local government sources. Integrated with IBM Watson Orchestrate, GovPulse transforms complex government data into actionable intelligence for businesses, consultants, and policy professionals. Access comprehensive briefings, track regulatory changes, and stay ahead of government decisions that impact your industry.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Avid Solutions Intl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https://cloud.ibm.com/catalog/services/avid-solutions-intl-govpulse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114</a:t>
            </a:r>
            <a:endParaRPr lang="en-US" dirty="0"/>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name="Slide 1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Hardware Firewall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your IBM IaaS environment (and all the information stored there) as well as preventing malicious activity from ever reaching your servers or end users.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Firewalls are an important step in securing your IBM IaaS environment (and all the information stored there) as well as preventing malicious activity from ever reaching your servers or end users. When added to your security strategy, hardware and software firewall options will help ensure uptime, protect your servers and network, and give you greater control of your infrastructure’s protection settings. To add a firewall to a server, click on the link Devices &gt; Device List &gt; Click the desired server &gt; Configuration &gt; Bottom of the page: Order Hardware Firewall in the customer portal. This will begin the order process for an appropriate firewall based on the uplink speed of the selected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https://cloud.ibm.com/catalog/infrastructure/hardware-firewall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115</a:t>
            </a:r>
            <a:endParaRPr lang="en-US" dirty="0"/>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name="Slide 1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HCX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Extend the networks of your on-premises data centers into IBM Cloud, and migrate your VMs to or from IBM Cloud without any change.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Extend the networks of your on-premises data centers into IBM Cloud, and migrate your VMs to or from IBM Cloud without any change.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https://cloud.ibm.com/catalog/services/hcx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116</a:t>
            </a:r>
            <a:endParaRPr lang="en-US" dirty="0"/>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name="Slide 1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heimr.co - Cloud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We can manage and migrate your IBM Cloud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Heimr can manage and support your IBM Cloud environment.</a:t>
            </a:r>
          </a:p>
          <a:p>
            <a:r>
              <a:rPr lang="en-US" sz="1800" dirty="0" smtClean="0"/>
              <a:t>Our team is ready to build with our partners taylor made solution.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HEIMR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https://cloud.ibm.com/catalog/services/heimr-cps01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117</a:t>
            </a:r>
            <a:endParaRPr lang="en-US" dirty="0"/>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name="Slide 1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Horizon 7</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seamlessly integrated hybrid cloud for virtual desktops and applications based on VMware Horizon® 7.</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seamlessly integrated hybrid cloud for virtual desktops and applications based on VMware Horizon® 7.</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https://cloud.ibm.com/catalog/services/horizon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118</a:t>
            </a:r>
            <a:endParaRPr lang="en-US" dirty="0"/>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name="Slide 1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Hybrid Cloud Infrastructure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Customers need best of breed, multi-cloud, including hybrid cloud offerings. This infrastructure as a service offering provides compute, storage, network as a service for US Government Customers.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particular, this offering is focused on US Federal Government Customers. IBM Consulting and VSO will provide Hybrid Cloud Infrastructure as a Service (HCIaaS) offering with a Cost-per-Unit model on the C2E vehicle.  Offering Specifications: 4 nodes in 2RU chassis, each node containing 16 cores (2x Intel Xeon-Silver 4309Y processor - 2.8 GHz / 8-core / 105W, Ice Lake), 512GB of RAM, 2x 8TB hard drives, and 1x 2 TB solid state drive.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https://cloud.ibm.com/catalog/infrastructure/ibm-consulting-hybrid-cloud-iaas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119</a:t>
            </a:r>
            <a:endParaRPr lang="en-US" dirty="0"/>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name="Slide 1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Hyper Protect Crypto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Keep Your Own Key for cloud data encryption with a dedicated key management service built on FIPS 140-2 Level 4 certified HSM.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dedicated key management service and Hardware Security Module (HSM) provides you with the Keep Your Own Key capability for cloud data encryption. Built on FIPS 140-2 Level 4 certified hardware, Hyper Protect Crypto Services provides you with exclusive control of your encryption keys. With Unified Key Orchestrator, you can connect your service instance to keystores in IBM Cloud and third-party cloud providers, back up and manage keys using a unified system, and orchestrate keys across multiple clouds.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https://cloud.ibm.com/catalog/services/hs-crypto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120</a:t>
            </a:r>
            <a:endParaRPr lang="en-US" dirty="0"/>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name="Slide 1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CloudControl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automated protection and compliance support, enabling better visibility and control over your cloud environment and administrators.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automated protection and compliance support, enabling better visibility and control over your cloud environment and administrators.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https://cloud.ibm.com/catalog/services/hytrustcc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121</a:t>
            </a:r>
            <a:endParaRPr lang="en-US" dirty="0"/>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name="Slide 1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DataControl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data with powerful encryption and scalable key management to secure your workloads throughout their lifecycles.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data with powerful encryption and scalable key management to secure your workloads throughout their lifecycles.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122</a:t>
            </a:r>
            <a:endParaRPr lang="en-US" dirty="0"/>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name="Slide 1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KeyControl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scalable and highly available key management for your data security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scalable and highly available key management for your data security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https://cloud.ibm.com/catalog/services/hytrustkc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123</a:t>
            </a:r>
            <a:endParaRPr lang="en-US" dirty="0"/>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name="Slide 1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Image Service for VPC provides capabilities for customers to bring their own images or create images for rapid deployment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 images are used to create new virtual server instances with your own settings and configurations.  You can create a custom image on IBM Cloud in two ways: </a:t>
            </a:r>
          </a:p>
          <a:p>
            <a:r>
              <a:rPr lang="en-US" sz="1800" dirty="0" smtClean="0"/>
              <a:t>1. You can create a custom image on premises and import it to your IBM Cloud Virtual Private Cloud infrastructure from IBM Cloud Object Storage. </a:t>
            </a:r>
          </a:p>
          <a:p>
            <a:r>
              <a:rPr lang="en-US" sz="1800" dirty="0" smtClean="0"/>
              <a:t>2. You can create a custom image of a boot volume that is attached to a virtual server instance at import time. For more information, see [about creating an image](/docs/vpc?topic=vpc-image-from-volume-vpc).</a:t>
            </a:r>
          </a:p>
          <a:p>
            <a:r>
              <a:rPr lang="en-US" sz="1800" dirty="0" smtClean="0"/>
              <a:t>Images are private to the account that they're imported to. New virtual server instance deployments are limited to the region where the image is imported. For more information about importing custom images, see [importing custom images](/docs/vpc?topic=vpc-importing-custom-images-vpc). For more information about managing custom images, see [Managing custom images](/docs/vpc?topic=vpc-managing-custom-images).</a:t>
            </a:r>
          </a:p>
          <a:p>
            <a:r>
              <a:rPr lang="en-US" sz="1800" dirty="0" smtClean="0"/>
              <a:t/>
            </a:r>
          </a:p>
          <a:p>
            <a:r>
              <a:rPr lang="en-US" sz="1800" dirty="0" smtClean="0"/>
              <a:t>You have many considerations when you create a custom image, such as operating systems, image requirements, and whether you want to share your custom image to a private catalog. For more information about planning for custom images, see [planning for custom images](/docs/vpc?topic=vpc-planning-custom-images).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124</a:t>
            </a:r>
            <a:endParaRPr lang="en-US" dirty="0"/>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name="Slide 1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Instance Metadata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Access metadata for VPC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Repository for metadata for VPC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https://cloud.ibm.com/catalog/services/is.metadata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125</a:t>
            </a:r>
            <a:endParaRPr lang="en-US" dirty="0"/>
          </a:p>
        </p:txBody>
      </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name="Slide 1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Internet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Using Cloudflare, Cloud Internet Services (CIS) provides Domain Name Service (DNS), Global Load Balancer (GLB), DDoS protection, Web Application Firewall (WAF), Transport Layer Security (TLS), Rate Limiting, Smart Routing, and Caching.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Internet Services (CIS) is an FS Validated service (see terms: https://www.ibm.com/support/customer/csol/terms/?id=i126-8065). It provides reliability, performance, and security for Internet facing applications, websites, and services using Cloudflare's 300+ Global Points of Presence (PoPs). It includes Domain Name Service (DNS), Global Load Balancer (GLB), Distributed Denial of Service (DDoS) protection, Web Application Firewall (WAF), Transport Layer Security (TLS), and Caching.</a:t>
            </a:r>
          </a:p>
          <a:p>
            <a:r>
              <a:rPr lang="en-US" sz="1800" dirty="0" smtClean="0"/>
              <a:t/>
            </a:r>
          </a:p>
          <a:p>
            <a:r>
              <a:rPr lang="en-US" sz="1800" dirty="0" smtClean="0"/>
              <a:t>### Pricing API reference</a:t>
            </a:r>
          </a:p>
          <a:p>
            <a:r>
              <a:rPr lang="en-US" sz="1800" dirty="0" smtClean="0"/>
              <a:t>**Service ID:** internet-svcs</a:t>
            </a:r>
          </a:p>
          <a:p>
            <a:r>
              <a:rPr lang="en-US" sz="1800" dirty="0" smtClean="0"/>
              <a:t/>
            </a:r>
          </a:p>
          <a:p>
            <a:r>
              <a:rPr lang="en-US" sz="1800" dirty="0" smtClean="0"/>
              <a:t>For more information about pricing, use the Global Catalog API. [Learn more](https://cloud.ibm.com/docs/billing-usage?topic=billing-usage-getting-pricing-api). The **_included_quantities_** for each metric provide the free included quantities for that metric and should be taken into consideration when determining the price estimate.</a:t>
            </a:r>
          </a:p>
          <a:p>
            <a:r>
              <a:rPr lang="en-US" sz="1800" dirty="0" smtClean="0"/>
              <a:t/>
            </a:r>
          </a:p>
          <a:p>
            <a:r>
              <a:rPr lang="en-US" sz="1800" dirty="0" smtClean="0"/>
              <a:t>### Plan IDs</a:t>
            </a:r>
          </a:p>
          <a:p>
            <a:r>
              <a:rPr lang="en-US" sz="1800" dirty="0" smtClean="0"/>
              <a:t>| Plan name | ID |</a:t>
            </a:r>
          </a:p>
          <a:p>
            <a:r>
              <a:rPr lang="en-US" sz="1800" dirty="0" smtClean="0"/>
              <a:t>| - | - |</a:t>
            </a:r>
          </a:p>
          <a:p>
            <a:r>
              <a:rPr lang="en-US" sz="1800" dirty="0" smtClean="0"/>
              <a:t>| Standard Next| `58d7216c-af92-4e7d-baec-ce13a4dd61c0` |</a:t>
            </a:r>
          </a:p>
          <a:p>
            <a:r>
              <a:rPr lang="en-US" sz="1800" dirty="0" smtClean="0"/>
              <a:t>| Enterprise Essential |  `6c8777ee-c73f-4860-8451-cc48e0af6f12` |</a:t>
            </a:r>
          </a:p>
          <a:p>
            <a:r>
              <a:rPr lang="en-US" sz="1800" dirty="0" smtClean="0"/>
              <a:t>| Enterprise Advanced | `224b9979-fd81-42a4-99a1-5172948a8c6b` |</a:t>
            </a:r>
          </a:p>
          <a:p>
            <a:r>
              <a:rPr lang="en-US" sz="1800" dirty="0" smtClean="0"/>
              <a:t>| Enterprise Premier | `87a3e981-1b6d-4819-96ae-6bf253249f38` |</a:t>
            </a:r>
          </a:p>
          <a:p>
            <a:r>
              <a:rPr lang="en-US" sz="1800" dirty="0" smtClean="0"/>
              <a:t>| Enterprise Usage | `f0fe7fbb-a516-412d-bdbb-e8cecb1b85a1`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https://cloud.ibm.com/catalog/services/internet-svcs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126</a:t>
            </a:r>
            <a:endParaRPr lang="en-US" dirty="0"/>
          </a:p>
        </p:txBody>
      </p:sp>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name="Slide 1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Juniper vSRX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Juniper vSRX is a powerful Router, Firewall, and Security device packaged in a virtual appliance with the same features as the hardware-based Juniper SRX appliance.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https://cloud.ibm.com/catalog/infrastructure/network-gateway-juniper-vsrx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127</a:t>
            </a:r>
            <a:endParaRPr lang="en-US" dirty="0"/>
          </a:p>
        </p:txBody>
      </p:sp>
    </p:spTree>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name="Slide 1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Key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or manage cryptographic keys in the cloud to protect data at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Key Protect is a cloud-based security service that provides life cycle management for encryption keys that are used in IBM Cloud services or customer-built applications. Key Protect provides roots of trust (RoT), backed by a hardware security module (HSM).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128</a:t>
            </a:r>
            <a:endParaRPr lang="en-US" dirty="0"/>
          </a:p>
        </p:txBody>
      </p:sp>
    </p:spTree>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name="Slide 1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KMIP for VMware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Cloud-based security service that provides life cycle management for encryption keys that are used in IBM Cloud services or customer-built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Cloud-based security service that provides life cycle management for encryption keys that are used in IBM Cloud services or customer-built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https://cloud.ibm.com/catalog/services/kmipadapter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129</a:t>
            </a:r>
            <a:endParaRPr lang="en-US" dirty="0"/>
          </a:p>
        </p:txBody>
      </p:sp>
    </p:spTree>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name="Slide 1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Knowledge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Teach Watson the language of your domain.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Teach Watson the language of your domain with custom machine learning models that identify entities and relationships unique to your industry in unstructured text. Build your models in a collaborative environment designed for both developers and domain experts, without needing to write code. Use the models in Watson Discovery, Watson Natural Language Understanding and Watson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https://cloud.ibm.com/catalog/services/knowledge-studio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130</a:t>
            </a:r>
            <a:endParaRPr lang="en-US" dirty="0"/>
          </a:p>
        </p:txBody>
      </p:sp>
    </p:spTree>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name="Slide 1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Elastic Data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Analytics driven file and object data migration. 27x faster, cost-effective, scale-out SaaS. Know first, move smart, save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Whether migrating to the cloud, cloud NAS or to a NAS in your data center, with Komprise Elastic Data Migration you get the fastest, most predictable and cost-efficient data migration for file and object data. </a:t>
            </a:r>
          </a:p>
          <a:p>
            <a:r>
              <a:rPr lang="en-US" sz="1800" dirty="0" smtClean="0"/>
              <a:t/>
            </a:r>
          </a:p>
          <a:p>
            <a:r>
              <a:rPr lang="en-US" sz="1800" dirty="0" smtClean="0"/>
              <a:t/>
            </a:r>
          </a:p>
          <a:p>
            <a:r>
              <a:rPr lang="en-US" sz="1800" dirty="0" smtClean="0"/>
              <a:t>Smart, fast, proven file and object data migration. Komprise runs data migrations 27 times faster with an elastic architecture and reliably migrates petabytes of data. </a:t>
            </a:r>
          </a:p>
          <a:p>
            <a:r>
              <a:rPr lang="en-US" sz="1800" dirty="0" smtClean="0"/>
              <a:t/>
            </a:r>
          </a:p>
          <a:p>
            <a:r>
              <a:rPr lang="en-US" sz="1800" dirty="0" smtClean="0"/>
              <a:t>Komprise Elastic Data Migration includes Komprise Analysis and is included in the Komprise Intelligent Data Management suite or is available standalone. Don’t just lift and shift – learn more about analytics-first smart data migration from Komprise today.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https://cloud.ibm.com/catalog/services/komprise-elastic-data-migration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131</a:t>
            </a:r>
            <a:endParaRPr lang="en-US" dirty="0"/>
          </a:p>
        </p:txBody>
      </p:sp>
    </p:spTree>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name="Slide 1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Intelligent Data Management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migrate, tier, archive, manage file and object data at scale simply and reliably. Optimize costs, deliver data value.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Komprise enables organizations to handle the two most pressing issues with unstructured data: managing its rampant growth across multi-vendor storage and unlocking data value. Komprise is a data management service that connects easily via open standards to any file storage to provide much-needed analytics and visibility across all storage silos.</a:t>
            </a:r>
          </a:p>
          <a:p>
            <a:r>
              <a:rPr lang="en-US" sz="1800" dirty="0" smtClean="0"/>
              <a:t/>
            </a:r>
          </a:p>
          <a:p>
            <a:r>
              <a:rPr lang="en-US" sz="1800" dirty="0" smtClean="0"/>
              <a:t>Key benefits for customers include optimizing the management of petabytes of unstructured data to accelerate cloud migrations while dramatically cutting costs. Komprise automatically migrates or tiers unstructured/file data to secondary storage according to the plans which users create so that data always lives in the right place at the right time according to its age, usage or other parameters such as security.</a:t>
            </a:r>
          </a:p>
          <a:p>
            <a:r>
              <a:rPr lang="en-US" sz="1800" dirty="0" smtClean="0"/>
              <a:t/>
            </a:r>
          </a:p>
          <a:p>
            <a:r>
              <a:rPr lang="en-US" sz="1800" dirty="0" smtClean="0"/>
              <a:t>This adds up to significant storage savings (up to 70%) from migrating and archiving data. Komprise’s elastic grid architecture and patented TMT (transparent move technology) ensures that once data is moved from NAS and cloud file services, users can always access files from the original location, in their original form, without getting in the hot data path and enabling native access in the destination storage.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https://cloud.ibm.com/catalog/services/komprise-intelligent-data-management-suite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132</a:t>
            </a:r>
            <a:endParaRPr lang="en-US" dirty="0"/>
          </a:p>
        </p:txBody>
      </p:sp>
    </p:spTree>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name="Slide 1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Kubernetes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secure, highly available apps in a native Kubernetes experience. IBM Cloud Kubernetes Service creates a cluster of compute hosts and deploys highly available containers.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Kubernetes Service creates a cluster of compute hosts and deploys highly available containers. A Kubernetes cluster lets you securely manage the resources that you need to quickly deploy, update and scale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https://cloud.ibm.com/catalog/services/containers-kubernetes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133</a:t>
            </a:r>
            <a:endParaRPr lang="en-US" dirty="0"/>
          </a:p>
        </p:txBody>
      </p:sp>
    </p:spTree>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name="Slide 1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HPC Managed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support new or existing HPC environment for hybrid environments (On-Prem,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Lantrasoft, we provide tailored solutions for your digital transformation utilizing Hybrid/IBM Cloud and IBM Spectrum LSF, Scale. We ensure seamless integration with your existing systems and empower your business with scalable resources through flexible architectures and intelligent workload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https://cloud.ibm.com/catalog/services/lantrasoft-hpc-managed-services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134</a:t>
            </a:r>
            <a:endParaRPr lang="en-US" dirty="0"/>
          </a:p>
        </p:txBody>
      </p:sp>
    </p:spTree>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name="Slide 1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Maximo MAS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upgrade, or migrate new or existing Maximo Application to Containerized MAS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This selection of services aims to assist Maximo customers seeking to upgrade to a MAS v8+ option.</a:t>
            </a:r>
          </a:p>
          <a:p>
            <a:r>
              <a:rPr lang="en-US" sz="1800" dirty="0" smtClean="0"/>
              <a:t>2. Lantrasoft performs the assessment and provides recommendations to support your desired option through advisory services and optionally the implementation efforts to accomplish these modernizing on-prem to hybrid-cloud-enabled projects.</a:t>
            </a:r>
          </a:p>
          <a:p>
            <a:r>
              <a:rPr lang="en-US" sz="1800" dirty="0" smtClean="0"/>
              <a:t>3. The services are designed to suit your specific upgrade or migration requirements and objectives. Builds out a unique project plan, scope, costs and timeline.</a:t>
            </a:r>
          </a:p>
          <a:p>
            <a:r>
              <a:rPr lang="en-US" sz="1800" dirty="0" smtClean="0"/>
              <a:t>4. All projects, irrespective of the category and customization, require a current state assessment or discovery coupled with a solid understanding of the customer goals and associated target environment.</a:t>
            </a:r>
          </a:p>
          <a:p>
            <a:r>
              <a:rPr lang="en-US" sz="1800" dirty="0" smtClean="0"/>
              <a:t>5. Once well-comprehended, an accurate statement of work (SOW) and associated price quote is generated in support of the project.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https://cloud.ibm.com/catalog/services/lantrasoft-maximo-mas-services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135</a:t>
            </a:r>
            <a:endParaRPr lang="en-US" dirty="0"/>
          </a:p>
        </p:txBody>
      </p:sp>
    </p:spTree>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name="Slide 1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Live Expert Hand-off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Trigger video or audio consultations with your experts over live video/audio, based on your hand-off rules and team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Live Expert Hand-off Agent brings real-time human support into automated workflows by triggering live video or audio consultations whenever your defined hand-off criteria are met. This agent connects IBM Orchestrate flows to your sales or service experts, ensuring customers receive human guidance at moments where expert involvement improves clarity, trust, or conversion. When a workflow reaches a handoff-ready step, the agent launches a live Uptok session with an available expert and transfers the relevant context to streamline the interaction.</a:t>
            </a:r>
          </a:p>
          <a:p>
            <a:r>
              <a:rPr lang="en-US" sz="1800" dirty="0" smtClean="0"/>
              <a:t/>
            </a:r>
          </a:p>
          <a:p>
            <a:r>
              <a:rPr lang="en-US" sz="1800" dirty="0" smtClean="0"/>
              <a:t>Ideal for high-consideration sales, Configure-Price-Quote (CPQ) support, insurance quoting, onboarding, and complex service inquiries, this agent helps your team step in only when human expertise drives measurable impact––while keeping your workflow automation simple and predictable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https://cloud.ibm.com/catalog/services/uptok-live-expert-handoff</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136</a:t>
            </a:r>
            <a:endParaRPr lang="en-US" dirty="0"/>
          </a:p>
        </p:txBody>
      </p:sp>
    </p:spTree>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name="Slide 1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Load Balancer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IBM Cloud Load balancer for VPC in front of application servers to distribute incoming user traffic, providing protection against failure of an individual application server instance. You can seamlessly scale your applications by adding or removing servers. with minimal to no disruption to existing traffic flows.</a:t>
            </a:r>
          </a:p>
          <a:p>
            <a:r>
              <a:rPr lang="en-US" sz="1800" dirty="0" smtClean="0"/>
              <a:t/>
            </a:r>
          </a:p>
          <a:p>
            <a:r>
              <a:rPr lang="en-US" sz="1800" dirty="0" smtClean="0"/>
              <a:t>##### Application load balancer (ALB)</a:t>
            </a:r>
          </a:p>
          <a:p>
            <a:r>
              <a:rPr lang="en-US" sz="1800" dirty="0" smtClean="0"/>
              <a:t/>
            </a:r>
          </a:p>
          <a:p>
            <a:r>
              <a:rPr lang="en-US" sz="1800" dirty="0" smtClean="0"/>
              <a:t>Both public and private ALBs provide layer-7 and layer-4 load balancing on IBM Cloud, supporting SSL offloading. The incoming and outgoing packets flow through the load balancer, which distributes data traffic based on configured policies and rules. When incoming requests match the rules that are associated with a policy, that policy defines how the load balancer distributes its traffic.</a:t>
            </a:r>
          </a:p>
          <a:p>
            <a:r>
              <a:rPr lang="en-US" sz="1800" dirty="0" smtClean="0"/>
              <a:t/>
            </a:r>
          </a:p>
          <a:p>
            <a:r>
              <a:rPr lang="en-US" sz="1800" dirty="0" smtClean="0"/>
              <a:t>##### Network load balancer (NLB)</a:t>
            </a:r>
          </a:p>
          <a:p>
            <a:r>
              <a:rPr lang="en-US" sz="1800" dirty="0" smtClean="0"/>
              <a:t/>
            </a:r>
          </a:p>
          <a:p>
            <a:r>
              <a:rPr lang="en-US" sz="1800" dirty="0" smtClean="0"/>
              <a:t>An NLB provides only layer-4 load balancing on IBM Cloud, and does not support SSL offloading. The NLB is zonal, which means that the members must be in the same zone as the load balancer. The client sends public network traffic to the NLB, which forwards it to its targets. These targets then respond directly to the client by using Direct Server Return (DSR). The load balancer does not perform a check on the contents of the packet. Since Layer 4 network load balancing only processes ingress traffic, it is ideal for workloads that require high throughput and low latency.</a:t>
            </a:r>
          </a:p>
          <a:p>
            <a:r>
              <a:rPr lang="en-US" sz="1800" dirty="0" smtClean="0"/>
              <a:t/>
            </a:r>
          </a:p>
          <a:p>
            <a:r>
              <a:rPr lang="en-US" sz="1800" dirty="0" smtClean="0"/>
              <a:t>[Compare offerings](/docs/vpc?topic=vpc-nlb-vs-elb)</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137</a:t>
            </a:r>
            <a:endParaRPr lang="en-US" dirty="0"/>
          </a:p>
        </p:txBody>
      </p:sp>
    </p:spTree>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name="Slide 1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Lyve Data Transfer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Lyve Mobile Data Transfer Service allows you to quickly, easily and securely move your edge or on-prem data into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Seagate Lyve Mobile is an edge to cloud, mass storage transfer platform providing efficient and secure end to end, data migration and logistics services accelerating the transfer of edge or on-prem data to IBM Cloud. Built for data intensive mobility, Lyve Mobile enables enterprises to aggregate, store and move data easily, bypassing network bottlenecks and allowing mass data transfers quickly and securely using a comprehensive suite of software, hardware and services provided by Seagate.</a:t>
            </a:r>
          </a:p>
          <a:p>
            <a:r>
              <a:rPr lang="en-US" sz="1800" dirty="0" smtClean="0"/>
              <a:t/>
            </a:r>
          </a:p>
          <a:p>
            <a:r>
              <a:rPr lang="en-US" sz="1800" dirty="0" smtClean="0"/>
              <a:t>Accelerate your Edge and/or On-Prem Data Transfer to IBM Cloud quickly, securely and easily with Seagate Lyve Mobile.</a:t>
            </a:r>
          </a:p>
          <a:p>
            <a:r>
              <a:rPr lang="en-US" sz="1800" dirty="0" smtClean="0"/>
              <a:t/>
            </a:r>
          </a:p>
          <a:p>
            <a:r>
              <a:rPr lang="en-US" sz="1800" dirty="0" smtClean="0"/>
              <a:t>Our field ready, just in time, scalable Data Transfer Service utilizes Seagate's mass capacity storage arrays, alongside Seagate's Cloud-Import Software and expert IBM Cloud Import Services, making Lyve Mobile a complete, simple, low-cost, secure solution for fast, data transfer and data mobility projects, at scale, without the worries of network latency.</a:t>
            </a:r>
          </a:p>
          <a:p>
            <a:r>
              <a:rPr lang="en-US" sz="1800" dirty="0" smtClean="0"/>
              <a:t/>
            </a:r>
          </a:p>
          <a:p>
            <a:r>
              <a:rPr lang="en-US" sz="1800" dirty="0" smtClean="0"/>
              <a:t>Our end-to-end process is fully a fully managed service that delivers white glove service to ensure a successful transfer of data from the edge or on-prem to IBM Cloud, all from the most trusted data company in the world, Seagate.</a:t>
            </a:r>
          </a:p>
          <a:p>
            <a:r>
              <a:rPr lang="en-US" sz="1800" dirty="0" smtClean="0"/>
              <a:t/>
            </a:r>
          </a:p>
          <a:p>
            <a:r>
              <a:rPr lang="en-US" sz="1800" dirty="0" smtClean="0"/>
              <a:t/>
            </a:r>
          </a:p>
          <a:p>
            <a:r>
              <a:rPr lang="en-US" sz="1800" dirty="0" smtClean="0"/>
              <a:t>PRICING:</a:t>
            </a:r>
          </a:p>
          <a:p>
            <a:r>
              <a:rPr lang="en-US" sz="1800" dirty="0" smtClean="0"/>
              <a:t>Standard migration services are priced at $40/TB per month with a minimum of 50TB per device and includes full project lifecycle management, 24-hour rapid device fulfilment of Lyve Mobile arrays, secured product provisioning, personal configuration assistance, and end to end logistics; all with world-class, 24/7 support to help you migrate your data quickly, securely, easily and affordably.</a:t>
            </a:r>
          </a:p>
          <a:p>
            <a:r>
              <a:rPr lang="en-US" sz="1800" dirty="0" smtClean="0"/>
              <a:t/>
            </a:r>
          </a:p>
          <a:p>
            <a:r>
              <a:rPr lang="en-US" sz="1800" dirty="0" smtClean="0"/>
              <a:t/>
            </a:r>
          </a:p>
          <a:p>
            <a:r>
              <a:rPr lang="en-US" sz="1800" dirty="0" smtClean="0"/>
              <a:t>To better understand the ordering process, please review this informational slide deck before proceeding.</a:t>
            </a:r>
          </a:p>
          <a:p>
            <a:r>
              <a:rPr lang="en-US" sz="1800" dirty="0" smtClean="0"/>
              <a:t/>
            </a:r>
          </a:p>
          <a:p>
            <a:r>
              <a:rPr lang="en-US" sz="1800" dirty="0" smtClean="0"/>
              <a:t>FOR IBM POWER USERS: please click on this link to understand the process for transferring data from IBM Power Systems to IBM Cloud.</a:t>
            </a:r>
          </a:p>
          <a:p>
            <a:r>
              <a:rPr lang="en-US" sz="1800" dirty="0" smtClean="0"/>
              <a:t/>
            </a:r>
          </a:p>
          <a:p>
            <a:r>
              <a:rPr lang="en-US" sz="1800" dirty="0" smtClean="0"/>
              <a:t/>
            </a:r>
          </a:p>
          <a:p>
            <a:r>
              <a:rPr lang="en-US" sz="1800" dirty="0" smtClean="0"/>
              <a:t>PLEASE NOTE: You must have an IBM account prior to ordering this service.  If you do not, please reach out to your IBM Account Manager.</a:t>
            </a:r>
          </a:p>
          <a:p>
            <a:r>
              <a:rPr lang="en-US" sz="1800" dirty="0" smtClean="0"/>
              <a:t/>
            </a:r>
          </a:p>
          <a:p>
            <a:r>
              <a:rPr lang="en-US" sz="1800" dirty="0" smtClean="0"/>
              <a:t/>
            </a:r>
          </a:p>
          <a:p>
            <a:r>
              <a:rPr lang="en-US" sz="1800" dirty="0" smtClean="0"/>
              <a:t>Once a customer purechases through the IBM Catalogue, they will be contacted by the Seagate Lyve Mobile team to finalize their configuration and schedule the start date for their data transfer service.  Then, their account will be reviewed and created, which will be linked to their IBM account for consolidated billing for invoicing.</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Seagate Technology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https://cloud.ibm.com/catalog/services/seagate-lyve-subscription-per-tb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138</a:t>
            </a:r>
            <a:endParaRPr lang="en-US" dirty="0"/>
          </a:p>
        </p:txBody>
      </p:sp>
    </p:spTree>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name="Slide 1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Backup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backup environment leveraging Veeam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backup environment leveraging Veeam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139</a:t>
            </a:r>
            <a:endParaRPr lang="en-US" dirty="0"/>
          </a:p>
        </p:txBody>
      </p:sp>
    </p:spTree>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name="Slide 1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Disaster Recovery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Disaster Recovery environment leveraging Zerto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Disaster Recovery environment leveraging Zerto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140</a:t>
            </a:r>
            <a:endParaRPr lang="en-US" dirty="0"/>
          </a:p>
        </p:txBody>
      </p:sp>
    </p:spTree>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name="Slide 1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Network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Expand your network security operations and management with our Managed Network Security Services that provides management, monitoring, and alerting of security devices in the cloud and on premises including:  Next-Gen Firewalls,  Intrusion Detection and Prevention Systems, Unified Threat Management Stations, and Secure Web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Managed Network Security Services provides: </a:t>
            </a:r>
          </a:p>
          <a:p>
            <a:r>
              <a:rPr lang="en-US" sz="1800" dirty="0" smtClean="0"/>
              <a:t/>
            </a:r>
          </a:p>
          <a:p>
            <a:r>
              <a:rPr lang="en-US" sz="1800" dirty="0" smtClean="0"/>
              <a:t>- Near real-time security monitoring, management and analysis of security device alerts and logs</a:t>
            </a:r>
          </a:p>
          <a:p>
            <a:r>
              <a:rPr lang="en-US" sz="1800" dirty="0" smtClean="0"/>
              <a:t>- Expertise in device policy management to help prevent malicious attacks</a:t>
            </a:r>
          </a:p>
          <a:p>
            <a:r>
              <a:rPr lang="en-US" sz="1800" dirty="0" smtClean="0"/>
              <a:t>- Advanced event analysis by intelligent systems and alerts for escalation and investigation</a:t>
            </a:r>
          </a:p>
          <a:p>
            <a:r>
              <a:rPr lang="en-US" sz="1800" dirty="0" smtClean="0"/>
              <a:t>- Detailed reporting for improved decision making</a:t>
            </a:r>
          </a:p>
          <a:p>
            <a:r>
              <a:rPr lang="en-US" sz="1800" dirty="0" smtClean="0"/>
              <a:t>- Access to IBM® X-Force® threat analysis service (security intelligence)</a:t>
            </a:r>
          </a:p>
          <a:p>
            <a:r>
              <a:rPr lang="en-US" sz="1800" dirty="0" smtClean="0"/>
              <a:t/>
            </a:r>
          </a:p>
          <a:p>
            <a:r>
              <a:rPr lang="en-US" sz="1800" dirty="0" smtClean="0"/>
              <a:t>Managed Network Security Services support a matrix of thoroughly tested and best of breed vendor platforms and technologies as hardware devices and virtual software installed in your environment, or in AWS, Azure &amp; IBM cloud including:  Checkpoint, Fortinet, Juniper, Palo Alto, and Cisco to name a few).</a:t>
            </a:r>
          </a:p>
          <a:p>
            <a:r>
              <a:rPr lang="en-US" sz="1800" dirty="0" smtClean="0"/>
              <a:t/>
            </a:r>
          </a:p>
          <a:p>
            <a:r>
              <a:rPr lang="en-US" sz="1800" dirty="0" smtClean="0"/>
              <a:t>Delivered from a network of global IBM Security Operations Centers (SOCs) operating 24 hours/day, 7 days/week 365 days/year.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https://cloud.ibm.com/catalog/infrastructure/mnss-referral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141</a:t>
            </a:r>
            <a:endParaRPr lang="en-US" dirty="0"/>
          </a:p>
        </p:txBody>
      </p:sp>
    </p:spTree>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name="Slide 1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VMware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IBM Integrated Managed VMware services to deliver dynamic remote management services for a broad range of cloud infrastructures.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IBM Integrated Managed VMware services to deliver dynamic remote management services for a broad range of cloud infrastructures.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https://cloud.ibm.com/catalog/services/imi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142</a:t>
            </a:r>
            <a:endParaRPr lang="en-US" dirty="0"/>
          </a:p>
        </p:txBody>
      </p:sp>
    </p:spTree>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name="Slide 1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MarvelX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MarvelX helps insurance teams process claims faster with Agentic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MarvelX Claims Assistant helps insurance teams handle claims faster and with greater accuracy. It combines document understanding, Q&amp;A, and structured claim analysis in one tool.</a:t>
            </a:r>
          </a:p>
          <a:p>
            <a:r>
              <a:rPr lang="en-US" sz="1800" dirty="0" smtClean="0"/>
              <a:t/>
            </a:r>
          </a:p>
          <a:p>
            <a:r>
              <a:rPr lang="en-US" sz="1800" dirty="0" smtClean="0"/>
              <a:t/>
            </a:r>
          </a:p>
          <a:p>
            <a:r>
              <a:rPr lang="en-US" sz="1800" dirty="0" smtClean="0"/>
              <a:t/>
            </a:r>
          </a:p>
          <a:p>
            <a:r>
              <a:rPr lang="en-US" sz="1800" dirty="0" smtClean="0"/>
              <a:t/>
            </a:r>
          </a:p>
          <a:p>
            <a:r>
              <a:rPr lang="en-US" sz="1800" dirty="0" smtClean="0"/>
              <a:t>Upload claim files such as PDFs, scans or emails, and the assistant automatically checks for coverage, red flags, inconsistencies and missing information. Through a simple chat, you can ask questions about claims or policies in plain language and get clear, evidence-backed answers.</a:t>
            </a:r>
          </a:p>
          <a:p>
            <a:r>
              <a:rPr lang="en-US" sz="1800" dirty="0" smtClean="0"/>
              <a:t/>
            </a:r>
          </a:p>
          <a:p>
            <a:r>
              <a:rPr lang="en-US" sz="1800" dirty="0" smtClean="0"/>
              <a:t/>
            </a:r>
          </a:p>
          <a:p>
            <a:r>
              <a:rPr lang="en-US" sz="1800" dirty="0" smtClean="0"/>
              <a:t/>
            </a:r>
          </a:p>
          <a:p>
            <a:r>
              <a:rPr lang="en-US" sz="1800" dirty="0" smtClean="0"/>
              <a:t/>
            </a:r>
          </a:p>
          <a:p>
            <a:r>
              <a:rPr lang="en-US" sz="1800" dirty="0" smtClean="0"/>
              <a:t>Each claim is summarized into a scannable analysis with decisions, reasoning and checks performed. This makes it easier for claim handlers to review outcomes quickly, reduce errors, and improve the consistency of claim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MarvelXai B.V.</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https://cloud.ibm.com/catalog/services/marvelxai-b-v-marvelx-ai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143</a:t>
            </a:r>
            <a:endParaRPr lang="en-US" dirty="0"/>
          </a:p>
        </p:txBody>
      </p:sp>
    </p:spTree>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name="Slide 1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Master Data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Improve trust in AI pipelines by identifying duplicate records and providing reliable data about your customers, suppliers, or partners.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IBM Master Data Management to quickly build data pipelines for analytics and other data science use cases using master data.  Start with your IBM MDM Advanced or Standard Edition entities, or with any data assets containing party information from the knowledge catalog and quickly map and model new attributes to your data model for a more complete view of your customers. The AI-powered matching engine speeds configuration using the same statistical methods clients have relied on to produce accurate match results.  Results can be accessed via RESTful APIs, exported to flat files, or viewed online via the entity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https://cloud.ibm.com/catalog/services/mdm-oc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144</a:t>
            </a:r>
            <a:endParaRPr lang="en-US" dirty="0"/>
          </a:p>
        </p:txBody>
      </p:sp>
    </p:spTree>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name="Slide 1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Maven AGI Agent Platform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Maven AGI is an enterprise Generative AI platform designed to revolutionize customer support.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Maven AGI is an enterprise Generative AI platform designed to revolutionize customer support. It leverages AI agents to autonomously handle a high percentage of customer inquiries (up to 93%), significantly reducing support costs and improving resolution times. Beyond self-service, Maven AGI also provides tools for human agents, such as AI-powered co-pilots, and offers data-driven insights to proactively address customer issues.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Maven AGI,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https://cloud.ibm.com/catalog/services/mavenagi-agent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145</a:t>
            </a:r>
            <a:endParaRPr lang="en-US" dirty="0"/>
          </a:p>
        </p:txBody>
      </p:sp>
    </p:spTree>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name="Slide 1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Messages for RabbitMQ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RabbitMQ is an open source multi-protocol messaging broker.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RabbitMQ routes messages between microservices for modern applications. Messages for RabbitMQ makes RabbitMQ even better by managing it for you. Features include high availability, automated backup orchestration, autoscaling, and de-coupled allocation of storage, RAM, and vCPUs. Messages for RabbitMQ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https://cloud.ibm.com/catalog/services/messages-for-rabbitmq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146</a:t>
            </a:r>
            <a:endParaRPr lang="en-US" dirty="0"/>
          </a:p>
        </p:txBody>
      </p:sp>
    </p:spTree>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name="Slide 1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millionways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HR assistant that analyzes candidate documents to deliver personality insights, interview questions, and hiring recommendations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millionways HR Personality Agent</a:t>
            </a:r>
          </a:p>
          <a:p>
            <a:r>
              <a:rPr lang="en-US" sz="1800" dirty="0" smtClean="0"/>
              <a:t/>
            </a:r>
          </a:p>
          <a:p>
            <a:r>
              <a:rPr lang="en-US" sz="1800" dirty="0" smtClean="0"/>
              <a:t>millionways HR Personality Agent is an AI-powered hiring assistant that transforms candidate documents (interviews, resumes, cover letters) into actionable hiring intelligence. Built on the world’s first **Large Psychological Model (LPM)**, it goes beyond skills and experience to analyze communication style, decision-making patterns, and behavioral traits — enabling data-driven, bias-aware hiring decisions.</a:t>
            </a:r>
          </a:p>
          <a:p>
            <a:r>
              <a:rPr lang="en-US" sz="1800" dirty="0" smtClean="0"/>
              <a:t/>
            </a:r>
          </a:p>
          <a:p>
            <a:r>
              <a:rPr lang="en-US" sz="1800" dirty="0" smtClean="0"/>
              <a:t>## Key Features</a:t>
            </a:r>
          </a:p>
          <a:p>
            <a:r>
              <a:rPr lang="en-US" sz="1800" dirty="0" smtClean="0"/>
              <a:t>- **Candidate Personality Profiling:** Generates a deep psychological profile from any text input  </a:t>
            </a:r>
          </a:p>
          <a:p>
            <a:r>
              <a:rPr lang="en-US" sz="1800" dirty="0" smtClean="0"/>
              <a:t>- **Actionable Hiring Recommendations:** Suggests interview strategies, tailored questions, and candidate follow-ups  </a:t>
            </a:r>
          </a:p>
          <a:p>
            <a:r>
              <a:rPr lang="en-US" sz="1800" dirty="0" smtClean="0"/>
              <a:t>- **Cultural Fit &amp; Team Dynamics:** Evaluates compatibility with your team’s working style  </a:t>
            </a:r>
          </a:p>
          <a:p>
            <a:r>
              <a:rPr lang="en-US" sz="1800" dirty="0" smtClean="0"/>
              <a:t>- **Behavioral Risk Insights:** Flags potential areas for misalignment or friction before a hire is made  </a:t>
            </a:r>
          </a:p>
          <a:p>
            <a:r>
              <a:rPr lang="en-US" sz="1800" dirty="0" smtClean="0"/>
              <a:t>- **Easy Integration:** Fully compatible with IBM Agent Services and available via a simple REST API  </a:t>
            </a:r>
          </a:p>
          <a:p>
            <a:r>
              <a:rPr lang="en-US" sz="1800" dirty="0" smtClean="0"/>
              <a:t/>
            </a:r>
          </a:p>
          <a:p>
            <a:r>
              <a:rPr lang="en-US" sz="1800" dirty="0" smtClean="0"/>
              <a:t>## Business Value</a:t>
            </a:r>
          </a:p>
          <a:p>
            <a:r>
              <a:rPr lang="en-US" sz="1800" dirty="0" smtClean="0"/>
              <a:t>- Reduce bad hires and save millions in replacement costs  </a:t>
            </a:r>
          </a:p>
          <a:p>
            <a:r>
              <a:rPr lang="en-US" sz="1800" dirty="0" smtClean="0"/>
              <a:t>- Enhance interview quality and team performance with psychology-backed recommendations  </a:t>
            </a:r>
          </a:p>
          <a:p>
            <a:r>
              <a:rPr lang="en-US" sz="1800" dirty="0" smtClean="0"/>
              <a:t>- Accelerate hiring decisions by automating personality insights at scale  </a:t>
            </a:r>
          </a:p>
          <a:p>
            <a:r>
              <a:rPr lang="en-US" sz="1800" dirty="0" smtClean="0"/>
              <a:t/>
            </a:r>
          </a:p>
          <a:p>
            <a:r>
              <a:rPr lang="en-US" sz="1800" dirty="0" smtClean="0"/>
              <a:t>## Ideal For</a:t>
            </a:r>
          </a:p>
          <a:p>
            <a:r>
              <a:rPr lang="en-US" sz="1800" dirty="0" smtClean="0"/>
              <a:t>Recruiters, HR leaders, and hiring managers looking to improve quality-of-hire, reduce bias, and optimize team fit.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millionways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https://cloud.ibm.com/catalog/services/millionways-millionways-agent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147</a:t>
            </a:r>
            <a:endParaRPr lang="en-US" dirty="0"/>
          </a:p>
        </p:txBody>
      </p:sp>
    </p:spTree>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name="Slide 1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MinIO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MinIO offers high-performance, S3 compatible object storage. Native to Kubernetes, compatible with every public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MinIO is a high performance, Kubernetes native object storage suite. With an extensive list of enterprise features, it is scalable, secure and resilient while remaining remarkably simple to deploy and operate at scale. Software-defined, MinIO can run on any infrastructure and in any cloud - public, private or edge. MinIO is the world's fastest object storage and can run the broadest set of workloads in the industry. It is widely considered to be the leader in compatibility with Amazon's S3 API.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https://cloud.ibm.com/catalog/services/minio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148</a:t>
            </a:r>
            <a:endParaRPr lang="en-US" dirty="0"/>
          </a:p>
        </p:txBody>
      </p:sp>
    </p:spTree>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name="Slide 1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Enterprise-grade messaging hosted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MQ provides proven, enterprise-grade messaging capabilities, such as point-to-point and publish/subscribe models, to facilitate the flow of information between applications. This service enables you to use IBM MQ as a managed offering. The IBM Cloud handles upgrades, patches, and many of the operational management tasks on your behalf, so you can focus on integrating MQ with your applications.</a:t>
            </a:r>
          </a:p>
          <a:p>
            <a:r>
              <a:rPr lang="en-US" sz="1800" dirty="0" smtClean="0"/>
              <a:t/>
            </a:r>
          </a:p>
          <a:p>
            <a:r>
              <a:rPr lang="en-US" sz="1800" dirty="0" smtClean="0"/>
              <a:t>This service enables you to use IBM MQ as a managed offering. The IBM Cloud handles upgrades, patches, and many of the operational management tasks on your behalf, so you can focus on integrating MQ with your applications.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MQ</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https://cloud.ibm.com/catalog/services/mqcloud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149</a:t>
            </a:r>
            <a:endParaRPr lang="en-US" dirty="0"/>
          </a:p>
        </p:txBody>
      </p:sp>
    </p:spTree>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name="Slide 1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Multi Volume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Regional Multi Volume Snapshot Service to securely back up block storage data to IBM Cloud Object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customer to capture crash consistent multiple volume snapshots at a time, All these Block Storage Snapshots for VPC are treated individually and service provides a regional, incremental backups of your block storage volumes.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https://cloud.ibm.com/catalog/services/is.snapshot-consistency-group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150</a:t>
            </a:r>
            <a:endParaRPr lang="en-US" dirty="0"/>
          </a:p>
        </p:txBody>
      </p:sp>
    </p:spTree>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name="Slide 1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Natural Language Understanding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text to extract meta-data from content such as concepts, entities, emotion, relations, sentiment and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advanced NLP to analyze text and extract meta-data from content such as concepts, entities, keywords, categories, sentiment, emotion, relations, and semantic roles. Apply custom annotation models developed using Watson Knowledge Studio to identify industry/domain specific entities and relations in unstructured text with Watson NLU.</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https://cloud.ibm.com/catalog/services/natural-language-understanding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151</a:t>
            </a:r>
            <a:endParaRPr lang="en-US" dirty="0"/>
          </a:p>
        </p:txBody>
      </p:sp>
    </p:spTree>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name="Slide 1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NetApp ONTAP Select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Software-defined storage cluster that addresses your needs for a dedicated and highly available storage appliance based on NetApp ONTAP Select.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Software-defined storage cluster that addresses your needs for a dedicated and highly available storage appliance based on NetApp ONTAP Select.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152</a:t>
            </a:r>
            <a:endParaRPr lang="en-US" dirty="0"/>
          </a:p>
        </p:txBody>
      </p:sp>
    </p:spTree>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name="Slide 1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Netezza Performance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high performance petabyte scale fully managed pay-as-you-go cloud data warehouse service running the next generation Netezza database engine delivered through Cloud Pak for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Netezza Performance Server is a fully managed, a true elastic cloud native data warehouse. With advanced in-database analytics capabilities, it enables you to do data science and machine learning with data volumes scaling into the petabytes.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https://cloud.ibm.com/catalog/services/data-warehouse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153</a:t>
            </a:r>
            <a:endParaRPr lang="en-US" dirty="0"/>
          </a:p>
        </p:txBody>
      </p:sp>
    </p:spTree>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name="Slide 1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Netomi AI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Netomi AI Agent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Netomi is the world’s leading enterprise agentic AI platform for customer experience, trusted in production by Fortune 500 companies across travel, hospitality, retail, insurance, banking, telecom, and media. Its field-proven platform delivers autonomous, goal-driven interactions that go beyond reactive support, anticipating customer needs, acting preemptively, and driving measurable outcomes across every channel and touchpoint. Unlike siloed AI tools, Netomi is architected as a composable and sanctioned agentic system, deeply integrated with enterprise workflows, and pre-built with embedded AI governance, compliance, and security at its core. Through its Agentic Factory and the Agent Development Lifecycle (ADLC), enterprises can rapidly design, govern, and scale specialized AI agents with consistency and resilience at Fortune 500 scale. With the fastest deployment times and consistently proven ROI, Netomi turns customer experience into a strategic advantage for the world’s largest organizations.  For more information, visit www.netomi.com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Netomi,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https://cloud.ibm.com/catalog/services/netomi-ai-agent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154</a:t>
            </a:r>
            <a:endParaRPr lang="en-US" dirty="0"/>
          </a:p>
        </p:txBody>
      </p:sp>
    </p:spTree>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name="Slide 1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ACL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Network ACL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network access control lists (ACLs) as filters to allow or deny specified incoming or outgoing traffic in an IBM Cloud Virtual Private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https://cloud.ibm.com/catalog/services/is.network-acl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155</a:t>
            </a:r>
            <a:endParaRPr lang="en-US" dirty="0"/>
          </a:p>
        </p:txBody>
      </p:sp>
    </p:spTree>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name="Slide 1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world's best no-code Agentic platform. From RAG to multi-agent generative AI systems with native Governance.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world's best no-code Agentic platform. From RAG to multi-agent generative AI systems with native Governance.</a:t>
            </a:r>
          </a:p>
          <a:p>
            <a:r>
              <a:rPr lang="en-US" sz="1800" dirty="0" smtClean="0"/>
              <a:t/>
            </a:r>
          </a:p>
          <a:p>
            <a:r>
              <a:rPr lang="en-US" sz="1800" dirty="0" smtClean="0"/>
              <a:t>NeuralSeek completely automates Retrieval Augmented Generation (RAG) usecases, backed by business-friendly no-code agents.</a:t>
            </a:r>
          </a:p>
          <a:p>
            <a:r>
              <a:rPr lang="en-US" sz="1800" dirty="0" smtClean="0"/>
              <a:t/>
            </a:r>
          </a:p>
          <a:p>
            <a:r>
              <a:rPr lang="en-US" sz="1800" dirty="0" smtClean="0"/>
              <a:t>NeuralSeek's mAIstro platform lets business users quickly build complex LLM-backed processes with greater scalability than hardcoding in python, and without knowing any code.</a:t>
            </a:r>
          </a:p>
          <a:p>
            <a:r>
              <a:rPr lang="en-US" sz="1800" dirty="0" smtClean="0"/>
              <a:t/>
            </a:r>
          </a:p>
          <a:p>
            <a:r>
              <a:rPr lang="en-US" sz="1800" dirty="0" smtClean="0"/>
              <a:t>Industry Leading Retrieval Augmented Generation</a:t>
            </a:r>
          </a:p>
          <a:p>
            <a:r>
              <a:rPr lang="en-US" sz="1800" dirty="0" smtClean="0"/>
              <a:t/>
            </a:r>
          </a:p>
          <a:p>
            <a:r>
              <a:rPr lang="en-US" sz="1800" dirty="0" smtClean="0"/>
              <a:t>Strong Corporate Controls, human in the loop.</a:t>
            </a:r>
          </a:p>
          <a:p>
            <a:r>
              <a:rPr lang="en-US" sz="1800" dirty="0" smtClean="0"/>
              <a:t/>
            </a:r>
          </a:p>
          <a:p>
            <a:r>
              <a:rPr lang="en-US" sz="1800" dirty="0" smtClean="0"/>
              <a:t>Automatic Virtual Agent Builder</a:t>
            </a:r>
          </a:p>
          <a:p>
            <a:r>
              <a:rPr lang="en-US" sz="1800" dirty="0" smtClean="0"/>
              <a:t/>
            </a:r>
          </a:p>
          <a:p>
            <a:r>
              <a:rPr lang="en-US" sz="1800" dirty="0" smtClean="0"/>
              <a:t>Automatically create &amp; monitor conversations into leading Virtual Agent platforms.</a:t>
            </a:r>
          </a:p>
          <a:p>
            <a:r>
              <a:rPr lang="en-US" sz="1800" dirty="0" smtClean="0"/>
              <a:t/>
            </a:r>
          </a:p>
          <a:p>
            <a:r>
              <a:rPr lang="en-US" sz="1800" dirty="0" smtClean="0"/>
              <a:t>Protection from Prompt Injection and harmful content</a:t>
            </a:r>
          </a:p>
          <a:p>
            <a:r>
              <a:rPr lang="en-US" sz="1800" dirty="0" smtClean="0"/>
              <a:t/>
            </a:r>
          </a:p>
          <a:p>
            <a:r>
              <a:rPr lang="en-US" sz="1800" dirty="0" smtClean="0"/>
              <a:t>Automatically cleanse and protect against malicious user input</a:t>
            </a:r>
          </a:p>
          <a:p>
            <a:r>
              <a:rPr lang="en-US" sz="1800" dirty="0" smtClean="0"/>
              <a:t/>
            </a:r>
          </a:p>
          <a:p>
            <a:r>
              <a:rPr lang="en-US" sz="1800" dirty="0" smtClean="0"/>
              <a:t>Full RAG Governance - Executive-level and SME dashboards to monitor answer generation, system performance, content insights and configuration churn</a:t>
            </a:r>
          </a:p>
          <a:p>
            <a:r>
              <a:rPr lang="en-US" sz="1800" dirty="0" smtClean="0"/>
              <a:t/>
            </a:r>
          </a:p>
          <a:p>
            <a:r>
              <a:rPr lang="en-US" sz="1800" dirty="0" smtClean="0"/>
              <a:t>Integrated versioning controls</a:t>
            </a:r>
          </a:p>
          <a:p>
            <a:r>
              <a:rPr lang="en-US" sz="1800" dirty="0" smtClean="0"/>
              <a:t/>
            </a:r>
          </a:p>
          <a:p>
            <a:r>
              <a:rPr lang="en-US" sz="1800" dirty="0" smtClean="0"/>
              <a:t>Category and Intent-level control </a:t>
            </a:r>
          </a:p>
          <a:p>
            <a:r>
              <a:rPr lang="en-US" sz="1800" dirty="0" smtClean="0"/>
              <a:t/>
            </a:r>
          </a:p>
          <a:p>
            <a:r>
              <a:rPr lang="en-US" sz="1800" dirty="0" smtClean="0"/>
              <a:t>Set confidence thresholds, custom responses and fallbacks per category.</a:t>
            </a:r>
          </a:p>
          <a:p>
            <a:r>
              <a:rPr lang="en-US" sz="1800" dirty="0" smtClean="0"/>
              <a:t/>
            </a:r>
          </a:p>
          <a:p>
            <a:r>
              <a:rPr lang="en-US" sz="1800" dirty="0" smtClean="0"/>
              <a:t>Automatically prompt-tune LLM’s at the intent level</a:t>
            </a:r>
          </a:p>
          <a:p>
            <a:r>
              <a:rPr lang="en-US" sz="1800" dirty="0" smtClean="0"/>
              <a:t/>
            </a:r>
          </a:p>
          <a:p>
            <a:r>
              <a:rPr lang="en-US" sz="1800" dirty="0" smtClean="0"/>
              <a:t>Automatic Content Cleansing</a:t>
            </a:r>
          </a:p>
          <a:p>
            <a:r>
              <a:rPr lang="en-US" sz="1800" dirty="0" smtClean="0"/>
              <a:t/>
            </a:r>
          </a:p>
          <a:p>
            <a:r>
              <a:rPr lang="en-US" sz="1800" dirty="0" smtClean="0"/>
              <a:t>Preprocess complex embedded tables</a:t>
            </a:r>
          </a:p>
          <a:p>
            <a:r>
              <a:rPr lang="en-US" sz="1800" dirty="0" smtClean="0"/>
              <a:t/>
            </a:r>
          </a:p>
          <a:p>
            <a:r>
              <a:rPr lang="en-US" sz="1800" dirty="0" smtClean="0"/>
              <a:t>Cross-language / automatic Translation</a:t>
            </a:r>
          </a:p>
          <a:p>
            <a:r>
              <a:rPr lang="en-US" sz="1800" dirty="0" smtClean="0"/>
              <a:t/>
            </a:r>
          </a:p>
          <a:p>
            <a:r>
              <a:rPr lang="en-US" sz="1800" dirty="0" smtClean="0"/>
              <a:t>Answer questions in languages other than the documentation</a:t>
            </a:r>
          </a:p>
          <a:p>
            <a:r>
              <a:rPr lang="en-US" sz="1800" dirty="0" smtClean="0"/>
              <a:t/>
            </a:r>
          </a:p>
          <a:p>
            <a:r>
              <a:rPr lang="en-US" sz="1800" dirty="0" smtClean="0"/>
              <a:t>Corporate Logging - Log all actions for corporate audit &amp; compliance.</a:t>
            </a:r>
          </a:p>
          <a:p>
            <a:r>
              <a:rPr lang="en-US" sz="1800" dirty="0" smtClean="0"/>
              <a:t/>
            </a:r>
          </a:p>
          <a:p>
            <a:r>
              <a:rPr lang="en-US" sz="1800" dirty="0" smtClean="0"/>
              <a:t>Answer Provenance &amp; Hallucination detection / removal</a:t>
            </a:r>
          </a:p>
          <a:p>
            <a:r>
              <a:rPr lang="en-US" sz="1800" dirty="0" smtClean="0"/>
              <a:t/>
            </a:r>
          </a:p>
          <a:p>
            <a:r>
              <a:rPr lang="en-US" sz="1800" dirty="0" smtClean="0"/>
              <a:t>Trace answers directly to source documents</a:t>
            </a:r>
          </a:p>
          <a:p>
            <a:r>
              <a:rPr lang="en-US" sz="1800" dirty="0" smtClean="0"/>
              <a:t/>
            </a:r>
          </a:p>
          <a:p>
            <a:r>
              <a:rPr lang="en-US" sz="1800" dirty="0" smtClean="0"/>
              <a:t>Semantic Analysis helps users understand the confidence of answers </a:t>
            </a:r>
          </a:p>
          <a:p>
            <a:r>
              <a:rPr lang="en-US" sz="1800" dirty="0" smtClean="0"/>
              <a:t>and eliminate hallucination</a:t>
            </a:r>
          </a:p>
          <a:p>
            <a:r>
              <a:rPr lang="en-US" sz="1800" dirty="0" smtClean="0"/>
              <a:t/>
            </a:r>
          </a:p>
          <a:p>
            <a:r>
              <a:rPr lang="en-US" sz="1800" dirty="0" smtClean="0"/>
              <a:t>PII Detection / Removal</a:t>
            </a:r>
          </a:p>
          <a:p>
            <a:r>
              <a:rPr lang="en-US" sz="1800" dirty="0" smtClean="0"/>
              <a:t/>
            </a:r>
          </a:p>
          <a:p>
            <a:r>
              <a:rPr lang="en-US" sz="1800" dirty="0" smtClean="0"/>
              <a:t>Flag, Mask, Hide, or Delete PII on user input.</a:t>
            </a:r>
          </a:p>
          <a:p>
            <a:r>
              <a:rPr lang="en-US" sz="1800" dirty="0" smtClean="0"/>
              <a:t/>
            </a:r>
          </a:p>
          <a:p>
            <a:r>
              <a:rPr lang="en-US" sz="1800" dirty="0" smtClean="0"/>
              <a:t>Dynamic Personalization</a:t>
            </a:r>
          </a:p>
          <a:p>
            <a:r>
              <a:rPr lang="en-US" sz="1800" dirty="0" smtClean="0"/>
              <a:t/>
            </a:r>
          </a:p>
          <a:p>
            <a:r>
              <a:rPr lang="en-US" sz="1800" dirty="0" smtClean="0"/>
              <a:t>Leverage SSO or user data to tailor responses specifically to users.</a:t>
            </a:r>
          </a:p>
          <a:p>
            <a:r>
              <a:rPr lang="en-US" sz="1800" dirty="0" smtClean="0"/>
              <a:t/>
            </a:r>
          </a:p>
          <a:p>
            <a:r>
              <a:rPr lang="en-US" sz="1800" dirty="0" smtClean="0"/>
              <a:t>Integrate structured &amp; unstructured data across endless sources. </a:t>
            </a:r>
          </a:p>
          <a:p>
            <a:r>
              <a:rPr lang="en-US" sz="1800" dirty="0" smtClean="0"/>
              <a:t/>
            </a:r>
          </a:p>
          <a:p>
            <a:r>
              <a:rPr lang="en-US" sz="1800" dirty="0" smtClean="0"/>
              <a:t>Create scalable LLM-backed processes in seconds.</a:t>
            </a:r>
          </a:p>
          <a:p>
            <a:r>
              <a:rPr lang="en-US" sz="1800" dirty="0" smtClean="0"/>
              <a:t/>
            </a:r>
          </a:p>
          <a:p>
            <a:r>
              <a:rPr lang="en-US" sz="1800" dirty="0" smtClean="0"/>
              <a:t>Generate files and documents, create synthetic data</a:t>
            </a:r>
          </a:p>
          <a:p>
            <a:r>
              <a:rPr lang="en-US" sz="1800" dirty="0" smtClean="0"/>
              <a:t/>
            </a:r>
          </a:p>
          <a:p>
            <a:r>
              <a:rPr lang="en-US" sz="1800" dirty="0" smtClean="0"/>
              <a:t>Connect to REST endpoints,  automatically send Email</a:t>
            </a:r>
          </a:p>
          <a:p>
            <a:r>
              <a:rPr lang="en-US" sz="1800" dirty="0" smtClean="0"/>
              <a:t/>
            </a:r>
          </a:p>
          <a:p>
            <a:r>
              <a:rPr lang="en-US" sz="1800" dirty="0" smtClean="0"/>
              <a:t>60+ prebuilt functions to snap together in limitless ways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156</a:t>
            </a:r>
            <a:endParaRPr lang="en-US" dirty="0"/>
          </a:p>
        </p:txBody>
      </p:sp>
    </p:spTree>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name="Slide 1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NeuralSeek onboarding, training, and implementation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NeuralSeek, we understand that implementing AI-powered solutions requires expert guidance and support to achieve optimal results. Our comprehensive professional services team partners with you throughout your journey, providing end-to-end support for implementation, seamless integration with your existing systems, thorough team training, and ongoing technical assistance. Whether you're just getting started with NeuralSeek or looking to optimize your current deployment, our experienced consultants ensure you maximize the value of your investment while maintaining the highest standards of accuracy and performance. We're committed to helping your organization harness the full potential of AI-driven customer support solutions.</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157</a:t>
            </a:r>
            <a:endParaRPr lang="en-US" dirty="0"/>
          </a:p>
        </p:txBody>
      </p:sp>
    </p:spTree>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name="Slide 1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Nomination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Analyzes nominations for quality and impact. Automates review process to reduce bias, save time, and spotlight standout stories.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Nomination Agent is an AI-powered tool that transforms how organizations manage employee recognition through nomination-based programs. Whether it’s for a President’s Award, Innovator of the Year, or any high-impact honor, Nomination Agent helps surface the most meaningful submissions by analyzing nominations for quality, alignment to company values, and overall impact. Using advanced language models and ideal criteria benchmarks, it delivers automated recommendations that reduce manual review time, minimize bias, and improve decision-making. The result is a faster, fairer, and more inspiring recognition process that saves time, lowers costs, and ensures every standout story gets the attention it deserves.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BI WORLDWIDE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https://cloud.ibm.com/catalog/services/biw-nomination-agent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158</a:t>
            </a:r>
            <a:endParaRPr lang="en-US" dirty="0"/>
          </a:p>
        </p:txBody>
      </p:sp>
    </p:spTree>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name="Slide 1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OpenPages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how you manage risk and regulatory compliance with a unified GRC platform fueled by AI and all your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an AI-driven, highly scalable, governance, risk and compliance (GRC) solution on any cloud. Centralize siloed risk management functions within a single environment designed to help you identify, manage, monitor and report on risk and regulatory compliance, especially in today’s changing business landscape.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https://cloud.ibm.com/catalog/services/openpages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159</a:t>
            </a:r>
            <a:endParaRPr lang="en-US" dirty="0"/>
          </a:p>
        </p:txBody>
      </p:sp>
    </p:spTree>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name="Slide 1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With deep technical expertise and a proven approach, we help clients adopt and consume IBM Cloud® platform technologies through the implementation of production-ready use cases.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Engage with IBM expert to build a more meaningful application for your users. Get the most out of your IBM Cloud account by working with either of our consulting practices: IBM Cloud Expert Labs or Data and AI Expert Labs &amp; Learning.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https://cloud.ibm.com/catalog/services/consult-with-icg-wes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160</a:t>
            </a:r>
            <a:endParaRPr lang="en-US" dirty="0"/>
          </a:p>
        </p:txBody>
      </p:sp>
    </p:spTree>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name="Slide 1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Patient Facing AI Agent for Healthcare Companies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powered Patient AI Agent handles patient inquiries, appointments, and assessments across voice, web, and social media.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IBM Watsonx Orchestrate Powered Patient AI Agent (Sofie) helps both prospective and existing patients with healthcare needs such as assessments, appointment scheduling, and managing interactions across the entire patient journey. Hospitals and healthcare clinics can use it to deliver better patient experiences while reducing operational workload. The solution is HIPAA compliant and built to extend into electronic health record (EHR) systems such as NextGen and others, depending on the customer’s environment.</a:t>
            </a:r>
          </a:p>
          <a:p>
            <a:r>
              <a:rPr lang="en-US" sz="1800" dirty="0" smtClean="0"/>
              <a:t/>
            </a:r>
          </a:p>
          <a:p>
            <a:r>
              <a:rPr lang="en-US" sz="1800" dirty="0" smtClean="0"/>
              <a:t>The AI Agent works seamlessly across channels—including voice, web, and leading social platforms like WhatsApp, Instagram, and Facebook—making patient engagement easy, intuitive, and always accessible.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Streebo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https://cloud.ibm.com/catalog/services/patient-facing-ai-agent-for-healthcare-companies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161</a:t>
            </a:r>
            <a:endParaRPr lang="en-US" dirty="0"/>
          </a:p>
        </p:txBody>
      </p:sp>
    </p:spTree>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name="Slide 1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Spread VSIs across hosts and/or racks for improved disaster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Placement Groups with Anti-Affinity placement rules enable customers to specify placement of VPC VSIs for improved disaster / outage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162</a:t>
            </a:r>
            <a:endParaRPr lang="en-US" dirty="0"/>
          </a:p>
        </p:txBody>
      </p:sp>
    </p:spTree>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name="Slide 1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Planning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Streamline planning across your organization and forecast with greater accuracy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Planning Analytics  as a Service is a fully managed,  collaborative, enterprise-scalable budgeting, planning, analytics, profitability, modeling and reporting solution deployed on AWS. These applications are supported by the highly available Planning Analytics in memory engine that provides on-demand analytics of complex multidimensional data in real 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https://cloud.ibm.com/catalog/services/planning-analytics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163</a:t>
            </a:r>
            <a:endParaRPr lang="en-US" dirty="0"/>
          </a:p>
        </p:txBody>
      </p:sp>
    </p:spTree>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name="Slide 1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Portworx Enterprise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persistent storage and data management solution for Kubernetes and OpenShift clusters.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Portworx-Enterprise is the most widely-used and reliable cloud-native storage solution for production workloads and provides high-availability, data protection and security for containerized applications.</a:t>
            </a:r>
          </a:p>
          <a:p>
            <a:r>
              <a:rPr lang="en-US" sz="1800" dirty="0" smtClean="0"/>
              <a:t/>
            </a:r>
          </a:p>
          <a:p>
            <a:r>
              <a:rPr lang="en-US" sz="1800" dirty="0" smtClean="0"/>
              <a:t>To learn more about the Portworx Enterprise the data platform for Kubernetes, platform features, please visit our product features page  https://portworx.com/products/features/.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https://cloud.ibm.com/catalog/services/portworx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164</a:t>
            </a:r>
            <a:endParaRPr lang="en-US" dirty="0"/>
          </a:p>
        </p:txBody>
      </p:sp>
    </p:spTree>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name="Slide 1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Enterprise Pools Metered Capacity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on-premises consumption in Power Enterprise Pools with PowerVS and other IBM Cloud services on a single monthly invoice.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IT teams to deploy AIX, IBM i, and Linux applications more affordably and flexibly across a hybrid Power environment by integrating charges for pay-per-use compute resources on systems both on-premises and in the public cloud. Connect a Power Enterprise Pools 2.0 to a Power Virtual Server Enterprise Savings Plan (ESP) to have any charges for consumption of Metered Capacity in an on-premises Power Enterprise Pool invoiced alongside Power Virtual Server and other IBM Cloud services in a single, consolidated invoice from IBM Cloud.  Have on-premises Metered Capacity consumption count toward any committed spend of a PowerVS Cloud ESP.</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https://cloud.ibm.com/catalog/services/power-enterprise-pools-connector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165</a:t>
            </a:r>
            <a:endParaRPr lang="en-US" dirty="0"/>
          </a:p>
        </p:txBody>
      </p:sp>
    </p:spTree>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name="Slide 1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23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Power i migration with BUS4i "System Copy - Migrate 23"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"SystemCopy - Migrate 23" Professional Services: </a:t>
            </a:r>
          </a:p>
          <a:p>
            <a:r>
              <a:rPr lang="en-US" sz="1800" dirty="0" smtClean="0"/>
              <a:t>Book the corresponding professional service for our Migrate 23 offering here in the catalog.</a:t>
            </a:r>
          </a:p>
          <a:p>
            <a:r>
              <a:rPr lang="en-US" sz="1800" dirty="0" smtClean="0"/>
              <a:t/>
            </a:r>
          </a:p>
          <a:p>
            <a:r>
              <a:rPr lang="en-US" sz="1800" dirty="0" smtClean="0"/>
              <a:t>Hassle-Free IBM i System Migrations </a:t>
            </a:r>
          </a:p>
          <a:p>
            <a:r>
              <a:rPr lang="en-US" sz="1800" dirty="0" smtClean="0"/>
              <a:t/>
            </a:r>
          </a:p>
          <a:p>
            <a:r>
              <a:rPr lang="en-US" sz="1800" dirty="0" smtClean="0"/>
              <a:t>Overview:</a:t>
            </a:r>
          </a:p>
          <a:p>
            <a:r>
              <a:rPr lang="en-US" sz="1800" dirty="0" smtClean="0"/>
              <a:t>For businesses seeking expert assistance with migrating their IBM i systems, BUS4i "SystemCopy - Migrate 23" Professional Services offers a comprehensive, hands-on solution. Whether you're moving to a new IBM i server or transitioning to the PowerVS cloud, our professional services team takes care of the entire migration process from start to finish. </a:t>
            </a:r>
          </a:p>
          <a:p>
            <a:r>
              <a:rPr lang="en-US" sz="1800" dirty="0" smtClean="0"/>
              <a:t/>
            </a:r>
          </a:p>
          <a:p>
            <a:r>
              <a:rPr lang="en-US" sz="1800" dirty="0" smtClean="0"/>
              <a:t>Why Choose Our Professional Services?</a:t>
            </a:r>
          </a:p>
          <a:p>
            <a:r>
              <a:rPr lang="en-US" sz="1800" dirty="0" smtClean="0"/>
              <a:t>- Expert-Led Migration: Let our team of seasoned professionals handle the complexities of your IBM i system migration. With years of experience, we ensure a seamless and efficient transition.</a:t>
            </a:r>
          </a:p>
          <a:p>
            <a:r>
              <a:rPr lang="en-US" sz="1800" dirty="0" smtClean="0"/>
              <a:t>- Turnkey Solution: We manage the entire migration process for you, from initial planning and data capture to final system setup, ensuring your new environment is an exact replica of your original system.</a:t>
            </a:r>
          </a:p>
          <a:p>
            <a:r>
              <a:rPr lang="en-US" sz="1800" dirty="0" smtClean="0"/>
              <a:t>- Tailored to Your Needs: Every business is unique, and so are its migration needs. We customize our approach to fit your specific requirements, ensuring a smooth and hassle-free migration experience.</a:t>
            </a:r>
          </a:p>
          <a:p>
            <a:r>
              <a:rPr lang="en-US" sz="1800" dirty="0" smtClean="0"/>
              <a:t/>
            </a:r>
          </a:p>
          <a:p>
            <a:r>
              <a:rPr lang="en-US" sz="1800" dirty="0" smtClean="0"/>
              <a:t>Key Benefits:</a:t>
            </a:r>
          </a:p>
          <a:p>
            <a:r>
              <a:rPr lang="en-US" sz="1800" dirty="0" smtClean="0"/>
              <a:t/>
            </a:r>
          </a:p>
          <a:p>
            <a:r>
              <a:rPr lang="en-US" sz="1800" dirty="0" smtClean="0"/>
              <a:t>- Reduced Downtime: Our experts work efficiently to minimize downtime, ensuring that your business operations experience as little disruption as possible during the migration.</a:t>
            </a:r>
          </a:p>
          <a:p>
            <a:r>
              <a:rPr lang="en-US" sz="1800" dirty="0" smtClean="0"/>
              <a:t>- Minimized Risk: By entrusting your migration to our experienced team, you reduce the risk of errors and issues, guaranteeing a successful transition.</a:t>
            </a:r>
          </a:p>
          <a:p>
            <a:r>
              <a:rPr lang="en-US" sz="1800" dirty="0" smtClean="0"/>
              <a:t>- Resource Savings: Avoid the challenges and time-consuming tasks associated with system migrations. Our professional services team takes care of everything, allowing your team to focus on core business activities.</a:t>
            </a:r>
          </a:p>
          <a:p>
            <a:r>
              <a:rPr lang="en-US" sz="1800" dirty="0" smtClean="0"/>
              <a:t>- Ongoing Support: Beyond the migration, we provide ongoing support to ensure that your new system operates smoothly, with minimal issues post-migration.</a:t>
            </a:r>
          </a:p>
          <a:p>
            <a:r>
              <a:rPr lang="en-US" sz="1800" dirty="0" smtClean="0"/>
              <a:t/>
            </a:r>
          </a:p>
          <a:p>
            <a:r>
              <a:rPr lang="en-US" sz="1800" dirty="0" smtClean="0"/>
              <a:t>How It Works:</a:t>
            </a:r>
          </a:p>
          <a:p>
            <a:r>
              <a:rPr lang="en-US" sz="1800" dirty="0" smtClean="0"/>
              <a:t/>
            </a:r>
          </a:p>
          <a:p>
            <a:r>
              <a:rPr lang="en-US" sz="1800" dirty="0" smtClean="0"/>
              <a:t>Our BUS4i "SystemCopy - Migrate 23" Professional Services team employs the same advanced technology behind our software, coupled with expert oversight and tailored support. We begin with a comprehensive assessment of your existing IBM i system, followed by a meticulous migration plan designed to meet your specific business needs. The process involves capturing your system’s data and configurations, which are then securely transferred and restored onto your new environment. Our team ensures that every detail is handled with precision, from the initial setup to post-migration testing and support.</a:t>
            </a:r>
          </a:p>
          <a:p>
            <a:r>
              <a:rPr lang="en-US" sz="1800" dirty="0" smtClean="0"/>
              <a:t/>
            </a:r>
          </a:p>
          <a:p>
            <a:r>
              <a:rPr lang="en-US" sz="1800" dirty="0" smtClean="0"/>
              <a:t>Benefits for Your Business:</a:t>
            </a:r>
          </a:p>
          <a:p>
            <a:r>
              <a:rPr lang="en-US" sz="1800" dirty="0" smtClean="0"/>
              <a:t>- Stress-Free Migration: With our professionals handling the migration, you can rest easy knowing that your IBM i system is in expert hands.</a:t>
            </a:r>
          </a:p>
          <a:p>
            <a:r>
              <a:rPr lang="en-US" sz="1800" dirty="0" smtClean="0"/>
              <a:t>- Cost-Effective: By avoiding potential pitfalls and reducing downtime, our services help you save on costs associated with prolonged migrations or system issues.</a:t>
            </a:r>
          </a:p>
          <a:p>
            <a:r>
              <a:rPr lang="en-US" sz="1800" dirty="0" smtClean="0"/>
              <a:t/>
            </a:r>
          </a:p>
          <a:p>
            <a:r>
              <a:rPr lang="en-US" sz="1800" dirty="0" smtClean="0"/>
              <a:t/>
            </a:r>
          </a:p>
          <a:p>
            <a:r>
              <a:rPr lang="en-US" sz="1800" dirty="0" smtClean="0"/>
              <a:t>Considering a Migration?</a:t>
            </a:r>
          </a:p>
          <a:p>
            <a:r>
              <a:rPr lang="en-US" sz="1800" dirty="0" smtClean="0"/>
              <a:t>If you’re planning to migrate your IBM i system and prefer expert assistance, BUS4i "SystemCopy - Migrate 23" Professional Services is the ideal solution. Let our experienced team manage the migration process for you, ensuring a smooth, efficient, and worry-free transition. Focus on running your business while we take care of the technical complexities.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https://cloud.ibm.com/catalog/services/bus4i-system-copy-migrate-23-services-for-power-i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166</a:t>
            </a:r>
            <a:endParaRPr lang="en-US" dirty="0"/>
          </a:p>
        </p:txBody>
      </p:sp>
    </p:spTree>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name="Slide 1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While Active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live Power i migration with BUS4i "Migrate While Active"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"Migrate While Active" Professional Services can ensure a smooth and efficient migration of your Power i system to a PowerVM in PowerVS or any other Power i system anywhere in the world without disruption to your daily operations.</a:t>
            </a:r>
          </a:p>
          <a:p>
            <a:r>
              <a:rPr lang="en-US" sz="1800" dirty="0" smtClean="0"/>
              <a:t/>
            </a:r>
          </a:p>
          <a:p>
            <a:r>
              <a:rPr lang="en-US" sz="1800" dirty="0" smtClean="0"/>
              <a:t>Imagine this: you need to move your entire business infrastructure from your current Power i system to a PowerVM environment in PowerVS. This process can be daunting, especially if you're concerned about downtime and its impact on your business.  Here's where BUS4i "Migrate While Active" Professional Services comes in. We specialize in performing these migrations seamlessly,  with zero downtime during your regular office hours. This means:</a:t>
            </a:r>
          </a:p>
          <a:p>
            <a:r>
              <a:rPr lang="en-US" sz="1800" dirty="0" smtClean="0"/>
              <a:t/>
            </a:r>
          </a:p>
          <a:p>
            <a:r>
              <a:rPr lang="en-US" sz="1800" dirty="0" smtClean="0"/>
              <a:t>- No interruption to your workday: Your employees can continue using your critical business applications throughout the migration process. There won't be any unexpected system shutdowns or periods of inaccessibility.</a:t>
            </a:r>
          </a:p>
          <a:p>
            <a:r>
              <a:rPr lang="en-US" sz="1800" dirty="0" smtClean="0"/>
              <a:t>- Minimal impact on productivity: By eliminating downtime, we ensure your team can maintain their productivity levels throughout the entire migration. No need to worry about lost work hours due to system outages.</a:t>
            </a:r>
          </a:p>
          <a:p>
            <a:r>
              <a:rPr lang="en-US" sz="1800" dirty="0" smtClean="0"/>
              <a:t>- Reduced risk and stress: Our experienced team will handle the entire migration process, minimizing the risk of errors and ensuring a smooth transition. You can focus on your core business activities with complete peace of mind.</a:t>
            </a:r>
          </a:p>
          <a:p>
            <a:r>
              <a:rPr lang="en-US" sz="1800" dirty="0" smtClean="0"/>
              <a:t/>
            </a:r>
          </a:p>
          <a:p>
            <a:r>
              <a:rPr lang="en-US" sz="1800" dirty="0" smtClean="0"/>
              <a:t>So, how exactly do we achieve this? BUS4i "Migrate While Active" Professional Services utilizes a proven methodology that combines advanced tools and expertise to migrate your Power i system to PowerVM in a non-disruptive manner. Here's a simplified breakdown of the process:</a:t>
            </a:r>
          </a:p>
          <a:p>
            <a:r>
              <a:rPr lang="en-US" sz="1800" dirty="0" smtClean="0"/>
              <a:t/>
            </a:r>
          </a:p>
          <a:p>
            <a:r>
              <a:rPr lang="en-US" sz="1800" dirty="0" smtClean="0"/>
              <a:t>1. Planning and Assessment: We'll work closely with you to understand your specific requirements and develop a customized migration plan. This plan will account for your system configuration, applications, and workload to ensure a seamless transition.</a:t>
            </a:r>
          </a:p>
          <a:p>
            <a:r>
              <a:rPr lang="en-US" sz="1800" dirty="0" smtClean="0"/>
              <a:t>2. Data and Application Migration: Using specialized tools and techniques, we'll migrate your data and applications from your Power i system to the new PowerVM environment. This process is designed to minimize disruption and ensure data integrity.</a:t>
            </a:r>
          </a:p>
          <a:p>
            <a:r>
              <a:rPr lang="en-US" sz="1800" dirty="0" smtClean="0"/>
              <a:t>3. Testing and Validation: Once the migration is complete, we'll perform rigorous testing of the synchronicity in the new environment. This ensures a smooth transition for your end-users.</a:t>
            </a:r>
          </a:p>
          <a:p>
            <a:r>
              <a:rPr lang="en-US" sz="1800" dirty="0" smtClean="0"/>
              <a:t>4. Cutover and Go-Live: With everything in place and thoroughly tested, we'll perform a final cutover to switch your operations to the new PowerVM environment. This process will be conducted during a pre-defined maintenance window to minimize any potential impact.</a:t>
            </a:r>
          </a:p>
          <a:p>
            <a:r>
              <a:rPr lang="en-US" sz="1800" dirty="0" smtClean="0"/>
              <a:t/>
            </a:r>
          </a:p>
          <a:p>
            <a:r>
              <a:rPr lang="en-US" sz="1800" dirty="0" smtClean="0"/>
              <a:t>Throughout the entire migration process, our team of experts will be available to answer your questions and address any concerns you may have. We understand the importance of clear communication, and we'll keep you informed every step of the way.</a:t>
            </a:r>
          </a:p>
          <a:p>
            <a:r>
              <a:rPr lang="en-US" sz="1800" dirty="0" smtClean="0"/>
              <a:t/>
            </a:r>
          </a:p>
          <a:p>
            <a:r>
              <a:rPr lang="en-US" sz="1800" dirty="0" smtClean="0"/>
              <a:t>By choosing BUS4i "Migrate While Active" Professional Services, you can ensure a stress-free and efficient migration of your Power i system to PowerVM in PowerVS, without any disruption to your business operations.  Focus on what you do best, while we handle the technical complexities of the migration.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https://cloud.ibm.com/catalog/services/bus4i-system-copy-migrate-while-active-for-power-i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167</a:t>
            </a:r>
            <a:endParaRPr lang="en-US" dirty="0"/>
          </a:p>
        </p:txBody>
      </p:sp>
    </p:spTree>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name="Slide 1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https://cloud.ibm.com/catalog/services/power-iaas.workspace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168</a:t>
            </a:r>
            <a:endParaRPr lang="en-US" dirty="0"/>
          </a:p>
        </p:txBody>
      </p:sp>
    </p:spTree>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name="Slide 1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Dedicated Host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169</a:t>
            </a:r>
            <a:endParaRPr lang="en-US" dirty="0"/>
          </a:p>
        </p:txBody>
      </p:sp>
    </p:spTree>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name="Slide 1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DR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Power Virtual Server DR Automation® simplifies disaster recovery by automating the recovery of virtual machines, leveraging IBM Cloud infrastructure to offer a flexible, scalable, and efficient DR process. Use DR Automation to ensure the continuity of operations with minimal manual intervention.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Provides simplified DR for PowerVS VMs.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https://cloud.ibm.com/catalog/services/power-dr-automation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170</a:t>
            </a:r>
            <a:endParaRPr lang="en-US" dirty="0"/>
          </a:p>
        </p:txBody>
      </p:sp>
    </p:spTree>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name="Slide 1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Image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171</a:t>
            </a:r>
            <a:endParaRPr lang="en-US" dirty="0"/>
          </a:p>
        </p:txBody>
      </p:sp>
    </p:spTree>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name="Slide 1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workoads on Premises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on Premises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172</a:t>
            </a:r>
            <a:endParaRPr lang="en-US" dirty="0"/>
          </a:p>
        </p:txBody>
      </p:sp>
    </p:spTree>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name="Slide 1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Address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https://cloud.ibm.com/catalog/services/power-iaas.network-address-group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173</a:t>
            </a:r>
            <a:endParaRPr lang="en-US" dirty="0"/>
          </a:p>
        </p:txBody>
      </p:sp>
    </p:spTree>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name="Slide 1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174</a:t>
            </a:r>
            <a:endParaRPr lang="en-US" dirty="0"/>
          </a:p>
        </p:txBody>
      </p:sp>
    </p:spTree>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name="Slide 1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Security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175</a:t>
            </a:r>
            <a:endParaRPr lang="en-US" dirty="0"/>
          </a:p>
        </p:txBody>
      </p:sp>
    </p:spTree>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name="Slide 1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Placement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176</a:t>
            </a:r>
            <a:endParaRPr lang="en-US" dirty="0"/>
          </a:p>
        </p:txBody>
      </p:sp>
    </p:spTree>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name="Slide 1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Route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https://cloud.ibm.com/catalog/services/power-iaas.route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177</a:t>
            </a:r>
            <a:endParaRPr lang="en-US" dirty="0"/>
          </a:p>
        </p:txBody>
      </p:sp>
    </p:spTree>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name="Slide 1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Shared Processor Pool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https://cloud.ibm.com/catalog/services/power-iaas.shared-processor-pool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178</a:t>
            </a:r>
            <a:endParaRPr lang="en-US" dirty="0"/>
          </a:p>
        </p:txBody>
      </p:sp>
    </p:spTree>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name="Slide 1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Shared Processor Pool Placement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https://cloud.ibm.com/catalog/services/power-iaas.spp-placement-group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179</a:t>
            </a:r>
            <a:endParaRPr lang="en-US" dirty="0"/>
          </a:p>
        </p:txBody>
      </p:sp>
    </p:spTree>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name="Slide 1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Snapshot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180</a:t>
            </a:r>
            <a:endParaRPr lang="en-US" dirty="0"/>
          </a:p>
        </p:txBody>
      </p:sp>
    </p:spTree>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name="Slide 1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Virtual Machine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https://cloud.ibm.com/catalog/services/power-iaas.pvm-instance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181</a:t>
            </a:r>
            <a:endParaRPr lang="en-US" dirty="0"/>
          </a:p>
        </p:txBody>
      </p:sp>
    </p:spTree>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name="Slide 1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Virtual Persistent Memory Volumes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a:t>
            </a:r>
          </a:p>
          <a:p>
            <a:r>
              <a:rPr lang="en-US" sz="1800" dirty="0" smtClean="0"/>
              <a:t>for Power Systems workloads. Integrated with the IBM Cloud platform for </a:t>
            </a:r>
          </a:p>
          <a:p>
            <a:r>
              <a:rPr lang="en-US" sz="1800" dirty="0" smtClean="0"/>
              <a:t>on-demand provisioning, this offering provides a secure and scalable </a:t>
            </a:r>
          </a:p>
          <a:p>
            <a:r>
              <a:rPr lang="en-US" sz="1800" dirty="0" smtClean="0"/>
              <a:t>server virtualization environment built upon the advanced RAS features </a:t>
            </a:r>
          </a:p>
          <a:p>
            <a:r>
              <a:rPr lang="en-US" sz="1800" dirty="0" smtClean="0"/>
              <a:t>and leading performance of the Power Systems™ platform.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https://cloud.ibm.com/catalog/services/power-iaas.vpmem-volume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182</a:t>
            </a:r>
            <a:endParaRPr lang="en-US" dirty="0"/>
          </a:p>
        </p:txBody>
      </p:sp>
    </p:spTree>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name="Slide 1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Volume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183</a:t>
            </a:r>
            <a:endParaRPr lang="en-US" dirty="0"/>
          </a:p>
        </p:txBody>
      </p:sp>
    </p:spTree>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name="Slide 1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PowerVS Migration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PowerVS Migration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proudly presents IBM PowerVS Migration as a Service, designed to facilitate effortless migration of your workloads to IBM PowerVS cloud infrastructure. Our comprehensive service offering ensures a smooth transition, empowering your business to leverage the agility, scalability, and reliability of IBM PowerVS.</a:t>
            </a:r>
          </a:p>
          <a:p>
            <a:r>
              <a:rPr lang="en-US" sz="1800" dirty="0" smtClean="0"/>
              <a:t/>
            </a:r>
          </a:p>
          <a:p>
            <a:r>
              <a:rPr lang="en-US" sz="1800" dirty="0" smtClean="0"/>
              <a:t/>
            </a:r>
          </a:p>
          <a:p>
            <a:r>
              <a:rPr lang="en-US" sz="1800" dirty="0" smtClean="0"/>
              <a:t>Benefits:</a:t>
            </a:r>
          </a:p>
          <a:p>
            <a:r>
              <a:rPr lang="en-US" sz="1800" dirty="0" smtClean="0"/>
              <a:t/>
            </a:r>
          </a:p>
          <a:p>
            <a:r>
              <a:rPr lang="en-US" sz="1800" dirty="0" smtClean="0"/>
              <a:t>Seamless Migration Experience:</a:t>
            </a:r>
          </a:p>
          <a:p>
            <a:r>
              <a:rPr lang="en-US" sz="1800" dirty="0" smtClean="0"/>
              <a:t>Experience a hassle-free migration process with minimal downtime and disruption to your business operations.</a:t>
            </a:r>
          </a:p>
          <a:p>
            <a:r>
              <a:rPr lang="en-US" sz="1800" dirty="0" smtClean="0"/>
              <a:t/>
            </a:r>
          </a:p>
          <a:p>
            <a:r>
              <a:rPr lang="en-US" sz="1800" dirty="0" smtClean="0"/>
              <a:t>Enhanced Performance and Scalability:</a:t>
            </a:r>
          </a:p>
          <a:p>
            <a:r>
              <a:rPr lang="en-US" sz="1800" dirty="0" smtClean="0"/>
              <a:t>Leverage the power of IBM PowerVS to achieve enhanced performance, scalability, and agility for your workloads.</a:t>
            </a:r>
          </a:p>
          <a:p>
            <a:r>
              <a:rPr lang="en-US" sz="1800" dirty="0" smtClean="0"/>
              <a:t/>
            </a:r>
          </a:p>
          <a:p>
            <a:r>
              <a:rPr lang="en-US" sz="1800" dirty="0" smtClean="0"/>
              <a:t>Cost-Efficiency:</a:t>
            </a:r>
          </a:p>
          <a:p>
            <a:r>
              <a:rPr lang="en-US" sz="1800" dirty="0" smtClean="0"/>
              <a:t>Optimize costs and achieve better ROI by leveraging Wanclouds' expertise to efficiently migrate to IBM PowerVS.</a:t>
            </a:r>
          </a:p>
          <a:p>
            <a:r>
              <a:rPr lang="en-US" sz="1800" dirty="0" smtClean="0"/>
              <a:t/>
            </a:r>
          </a:p>
          <a:p>
            <a:r>
              <a:rPr lang="en-US" sz="1800" dirty="0" smtClean="0"/>
              <a:t>Focus on Core Business Objectives:</a:t>
            </a:r>
          </a:p>
          <a:p>
            <a:r>
              <a:rPr lang="en-US" sz="1800" dirty="0" smtClean="0"/>
              <a:t>Let Wanclouds handle the complexities of migration while you focus on driving your core business objectives forward.</a:t>
            </a:r>
          </a:p>
          <a:p>
            <a:r>
              <a:rPr lang="en-US" sz="1800" dirty="0" smtClean="0"/>
              <a:t/>
            </a:r>
          </a:p>
          <a:p>
            <a:r>
              <a:rPr lang="en-US" sz="1800" dirty="0" smtClean="0"/>
              <a:t>Future-Proof Infrastructure:</a:t>
            </a:r>
          </a:p>
          <a:p>
            <a:r>
              <a:rPr lang="en-US" sz="1800" dirty="0" smtClean="0"/>
              <a:t>Position your business for future growth and innovation with IBM PowerVS, supported by Wanclouds' expertise and guidance.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https://cloud.ibm.com/catalog/services/wanclouds-inc-powervs-migration-as-a-service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184</a:t>
            </a:r>
            <a:endParaRPr lang="en-US" dirty="0"/>
          </a:p>
        </p:txBody>
      </p:sp>
    </p:spTree>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name="Slide 1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Private Path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and manage private connectivity for your hosted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Private Path service for VPC allows a provider’s service to connect on the IBM Cloud private  network, providing secure communication between VPCs and supported IBM Cloud and third-party services. The provider first deploys their service on IBM Cloud and creates a Private Path network load  balancer (NLB) to enable their service for private connectivity. Next, the provider creates a Private Path service to expose and control access to their service. After the Private Path service is verified and published, other accounts can then connect to the provider’s service through endpoint gateways.</a:t>
            </a:r>
          </a:p>
          <a:p>
            <a:r>
              <a:rPr lang="en-US" sz="1800" dirty="0" smtClean="0"/>
              <a:t/>
            </a:r>
          </a:p>
          <a:p>
            <a:r>
              <a:rPr lang="en-US" sz="1800" dirty="0" smtClean="0"/>
              <a:t>For consumers to connect to a provider’s service, the provider must relay information to their consumers, such as the cloud resource name (CRN) that maps to the Private Path service and a port, if required. Consumers then privately connect to the service by creating a VPE gateway with the information provided. Next, the consumer's connection request is sent to the service provider for review (the default policy). If there is an account policy for the consumer, that policy takes precedence over the default policy (to review, permit, or deny access).  </a:t>
            </a:r>
          </a:p>
          <a:p>
            <a:r>
              <a:rPr lang="en-US" sz="1800" dirty="0" smtClean="0"/>
              <a:t/>
            </a:r>
          </a:p>
          <a:p>
            <a:r>
              <a:rPr lang="en-US" sz="1800" dirty="0" smtClean="0"/>
              <a:t>The consumer can now access the service privately from their VPC, and the provider can host and manage consumer’ connections from within their own VPCs.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https://cloud.ibm.com/catalog/services/is.private-path-service-gateway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185</a:t>
            </a:r>
            <a:endParaRPr lang="en-US" dirty="0"/>
          </a:p>
        </p:txBody>
      </p:sp>
    </p:spTree>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name="Slide 1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Professional Services for Government(only available in 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Labor categories and rates for cloud services, conversion and implementation support, migration services, security and project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Experts to manage and deliver your Cloud projects. We advise and collaborate with you to advance your cloud initiatives and help modernize your enterprise business and technology platforms.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https://cloud.ibm.com/catalog/infrastructure/professional-services-for-government-referral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186</a:t>
            </a:r>
            <a:endParaRPr lang="en-US" dirty="0"/>
          </a:p>
        </p:txBody>
      </p:sp>
    </p:spTree>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name="Slide 1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PowerVS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PowerVS in IBM Cloud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PowerVS services to enable a smooth transition from on-prem LPARs to the IBM Cloud, empowering your business to leverage the reliability and scalability of IBM PowerVS.</a:t>
            </a:r>
          </a:p>
          <a:p>
            <a:r>
              <a:rPr lang="en-US" sz="1800" dirty="0" smtClean="0"/>
              <a:t/>
            </a:r>
          </a:p>
          <a:p>
            <a:r>
              <a:rPr lang="en-US" sz="1800" dirty="0" smtClean="0"/>
              <a:t>All services offered are designed to make your transition to the IBM Cloud risk-free and as smooth as possible.</a:t>
            </a:r>
          </a:p>
          <a:p>
            <a:r>
              <a:rPr lang="en-US" sz="1800" dirty="0" smtClean="0"/>
              <a:t/>
            </a:r>
          </a:p>
          <a:p>
            <a:r>
              <a:rPr lang="en-US" sz="1800" dirty="0" smtClean="0"/>
              <a:t>Benefits:</a:t>
            </a:r>
          </a:p>
          <a:p>
            <a:r>
              <a:rPr lang="en-US" sz="1800" dirty="0" smtClean="0"/>
              <a:t>•	Migration Support: </a:t>
            </a:r>
          </a:p>
          <a:p>
            <a:r>
              <a:rPr lang="en-US" sz="1800" dirty="0" smtClean="0"/>
              <a:t>Use the service to easily migrate your environment to the IBM Cloud</a:t>
            </a:r>
          </a:p>
          <a:p>
            <a:r>
              <a:rPr lang="en-US" sz="1800" dirty="0" smtClean="0"/>
              <a:t>•	Enhanced Scalability and Reliability:</a:t>
            </a:r>
          </a:p>
          <a:p>
            <a:r>
              <a:rPr lang="en-US" sz="1800" dirty="0" smtClean="0"/>
              <a:t>Leverage the benefits of IBM PowerVS to achieve enhanced scalability and reliability for your workloads.</a:t>
            </a:r>
          </a:p>
          <a:p>
            <a:r>
              <a:rPr lang="en-US" sz="1800" dirty="0" smtClean="0"/>
              <a:t>•	Future-Proof Infrastructure:</a:t>
            </a:r>
          </a:p>
          <a:p>
            <a:r>
              <a:rPr lang="en-US" sz="1800" dirty="0" smtClean="0"/>
              <a:t>Focus on your business instead of on your IT infrastructure by unsing IBM PowerVS.</a:t>
            </a:r>
          </a:p>
          <a:p>
            <a:r>
              <a:rPr lang="en-US" sz="1800" dirty="0" smtClean="0"/>
              <a:t>•	Cost-Efficiency:</a:t>
            </a:r>
          </a:p>
          <a:p>
            <a:r>
              <a:rPr lang="en-US" sz="1800" dirty="0" smtClean="0"/>
              <a:t>Optimize costs by the advantages of moving your workloads to IBM PowerVS.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PowerVS@profi-ag.de and we will find a solution together.</a:t>
            </a:r>
          </a:p>
          <a:p>
            <a:r>
              <a:rPr lang="en-US" sz="1800" dirty="0" smtClean="0"/>
              <a:t/>
            </a:r>
          </a:p>
          <a:p>
            <a:r>
              <a:rPr lang="en-US" sz="1800" dirty="0" smtClean="0"/>
              <a:t>Please contact us before ordering: PowerVS@profi-ag.de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https://cloud.ibm.com/catalog/services/profi-powervs-service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187</a:t>
            </a:r>
            <a:endParaRPr lang="en-US" dirty="0"/>
          </a:p>
        </p:txBody>
      </p:sp>
    </p:spTree>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name="Slide 1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VCFcomplete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VCF (VMware by Broadcom) in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VCFcomplete services to enable a smooth transition or extension of your onprem </a:t>
            </a:r>
          </a:p>
          <a:p>
            <a:r>
              <a:rPr lang="en-US" sz="1800" dirty="0" smtClean="0"/>
              <a:t>VMware by Broadcom infrastructure to the IBM Cloud, empowering your business to leverage the reliability and scalability </a:t>
            </a:r>
          </a:p>
          <a:p>
            <a:r>
              <a:rPr lang="en-US" sz="1800" dirty="0" smtClean="0"/>
              <a:t>of the different VCF offerings in the IBM Cloud.</a:t>
            </a:r>
          </a:p>
          <a:p>
            <a:r>
              <a:rPr lang="en-US" sz="1800" dirty="0" smtClean="0"/>
              <a:t/>
            </a:r>
          </a:p>
          <a:p>
            <a:r>
              <a:rPr lang="en-US" sz="1800" dirty="0" smtClean="0"/>
              <a:t>All services offered are designed to make your transition or extension to the IBM Cloud risk-free and as smooth as possible.</a:t>
            </a:r>
          </a:p>
          <a:p>
            <a:r>
              <a:rPr lang="en-US" sz="1800" dirty="0" smtClean="0"/>
              <a:t/>
            </a:r>
          </a:p>
          <a:p>
            <a:r>
              <a:rPr lang="en-US" sz="1800" dirty="0" smtClean="0"/>
              <a:t>Benefits:</a:t>
            </a:r>
          </a:p>
          <a:p>
            <a:r>
              <a:rPr lang="en-US" sz="1800" dirty="0" smtClean="0"/>
              <a:t>•	Design and Architecture Support: </a:t>
            </a:r>
          </a:p>
          <a:p>
            <a:r>
              <a:rPr lang="en-US" sz="1800" dirty="0" smtClean="0"/>
              <a:t>Use the service to get a personally designed and architected environment in the IBM Cloud</a:t>
            </a:r>
          </a:p>
          <a:p>
            <a:r>
              <a:rPr lang="en-US" sz="1800" dirty="0" smtClean="0"/>
              <a:t>•	Migration and Extension Support: </a:t>
            </a:r>
          </a:p>
          <a:p>
            <a:r>
              <a:rPr lang="en-US" sz="1800" dirty="0" smtClean="0"/>
              <a:t>Use the service to easily migrate or extend your environment to the IBM Cloud</a:t>
            </a:r>
          </a:p>
          <a:p>
            <a:r>
              <a:rPr lang="en-US" sz="1800" dirty="0" smtClean="0"/>
              <a:t>•	Enhanced Scalability and Reliability:</a:t>
            </a:r>
          </a:p>
          <a:p>
            <a:r>
              <a:rPr lang="en-US" sz="1800" dirty="0" smtClean="0"/>
              <a:t>Leverage the benefits of the different VCF offerings in the IBM Cloud to achieve enhanced scalability and reliability for </a:t>
            </a:r>
          </a:p>
          <a:p>
            <a:r>
              <a:rPr lang="en-US" sz="1800" dirty="0" smtClean="0"/>
              <a:t> your workloads.</a:t>
            </a:r>
          </a:p>
          <a:p>
            <a:r>
              <a:rPr lang="en-US" sz="1800" dirty="0" smtClean="0"/>
              <a:t>•	Future-Proof Infrastructure:</a:t>
            </a:r>
          </a:p>
          <a:p>
            <a:r>
              <a:rPr lang="en-US" sz="1800" dirty="0" smtClean="0"/>
              <a:t>Focus on your business instead of focusing on your IT infrastructure by using IBM VCF offerings.</a:t>
            </a:r>
          </a:p>
          <a:p>
            <a:r>
              <a:rPr lang="en-US" sz="1800" dirty="0" smtClean="0"/>
              <a:t>•	Cost-Efficiency:</a:t>
            </a:r>
          </a:p>
          <a:p>
            <a:r>
              <a:rPr lang="en-US" sz="1800" dirty="0" smtClean="0"/>
              <a:t>Optimize costs by the advantages of moving your workloads to the IBM VCF offerings by reducing permanent overhead and </a:t>
            </a:r>
          </a:p>
          <a:p>
            <a:r>
              <a:rPr lang="en-US" sz="1800" dirty="0" smtClean="0"/>
              <a:t> disaster reservations.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vcfservice@profi-ag.de and </a:t>
            </a:r>
          </a:p>
          <a:p>
            <a:r>
              <a:rPr lang="en-US" sz="1800" dirty="0" smtClean="0"/>
              <a:t>we will find a solution together.</a:t>
            </a:r>
          </a:p>
          <a:p>
            <a:r>
              <a:rPr lang="en-US" sz="1800" dirty="0" smtClean="0"/>
              <a:t/>
            </a:r>
          </a:p>
          <a:p>
            <a:r>
              <a:rPr lang="en-US" sz="1800" dirty="0" smtClean="0"/>
              <a:t>Please contact us before ordering: vcfservice@profi-ag.de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https://cloud.ibm.com/catalog/services/profi-vcfcomplete-service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188</a:t>
            </a:r>
            <a:endParaRPr lang="en-US" dirty="0"/>
          </a:p>
        </p:txBody>
      </p:sp>
    </p:spTree>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p:cSld name="Slide 1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Profound AppDev</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Complete Application Development Suite for IBM i Futurization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Comprehensive Futurization Made Simple</a:t>
            </a:r>
          </a:p>
          <a:p>
            <a:r>
              <a:rPr lang="en-US" sz="1800" dirty="0" smtClean="0"/>
              <a:t>Profound AppDev combines our most powerful IBM i development tools into one integrated suite, giving you unprecedented control over your futurization journey. Whether you need rapid UI transformation, advanced web development capabilities, or enterprise AI innovation, Profound AppDev has you covered.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Profound Logic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https://cloud.ibm.com/catalog/services/profound-logic-appdev</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189</a:t>
            </a:r>
            <a:endParaRPr lang="en-US" dirty="0"/>
          </a:p>
        </p:txBody>
      </p:sp>
    </p:spTree>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name="Slide 1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PrimaryIO’s DRaaS platform replicates and protects a customer’s primary site whether on-prem or IBM cloud-based VMware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is PrimaryIO’s on-demand disaster recovery as a service (“DRaaS”) platform. ProtectIO is delivered as a web-accessible, multi-tenant, IBM Cloud-native Software-as-a-Service and helps customers by providing a robust disaster recovery solution while leveraging the latest cloud economics for an attractive Total Cost of Ownership.</a:t>
            </a:r>
          </a:p>
          <a:p>
            <a:r>
              <a:rPr lang="en-US" sz="1800" dirty="0" smtClean="0"/>
              <a:t/>
            </a:r>
          </a:p>
          <a:p>
            <a:r>
              <a:rPr lang="en-US" sz="1800" dirty="0" smtClean="0"/>
              <a:t>Continuous Data Protection (CDP) is delivered via PrimaryIO’s proprietary VAIO Replication filter and Authenticated Block Stream Protocol that ships the changed I/O blocks to a DR Receiver process in the Target/DR environment and commits to IBM Cloud Object Storage.</a:t>
            </a:r>
          </a:p>
          <a:p>
            <a:r>
              <a:rPr lang="en-US" sz="1800" dirty="0" smtClean="0"/>
              <a:t/>
            </a:r>
          </a:p>
          <a:p>
            <a:r>
              <a:rPr lang="en-US" sz="1800" dirty="0" smtClean="0"/>
              <a:t>At failover time, ProtectIO rehydrates from the Cloud Object Storage buckets into the respective VMDKs and instantiates the VMs that compose the application workload that is being protected. This delivers near zero RPO and an RTO correlated with the amount of data that needs to be rehydrated, which provides a compelling Total Cost of Ownership (TCO) solution for customers.</a:t>
            </a:r>
          </a:p>
          <a:p>
            <a:r>
              <a:rPr lang="en-US" sz="1800" dirty="0" smtClean="0"/>
              <a:t/>
            </a:r>
          </a:p>
          <a:p>
            <a:r>
              <a:rPr lang="en-US" sz="1800" dirty="0" smtClean="0"/>
              <a:t>ProtectIO supports on-premises, IBM Cloud Classic and IBM Cloud VPC as the Primary Site and utilizes IBM Cloud Classic or VPC for the Target/DR Site, depending upon the customer and available VPC capacity. The UI/UX and associated Control Plane, which runs in an IBM Cloud VPC,  has been designed to be extremely intuitive and allow customers to operate without needing assistance from a Managed Service Provider.</a:t>
            </a:r>
          </a:p>
          <a:p>
            <a:r>
              <a:rPr lang="en-US" sz="1800" dirty="0" smtClean="0"/>
              <a:t/>
            </a:r>
          </a:p>
          <a:p>
            <a:r>
              <a:rPr lang="en-US" sz="1800" dirty="0" smtClean="0"/>
              <a:t>Pre-requisites:</a:t>
            </a:r>
          </a:p>
          <a:p>
            <a:r>
              <a:rPr lang="en-US" sz="1800" dirty="0" smtClean="0"/>
              <a:t/>
            </a:r>
          </a:p>
          <a:p>
            <a:r>
              <a:rPr lang="en-US" sz="1800" dirty="0" smtClean="0"/>
              <a:t>	1. Customer needs to have a IBM tenant account</a:t>
            </a:r>
          </a:p>
          <a:p>
            <a:r>
              <a:rPr lang="en-US" sz="1800" dirty="0" smtClean="0"/>
              <a:t>	2. Customer needs to have COS instance</a:t>
            </a:r>
          </a:p>
          <a:p>
            <a:r>
              <a:rPr lang="en-US" sz="1800" dirty="0" smtClean="0"/>
              <a:t>Note: PrimaryIO team will help you setup IBM tenant account and COS instance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https://cloud.ibm.com/catalog/services/primaryio-protectio-managed-service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190</a:t>
            </a:r>
            <a:endParaRPr lang="en-US" dirty="0"/>
          </a:p>
        </p:txBody>
      </p:sp>
    </p:spTree>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p:cSld name="Slide 1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Address Range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Address Range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Address Range allows reserving a contiguous set of IBM-provided Public IPs that can be used in VPC custom routes to route public internet traffic to a Firewall/VNF in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https://cloud.ibm.com/catalog/services/is.public-address-range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191</a:t>
            </a:r>
            <a:endParaRPr lang="en-US" dirty="0"/>
          </a:p>
        </p:txBody>
      </p:sp>
    </p:spTree>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name="Slide 1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Gateway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Gateway for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192</a:t>
            </a:r>
            <a:endParaRPr lang="en-US" dirty="0"/>
          </a:p>
        </p:txBody>
      </p:sp>
    </p:spTree>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p:cSld name="Slide 1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PX-Backup for Kubernetes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Portworx Backup and Data Protection for Kubernetes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 PX-Backup</a:t>
            </a:r>
          </a:p>
          <a:p>
            <a:r>
              <a:rPr lang="en-US" sz="1800" dirty="0" smtClean="0"/>
              <a:t/>
            </a:r>
          </a:p>
          <a:p>
            <a:r>
              <a:rPr lang="en-US" sz="1800" dirty="0" smtClean="0"/>
              <a:t>Portworx PX-Backup delivers enterprise-grade point-and-click backup and recovery protection for all applications running on IBM Kubernetes Service and Red Hat OpenShift on IBM Cloud, even if they are stateless. Built exclusively for containerized applications, Portworx PX-Backup protects your applications - data, application configuration, and Kubernetes objects - with a single click at the Kubernetes Pod, Namespace, or Cluster level. </a:t>
            </a:r>
          </a:p>
          <a:p>
            <a:r>
              <a:rPr lang="en-US" sz="1800" dirty="0" smtClean="0"/>
              <a:t/>
            </a:r>
          </a:p>
          <a:p>
            <a:r>
              <a:rPr lang="en-US" sz="1800" dirty="0" smtClean="0"/>
              <a:t>PX-Backup enables: </a:t>
            </a:r>
          </a:p>
          <a:p>
            <a:r>
              <a:rPr lang="en-US" sz="1800" dirty="0" smtClean="0"/>
              <a:t>• Point and click recovery for any stateless or stateful Kubernetes application </a:t>
            </a:r>
          </a:p>
          <a:p>
            <a:r>
              <a:rPr lang="en-US" sz="1800" dirty="0" smtClean="0"/>
              <a:t>• Pod and Namespace granularity for application-centric protection </a:t>
            </a:r>
          </a:p>
          <a:p>
            <a:r>
              <a:rPr lang="en-US" sz="1800" dirty="0" smtClean="0"/>
              <a:t>• Application-aware protection for complex distributed applications </a:t>
            </a:r>
          </a:p>
          <a:p>
            <a:r>
              <a:rPr lang="en-US" sz="1800" dirty="0" smtClean="0"/>
              <a:t>• Role-Based Access Control for secure user access</a:t>
            </a:r>
          </a:p>
          <a:p>
            <a:r>
              <a:rPr lang="en-US" sz="1800" dirty="0" smtClean="0"/>
              <a:t/>
            </a:r>
          </a:p>
          <a:p>
            <a:r>
              <a:rPr lang="en-US" sz="1800" dirty="0" smtClean="0"/>
              <a:t>With PX-Backup, you achieve application-aware automation for data integrity, Role-Based Access Control and audit log for policy compliance, and Pod and Namespace granularity. Portworx PX-Backup includes out-of-the-box integration with many popular services such as Kafka, Elasticsearch, Cassandra, MongoDB, PostgreSQL, MySQL, and many more.</a:t>
            </a:r>
          </a:p>
          <a:p>
            <a:r>
              <a:rPr lang="en-US" sz="1800" dirty="0" smtClean="0"/>
              <a:t/>
            </a:r>
          </a:p>
          <a:p>
            <a:r>
              <a:rPr lang="en-US" sz="1800" dirty="0" smtClean="0"/>
              <a:t>PX-Backup is compatible with any Kubernetes cluster, including managed and cloud deployments. PX-Backup integrates with major block storage providers:</a:t>
            </a:r>
          </a:p>
          <a:p>
            <a:r>
              <a:rPr lang="en-US" sz="1800" dirty="0" smtClean="0"/>
              <a:t>IBM VPC Block</a:t>
            </a:r>
          </a:p>
          <a:p>
            <a:r>
              <a:rPr lang="en-US" sz="1800" dirty="0" smtClean="0"/>
              <a:t>Portworx PX-Store</a:t>
            </a:r>
          </a:p>
          <a:p>
            <a:r>
              <a:rPr lang="en-US" sz="1800" dirty="0" smtClean="0"/>
              <a:t>Amazon EBS</a:t>
            </a:r>
          </a:p>
          <a:p>
            <a:r>
              <a:rPr lang="en-US" sz="1800" dirty="0" smtClean="0"/>
              <a:t>Google Persistent Disk</a:t>
            </a:r>
          </a:p>
          <a:p>
            <a:r>
              <a:rPr lang="en-US" sz="1800" dirty="0" smtClean="0"/>
              <a:t>Azure Managed Disks</a:t>
            </a:r>
          </a:p>
          <a:p>
            <a:r>
              <a:rPr lang="en-US" sz="1800" dirty="0" smtClean="0"/>
              <a:t>CSI Enabled Storage</a:t>
            </a:r>
          </a:p>
          <a:p>
            <a:r>
              <a:rPr lang="en-US" sz="1800" dirty="0" smtClean="0"/>
              <a:t/>
            </a:r>
          </a:p>
          <a:p>
            <a:r>
              <a:rPr lang="en-US" sz="1800" dirty="0" smtClean="0"/>
              <a:t>Release Notes:</a:t>
            </a:r>
          </a:p>
          <a:p>
            <a:r>
              <a:rPr lang="en-US" sz="1800" dirty="0" smtClean="0"/>
              <a:t>https://backup.docs.portworx.com/release-notes/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https://cloud.ibm.com/catalog/services/px-backup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193</a:t>
            </a:r>
            <a:endParaRPr lang="en-US" dirty="0"/>
          </a:p>
        </p:txBody>
      </p:sp>
    </p:spTree>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name="Slide 1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Qiskit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and manage workloads on IBM quantum computers with the Qiskit Runtime service on IBM Quantum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Qiskit Runtime service provides access to the world’s largest and most performant fleet of quantum computers. Get access to the service plus a full suite of research and development tools on IBM Quantum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https://cloud.ibm.com/catalog/services/quantum-computing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194</a:t>
            </a:r>
            <a:endParaRPr lang="en-US" dirty="0"/>
          </a:p>
        </p:txBody>
      </p:sp>
    </p:spTree>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p:cSld name="Slide 1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Quant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Quant agentic workers are primarily used as Digital Contact Center Agents and have the ability to contain 70+% of inbound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Our core offering a a quantitative digital expert that seamlessly integrates into your organization, providing unparalleled  support across various functions. Whether it's Customer Service, IT Management, or Decision-making, Quant's solutions empoower your teams to delivery exceptional outcomes, consistently. Quant's agentic agents are capable of handlling, or taking action on ~70% of contact center requests for various industries. Unlike traditional, or Generative AI solutions, Quant is an Agentic AI solution with reasoning, 100+ languages, omin-channel and action-oriented.</a:t>
            </a:r>
          </a:p>
          <a:p>
            <a:r>
              <a:rPr lang="en-US" sz="1800" dirty="0" smtClean="0"/>
              <a:t>Quant offerings include:</a:t>
            </a:r>
          </a:p>
          <a:p>
            <a:r>
              <a:rPr lang="en-US" sz="1800" dirty="0" smtClean="0"/>
              <a:t>1) Intelligent Digital Employee</a:t>
            </a:r>
          </a:p>
          <a:p>
            <a:r>
              <a:rPr lang="en-US" sz="1800" dirty="0" smtClean="0"/>
              <a:t>A versatile AI-powered agentic agent that handles customer interactions with a deep understanding of industry-specific nuances, providing efficient and personalize service. Integrates with all leading CCaaS provider technologies.</a:t>
            </a:r>
          </a:p>
          <a:p>
            <a:r>
              <a:rPr lang="en-US" sz="1800" dirty="0" smtClean="0"/>
              <a:t>2) Contact Center as a Service</a:t>
            </a:r>
          </a:p>
          <a:p>
            <a:r>
              <a:rPr lang="en-US" sz="1800" dirty="0" smtClean="0"/>
              <a:t>A comprehensive, cloud-based contact center solution that leverages AI to manage customer interactions seamlessly across multiple channels, improving both response times and customer satisfaction.</a:t>
            </a:r>
          </a:p>
          <a:p>
            <a:r>
              <a:rPr lang="en-US" sz="1800" dirty="0" smtClean="0"/>
              <a:t>3) Decision AI Expert</a:t>
            </a:r>
          </a:p>
          <a:p>
            <a:r>
              <a:rPr lang="en-US" sz="1800" dirty="0" smtClean="0"/>
              <a:t>A powerful AI tool designed to assist in complex decision-making processes by analyzing vast amouunts of data and providing actionable insights, helping organizations to make informed, strategic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Quant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https://cloud.ibm.com/catalog/services/quant-inc-quant-ai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195</a:t>
            </a:r>
            <a:endParaRPr lang="en-US" dirty="0"/>
          </a:p>
        </p:txBody>
      </p:sp>
    </p:spTree>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name="Slide 1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Raxak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Comprehensive Security Configuration Management for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Raxak Protect automates security compliance across private and public clouds. Using the SaaS tool or managed service, developers can deploy cloud apps quickly, cost-effectively, and without error. Raxak Protect allows you to apply security profiles to your servers (VMs or bare-metal) based on recommendations from DISA, NIST, and other regulatory agencies including PCI, HIPAA, FFIEC, and FISMA.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Cloud Raxak,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https://cloud.ibm.com/catalog/services/raxak-protect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196</a:t>
            </a:r>
            <a:endParaRPr lang="en-US" dirty="0"/>
          </a:p>
        </p:txBody>
      </p:sp>
    </p:spTree>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name="Slide 1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RCS for Business Messaging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All-in-one RCS, MMS, and SMS messaging agent for creating rich, interactive campaigns that capture attention and drive engagement.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RCS for Business Messaging Suite helps businesses turn ordinary text messaging into rich, interactive experiences that keep customers engaged and connected. With branded visuals, buttons, videos, and guided responses, you can deliver conversations that feel more like an app—directly inside your customer’s messaging inbox. After a simple integration with your existing tech stack, this channel gives you a powerful, fully trackable way to reach customers with smarter campaigns and measurable outcomes.</a:t>
            </a:r>
          </a:p>
          <a:p>
            <a:r>
              <a:rPr lang="en-US" sz="1800" dirty="0" smtClean="0"/>
              <a:t/>
            </a:r>
          </a:p>
          <a:p>
            <a:r>
              <a:rPr lang="en-US" sz="1800" dirty="0" smtClean="0"/>
              <a:t>Use the RCS for Business Messaging Suite to:</a:t>
            </a:r>
          </a:p>
          <a:p>
            <a:r>
              <a:rPr lang="en-US" sz="1800" dirty="0" smtClean="0"/>
              <a:t/>
            </a:r>
          </a:p>
          <a:p>
            <a:r>
              <a:rPr lang="en-US" sz="1800" dirty="0" smtClean="0"/>
              <a:t>- Launch marketing campaigns with video, carousels, and high-quality images</a:t>
            </a:r>
          </a:p>
          <a:p>
            <a:r>
              <a:rPr lang="en-US" sz="1800" dirty="0" smtClean="0"/>
              <a:t>- Enable one-tap purchasing and seamless retail checkout</a:t>
            </a:r>
          </a:p>
          <a:p>
            <a:r>
              <a:rPr lang="en-US" sz="1800" dirty="0" smtClean="0"/>
              <a:t>- Offer easy scheduling and appointment management</a:t>
            </a:r>
          </a:p>
          <a:p>
            <a:r>
              <a:rPr lang="en-US" sz="1800" dirty="0" smtClean="0"/>
              <a:t>- Reduce call center costs with 24/7 conversational AI handling customer inquiries</a:t>
            </a:r>
          </a:p>
          <a:p>
            <a:r>
              <a:rPr lang="en-US" sz="1800" dirty="0" smtClean="0"/>
              <a:t>- Send surveys and collect real-time customer feedback</a:t>
            </a:r>
          </a:p>
          <a:p>
            <a:r>
              <a:rPr lang="en-US" sz="1800" dirty="0" smtClean="0"/>
              <a:t>- Use built-in analytics to understand user behavior, measure journeys, and make data-driven decisions</a:t>
            </a:r>
          </a:p>
          <a:p>
            <a:r>
              <a:rPr lang="en-US" sz="1800" dirty="0" smtClean="0"/>
              <a:t/>
            </a:r>
          </a:p>
          <a:p>
            <a:r>
              <a:rPr lang="en-US" sz="1800" dirty="0" smtClean="0"/>
              <a:t>This is the next generation of trackable, interactive business messaging—designed to boost engagement, improve conversions, and deliver better customer experiences.</a:t>
            </a:r>
          </a:p>
          <a:p>
            <a:r>
              <a:rPr lang="en-US" sz="1800" dirty="0" smtClean="0"/>
              <a:t/>
            </a:r>
          </a:p>
          <a:p>
            <a:r>
              <a:rPr lang="en-US" sz="1800" dirty="0" smtClean="0"/>
              <a:t/>
            </a:r>
          </a:p>
          <a:p>
            <a:r>
              <a:rPr lang="en-US" sz="1800" dirty="0" smtClean="0"/>
              <a:t/>
            </a:r>
          </a:p>
          <a:p>
            <a:r>
              <a:rPr lang="en-US" sz="1800" dirty="0" smtClean="0"/>
              <a:t>PER COUNTRY MESSAGE PRICING</a:t>
            </a:r>
          </a:p>
          <a:p>
            <a:r>
              <a:rPr lang="en-US" sz="1800" dirty="0" smtClean="0"/>
              <a:t/>
            </a:r>
          </a:p>
          <a:p>
            <a:r>
              <a:rPr lang="en-US" sz="1800" dirty="0" smtClean="0"/>
              <a:t>Messages are billed on a per-credit basis, and the credit cost varies by message type and by country.</a:t>
            </a:r>
          </a:p>
          <a:p>
            <a:r>
              <a:rPr lang="en-US" sz="1800" dirty="0" smtClean="0"/>
              <a:t/>
            </a:r>
          </a:p>
          <a:p>
            <a:r>
              <a:rPr lang="en-US" sz="1800" dirty="0" smtClean="0"/>
              <a:t>Message Types are listed in this order:</a:t>
            </a:r>
          </a:p>
          <a:p>
            <a:r>
              <a:rPr lang="en-US" sz="1800" dirty="0" smtClean="0"/>
              <a:t>RCS Basic (SMS), RCS Single (MMS), RCS 24 Hour Conversation</a:t>
            </a:r>
          </a:p>
          <a:p>
            <a:r>
              <a:rPr lang="en-US" sz="1800" dirty="0" smtClean="0"/>
              <a:t/>
            </a:r>
          </a:p>
          <a:p>
            <a:r>
              <a:rPr lang="en-US" sz="1800" dirty="0" smtClean="0"/>
              <a:t>United States</a:t>
            </a:r>
          </a:p>
          <a:p>
            <a:r>
              <a:rPr lang="en-US" sz="1800" dirty="0" smtClean="0"/>
              <a:t>Basic: 2 credits, Single: 6 credits</a:t>
            </a:r>
          </a:p>
          <a:p>
            <a:r>
              <a:rPr lang="en-US" sz="1800" dirty="0" smtClean="0"/>
              <a:t/>
            </a:r>
          </a:p>
          <a:p>
            <a:r>
              <a:rPr lang="en-US" sz="1800" dirty="0" smtClean="0"/>
              <a:t>Canada</a:t>
            </a:r>
          </a:p>
          <a:p>
            <a:r>
              <a:rPr lang="en-US" sz="1800" dirty="0" smtClean="0"/>
              <a:t>Basic: 2 credits, Single: 4 credits, Conversational: 6 credits</a:t>
            </a:r>
          </a:p>
          <a:p>
            <a:r>
              <a:rPr lang="en-US" sz="1800" dirty="0" smtClean="0"/>
              <a:t/>
            </a:r>
          </a:p>
          <a:p>
            <a:r>
              <a:rPr lang="en-US" sz="1800" dirty="0" smtClean="0"/>
              <a:t>Mexico</a:t>
            </a:r>
          </a:p>
          <a:p>
            <a:r>
              <a:rPr lang="en-US" sz="1800" dirty="0" smtClean="0"/>
              <a:t>Basic: 2 credits, Single: 4 credits, Conversational: 6 credits</a:t>
            </a:r>
          </a:p>
          <a:p>
            <a:r>
              <a:rPr lang="en-US" sz="1800" dirty="0" smtClean="0"/>
              <a:t/>
            </a:r>
          </a:p>
          <a:p>
            <a:r>
              <a:rPr lang="en-US" sz="1800" dirty="0" smtClean="0"/>
              <a:t>Austria</a:t>
            </a:r>
          </a:p>
          <a:p>
            <a:r>
              <a:rPr lang="en-US" sz="1800" dirty="0" smtClean="0"/>
              <a:t>Basic: 6 credits, Single: 8 credits, Conversational: 12 credits</a:t>
            </a:r>
          </a:p>
          <a:p>
            <a:r>
              <a:rPr lang="en-US" sz="1800" dirty="0" smtClean="0"/>
              <a:t/>
            </a:r>
          </a:p>
          <a:p>
            <a:r>
              <a:rPr lang="en-US" sz="1800" dirty="0" smtClean="0"/>
              <a:t>France</a:t>
            </a:r>
          </a:p>
          <a:p>
            <a:r>
              <a:rPr lang="en-US" sz="1800" dirty="0" smtClean="0"/>
              <a:t>Basic: 10 credits, Single: 12 credits, Conversational: 23 credits</a:t>
            </a:r>
          </a:p>
          <a:p>
            <a:r>
              <a:rPr lang="en-US" sz="1800" dirty="0" smtClean="0"/>
              <a:t/>
            </a:r>
          </a:p>
          <a:p>
            <a:r>
              <a:rPr lang="en-US" sz="1800" dirty="0" smtClean="0"/>
              <a:t>Germany</a:t>
            </a:r>
          </a:p>
          <a:p>
            <a:r>
              <a:rPr lang="en-US" sz="1800" dirty="0" smtClean="0"/>
              <a:t>Basic: 12 credits, Single: 14 credits, Conversational: 18 credits</a:t>
            </a:r>
          </a:p>
          <a:p>
            <a:r>
              <a:rPr lang="en-US" sz="1800" dirty="0" smtClean="0"/>
              <a:t/>
            </a:r>
          </a:p>
          <a:p>
            <a:r>
              <a:rPr lang="en-US" sz="1800" dirty="0" smtClean="0"/>
              <a:t>Italy</a:t>
            </a:r>
          </a:p>
          <a:p>
            <a:r>
              <a:rPr lang="en-US" sz="1800" dirty="0" smtClean="0"/>
              <a:t>Basic: 6 credits, Single: 8 credits, Conversational: 12 credits</a:t>
            </a:r>
          </a:p>
          <a:p>
            <a:r>
              <a:rPr lang="en-US" sz="1800" dirty="0" smtClean="0"/>
              <a:t/>
            </a:r>
          </a:p>
          <a:p>
            <a:r>
              <a:rPr lang="en-US" sz="1800" dirty="0" smtClean="0"/>
              <a:t>Poland</a:t>
            </a:r>
          </a:p>
          <a:p>
            <a:r>
              <a:rPr lang="en-US" sz="1800" dirty="0" smtClean="0"/>
              <a:t>Basic: 5 credit, Single: 7 credits, Conversational: 9 credits</a:t>
            </a:r>
          </a:p>
          <a:p>
            <a:r>
              <a:rPr lang="en-US" sz="1800" dirty="0" smtClean="0"/>
              <a:t/>
            </a:r>
          </a:p>
          <a:p>
            <a:r>
              <a:rPr lang="en-US" sz="1800" dirty="0" smtClean="0"/>
              <a:t>Spain</a:t>
            </a:r>
          </a:p>
          <a:p>
            <a:r>
              <a:rPr lang="en-US" sz="1800" dirty="0" smtClean="0"/>
              <a:t>Basic: 6 credits, Single: 12 credits, Conversational: 14 credits</a:t>
            </a:r>
          </a:p>
          <a:p>
            <a:r>
              <a:rPr lang="en-US" sz="1800" dirty="0" smtClean="0"/>
              <a:t/>
            </a:r>
          </a:p>
          <a:p>
            <a:r>
              <a:rPr lang="en-US" sz="1800" dirty="0" smtClean="0"/>
              <a:t>Sweden</a:t>
            </a:r>
          </a:p>
          <a:p>
            <a:r>
              <a:rPr lang="en-US" sz="1800" dirty="0" smtClean="0"/>
              <a:t>Basic: 6 credit, Single: 10 credits, Conversational: 17 credits</a:t>
            </a:r>
          </a:p>
          <a:p>
            <a:r>
              <a:rPr lang="en-US" sz="1800" dirty="0" smtClean="0"/>
              <a:t/>
            </a:r>
          </a:p>
          <a:p>
            <a:r>
              <a:rPr lang="en-US" sz="1800" dirty="0" smtClean="0"/>
              <a:t>United Kingdom</a:t>
            </a:r>
          </a:p>
          <a:p>
            <a:r>
              <a:rPr lang="en-US" sz="1800" dirty="0" smtClean="0"/>
              <a:t>Basic: 9 credit, Single: 14 credits, Conversational: 27 credits</a:t>
            </a:r>
          </a:p>
          <a:p>
            <a:r>
              <a:rPr lang="en-US" sz="1800" dirty="0" smtClean="0"/>
              <a:t/>
            </a:r>
          </a:p>
          <a:p>
            <a:r>
              <a:rPr lang="en-US" sz="1800" dirty="0" smtClean="0"/>
              <a:t>Brazil</a:t>
            </a:r>
          </a:p>
          <a:p>
            <a:r>
              <a:rPr lang="en-US" sz="1800" dirty="0" smtClean="0"/>
              <a:t>Basic: 2 credit, Single: 4 credits, Conversational: 8 credits</a:t>
            </a:r>
          </a:p>
          <a:p>
            <a:r>
              <a:rPr lang="en-US" sz="1800" dirty="0" smtClean="0"/>
              <a:t/>
            </a:r>
          </a:p>
          <a:p>
            <a:r>
              <a:rPr lang="en-US" sz="1800" dirty="0" smtClean="0"/>
              <a:t>India</a:t>
            </a:r>
          </a:p>
          <a:p>
            <a:r>
              <a:rPr lang="en-US" sz="1800" dirty="0" smtClean="0"/>
              <a:t>Basic: 1 credit, Single: 2 credits, Conversational: 3 credits</a:t>
            </a:r>
          </a:p>
          <a:p>
            <a:r>
              <a:rPr lang="en-US" sz="1800" dirty="0" smtClean="0"/>
              <a:t/>
            </a:r>
          </a:p>
          <a:p>
            <a:r>
              <a:rPr lang="en-US" sz="1800" dirty="0" smtClean="0"/>
              <a:t>Singapore</a:t>
            </a:r>
          </a:p>
          <a:p>
            <a:r>
              <a:rPr lang="en-US" sz="1800" dirty="0" smtClean="0"/>
              <a:t>Basic: 7 credits, Single: 13 credits, Conversational: 16 credits</a:t>
            </a:r>
          </a:p>
          <a:p>
            <a:r>
              <a:rPr lang="en-US" sz="1800" dirty="0" smtClean="0"/>
              <a:t/>
            </a:r>
          </a:p>
          <a:p>
            <a:r>
              <a:rPr lang="en-US" sz="1800" dirty="0" smtClean="0"/>
              <a:t>Nigeria</a:t>
            </a:r>
          </a:p>
          <a:p>
            <a:r>
              <a:rPr lang="en-US" sz="1800" dirty="0" smtClean="0"/>
              <a:t>Basic: 1 credits, Single: 2 credits, Conversational: 3 credits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nativeMsg,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https://cloud.ibm.com/catalog/services/nativemsg-rcs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197</a:t>
            </a:r>
            <a:endParaRPr lang="en-US" dirty="0"/>
          </a:p>
        </p:txBody>
      </p:sp>
    </p:spTree>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name="Slide 1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AI InstructLab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scale, and secure the alignment of LLMs— addressing the challenges enterprises face in ownership, accuracy,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 Hat AI InstructLab deployed as a service on IBM Cloud is designed to simplify, scale, and secure the training and deployment of AI models. By simplifying InstructLab model creation, organizations can build highly accurate and efficient models while retaining ownership of their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Tyler Lisowski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https://cloud.ibm.com/catalog/services/instructlab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198</a:t>
            </a:r>
            <a:endParaRPr lang="en-US" dirty="0"/>
          </a:p>
        </p:txBody>
      </p:sp>
    </p:spTree>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p:cSld name="Slide 1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and secure enterprise workloads on native OpenShift with developer focused tools to run highly available apps. OpenShift clusters build on Kubernetes container orchestration that offers consistency and flexibility in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Red Hat OpenShift on IBM Cloud, OpenShift developers have a fast and secure way to containerize and deploy enterprise workloads in Kubernetes clusters. OpenShift clusters build on Kubernetes container orchestration that offers consistency and flexibility in operations. Because IBM manages OpenShift Container Platform (OCP), you'll have more time to focus on your core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199</a:t>
            </a:r>
            <a:endParaRPr lang="en-US" dirty="0"/>
          </a:p>
        </p:txBody>
      </p:sp>
    </p:spTree>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name="Slide 2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Satellite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IBM Cloud services on your own infrastructure to consistently deploy, manage, and control your application workloads anywhere.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Satellite allows IBM Cloud services delivered anywhere a client needs them, managed from a single pane of glass, with as-a-service operations, secure connectivity, application lifecycle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https://cloud.ibm.com/catalog/services/satellite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200</a:t>
            </a:r>
            <a:endParaRPr lang="en-US" dirty="0"/>
          </a:p>
        </p:txBody>
      </p:sp>
    </p:spTree>
  </p:cSld>
  <p:clrMapOvr>
    <a:masterClrMapping/>
  </p:clrMapOvr>
</p:sld>
</file>

<file path=ppt/slides/slide201.xml><?xml version="1.0" encoding="utf-8"?>
<p:sld xmlns:a="http://schemas.openxmlformats.org/drawingml/2006/main" xmlns:r="http://schemas.openxmlformats.org/officeDocument/2006/relationships" xmlns:p="http://schemas.openxmlformats.org/presentationml/2006/main">
  <p:cSld name="Slide 2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Scalestack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Scalestack's AI agents act as invisible GTM analysts that understand your ICP, coordinate across systems, and evolve with your GTM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AI-powered agent automatically searches, pulls, and verifies data from multiple providers and web sources. It cross-references information in real time to deliver comprehensive, validated answers—autonomously. No manual research, no data silos, no inconsistent quality. Just clean insights across every source, so your teams can focus on decisions, not data gathering.</a:t>
            </a:r>
          </a:p>
          <a:p>
            <a:r>
              <a:rPr lang="en-US" sz="1800" dirty="0" smtClean="0"/>
              <a:t>Perfect for enterprise teams looking to scale research capabilities, automate data enrichment, and ensure information accuracy without adding headcount.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Scalestack</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https://cloud.ibm.com/catalog/services/scalestack-scalestack-agent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201</a:t>
            </a:r>
            <a:endParaRPr lang="en-US" dirty="0"/>
          </a:p>
        </p:txBody>
      </p:sp>
    </p:spTree>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name="Slide 2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Schematics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Infrastructure as Code and automate the management of IBM Cloud service and Terraform.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Schematics Infrastructure as Code automation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Cloud Schematics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https://cloud.ibm.com/catalog/services/schematics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202</a:t>
            </a:r>
            <a:endParaRPr lang="en-US" dirty="0"/>
          </a:p>
        </p:txBody>
      </p:sp>
    </p:spTree>
  </p:cSld>
  <p:clrMapOvr>
    <a:masterClrMapping/>
  </p:clrMapOvr>
</p:sld>
</file>

<file path=ppt/slides/slide203.xml><?xml version="1.0" encoding="utf-8"?>
<p:sld xmlns:a="http://schemas.openxmlformats.org/drawingml/2006/main" xmlns:r="http://schemas.openxmlformats.org/officeDocument/2006/relationships" xmlns:p="http://schemas.openxmlformats.org/presentationml/2006/main">
  <p:cSld name="Slide 2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Secondary Subnets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Secondary subnets provide additional IP addresses for your compute resources, and are well suited for use as external application or service addresses.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Secondary subnets provide additional, independent IP addresses for your application.</a:t>
            </a:r>
          </a:p>
          <a:p>
            <a:r>
              <a:rPr lang="en-US" sz="1800" dirty="0" smtClean="0"/>
              <a:t/>
            </a:r>
          </a:p>
          <a:p>
            <a:r>
              <a:rPr lang="en-US" sz="1800" dirty="0" smtClean="0"/>
              <a:t>- Required for use as external application or service addresses managed independent of other infrastructure resources.</a:t>
            </a:r>
          </a:p>
          <a:p>
            <a:r>
              <a:rPr lang="en-US" sz="1800" dirty="0" smtClean="0"/>
              <a:t/>
            </a:r>
          </a:p>
          <a:p>
            <a:r>
              <a:rPr lang="en-US" sz="1800" dirty="0" smtClean="0"/>
              <a:t>- Available with either portable, static, or global routing capabilities.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https://cloud.ibm.com/catalog/infrastructure/subnet-ip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203</a:t>
            </a:r>
            <a:endParaRPr lang="en-US" dirty="0"/>
          </a:p>
        </p:txBody>
      </p:sp>
    </p:spTree>
  </p:cSld>
  <p:clrMapOvr>
    <a:masterClrMapping/>
  </p:clrMapOvr>
</p:sld>
</file>

<file path=ppt/slides/slide204.xml><?xml version="1.0" encoding="utf-8"?>
<p:sld xmlns:a="http://schemas.openxmlformats.org/drawingml/2006/main" xmlns:r="http://schemas.openxmlformats.org/officeDocument/2006/relationships" xmlns:p="http://schemas.openxmlformats.org/presentationml/2006/main">
  <p:cSld name="Slide 2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Secrets Manager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lease, and centrally manage secrets that are used in your apps and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Secrets Manager, you can create, lease, and centrally manage secrets that are used in IBM Cloud services or your custom-built applications. Secrets are stored in a dedicated instance of Secrets Manager, built on open source HashiCorp Vault.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https://cloud.ibm.com/catalog/services/secrets-manager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204</a:t>
            </a:r>
            <a:endParaRPr lang="en-US" dirty="0"/>
          </a:p>
        </p:txBody>
      </p:sp>
    </p:spTree>
  </p:cSld>
  <p:clrMapOvr>
    <a:masterClrMapping/>
  </p:clrMapOvr>
</p:sld>
</file>

<file path=ppt/slides/slide205.xml><?xml version="1.0" encoding="utf-8"?>
<p:sld xmlns:a="http://schemas.openxmlformats.org/drawingml/2006/main" xmlns:r="http://schemas.openxmlformats.org/officeDocument/2006/relationships" xmlns:p="http://schemas.openxmlformats.org/presentationml/2006/main">
  <p:cSld name="Slide 2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Cloud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Cloud workloads and more!</a:t>
            </a:r>
          </a:p>
          <a:p>
            <a:r>
              <a:rPr lang="en-US" sz="1800" dirty="0" smtClean="0"/>
              <a:t/>
            </a:r>
          </a:p>
          <a:p>
            <a:r>
              <a:rPr lang="en-US" sz="1800" dirty="0" smtClean="0"/>
              <a:t>With IBM Storage Protect, Compass protects a variety of IBM Cloud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Windows</a:t>
            </a:r>
          </a:p>
          <a:p>
            <a:r>
              <a:rPr lang="en-US" sz="1800" dirty="0" smtClean="0"/>
              <a:t>7.	ZSeries</a:t>
            </a:r>
          </a:p>
          <a:p>
            <a:r>
              <a:rPr lang="en-US" sz="1800" dirty="0" smtClean="0"/>
              <a:t>8.	IBM i (coming soon)</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205</a:t>
            </a:r>
            <a:endParaRPr lang="en-US" dirty="0"/>
          </a:p>
        </p:txBody>
      </p:sp>
    </p:spTree>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name="Slide 2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 for Power 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PowerVS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PowerVS workloads and more!</a:t>
            </a:r>
          </a:p>
          <a:p>
            <a:r>
              <a:rPr lang="en-US" sz="1800" dirty="0" smtClean="0"/>
              <a:t/>
            </a:r>
          </a:p>
          <a:p>
            <a:r>
              <a:rPr lang="en-US" sz="1800" dirty="0" smtClean="0"/>
              <a:t>With IBM Storage Protect, Compass protects a variety of PowerVS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IBM i (coming soon)</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206</a:t>
            </a:r>
            <a:endParaRPr lang="en-US" dirty="0"/>
          </a:p>
        </p:txBody>
      </p:sp>
    </p:spTree>
  </p:cSld>
  <p:clrMapOvr>
    <a:masterClrMapping/>
  </p:clrMapOvr>
</p:sld>
</file>

<file path=ppt/slides/slide207.xml><?xml version="1.0" encoding="utf-8"?>
<p:sld xmlns:a="http://schemas.openxmlformats.org/drawingml/2006/main" xmlns:r="http://schemas.openxmlformats.org/officeDocument/2006/relationships" xmlns:p="http://schemas.openxmlformats.org/presentationml/2006/main">
  <p:cSld name="Slide 2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and Compliance Center Workload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Application Protection Platform solution to manage your security and compliance posture, allowing you to monitor misconfigurations and detect and respond to vulnerabilities and threats in real-time.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and Compliance Center Workload Protection helps you accelerate your Kubernetes and cloud adoption by addressing security and regulatory compliance. Easily identify vulnerabilities, check compliance, block threats and respond faster at every stage of the container and Kubernetes lifecycle.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https://cloud.ibm.com/catalog/services/sysdig-secure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207</a:t>
            </a:r>
            <a:endParaRPr lang="en-US" dirty="0"/>
          </a:p>
        </p:txBody>
      </p:sp>
    </p:spTree>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p:cSld name="Slide 2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Group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Group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groups give you a convenient way to apply security rules that establish filtering to each network interface of a virtual server instance, based on its IP address. When you create a security group, you configure it to create the network traffic patterns you want. By default, a security group denies all traffic. As rules are added to a security group, it defines the traffic that the security group permits.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208</a:t>
            </a:r>
            <a:endParaRPr lang="en-US" dirty="0"/>
          </a:p>
        </p:txBody>
      </p:sp>
    </p:spTree>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p:cSld name="Slide 2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Data Protection and Disaster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data protection and disaster recovery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data protection and disaster recovery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https://cloud.ibm.com/catalog/services/vcstrial_dr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209</a:t>
            </a:r>
            <a:endParaRPr lang="en-US" dirty="0"/>
          </a:p>
        </p:txBody>
      </p:sp>
    </p:spTree>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p:cSld name="Slide 2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Migration and App Modernization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application modernization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application modernization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210</a:t>
            </a:r>
            <a:endParaRPr lang="en-US" dirty="0"/>
          </a:p>
        </p:txBody>
      </p:sp>
    </p:spTree>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p:cSld name="Slide 2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Spark Compass AI News Agent Orchestra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news platform.</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Spark Compass AI News Agent Orchestra is an AI-powered platform that automates news aggregation, analysis, and reporting. It collects data from multiple sources, processes thousands of articles per month using advanced natural language models, and delivers concise, insightful summaries with sentiment and trend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Total Communicator Solutions,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https://cloud.ibm.com/catalog/services/total-communicator-inc-spark-ai-news-agent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211</a:t>
            </a:r>
            <a:endParaRPr lang="en-US" dirty="0"/>
          </a:p>
        </p:txBody>
      </p:sp>
    </p:spTree>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p:cSld name="Slide 2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Spectrum Protect Plus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data protection, availability, and access for your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Simplify data protection, availability, and access for your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212</a:t>
            </a:r>
            <a:endParaRPr lang="en-US" dirty="0"/>
          </a:p>
        </p:txBody>
      </p:sp>
    </p:spTree>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p:cSld name="Slide 2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Speech to Text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Low-latency, streaming transcription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Speech to Text service converts the human voice into the written word. The service uses deep-learning AI to apply knowledge of grammar, language structure, and the composition of audio and voice signals to accurately transcribe human speech. It can be used in applications such as voice-automated chatbots, analytic tools for customer-service call centers, and multi-media transcription, among many others.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https://cloud.ibm.com/catalog/services/speech-to-text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213</a:t>
            </a:r>
            <a:endParaRPr lang="en-US" dirty="0"/>
          </a:p>
        </p:txBody>
      </p:sp>
    </p:spTree>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p:cSld name="Slide 2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SpeedShotX-SAAS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Browser-based AI Visual Activation for sports, brands &amp; venues—engaging fans via voice &amp; text in any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SpeedShotX, developed by Fiducia AI, is an AI Visual Engagement platform that personalizes Sports, Media, and Entertainment experiences while strengthening brand engagement. Through web or mobile, fans can capture live or broadcasted moments that are analyzed in real time by IBM watsonx.ai to reveal player stats, match insights, and sponsor activations. The results are presented through a conversational interface that supports both speech and text in any language, making every fan interaction immersive and inclusive. By merging computer vision, generative AI, and contextual understanding, SpeedShotX connects fans, athletes, and brands through intelligent real-time engagement.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Fiducia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https://cloud.ibm.com/catalog/services/fiducia-ai-inc-speedshotx-saas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214</a:t>
            </a:r>
            <a:endParaRPr lang="en-US" dirty="0"/>
          </a:p>
        </p:txBody>
      </p:sp>
    </p:spTree>
  </p:cSld>
  <p:clrMapOvr>
    <a:masterClrMapping/>
  </p:clrMapOvr>
</p:sld>
</file>

<file path=ppt/slides/slide215.xml><?xml version="1.0" encoding="utf-8"?>
<p:sld xmlns:a="http://schemas.openxmlformats.org/drawingml/2006/main" xmlns:r="http://schemas.openxmlformats.org/officeDocument/2006/relationships" xmlns:p="http://schemas.openxmlformats.org/presentationml/2006/main">
  <p:cSld name="Slide 2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SSH Key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SSH Key for use with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SSH Key for use with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215</a:t>
            </a:r>
            <a:endParaRPr lang="en-US" dirty="0"/>
          </a:p>
        </p:txBody>
      </p:sp>
    </p:spTree>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p:cSld name="Slide 2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SSL Certificates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Socket Layer (SSL) certificates provide a secure, encrypted connection between your site or application and your end user.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peace of mind by securing your website against unauthorized interception of data. Secure Socket Layer (SSL) certificates provide a secure, encrypted connection between your site or application and your end user. Whether a customer is providing their contact information or credit card information into a form, an SSL Certificate lets them know they can trust that their data will end up in your hands alone.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https://cloud.ibm.com/catalog/infrastructure/ssl-certificate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216</a:t>
            </a:r>
            <a:endParaRPr lang="en-US" dirty="0"/>
          </a:p>
        </p:txBody>
      </p:sp>
    </p:spTree>
  </p:cSld>
  <p:clrMapOvr>
    <a:masterClrMapping/>
  </p:clrMapOvr>
</p:sld>
</file>

<file path=ppt/slides/slide217.xml><?xml version="1.0" encoding="utf-8"?>
<p:sld xmlns:a="http://schemas.openxmlformats.org/drawingml/2006/main" xmlns:r="http://schemas.openxmlformats.org/officeDocument/2006/relationships" xmlns:p="http://schemas.openxmlformats.org/presentationml/2006/main">
  <p:cSld name="Slide 2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3 x HSMs deployed in two separate datacenters with 99.999% availability &amp; low latency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Live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217</a:t>
            </a:r>
            <a:endParaRPr lang="en-US" dirty="0"/>
          </a:p>
        </p:txBody>
      </p:sp>
    </p:spTree>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p:cSld name="Slide 2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Test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test keys for a group of 2 x HSMs with the same settings &amp; firmware as the Standard Live service.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Standard Test Payment HSM Service provides access to a fully managed PCI-certified Payment HSM service through IBM Cloud, with  high availability and the low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Test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https://cloud.ibm.com/catalog/services/standard-test-payment-hsm-service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218</a:t>
            </a:r>
            <a:endParaRPr lang="en-US" dirty="0"/>
          </a:p>
        </p:txBody>
      </p:sp>
    </p:spTree>
  </p:cSld>
  <p:clrMapOvr>
    <a:masterClrMapping/>
  </p:clrMapOvr>
</p:sld>
</file>

<file path=ppt/slides/slide219.xml><?xml version="1.0" encoding="utf-8"?>
<p:sld xmlns:a="http://schemas.openxmlformats.org/drawingml/2006/main" xmlns:r="http://schemas.openxmlformats.org/officeDocument/2006/relationships" xmlns:p="http://schemas.openxmlformats.org/presentationml/2006/main">
  <p:cSld name="Slide 2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STAR Virtual Learning Platform (VLP)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Hands-on virtual labs accessible worldwide on any device at cloud scale, eliminating expensive lab environments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Lab Platform (VLP)</a:t>
            </a:r>
          </a:p>
          <a:p>
            <a:r>
              <a:rPr lang="en-US" sz="1800" dirty="0" smtClean="0"/>
              <a:t/>
            </a:r>
          </a:p>
          <a:p>
            <a:r>
              <a:rPr lang="en-US" sz="1800" dirty="0" smtClean="0"/>
              <a:t>-------------------------------------------------------------------</a:t>
            </a:r>
          </a:p>
          <a:p>
            <a:r>
              <a:rPr lang="en-US" sz="1800" dirty="0" smtClean="0"/>
              <a:t> is a SaaS platform that gives organizations the ability to deliver their own customized hands-on virtual training labs to anyone on the planet at cloud scale.  </a:t>
            </a:r>
          </a:p>
          <a:p>
            <a:r>
              <a:rPr lang="en-US" sz="1800" dirty="0" smtClean="0"/>
              <a:t/>
            </a:r>
          </a:p>
          <a:p>
            <a:r>
              <a:rPr lang="en-US" sz="1800" dirty="0" smtClean="0"/>
              <a:t>-------------------------------------------------------------------</a:t>
            </a:r>
          </a:p>
          <a:p>
            <a:r>
              <a:rPr lang="en-US" sz="1800" dirty="0" smtClean="0"/>
              <a:t/>
            </a:r>
          </a:p>
          <a:p>
            <a:r>
              <a:rPr lang="en-US" sz="1800" dirty="0" smtClean="0"/>
              <a:t>Instructor Led Training: Training platform that allows students to have their own individual lab environment while allowing the instructor to proctor, shadow, assist and interact with students virtually from anywhere.</a:t>
            </a:r>
          </a:p>
          <a:p>
            <a:r>
              <a:rPr lang="en-US" sz="1800" dirty="0" smtClean="0"/>
              <a:t/>
            </a:r>
          </a:p>
          <a:p>
            <a:r>
              <a:rPr lang="en-US" sz="1800" dirty="0" smtClean="0"/>
              <a:t>-------------------------------------------------------------------</a:t>
            </a:r>
          </a:p>
          <a:p>
            <a:r>
              <a:rPr lang="en-US" sz="1800" dirty="0" smtClean="0"/>
              <a:t/>
            </a:r>
          </a:p>
          <a:p>
            <a:r>
              <a:rPr lang="en-US" sz="1800" dirty="0" smtClean="0"/>
              <a:t>Sales Demo: Easily expand your ability to give effect sales demos of your software solutions. Provisioning a known good template with a demo environment pre-staged for you demo allows for a quick and easy demo without any of the pre-configuration or cleanup between customers.</a:t>
            </a:r>
          </a:p>
          <a:p>
            <a:r>
              <a:rPr lang="en-US" sz="1800" dirty="0" smtClean="0"/>
              <a:t/>
            </a:r>
          </a:p>
          <a:p>
            <a:r>
              <a:rPr lang="en-US" sz="1800" dirty="0" smtClean="0"/>
              <a:t>-------------------------------------------------------------------</a:t>
            </a:r>
          </a:p>
          <a:p>
            <a:r>
              <a:rPr lang="en-US" sz="1800" dirty="0" smtClean="0"/>
              <a:t/>
            </a:r>
          </a:p>
          <a:p>
            <a:r>
              <a:rPr lang="en-US" sz="1800" dirty="0" smtClean="0"/>
              <a:t>Customer Proof of Concept: Moving from Sales Demo into Proof of Concept is extremely easy when you can entitle a customer to a time bound copy of their own demo environment.  Provide access to a POC environment for the customer to evaluate your software, and even provide remote assistance and monitor their progress.</a:t>
            </a:r>
          </a:p>
          <a:p>
            <a:r>
              <a:rPr lang="en-US" sz="1800" dirty="0" smtClean="0"/>
              <a:t/>
            </a:r>
          </a:p>
          <a:p>
            <a:r>
              <a:rPr lang="en-US" sz="1800" dirty="0" smtClean="0"/>
              <a:t>-------------------------------------------------------------------</a:t>
            </a:r>
          </a:p>
          <a:p>
            <a:r>
              <a:rPr lang="en-US" sz="1800" dirty="0" smtClean="0"/>
              <a:t/>
            </a:r>
          </a:p>
          <a:p>
            <a:r>
              <a:rPr lang="en-US" sz="1800" dirty="0" smtClean="0"/>
              <a:t>Cyber Security Training:  Security operations training is essential to preparing the cybersecurity workforce of tomorrow, and for keeping current cybersecurity workers up-to-date on skills and evolving threats.  VLP provides a safe environment to develop training scenarios and build their capabilities. </a:t>
            </a:r>
          </a:p>
          <a:p>
            <a:r>
              <a:rPr lang="en-US" sz="1800" dirty="0" smtClean="0"/>
              <a:t/>
            </a:r>
          </a:p>
          <a:p>
            <a:r>
              <a:rPr lang="en-US" sz="1800" dirty="0" smtClean="0"/>
              <a:t>-------------------------------------------------------------------</a:t>
            </a:r>
          </a:p>
          <a:p>
            <a:r>
              <a:rPr lang="en-US" sz="1800" dirty="0" smtClean="0"/>
              <a:t/>
            </a:r>
          </a:p>
          <a:p>
            <a:r>
              <a:rPr lang="en-US" sz="1800" dirty="0" smtClean="0"/>
              <a:t>We are complementary to most leading Learning Management Systems (LMS) and support Learning Tools Interoperability (LTI) allowing you to leverage your existing education platform.</a:t>
            </a:r>
          </a:p>
          <a:p>
            <a:r>
              <a:rPr lang="en-US" sz="1800" dirty="0" smtClean="0"/>
              <a:t/>
            </a:r>
          </a:p>
          <a:p>
            <a:r>
              <a:rPr lang="en-US" sz="1800" dirty="0" smtClean="0"/>
              <a:t/>
            </a:r>
          </a:p>
          <a:p>
            <a:r>
              <a:rPr lang="en-US" sz="1800" dirty="0" smtClean="0"/>
              <a:t>VLP has a rich set of API’s making it easy to create any kind of user experience you can imagine.</a:t>
            </a:r>
          </a:p>
          <a:p>
            <a:r>
              <a:rPr lang="en-US" sz="1800" dirty="0" smtClean="0"/>
              <a:t/>
            </a:r>
          </a:p>
          <a:p>
            <a:r>
              <a:rPr lang="en-US" sz="1800" dirty="0" smtClean="0"/>
              <a:t/>
            </a:r>
          </a:p>
          <a:p>
            <a:r>
              <a:rPr lang="en-US" sz="1800" dirty="0" smtClean="0"/>
              <a:t>Extend your own cloud infrastructure or use a hybrid model to support your most complex lab use cases.</a:t>
            </a:r>
          </a:p>
          <a:p>
            <a:r>
              <a:rPr lang="en-US" sz="1800" dirty="0" smtClean="0"/>
              <a:t/>
            </a:r>
          </a:p>
          <a:p>
            <a:r>
              <a:rPr lang="en-US" sz="1800" dirty="0" smtClean="0"/>
              <a:t/>
            </a:r>
          </a:p>
          <a:p>
            <a:r>
              <a:rPr lang="en-US" sz="1800" dirty="0" smtClean="0"/>
              <a:t>VMware Lab Platform integrates instructional materials, labs, video, social media, and more. It is specifically designed to deliver hands-on lab content to students/clients.  There are a standard set of APIs that allow it to easily integrate with most Learning Management Systems on the market.  It is a SaaS solution that is a cloud-based multi-tenant solution owned, maintained, and updated by Partner STAR Systems. </a:t>
            </a:r>
          </a:p>
          <a:p>
            <a:r>
              <a:rPr lang="en-US" sz="1800" dirty="0" smtClean="0"/>
              <a:t/>
            </a:r>
          </a:p>
          <a:p>
            <a:r>
              <a:rPr lang="en-US" sz="1800" dirty="0" smtClean="0"/>
              <a:t>-------------------------------------------------------------------</a:t>
            </a:r>
          </a:p>
          <a:p>
            <a:r>
              <a:rPr lang="en-US" sz="1800" dirty="0" smtClean="0"/>
              <a:t/>
            </a:r>
          </a:p>
          <a:p>
            <a:r>
              <a:rPr lang="en-US" sz="1800" dirty="0" smtClean="0"/>
              <a:t>- SaaS platform delivering hands-on virtual IT Training labs to anyone on the planet at cloud scale </a:t>
            </a:r>
          </a:p>
          <a:p>
            <a:r>
              <a:rPr lang="en-US" sz="1800" dirty="0" smtClean="0"/>
              <a:t/>
            </a:r>
          </a:p>
          <a:p>
            <a:r>
              <a:rPr lang="en-US" sz="1800" dirty="0" smtClean="0"/>
              <a:t>- Access from Anywhere - Training content is accessible university, at any time, on most devices with a browser. </a:t>
            </a:r>
          </a:p>
          <a:p>
            <a:r>
              <a:rPr lang="en-US" sz="1800" dirty="0" smtClean="0"/>
              <a:t/>
            </a:r>
          </a:p>
          <a:p>
            <a:r>
              <a:rPr lang="en-US" sz="1800" dirty="0" smtClean="0"/>
              <a:t>- A powerful virtual lab supports complex multi-vM configurations and almost all guest operating systems</a:t>
            </a:r>
          </a:p>
          <a:p>
            <a:r>
              <a:rPr lang="en-US" sz="1800" dirty="0" smtClean="0"/>
              <a:t/>
            </a:r>
          </a:p>
          <a:p>
            <a:r>
              <a:rPr lang="en-US" sz="1800" dirty="0" smtClean="0"/>
              <a:t>- Hybrid Cloud Scale from one lab to thousands of labs. Trust that the platform will scale with you.</a:t>
            </a:r>
          </a:p>
          <a:p>
            <a:r>
              <a:rPr lang="en-US" sz="1800" dirty="0" smtClean="0"/>
              <a:t/>
            </a:r>
          </a:p>
          <a:p>
            <a:r>
              <a:rPr lang="en-US" sz="1800" dirty="0" smtClean="0"/>
              <a:t>- supports labaccess directly from the the console </a:t>
            </a:r>
          </a:p>
          <a:p>
            <a:r>
              <a:rPr lang="en-US" sz="1800" dirty="0" smtClean="0"/>
              <a:t/>
            </a:r>
          </a:p>
          <a:p>
            <a:r>
              <a:rPr lang="en-US" sz="1800" dirty="0" smtClean="0"/>
              <a:t>- Set it and forget it administration </a:t>
            </a:r>
          </a:p>
          <a:p>
            <a:r>
              <a:rPr lang="en-US" sz="1800" dirty="0" smtClean="0"/>
              <a:t/>
            </a:r>
          </a:p>
          <a:p>
            <a:r>
              <a:rPr lang="en-US" sz="1800" dirty="0" smtClean="0"/>
              <a:t>- Learning management Systems support through standard LTI and API integrations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https://cloud.ibm.com/catalog/services/starvlp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219</a:t>
            </a:r>
            <a:endParaRPr lang="en-US" dirty="0"/>
          </a:p>
        </p:txBody>
      </p:sp>
    </p:spTree>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name="Slide 2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Storage Ceph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Experience cloud-like enterprise storage on-premises with the convenience of a pay-as-you-go model.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Experience cloud-like enterprise storage on-premises with the convenience of a pay-as-you-go model.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https://cloud.ibm.com/catalog/services/software-defined-storage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220</a:t>
            </a:r>
            <a:endParaRPr lang="en-US" dirty="0"/>
          </a:p>
        </p:txBody>
      </p:sp>
    </p:spTree>
  </p:cSld>
  <p:clrMapOvr>
    <a:masterClrMapping/>
  </p:clrMapOvr>
</p:sld>
</file>

<file path=ppt/slides/slide221.xml><?xml version="1.0" encoding="utf-8"?>
<p:sld xmlns:a="http://schemas.openxmlformats.org/drawingml/2006/main" xmlns:r="http://schemas.openxmlformats.org/officeDocument/2006/relationships" xmlns:p="http://schemas.openxmlformats.org/presentationml/2006/main">
  <p:cSld name="Slide 2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Streaming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IBM Streams to ingest, analyze, monitor, and correlate data as it arrives from real-time data sources. View information and events as they unfold.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Streams to ingest, analyze, monitor, and correlate data as it arrives from real-time data sources. View information and events as they unfold.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Streams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https://cloud.ibm.com/catalog/services/streaming-analytics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221</a:t>
            </a:r>
            <a:endParaRPr lang="en-US" dirty="0"/>
          </a:p>
        </p:txBody>
      </p:sp>
    </p:spTree>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p:cSld name="Slide 2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Subnet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Subnet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Subnets are created from VPC address prefixes and are bound to a single zone in one region; customers can have multiple subnets per address prefix. </a:t>
            </a:r>
          </a:p>
          <a:p>
            <a:r>
              <a:rPr lang="en-US" sz="1800" dirty="0" smtClean="0"/>
              <a:t/>
            </a:r>
          </a:p>
          <a:p>
            <a:r>
              <a:rPr lang="en-US" sz="1800" dirty="0" smtClean="0"/>
              <a:t>Each subnet in a VPC can reach other subnets through private layer 3 routing through the implicit router. The implicit router is the inherent network connectivity between all the subnets that are created within a VPC. A VPC, like a subnet, is also deployed and bound to only one region. Within that region, a VPC can span multiple zones, however, subnets are bound to a single zone and do not span multiple zones.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https://cloud.ibm.com/catalog/services/is.subnet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222</a:t>
            </a:r>
            <a:endParaRPr lang="en-US" dirty="0"/>
          </a:p>
        </p:txBody>
      </p:sp>
    </p:spTree>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p:cSld name="Slide 2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symplistic.ContentIQ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Turn websites, document repositories, helpdesks and workspaces into an intelligent conversational AI Agent using advanced, AI powered RAG in minutes.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ContentIQ transforms your existing content, web pages, documents, helpdesks, and internal knowledge bases, into a powerful AI assistant that delivers accurate, conversational answers in real time. Powered by Retrieval-Augmented Generation (RAG), ContentIQ connects to platforms like SharePoint, Google Drive, Box, Notion, etc, to ingest, process, and intelligently search your information so your team or customers can simply ask a question and get instant, source-cited results.</a:t>
            </a:r>
          </a:p>
          <a:p>
            <a:r>
              <a:rPr lang="en-US" sz="1800" dirty="0" smtClean="0"/>
              <a:t/>
            </a:r>
          </a:p>
          <a:p>
            <a:r>
              <a:rPr lang="en-US" sz="1800" dirty="0" smtClean="0"/>
              <a:t>Setup takes just minutes with no heavy development required. Built for enterprise needs, ContentIQ includes full access control, real-time sync, usage analytics, and seamless integration into your workflows. It helps reduce search time, automate internal support, and unlock the full value of your knowledge, all through secure, explainable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https://cloud.ibm.com/catalog/services/symplistic-contentiq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223</a:t>
            </a:r>
            <a:endParaRPr lang="en-US" dirty="0"/>
          </a:p>
        </p:txBody>
      </p:sp>
    </p:spTree>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p:cSld name="Slide 2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symplistic.TestIQ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TestIQ helps teams ship trustworthy Agents by benchmarking decision quality, task success, latency, accuracy and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TestIQ helps organizations ship trustworthy AI agents by auto-generating realistic scenarios and full test suites that mirror real user conversations and tasks. It runs end-to-end agent evaluations including tool use, permission checks, and safety. Also it benchmarks decision quality, task success, accuracy, latency, and performance. Results come with replayable traces, failure clustering, and clear pass/fail gates. TestIQ plugs into CI/CD to enforce evaluation thresholds and block regressions as your agents evolve.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https://cloud.ibm.com/catalog/services/symplistic-testiq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224</a:t>
            </a:r>
            <a:endParaRPr lang="en-US" dirty="0"/>
          </a:p>
        </p:txBody>
      </p:sp>
    </p:spTree>
  </p:cSld>
  <p:clrMapOvr>
    <a:masterClrMapping/>
  </p:clrMapOvr>
</p:sld>
</file>

<file path=ppt/slides/slide225.xml><?xml version="1.0" encoding="utf-8"?>
<p:sld xmlns:a="http://schemas.openxmlformats.org/drawingml/2006/main" xmlns:r="http://schemas.openxmlformats.org/officeDocument/2006/relationships" xmlns:p="http://schemas.openxmlformats.org/presentationml/2006/main">
  <p:cSld name="Slide 2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TapestryX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TapestryX is next-generation Networked Accounting Ledger Technology (NALT) that can be deployed to support B2B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TapestryX is a real-time, high-capacity, secure and scalable, decentralized B2B transaction synchronization and double-entry accounting protocol.</a:t>
            </a:r>
          </a:p>
          <a:p>
            <a:r>
              <a:rPr lang="en-US" sz="1800" dirty="0" smtClean="0"/>
              <a:t/>
            </a:r>
          </a:p>
          <a:p>
            <a:r>
              <a:rPr lang="en-US" sz="1800" dirty="0" smtClean="0"/>
              <a:t>▪ Each Node (representing an institutional participant) controls its segment of the entire, interlinked platform ledger</a:t>
            </a:r>
          </a:p>
          <a:p>
            <a:r>
              <a:rPr lang="en-US" sz="1800" dirty="0" smtClean="0"/>
              <a:t>▪ Event-driven and self-synchronizing(1)</a:t>
            </a:r>
          </a:p>
          <a:p>
            <a:r>
              <a:rPr lang="en-US" sz="1800" dirty="0" smtClean="0"/>
              <a:t>▪ Each Node posts asset transfer details as well as (future-dated) obligations into immutable ledgers</a:t>
            </a:r>
          </a:p>
          <a:p>
            <a:r>
              <a:rPr lang="en-US" sz="1800" dirty="0" smtClean="0"/>
              <a:t>▪ Transaction Accounting Periods - allowing period archiving and active memory optimization</a:t>
            </a:r>
          </a:p>
          <a:p>
            <a:r>
              <a:rPr lang="en-US" sz="1800" dirty="0" smtClean="0"/>
              <a:t>▪ Simple, deterministic scripts (asset &amp; life-cycle agnostic)</a:t>
            </a:r>
          </a:p>
          <a:p>
            <a:r>
              <a:rPr lang="en-US" sz="1800" dirty="0" smtClean="0"/>
              <a:t>▪ Interoperable with legacy infrastructure (via Airlock feature)</a:t>
            </a:r>
          </a:p>
          <a:p>
            <a:r>
              <a:rPr lang="en-US" sz="1800" dirty="0" smtClean="0"/>
              <a:t>▪ Confidential and Secure</a:t>
            </a:r>
          </a:p>
          <a:p>
            <a:r>
              <a:rPr lang="en-US" sz="1800" dirty="0" smtClean="0"/>
              <a:t>▪ Configurable for proper GAAP or IFRS Financial Reporting</a:t>
            </a:r>
          </a:p>
          <a:p>
            <a:r>
              <a:rPr lang="en-US" sz="1800" dirty="0" smtClean="0"/>
              <a:t>▪ Decentralized initiation of transaction, validation and processing – no single point of failure</a:t>
            </a:r>
          </a:p>
          <a:p>
            <a:r>
              <a:rPr lang="en-US" sz="1800" dirty="0" smtClean="0"/>
              <a:t>▪ High Performance (~ 100K TPS) and Resilient to Cyber attacks</a:t>
            </a:r>
          </a:p>
          <a:p>
            <a:r>
              <a:rPr lang="en-US" sz="1800" dirty="0" smtClean="0"/>
              <a:t/>
            </a:r>
          </a:p>
          <a:p>
            <a:r>
              <a:rPr lang="en-US" sz="1800" dirty="0" smtClean="0"/>
              <a:t>Consistency and Completeness of all Decentralized Ledgers without reliance on consensus, mining or 3rd Party validation.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L4S Corp.</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Blockchain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https://cloud.ibm.com/catalog/services/l4s-corp-tapestryx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225</a:t>
            </a:r>
            <a:endParaRPr lang="en-US" dirty="0"/>
          </a:p>
        </p:txBody>
      </p:sp>
    </p:spTree>
  </p:cSld>
  <p:clrMapOvr>
    <a:masterClrMapping/>
  </p:clrMapOvr>
</p:sld>
</file>

<file path=ppt/slides/slide226.xml><?xml version="1.0" encoding="utf-8"?>
<p:sld xmlns:a="http://schemas.openxmlformats.org/drawingml/2006/main" xmlns:r="http://schemas.openxmlformats.org/officeDocument/2006/relationships" xmlns:p="http://schemas.openxmlformats.org/presentationml/2006/main">
  <p:cSld name="Slide 2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Tavily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Tavily is a search engine for AI agents, tailored for RAG, delivering realtime, reliable info from trusted 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Web Infrastructure for AI Agents A purpose-built web API for real-time search, scraping, crawling, and structured data retrieval. AI-native enterprises trust Tavily for data enrichment, research, RAG pipelines, and autonomous AI systems-ensuring fresh, accurate, and scalable intelligence.</a:t>
            </a:r>
          </a:p>
          <a:p>
            <a:r>
              <a:rPr lang="en-US" sz="1800" dirty="0" smtClean="0"/>
              <a:t/>
            </a:r>
          </a:p>
          <a:p>
            <a:r>
              <a:rPr lang="en-US" sz="1800" dirty="0" smtClean="0"/>
              <a:t/>
            </a:r>
          </a:p>
          <a:p>
            <a:r>
              <a:rPr lang="en-US" sz="1800" dirty="0" smtClean="0"/>
              <a:t>Why Tavily?</a:t>
            </a:r>
          </a:p>
          <a:p>
            <a:r>
              <a:rPr lang="en-US" sz="1800" dirty="0" smtClean="0"/>
              <a:t/>
            </a:r>
          </a:p>
          <a:p>
            <a:r>
              <a:rPr lang="en-US" sz="1800" dirty="0" smtClean="0"/>
              <a:t>Built for AI Agents : Unlike traditional web APIs, Tavily delivers structured, customizable data retrieval with full control over search depth, domain targeting, and content extraction via a single API call.</a:t>
            </a:r>
          </a:p>
          <a:p>
            <a:r>
              <a:rPr lang="en-US" sz="1800" dirty="0" smtClean="0"/>
              <a:t/>
            </a:r>
          </a:p>
          <a:p>
            <a:r>
              <a:rPr lang="en-US" sz="1800" dirty="0" smtClean="0"/>
              <a:t>Enterprise-Grade Security : SOC 2 certified with zero data retention and an AI security layer to prevent prompt injection and data leakage.</a:t>
            </a:r>
          </a:p>
          <a:p>
            <a:r>
              <a:rPr lang="en-US" sz="1800" dirty="0" smtClean="0"/>
              <a:t/>
            </a:r>
          </a:p>
          <a:p>
            <a:r>
              <a:rPr lang="en-US" sz="1800" dirty="0" smtClean="0"/>
              <a:t>Scalable &amp; Reliable : Custom API throughput, guaranteed uptime, and enterprise SLAs support high-volume AI workloads.</a:t>
            </a:r>
          </a:p>
          <a:p>
            <a:r>
              <a:rPr lang="en-US" sz="1800" dirty="0" smtClean="0"/>
              <a:t/>
            </a:r>
          </a:p>
          <a:p>
            <a:r>
              <a:rPr lang="en-US" sz="1800" dirty="0" smtClean="0"/>
              <a:t>Seamless AI Integration : Deploy with one line of code. Tavily natively supports LangChain, LlamaIndex, and leading AI frameworks with developer-friendly APIs and via the Model Context Protocol (MCP) .</a:t>
            </a:r>
          </a:p>
          <a:p>
            <a:r>
              <a:rPr lang="en-US" sz="1800" dirty="0" smtClean="0"/>
              <a:t/>
            </a:r>
          </a:p>
          <a:p>
            <a:r>
              <a:rPr lang="en-US" sz="1800" dirty="0" smtClean="0"/>
              <a:t>Enterprise-Ready : Designed for scalability, security, and high availability, ensuring fast, reliable data access.</a:t>
            </a:r>
          </a:p>
          <a:p>
            <a:r>
              <a:rPr lang="en-US" sz="1800" dirty="0" smtClean="0"/>
              <a:t/>
            </a:r>
          </a:p>
          <a:p>
            <a:r>
              <a:rPr lang="en-US" sz="1800" dirty="0" smtClean="0"/>
              <a:t>Trusted by 800,000+ developers and AI leaders, Tavily is the go-to solution for real-time, structured web access.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Tavily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https://cloud.ibm.com/catalog/services/tavily-tavily-web-access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226</a:t>
            </a:r>
            <a:endParaRPr lang="en-US" dirty="0"/>
          </a:p>
        </p:txBody>
      </p:sp>
    </p:spTree>
  </p:cSld>
  <p:clrMapOvr>
    <a:masterClrMapping/>
  </p:clrMapOvr>
</p:sld>
</file>

<file path=ppt/slides/slide227.xml><?xml version="1.0" encoding="utf-8"?>
<p:sld xmlns:a="http://schemas.openxmlformats.org/drawingml/2006/main" xmlns:r="http://schemas.openxmlformats.org/officeDocument/2006/relationships" xmlns:p="http://schemas.openxmlformats.org/presentationml/2006/main">
  <p:cSld name="Slide 2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TechD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TechD consulting, onboarding, implementation, training, and managed services for IBM Data &amp; AI products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TechD stands at the forefront of data and artificial intelligence solutions, serving as IBM's premier strategic partner for over 14 years. With a proven track record of excellence and innovation, we have established ourselves as the trusted leader in implementing and optimizing IBM's comprehensive suite of technologies. Our deep expertise spans the entire IBM ecosystem, including Watson's AI capabilities, Cognos analytics, Information Server's data integration platform, Master Data Management (MDM) solutions, and the latest CloudPak offerings. By combining our technical prowess with a thorough understanding of business challenges, TechD helps organizations transform their data into actionable insights, enabling them to make smarter decisions and drive digital transformation in an increasingly complex technological landscape.</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https://cloud.ibm.com/catalog/services/techdservices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227</a:t>
            </a:r>
            <a:endParaRPr lang="en-US" dirty="0"/>
          </a:p>
        </p:txBody>
      </p:sp>
    </p:spTree>
  </p:cSld>
  <p:clrMapOvr>
    <a:masterClrMapping/>
  </p:clrMapOvr>
</p:sld>
</file>

<file path=ppt/slides/slide228.xml><?xml version="1.0" encoding="utf-8"?>
<p:sld xmlns:a="http://schemas.openxmlformats.org/drawingml/2006/main" xmlns:r="http://schemas.openxmlformats.org/officeDocument/2006/relationships" xmlns:p="http://schemas.openxmlformats.org/presentationml/2006/main">
  <p:cSld name="Slide 2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Text to Speech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Synthesizes natural-sounding speech from text.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Text to Speech service converts written text to natural-sounding speech. The service streams the synthesized audio back with minimal delay. The audio uses appropriate cadence and intonation for its language and dialect to provide voices that are smooth and natural. The service can be used in applications such as voice-automated chatbots, as well as a variety of voice-driven and screenless applications, such as tools for the disabled or visually impaired, video narration and voice over, and educational and home-automation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https://cloud.ibm.com/catalog/services/text-to-speech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228</a:t>
            </a:r>
            <a:endParaRPr lang="en-US" dirty="0"/>
          </a:p>
        </p:txBody>
      </p:sp>
    </p:spTree>
  </p:cSld>
  <p:clrMapOvr>
    <a:masterClrMapping/>
  </p:clrMapOvr>
</p:sld>
</file>

<file path=ppt/slides/slide229.xml><?xml version="1.0" encoding="utf-8"?>
<p:sld xmlns:a="http://schemas.openxmlformats.org/drawingml/2006/main" xmlns:r="http://schemas.openxmlformats.org/officeDocument/2006/relationships" xmlns:p="http://schemas.openxmlformats.org/presentationml/2006/main">
  <p:cSld name="Slide 2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Toolchain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tools to build, test, and deploy applications by using DevOps best practices.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https://cloud.ibm.com/catalog/services/toolchain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229</a:t>
            </a:r>
            <a:endParaRPr lang="en-US" dirty="0"/>
          </a:p>
        </p:txBody>
      </p:sp>
    </p:spTree>
  </p:cSld>
  <p:clrMapOvr>
    <a:masterClrMapping/>
  </p:clrMapOvr>
</p:sld>
</file>

<file path=ppt/slides/slide230.xml><?xml version="1.0" encoding="utf-8"?>
<p:sld xmlns:a="http://schemas.openxmlformats.org/drawingml/2006/main" xmlns:r="http://schemas.openxmlformats.org/officeDocument/2006/relationships" xmlns:p="http://schemas.openxmlformats.org/presentationml/2006/main">
  <p:cSld name="Slide 2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TradeScreen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Trademo TradeScreen is an AI-based real-time trade transaction validation tool powered by  Knowledge graph of over 10 billion+data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Trademo TradeScreen is an advanced AI-powered platform that revolutionizes how key stakeholders in global trade, i.e., Trade Finance, Insurance, Logistics, Ports, and Customs authorities, manage trade transaction processing, operations, compliance, and risk. </a:t>
            </a:r>
          </a:p>
          <a:p>
            <a:r>
              <a:rPr lang="en-US" sz="1800" dirty="0" smtClean="0"/>
              <a:t/>
            </a:r>
          </a:p>
          <a:p>
            <a:r>
              <a:rPr lang="en-US" sz="1800" dirty="0" smtClean="0"/>
              <a:t>By leveraging Trademo's proprietary fine-tuned vision models and global supply chain knowledge graph (TrademoKG) powered by open-source intelligence from thousands of authoritative data sources and billions of data points, TradeScreen provides real-time trade digitization, compliance automation, and risk management capabilities.</a:t>
            </a:r>
          </a:p>
          <a:p>
            <a:r>
              <a:rPr lang="en-US" sz="1800" dirty="0" smtClean="0"/>
              <a:t/>
            </a:r>
          </a:p>
          <a:p>
            <a:r>
              <a:rPr lang="en-US" sz="1800" dirty="0" smtClean="0"/>
              <a:t>Key Features</a:t>
            </a:r>
          </a:p>
          <a:p>
            <a:r>
              <a:rPr lang="en-US" sz="1800" dirty="0" smtClean="0"/>
              <a:t/>
            </a:r>
          </a:p>
          <a:p>
            <a:r>
              <a:rPr lang="en-US" sz="1800" dirty="0" smtClean="0"/>
              <a:t>Document Digitization &amp; Classification</a:t>
            </a:r>
          </a:p>
          <a:p>
            <a:r>
              <a:rPr lang="en-US" sz="1800" dirty="0" smtClean="0"/>
              <a:t/>
            </a:r>
          </a:p>
          <a:p>
            <a:r>
              <a:rPr lang="en-US" sz="1800" dirty="0" smtClean="0"/>
              <a:t>Our system uses advanced machine learning algorithms to automatically classify trade documents into specific categories, completely eliminating the need for manual sorting. Whether it's a Bill of Lading (BoL), Letter of Credit (LC), Commercial Invoice, Packing List, Certificate of Origin, or any other trade document, our intelligent classification engine instantly recognizes and organizes them into the correct buckets. This not only speeds up processing times but also enhances accuracy and reduces operational overhead.</a:t>
            </a:r>
          </a:p>
          <a:p>
            <a:r>
              <a:rPr lang="en-US" sz="1800" dirty="0" smtClean="0"/>
              <a:t/>
            </a:r>
          </a:p>
          <a:p>
            <a:r>
              <a:rPr lang="en-US" sz="1800" dirty="0" smtClean="0"/>
              <a:t>Document Extraction</a:t>
            </a:r>
          </a:p>
          <a:p>
            <a:r>
              <a:rPr lang="en-US" sz="1800" dirty="0" smtClean="0"/>
              <a:t/>
            </a:r>
          </a:p>
          <a:p>
            <a:r>
              <a:rPr lang="en-US" sz="1800" dirty="0" smtClean="0"/>
              <a:t>Powered by an advanced vision model combined with Optical Character Recognition (OCR), our system precisely extracts all the key attributes from your trade documents regardless of inconsistent formats and data structures. From shipment details and payment terms to product specifications and consignee information, the platform automates data extraction at scale, removing hours of manual effort and reducing the risk of human error. The result is faster workflows, more accurate data, and a significant boost in operational efficiency.</a:t>
            </a:r>
          </a:p>
          <a:p>
            <a:r>
              <a:rPr lang="en-US" sz="1800" dirty="0" smtClean="0"/>
              <a:t/>
            </a:r>
          </a:p>
          <a:p>
            <a:r>
              <a:rPr lang="en-US" sz="1800" dirty="0" smtClean="0"/>
              <a:t>Maritime</a:t>
            </a:r>
          </a:p>
          <a:p>
            <a:r>
              <a:rPr lang="en-US" sz="1800" dirty="0" smtClean="0"/>
              <a:t/>
            </a:r>
          </a:p>
          <a:p>
            <a:r>
              <a:rPr lang="en-US" sz="1800" dirty="0" smtClean="0"/>
              <a:t>Validate master bill of lading data and get details on transhipment ports, vessel location, and previous port calls of the vessel with the right information from shipping lines. Identify and mitigate risk by screening vessels and shipping entities flagged for maritime sanctions violations.</a:t>
            </a:r>
          </a:p>
          <a:p>
            <a:r>
              <a:rPr lang="en-US" sz="1800" dirty="0" smtClean="0"/>
              <a:t/>
            </a:r>
          </a:p>
          <a:p>
            <a:r>
              <a:rPr lang="en-US" sz="1800" dirty="0" smtClean="0"/>
              <a:t>Compliance &amp; Risk Checks</a:t>
            </a:r>
          </a:p>
          <a:p>
            <a:r>
              <a:rPr lang="en-US" sz="1800" dirty="0" smtClean="0"/>
              <a:t/>
            </a:r>
          </a:p>
          <a:p>
            <a:r>
              <a:rPr lang="en-US" sz="1800" dirty="0" smtClean="0"/>
              <a:t>TBML (Trade-Based Money Laundering) Checks</a:t>
            </a:r>
          </a:p>
          <a:p>
            <a:r>
              <a:rPr lang="en-US" sz="1800" dirty="0" smtClean="0"/>
              <a:t/>
            </a:r>
          </a:p>
          <a:p>
            <a:r>
              <a:rPr lang="en-US" sz="1800" dirty="0" smtClean="0"/>
              <a:t>Leverage real-time trade transactional data to identify risk from supply chain networks, such as limited trade partners, new product trade, multiple addresses, and more. Identify patterns in trade data that could indicate fraudulent activity, such as huge shipments, frequent changes in trading partners, unusual payment patterns, or inconsistent documentation.</a:t>
            </a:r>
          </a:p>
          <a:p>
            <a:r>
              <a:rPr lang="en-US" sz="1800" dirty="0" smtClean="0"/>
              <a:t/>
            </a:r>
          </a:p>
          <a:p>
            <a:r>
              <a:rPr lang="en-US" sz="1800" dirty="0" smtClean="0"/>
              <a:t>Goods Screening</a:t>
            </a:r>
          </a:p>
          <a:p>
            <a:r>
              <a:rPr lang="en-US" sz="1800" dirty="0" smtClean="0"/>
              <a:t/>
            </a:r>
          </a:p>
          <a:p>
            <a:r>
              <a:rPr lang="en-US" sz="1800" dirty="0" smtClean="0"/>
              <a:t>Ensure compliant financing by thoroughly screening for dual-use, hazardous, restricted/prohibited goods across different trade lanes. Trademo empowers trade finance institutions by offering real-time insights into country-specific trade restrictions, OGA/PGA regulations, and controls to mitigate risks, accelerate due diligence, and facilitate secure, compliant cross-border transactions.</a:t>
            </a:r>
          </a:p>
          <a:p>
            <a:r>
              <a:rPr lang="en-US" sz="1800" dirty="0" smtClean="0"/>
              <a:t/>
            </a:r>
          </a:p>
          <a:p>
            <a:r>
              <a:rPr lang="en-US" sz="1800" dirty="0" smtClean="0"/>
              <a:t>Sanctions &amp; AML Screening</a:t>
            </a:r>
          </a:p>
          <a:p>
            <a:r>
              <a:rPr lang="en-US" sz="1800" dirty="0" smtClean="0"/>
              <a:t/>
            </a:r>
          </a:p>
          <a:p>
            <a:r>
              <a:rPr lang="en-US" sz="1800" dirty="0" smtClean="0"/>
              <a:t>Conduct enhanced due diligence on parties with links to sanctioned countries, entities, individuals, politically exposed persons, and forced labor entities.</a:t>
            </a:r>
          </a:p>
          <a:p>
            <a:r>
              <a:rPr lang="en-US" sz="1800" dirty="0" smtClean="0"/>
              <a:t/>
            </a:r>
          </a:p>
          <a:p>
            <a:r>
              <a:rPr lang="en-US" sz="1800" dirty="0" smtClean="0"/>
              <a:t>UCP 600 Checks</a:t>
            </a:r>
          </a:p>
          <a:p>
            <a:r>
              <a:rPr lang="en-US" sz="1800" dirty="0" smtClean="0"/>
              <a:t/>
            </a:r>
          </a:p>
          <a:p>
            <a:r>
              <a:rPr lang="en-US" sz="1800" dirty="0" smtClean="0"/>
              <a:t>Ensure trade documents meet the standards outlined under UCP 600 rules for seamless processing.</a:t>
            </a:r>
          </a:p>
          <a:p>
            <a:r>
              <a:rPr lang="en-US" sz="1800" dirty="0" smtClean="0"/>
              <a:t/>
            </a:r>
          </a:p>
          <a:p>
            <a:r>
              <a:rPr lang="en-US" sz="1800" dirty="0" smtClean="0"/>
              <a:t>Entity Resolution</a:t>
            </a:r>
          </a:p>
          <a:p>
            <a:r>
              <a:rPr lang="en-US" sz="1800" dirty="0" smtClean="0"/>
              <a:t/>
            </a:r>
          </a:p>
          <a:p>
            <a:r>
              <a:rPr lang="en-US" sz="1800" dirty="0" smtClean="0"/>
              <a:t>Trademo’s Entity Resolution helps trade finance institutions uncover hidden risks by mapping ownership structures, identifying linked entities, and automatically screening them against global sanctions and watchlists. This end-to-end visibility strengthens due diligence, enhances compliance, and ensures safer financing decisions.</a:t>
            </a:r>
          </a:p>
          <a:p>
            <a:r>
              <a:rPr lang="en-US" sz="1800" dirty="0" smtClean="0"/>
              <a:t/>
            </a:r>
          </a:p>
          <a:p>
            <a:r>
              <a:rPr lang="en-US" sz="1800" dirty="0" smtClean="0"/>
              <a:t>Document Verification as per ICC Rules (UCP, ISBP, URC)</a:t>
            </a:r>
          </a:p>
          <a:p>
            <a:r>
              <a:rPr lang="en-US" sz="1800" dirty="0" smtClean="0"/>
              <a:t/>
            </a:r>
          </a:p>
          <a:p>
            <a:r>
              <a:rPr lang="en-US" sz="1800" dirty="0" smtClean="0"/>
              <a:t>Trademo’s Document Check automates verification against UCP, URDG, URC, and ISBP rules as applicable, helping trade finance institutions quickly validate trade documents for compliance and accuracy. By reducing manual errors and speeding up document review, it ensures smoother letter of credit processing, lowers operational risk, and accelerates transaction approval.</a:t>
            </a:r>
          </a:p>
          <a:p>
            <a:r>
              <a:rPr lang="en-US" sz="1800" dirty="0" smtClean="0"/>
              <a:t/>
            </a:r>
          </a:p>
          <a:p>
            <a:r>
              <a:rPr lang="en-US" sz="1800" dirty="0" smtClean="0"/>
              <a:t>Benefits:</a:t>
            </a:r>
          </a:p>
          <a:p>
            <a:r>
              <a:rPr lang="en-US" sz="1800" dirty="0" smtClean="0"/>
              <a:t/>
            </a:r>
          </a:p>
          <a:p>
            <a:r>
              <a:rPr lang="en-US" sz="1800" dirty="0" smtClean="0"/>
              <a:t>Cost Efficiency Through Automation</a:t>
            </a:r>
          </a:p>
          <a:p>
            <a:r>
              <a:rPr lang="en-US" sz="1800" dirty="0" smtClean="0"/>
              <a:t/>
            </a:r>
          </a:p>
          <a:p>
            <a:r>
              <a:rPr lang="en-US" sz="1800" dirty="0" smtClean="0"/>
              <a:t>By reducing manual tasks by up to 75%, TradeScreen lowers the cost of transaction processing and fraud detection. This reduction leads to decreased overhead for organizations as they streamline their operations.</a:t>
            </a:r>
          </a:p>
          <a:p>
            <a:r>
              <a:rPr lang="en-US" sz="1800" dirty="0" smtClean="0"/>
              <a:t/>
            </a:r>
          </a:p>
          <a:p>
            <a:r>
              <a:rPr lang="en-US" sz="1800" dirty="0" smtClean="0"/>
              <a:t>Fraud Prevention</a:t>
            </a:r>
          </a:p>
          <a:p>
            <a:r>
              <a:rPr lang="en-US" sz="1800" dirty="0" smtClean="0"/>
              <a:t/>
            </a:r>
          </a:p>
          <a:p>
            <a:r>
              <a:rPr lang="en-US" sz="1800" dirty="0" smtClean="0"/>
              <a:t>TradeScreen uses AI models to identify suspicious patterns before transactions are processed, enabling early intervention. This helps mitigate losses and prevent financial fraud, which is projected to cost the industry billions by 2027.</a:t>
            </a:r>
          </a:p>
          <a:p>
            <a:r>
              <a:rPr lang="en-US" sz="1800" dirty="0" smtClean="0"/>
              <a:t/>
            </a:r>
          </a:p>
          <a:p>
            <a:r>
              <a:rPr lang="en-US" sz="1800" dirty="0" smtClean="0"/>
              <a:t>Improved Accuracy &amp; Fewer False Positives</a:t>
            </a:r>
          </a:p>
          <a:p>
            <a:r>
              <a:rPr lang="en-US" sz="1800" dirty="0" smtClean="0"/>
              <a:t/>
            </a:r>
          </a:p>
          <a:p>
            <a:r>
              <a:rPr lang="en-US" sz="1800" dirty="0" smtClean="0"/>
              <a:t>By reducing false positives by up to 40%, TradeScreen ensures compliance teams spend less time investigating non-issues and more time focusing on actual risks, making institutions more efficient and productive.</a:t>
            </a:r>
          </a:p>
          <a:p>
            <a:r>
              <a:rPr lang="en-US" sz="1800" dirty="0" smtClean="0"/>
              <a:t/>
            </a:r>
          </a:p>
          <a:p>
            <a:r>
              <a:rPr lang="en-US" sz="1800" dirty="0" smtClean="0"/>
              <a:t>Enhanced Regulatory Compliance</a:t>
            </a:r>
          </a:p>
          <a:p>
            <a:r>
              <a:rPr lang="en-US" sz="1800" dirty="0" smtClean="0"/>
              <a:t/>
            </a:r>
          </a:p>
          <a:p>
            <a:r>
              <a:rPr lang="en-US" sz="1800" dirty="0" smtClean="0"/>
              <a:t>With integrated tools for sanctions screening, goods checks, and supply chain transparency, TradeScreen helps financial institutions comply with AML, CTF, and sanctions laws, reducing the risk of regulatory penalties.</a:t>
            </a:r>
          </a:p>
          <a:p>
            <a:r>
              <a:rPr lang="en-US" sz="1800" dirty="0" smtClean="0"/>
              <a:t/>
            </a:r>
          </a:p>
          <a:p>
            <a:r>
              <a:rPr lang="en-US" sz="1800" dirty="0" smtClean="0"/>
              <a:t>Increased Visibility Across Ecosystems</a:t>
            </a:r>
          </a:p>
          <a:p>
            <a:r>
              <a:rPr lang="en-US" sz="1800" dirty="0" smtClean="0"/>
              <a:t/>
            </a:r>
          </a:p>
          <a:p>
            <a:r>
              <a:rPr lang="en-US" sz="1800" dirty="0" smtClean="0"/>
              <a:t>TradeScreen merges data from multiple sources to provide a transparent view of the entire trade and financial ecosystem. This visibility helps institutions better understand their clients, suppliers, and third-party risks.</a:t>
            </a:r>
          </a:p>
          <a:p>
            <a:r>
              <a:rPr lang="en-US" sz="1800" dirty="0" smtClean="0"/>
              <a:t/>
            </a:r>
          </a:p>
          <a:p>
            <a:r>
              <a:rPr lang="en-US" sz="1800" dirty="0" smtClean="0"/>
              <a:t>Seamless Integration With Existing Infrastructure</a:t>
            </a:r>
          </a:p>
          <a:p>
            <a:r>
              <a:rPr lang="en-US" sz="1800" dirty="0" smtClean="0"/>
              <a:t/>
            </a:r>
          </a:p>
          <a:p>
            <a:r>
              <a:rPr lang="en-US" sz="1800" dirty="0" smtClean="0"/>
              <a:t>TradeScreen is an open, scalable platform that easily integrates with existing banking infrastructure, enabling institutions to leverage its capabilities without extensive system overhauls.'</a:t>
            </a:r>
          </a:p>
          <a:p>
            <a:r>
              <a:rPr lang="en-US" sz="1800" dirty="0" smtClean="0"/>
              <a:t/>
            </a:r>
          </a:p>
          <a:p>
            <a:r>
              <a:rPr lang="en-US" sz="1800" dirty="0" smtClean="0"/>
              <a:t>Enhanced Decision-Making</a:t>
            </a:r>
          </a:p>
          <a:p>
            <a:r>
              <a:rPr lang="en-US" sz="1800" dirty="0" smtClean="0"/>
              <a:t/>
            </a:r>
          </a:p>
          <a:p>
            <a:r>
              <a:rPr lang="en-US" sz="1800" dirty="0" smtClean="0"/>
              <a:t>The platform delivers actionable insights and transparency into the participants in each transaction, empowering financial institutions to make informed decisions about trade transactions and client relationships.</a:t>
            </a:r>
          </a:p>
          <a:p>
            <a:r>
              <a:rPr lang="en-US" sz="1800" dirty="0" smtClean="0"/>
              <a:t/>
            </a:r>
          </a:p>
          <a:p>
            <a:r>
              <a:rPr lang="en-US" sz="1800" dirty="0" smtClean="0"/>
              <a:t/>
            </a:r>
          </a:p>
          <a:p>
            <a:r>
              <a:rPr lang="en-US" sz="1800" dirty="0" smtClean="0"/>
              <a:t>Capabilities</a:t>
            </a:r>
          </a:p>
          <a:p>
            <a:r>
              <a:rPr lang="en-US" sz="1800" dirty="0" smtClean="0"/>
              <a:t/>
            </a:r>
          </a:p>
          <a:p>
            <a:r>
              <a:rPr lang="en-US" sz="1800" dirty="0" smtClean="0"/>
              <a:t>Global Trade Risk Mitigation</a:t>
            </a:r>
          </a:p>
          <a:p>
            <a:r>
              <a:rPr lang="en-US" sz="1800" dirty="0" smtClean="0"/>
              <a:t/>
            </a:r>
          </a:p>
          <a:p>
            <a:r>
              <a:rPr lang="en-US" sz="1800" dirty="0" smtClean="0"/>
              <a:t>Detects and prevents risks in trade transactions using a comprehensive database of international regulations and risk checks.</a:t>
            </a:r>
          </a:p>
          <a:p>
            <a:r>
              <a:rPr lang="en-US" sz="1800" dirty="0" smtClean="0"/>
              <a:t/>
            </a:r>
          </a:p>
          <a:p>
            <a:r>
              <a:rPr lang="en-US" sz="1800" dirty="0" smtClean="0"/>
              <a:t>500+ Real-Time Compliance Checks</a:t>
            </a:r>
          </a:p>
          <a:p>
            <a:r>
              <a:rPr lang="en-US" sz="1800" dirty="0" smtClean="0"/>
              <a:t/>
            </a:r>
          </a:p>
          <a:p>
            <a:r>
              <a:rPr lang="en-US" sz="1800" dirty="0" smtClean="0"/>
              <a:t>Perform 500+ real-time checks to ensure trade transactions comply with global regulations, reducing risks and non-compliance.</a:t>
            </a:r>
          </a:p>
          <a:p>
            <a:r>
              <a:rPr lang="en-US" sz="1800" dirty="0" smtClean="0"/>
              <a:t/>
            </a:r>
          </a:p>
          <a:p>
            <a:r>
              <a:rPr lang="en-US" sz="1800" dirty="0" smtClean="0"/>
              <a:t>AI-Driven Knowledge Graph</a:t>
            </a:r>
          </a:p>
          <a:p>
            <a:r>
              <a:rPr lang="en-US" sz="1800" dirty="0" smtClean="0"/>
              <a:t/>
            </a:r>
          </a:p>
          <a:p>
            <a:r>
              <a:rPr lang="en-US" sz="1800" dirty="0" smtClean="0"/>
              <a:t>Unlock insights with an AI-powered graph integrating billions of data points on trade, supply chains, risks, and ownership.</a:t>
            </a:r>
          </a:p>
          <a:p>
            <a:r>
              <a:rPr lang="en-US" sz="1800" dirty="0" smtClean="0"/>
              <a:t/>
            </a:r>
          </a:p>
          <a:p>
            <a:r>
              <a:rPr lang="en-US" sz="1800" dirty="0" smtClean="0"/>
              <a:t>End-to-End Transaction Validation</a:t>
            </a:r>
          </a:p>
          <a:p>
            <a:r>
              <a:rPr lang="en-US" sz="1800" dirty="0" smtClean="0"/>
              <a:t/>
            </a:r>
          </a:p>
          <a:p>
            <a:r>
              <a:rPr lang="en-US" sz="1800" dirty="0" smtClean="0"/>
              <a:t>Validate every aspect of trade transactions, ensuring full transparency and compliance from start to finish.</a:t>
            </a:r>
          </a:p>
          <a:p>
            <a:r>
              <a:rPr lang="en-US" sz="1800" dirty="0" smtClean="0"/>
              <a:t/>
            </a:r>
          </a:p>
          <a:p>
            <a:r>
              <a:rPr lang="en-US" sz="1800" dirty="0" smtClean="0"/>
              <a:t>Continuous Risk Updates</a:t>
            </a:r>
          </a:p>
          <a:p>
            <a:r>
              <a:rPr lang="en-US" sz="1800" dirty="0" smtClean="0"/>
              <a:t/>
            </a:r>
          </a:p>
          <a:p>
            <a:r>
              <a:rPr lang="en-US" sz="1800" dirty="0" smtClean="0"/>
              <a:t>Stay compliant with evolving regulations, as TradeScreen continuously updates its risk assessment framework in real time.</a:t>
            </a:r>
          </a:p>
          <a:p>
            <a:r>
              <a:rPr lang="en-US" sz="1800" dirty="0" smtClean="0"/>
              <a:t/>
            </a:r>
          </a:p>
          <a:p>
            <a:r>
              <a:rPr lang="en-US" sz="1800" dirty="0" smtClean="0"/>
              <a:t>User Management Capabilities</a:t>
            </a:r>
          </a:p>
          <a:p>
            <a:r>
              <a:rPr lang="en-US" sz="1800" dirty="0" smtClean="0"/>
              <a:t/>
            </a:r>
          </a:p>
          <a:p>
            <a:r>
              <a:rPr lang="en-US" sz="1800" dirty="0" smtClean="0"/>
              <a:t>Enable role-based access controls to tailor access and permissions across your teams, ensuring data security and governance compliance across workflows.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Support for maker-checker workflows, allowing teams to create, review, and approve trade transactions collaboratively. These workflows increase accountability and auditability across departments.</a:t>
            </a:r>
          </a:p>
          <a:p>
            <a:r>
              <a:rPr lang="en-US" sz="1800" dirty="0" smtClean="0"/>
              <a:t/>
            </a:r>
          </a:p>
          <a:p>
            <a:r>
              <a:rPr lang="en-US" sz="1800" dirty="0" smtClean="0"/>
              <a:t>Configuration &amp; Integration</a:t>
            </a:r>
          </a:p>
          <a:p>
            <a:r>
              <a:rPr lang="en-US" sz="1800" dirty="0" smtClean="0"/>
              <a:t/>
            </a:r>
          </a:p>
          <a:p>
            <a:r>
              <a:rPr lang="en-US" sz="1800" dirty="0" smtClean="0"/>
              <a:t>Flexible Configuration</a:t>
            </a:r>
          </a:p>
          <a:p>
            <a:r>
              <a:rPr lang="en-US" sz="1800" dirty="0" smtClean="0"/>
              <a:t/>
            </a:r>
          </a:p>
          <a:p>
            <a:r>
              <a:rPr lang="en-US" sz="1800" dirty="0" smtClean="0"/>
              <a:t>Customize workflows, compliance checks, and validation logic based on your internal policies and risk appetite.</a:t>
            </a:r>
          </a:p>
          <a:p>
            <a:r>
              <a:rPr lang="en-US" sz="1800" dirty="0" smtClean="0"/>
              <a:t/>
            </a:r>
          </a:p>
          <a:p>
            <a:r>
              <a:rPr lang="en-US" sz="1800" dirty="0" smtClean="0"/>
              <a:t/>
            </a:r>
          </a:p>
          <a:p>
            <a:r>
              <a:rPr lang="en-US" sz="1800" dirty="0" smtClean="0"/>
              <a:t>Available via API</a:t>
            </a:r>
          </a:p>
          <a:p>
            <a:r>
              <a:rPr lang="en-US" sz="1800" dirty="0" smtClean="0"/>
              <a:t/>
            </a:r>
          </a:p>
          <a:p>
            <a:r>
              <a:rPr lang="en-US" sz="1800" dirty="0" smtClean="0"/>
              <a:t>All core TradeScreen features are available through well-documented APIs, enabling seamless integration into existing banking, logistics, or compliance systems.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The platform supports maker-checker workflows, allowing multiple teams to collaborate, review, and approve documents efficiently. This enhances accountability and strengthens the overall due diligence process.</a:t>
            </a:r>
          </a:p>
          <a:p>
            <a:r>
              <a:rPr lang="en-US" sz="1800" dirty="0" smtClean="0"/>
              <a:t/>
            </a:r>
          </a:p>
          <a:p>
            <a:r>
              <a:rPr lang="en-US" sz="1800" dirty="0" smtClean="0"/>
              <a:t>Pricing Plan:</a:t>
            </a:r>
          </a:p>
          <a:p>
            <a:r>
              <a:rPr lang="en-US" sz="1800" dirty="0" smtClean="0"/>
              <a:t/>
            </a:r>
          </a:p>
          <a:p>
            <a:r>
              <a:rPr lang="en-US" sz="1800" dirty="0" smtClean="0"/>
              <a:t>Pricing Model: Platform Subscription (Base) + Optionals </a:t>
            </a:r>
          </a:p>
          <a:p>
            <a:r>
              <a:rPr lang="en-US" sz="1800" dirty="0" smtClean="0"/>
              <a:t/>
            </a:r>
          </a:p>
          <a:p>
            <a:r>
              <a:rPr lang="en-US" sz="1800" dirty="0" smtClean="0"/>
              <a:t>1. Base Platform Subscription Fee Annually: 20000 USD </a:t>
            </a:r>
          </a:p>
          <a:p>
            <a:r>
              <a:rPr lang="en-US" sz="1800" dirty="0" smtClean="0"/>
              <a:t>2. Optionals (at an extra cost in USD): per transaction checks </a:t>
            </a:r>
          </a:p>
          <a:p>
            <a:r>
              <a:rPr lang="en-US" sz="1800" dirty="0" smtClean="0"/>
              <a:t/>
            </a:r>
          </a:p>
          <a:p>
            <a:r>
              <a:rPr lang="en-US" sz="1800" dirty="0" smtClean="0"/>
              <a:t>Document Extraction &amp; Classification Module</a:t>
            </a:r>
          </a:p>
          <a:p>
            <a:r>
              <a:rPr lang="en-US" sz="1800" dirty="0" smtClean="0"/>
              <a:t>TBML Checks Module</a:t>
            </a:r>
          </a:p>
          <a:p>
            <a:r>
              <a:rPr lang="en-US" sz="1800" dirty="0" smtClean="0"/>
              <a:t>Goods Screening Checks Module</a:t>
            </a:r>
          </a:p>
          <a:p>
            <a:r>
              <a:rPr lang="en-US" sz="1800" dirty="0" smtClean="0"/>
              <a:t>Sanctions &amp; AML Checks Module</a:t>
            </a:r>
          </a:p>
          <a:p>
            <a:r>
              <a:rPr lang="en-US" sz="1800" dirty="0" smtClean="0"/>
              <a:t>Documentary Checks Module</a:t>
            </a:r>
          </a:p>
          <a:p>
            <a:r>
              <a:rPr lang="en-US" sz="1800" dirty="0" smtClean="0"/>
              <a:t>Maritime Checks Module</a:t>
            </a:r>
          </a:p>
          <a:p>
            <a:r>
              <a:rPr lang="en-US" sz="1800" dirty="0" smtClean="0"/>
              <a:t/>
            </a:r>
          </a:p>
          <a:p>
            <a:r>
              <a:rPr lang="en-US" sz="1800" dirty="0" smtClean="0"/>
              <a:t>Kindly get in touch with this email ID to understand more about the plan: akshit.gupta@trademo.com</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Trademo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https://cloud.ibm.com/catalog/services/trademo-technologies-inc-finscreener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230</a:t>
            </a:r>
            <a:endParaRPr lang="en-US" dirty="0"/>
          </a:p>
        </p:txBody>
      </p:sp>
    </p:spTree>
  </p:cSld>
  <p:clrMapOvr>
    <a:masterClrMapping/>
  </p:clrMapOvr>
</p:sld>
</file>

<file path=ppt/slides/slide231.xml><?xml version="1.0" encoding="utf-8"?>
<p:sld xmlns:a="http://schemas.openxmlformats.org/drawingml/2006/main" xmlns:r="http://schemas.openxmlformats.org/officeDocument/2006/relationships" xmlns:p="http://schemas.openxmlformats.org/presentationml/2006/main">
  <p:cSld name="Slide 2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Transit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Creates secure connectivity between your networks within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Transit Gateway helps ensure the security of sensitive data to and from different locations with the IBM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https://cloud.ibm.com/catalog/services/transit.gateway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231</a:t>
            </a:r>
            <a:endParaRPr lang="en-US" dirty="0"/>
          </a:p>
        </p:txBody>
      </p:sp>
    </p:spTree>
  </p:cSld>
  <p:clrMapOvr>
    <a:masterClrMapping/>
  </p:clrMapOvr>
</p:sld>
</file>

<file path=ppt/slides/slide232.xml><?xml version="1.0" encoding="utf-8"?>
<p:sld xmlns:a="http://schemas.openxmlformats.org/drawingml/2006/main" xmlns:r="http://schemas.openxmlformats.org/officeDocument/2006/relationships" xmlns:p="http://schemas.openxmlformats.org/presentationml/2006/main">
  <p:cSld name="Slide 2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Upsun Fixed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Upsun is the cloud application platform that humans and robots love. Applications can be frustrating; Upsun makes it simple.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Code without limits and deploy without worry.</a:t>
            </a:r>
          </a:p>
          <a:p>
            <a:r>
              <a:rPr lang="en-US" sz="1800" dirty="0" smtClean="0"/>
              <a:t/>
            </a:r>
          </a:p>
          <a:p>
            <a:r>
              <a:rPr lang="en-US" sz="1800" dirty="0" smtClean="0"/>
              <a:t/>
            </a:r>
          </a:p>
          <a:p>
            <a:r>
              <a:rPr lang="en-US" sz="1800" dirty="0" smtClean="0"/>
              <a:t>Upsun helps developers launch faster and more reliably by removing the complexities of cloud infrastructure management. Platform.sh simplifies collaboration, streamlines deployments, and provides resources to guarantee performance and compliance. </a:t>
            </a:r>
          </a:p>
          <a:p>
            <a:r>
              <a:rPr lang="en-US" sz="1800" dirty="0" smtClean="0"/>
              <a:t/>
            </a:r>
          </a:p>
          <a:p>
            <a:r>
              <a:rPr lang="en-US" sz="1800" dirty="0" smtClean="0"/>
              <a:t/>
            </a:r>
          </a:p>
          <a:p>
            <a:r>
              <a:rPr lang="en-US" sz="1800" dirty="0" smtClean="0"/>
              <a:t/>
            </a:r>
          </a:p>
          <a:p>
            <a:r>
              <a:rPr lang="en-US" sz="1800" dirty="0" smtClean="0"/>
              <a:t/>
            </a:r>
          </a:p>
          <a:p>
            <a:r>
              <a:rPr lang="en-US" sz="1800" dirty="0" smtClean="0"/>
              <a:t>Upsun supports a wide array of runtimes, including Node.js, Python, Ruby, PHP, Go, Rust, and Java, and offers fully managed services such as PostgreSQL, MariaDB, Redis, MongoDB, and Elasticsearch, both with out-of-the-box optimizations and automated updates.</a:t>
            </a:r>
          </a:p>
          <a:p>
            <a:r>
              <a:rPr lang="en-US" sz="1800" dirty="0" smtClean="0"/>
              <a:t/>
            </a:r>
          </a:p>
          <a:p>
            <a:r>
              <a:rPr lang="en-US" sz="1800" dirty="0" smtClean="0"/>
              <a:t/>
            </a:r>
          </a:p>
          <a:p>
            <a:r>
              <a:rPr lang="en-US" sz="1800" dirty="0" smtClean="0"/>
              <a:t/>
            </a:r>
          </a:p>
          <a:p>
            <a:r>
              <a:rPr lang="en-US" sz="1800" dirty="0" smtClean="0"/>
              <a:t/>
            </a:r>
          </a:p>
          <a:p>
            <a:r>
              <a:rPr lang="en-US" sz="1800" dirty="0" smtClean="0"/>
              <a:t>Its git-based workflows and full-stack cloning feature allows teams to replicate entire environments-including code, data, and services- for testing and iteration without disrupting production. Whether you're developing new applications or optimizing existing ones, Upsun offers a reliable, scalable solution for all your cloud needs.</a:t>
            </a:r>
          </a:p>
          <a:p>
            <a:r>
              <a:rPr lang="en-US" sz="1800" dirty="0" smtClean="0"/>
              <a:t/>
            </a:r>
          </a:p>
          <a:p>
            <a:r>
              <a:rPr lang="en-US" sz="1800" dirty="0" smtClean="0"/>
              <a:t/>
            </a:r>
          </a:p>
          <a:p>
            <a:r>
              <a:rPr lang="en-US" sz="1800" dirty="0" smtClean="0"/>
              <a:t/>
            </a:r>
          </a:p>
          <a:p>
            <a:r>
              <a:rPr lang="en-US" sz="1800" dirty="0" smtClean="0"/>
              <a:t/>
            </a:r>
          </a:p>
          <a:p>
            <a:r>
              <a:rPr lang="en-US" sz="1800" dirty="0" smtClean="0"/>
              <a:t>For organizations transitioning to the cloud or modernizing legacy applications, Upsun provides the flexibility to do so with minimal effort. This is why we are the trusted partner to enterprises and agencies worldwide.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Platform.sh SAS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https://cloud.ibm.com/catalog/services/upsun-fixed-products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232</a:t>
            </a:r>
            <a:endParaRPr lang="en-US" dirty="0"/>
          </a:p>
        </p:txBody>
      </p:sp>
    </p:spTree>
  </p:cSld>
  <p:clrMapOvr>
    <a:masterClrMapping/>
  </p:clrMapOvr>
</p:sld>
</file>

<file path=ppt/slides/slide233.xml><?xml version="1.0" encoding="utf-8"?>
<p:sld xmlns:a="http://schemas.openxmlformats.org/drawingml/2006/main" xmlns:r="http://schemas.openxmlformats.org/officeDocument/2006/relationships" xmlns:p="http://schemas.openxmlformats.org/presentationml/2006/main">
  <p:cSld name="Slide 2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Cloud Director Site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https://cloud.ibm.com/catalog/services/vmware.directorsite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233</a:t>
            </a:r>
            <a:endParaRPr lang="en-US" dirty="0"/>
          </a:p>
        </p:txBody>
      </p:sp>
    </p:spTree>
  </p:cSld>
  <p:clrMapOvr>
    <a:masterClrMapping/>
  </p:clrMapOvr>
</p:sld>
</file>

<file path=ppt/slides/slide234.xml><?xml version="1.0" encoding="utf-8"?>
<p:sld xmlns:a="http://schemas.openxmlformats.org/drawingml/2006/main" xmlns:r="http://schemas.openxmlformats.org/officeDocument/2006/relationships" xmlns:p="http://schemas.openxmlformats.org/presentationml/2006/main">
  <p:cSld name="Slide 2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Usage Meter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VMware Usage Meter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Usage Meter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https://cloud.ibm.com/catalog/services/vmware.usage-meter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234</a:t>
            </a:r>
            <a:endParaRPr lang="en-US" dirty="0"/>
          </a:p>
        </p:txBody>
      </p:sp>
    </p:spTree>
  </p:cSld>
  <p:clrMapOvr>
    <a:masterClrMapping/>
  </p:clrMapOvr>
</p:sld>
</file>

<file path=ppt/slides/slide235.xml><?xml version="1.0" encoding="utf-8"?>
<p:sld xmlns:a="http://schemas.openxmlformats.org/drawingml/2006/main" xmlns:r="http://schemas.openxmlformats.org/officeDocument/2006/relationships" xmlns:p="http://schemas.openxmlformats.org/presentationml/2006/main">
  <p:cSld name="Slide 2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Virtual Data Center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https://cloud.ibm.com/catalog/services/vmware.vdc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235</a:t>
            </a:r>
            <a:endParaRPr lang="en-US" dirty="0"/>
          </a:p>
        </p:txBody>
      </p:sp>
    </p:spTree>
  </p:cSld>
  <p:clrMapOvr>
    <a:masterClrMapping/>
  </p:clrMapOvr>
</p:sld>
</file>

<file path=ppt/slides/slide236.xml><?xml version="1.0" encoding="utf-8"?>
<p:sld xmlns:a="http://schemas.openxmlformats.org/drawingml/2006/main" xmlns:r="http://schemas.openxmlformats.org/officeDocument/2006/relationships" xmlns:p="http://schemas.openxmlformats.org/presentationml/2006/main">
  <p:cSld name="Slide 2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Veeam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the Always-On Enterprise by providing data centers with high-speed recovery and data loss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the Always-On Enterprise by providing data centers with high-speed recovery and data loss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236</a:t>
            </a:r>
            <a:endParaRPr lang="en-US" dirty="0"/>
          </a:p>
        </p:txBody>
      </p:sp>
    </p:spTree>
  </p:cSld>
  <p:clrMapOvr>
    <a:masterClrMapping/>
  </p:clrMapOvr>
</p:sld>
</file>

<file path=ppt/slides/slide237.xml><?xml version="1.0" encoding="utf-8"?>
<p:sld xmlns:a="http://schemas.openxmlformats.org/drawingml/2006/main" xmlns:r="http://schemas.openxmlformats.org/officeDocument/2006/relationships" xmlns:p="http://schemas.openxmlformats.org/presentationml/2006/main">
  <p:cSld name="Slide 2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Verify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Verify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Verify provides Single Sign-On (SSO), multi-factor authentication (MFA), identity governance, and identity lifecycle controls for internal (workforce) and external (consumer) user types.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https://cloud.ibm.com/catalog/services/security-verify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237</a:t>
            </a:r>
            <a:endParaRPr lang="en-US" dirty="0"/>
          </a:p>
        </p:txBody>
      </p:sp>
    </p:spTree>
  </p:cSld>
  <p:clrMapOvr>
    <a:masterClrMapping/>
  </p:clrMapOvr>
</p:sld>
</file>

<file path=ppt/slides/slide238.xml><?xml version="1.0" encoding="utf-8"?>
<p:sld xmlns:a="http://schemas.openxmlformats.org/drawingml/2006/main" xmlns:r="http://schemas.openxmlformats.org/officeDocument/2006/relationships" xmlns:p="http://schemas.openxmlformats.org/presentationml/2006/main">
  <p:cSld name="Slide 2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Network Interface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Virtual Network Interfaces provide a way to configure network IPs with security groups and they provide a consistent network binding handle for various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https://cloud.ibm.com/catalog/services/is.virtual-network-interface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238</a:t>
            </a:r>
            <a:endParaRPr lang="en-US" dirty="0"/>
          </a:p>
        </p:txBody>
      </p:sp>
    </p:spTree>
  </p:cSld>
  <p:clrMapOvr>
    <a:masterClrMapping/>
  </p:clrMapOvr>
</p:sld>
</file>

<file path=ppt/slides/slide239.xml><?xml version="1.0" encoding="utf-8"?>
<p:sld xmlns:a="http://schemas.openxmlformats.org/drawingml/2006/main" xmlns:r="http://schemas.openxmlformats.org/officeDocument/2006/relationships" xmlns:p="http://schemas.openxmlformats.org/presentationml/2006/main">
  <p:cSld name="Slide 2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Fully customizable, software-defined virtual network with superior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Create a fully customizable, software-defined virtual network with superior isolation. IBM Cloud Virtual Private Cloud provides custom network topologies, flexible subnet sizes, and enhanced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239</a:t>
            </a:r>
            <a:endParaRPr lang="en-US" dirty="0"/>
          </a:p>
        </p:txBody>
      </p:sp>
    </p:spTree>
  </p:cSld>
  <p:clrMapOvr>
    <a:masterClrMapping/>
  </p:clrMapOvr>
</p:sld>
</file>

<file path=ppt/slides/slide240.xml><?xml version="1.0" encoding="utf-8"?>
<p:sld xmlns:a="http://schemas.openxmlformats.org/drawingml/2006/main" xmlns:r="http://schemas.openxmlformats.org/officeDocument/2006/relationships" xmlns:p="http://schemas.openxmlformats.org/presentationml/2006/main">
  <p:cSld name="Slide 2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Endpoint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Delivers private connectivity through Endpoint Gateways to IBM Cloud Services utilizing client assigned IP addresses from within the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Connectivity to IaaS and PaaS services on the IBM Cloud private backbone utilizing client assigned IP addresses native to the VPC. Integrated with IBM Cloud Platform services like Identity and Access Management (IAM), Resource Groups, and the Usage Dashboard, you can manage your Endpoint Gateways and Virtual Private Endpoint IPs in the same place as the rest of your IBM Cloud services. With the ability to map VPC IP addresses, it provides a seamless connectivity experience and a greater level of control of the network domain.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https://cloud.ibm.com/catalog/services/is.endpoint-gateway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240</a:t>
            </a:r>
            <a:endParaRPr lang="en-US" dirty="0"/>
          </a:p>
        </p:txBody>
      </p:sp>
    </p:spTree>
  </p:cSld>
  <p:clrMapOvr>
    <a:masterClrMapping/>
  </p:clrMapOvr>
</p:sld>
</file>

<file path=ppt/slides/slide241.xml><?xml version="1.0" encoding="utf-8"?>
<p:sld xmlns:a="http://schemas.openxmlformats.org/drawingml/2006/main" xmlns:r="http://schemas.openxmlformats.org/officeDocument/2006/relationships" xmlns:p="http://schemas.openxmlformats.org/presentationml/2006/main">
  <p:cSld name="Slide 2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Router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Virtual Router Appliance (VRA) provides the latest Vyatta Network Operating System for x86 bare metal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https://cloud.ibm.com/catalog/infrastructure/virtual-router-appliance-copy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241</a:t>
            </a:r>
            <a:endParaRPr lang="en-US" dirty="0"/>
          </a:p>
        </p:txBody>
      </p:sp>
    </p:spTree>
  </p:cSld>
  <p:clrMapOvr>
    <a:masterClrMapping/>
  </p:clrMapOvr>
</p:sld>
</file>

<file path=ppt/slides/slide242.xml><?xml version="1.0" encoding="utf-8"?>
<p:sld xmlns:a="http://schemas.openxmlformats.org/drawingml/2006/main" xmlns:r="http://schemas.openxmlformats.org/officeDocument/2006/relationships" xmlns:p="http://schemas.openxmlformats.org/presentationml/2006/main">
  <p:cSld name="Slide 2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previous generation of virtual machines on x86 available in all IBM Cloud locations worldwide.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offer virtual servers worldwide with up to 64 vCPU and 512 GB RAM to fit any workload need. Select hourly postpaid billing for flexibility or monthly prepaid for a discount on full monthly usage.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https://cloud.ibm.com/catalog/infrastructure/virtual-server-group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242</a:t>
            </a:r>
            <a:endParaRPr lang="en-US" dirty="0"/>
          </a:p>
        </p:txBody>
      </p:sp>
    </p:spTree>
  </p:cSld>
  <p:clrMapOvr>
    <a:masterClrMapping/>
  </p:clrMapOvr>
</p:sld>
</file>

<file path=ppt/slides/slide243.xml><?xml version="1.0" encoding="utf-8"?>
<p:sld xmlns:a="http://schemas.openxmlformats.org/drawingml/2006/main" xmlns:r="http://schemas.openxmlformats.org/officeDocument/2006/relationships" xmlns:p="http://schemas.openxmlformats.org/presentationml/2006/main">
  <p:cSld name="Slide 2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latest generations of virtual machines with faster provisioning, higher performance, and enhanced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your own private space in the IBM Cloud, IBM Cloud VPC combines the security of a private cloud with the scalability of a public cloud. Use Virtual Private Cloud to isolate and provision network segments on the IBM Cloud, where you can deploy and manage compute resources, storage and networking cloud resources.</a:t>
            </a:r>
          </a:p>
          <a:p>
            <a:r>
              <a:rPr lang="en-US" sz="1800" dirty="0" smtClean="0"/>
              <a:t/>
            </a:r>
          </a:p>
          <a:p>
            <a:r>
              <a:rPr lang="en-US" sz="1800" dirty="0" smtClean="0"/>
              <a:t>With Virtual Server for VPC, you can quickly provision instances with high network performance. When you provision an instance, you select a profile that matches the amount of memory and compute power that you need for the application that you plan to run on the instance. Instances are available on the x86 and s390x architectures. After you provision an instance, you control and manage those infrastructure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243</a:t>
            </a:r>
            <a:endParaRPr lang="en-US" dirty="0"/>
          </a:p>
        </p:txBody>
      </p:sp>
    </p:spTree>
  </p:cSld>
  <p:clrMapOvr>
    <a:masterClrMapping/>
  </p:clrMapOvr>
</p:sld>
</file>

<file path=ppt/slides/slide244.xml><?xml version="1.0" encoding="utf-8"?>
<p:sld xmlns:a="http://schemas.openxmlformats.org/drawingml/2006/main" xmlns:r="http://schemas.openxmlformats.org/officeDocument/2006/relationships" xmlns:p="http://schemas.openxmlformats.org/presentationml/2006/main">
  <p:cSld name="Slide 2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VLAN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VLANs isolate broadcast traffic on all IBM Cloud public and private networks. If you need a more complex network topology, additional VLANs can be purchased to isolate traffic between additional groups of devices.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Virtual Local Area Network (VLAN) is a network construct that makes it possible to create broadcast domains at the OSI Model layer-2 level. IBM Cloud uses VLANs to isolate broadcast traffic, to provide packet identification, and to let multiple workloads coexist on the same physical equipment. Depending on your situation, you may never need to interact with VLANs directly, because they are managed automatically. Optionally, you can order additional VLANs based on your unique network isolation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https://cloud.ibm.com/catalog/infrastructure/VLAN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244</a:t>
            </a:r>
            <a:endParaRPr lang="en-US" dirty="0"/>
          </a:p>
        </p:txBody>
      </p:sp>
    </p:spTree>
  </p:cSld>
  <p:clrMapOvr>
    <a:masterClrMapping/>
  </p:clrMapOvr>
</p:sld>
</file>

<file path=ppt/slides/slide245.xml><?xml version="1.0" encoding="utf-8"?>
<p:sld xmlns:a="http://schemas.openxmlformats.org/drawingml/2006/main" xmlns:r="http://schemas.openxmlformats.org/officeDocument/2006/relationships" xmlns:p="http://schemas.openxmlformats.org/presentationml/2006/main">
  <p:cSld name="Slide 2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migrations and professional services performed as predictable, rapid, transparent projects or ongoing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services targets VMware customers seeking to modernize and embrace various IBM cloud options as either a production or disaster recovery target site.</a:t>
            </a:r>
          </a:p>
          <a:p>
            <a:r>
              <a:rPr lang="en-US" sz="1800" dirty="0" smtClean="0"/>
              <a:t/>
            </a:r>
          </a:p>
          <a:p>
            <a:r>
              <a:rPr lang="en-US" sz="1800" dirty="0" smtClean="0"/>
              <a:t>While PrimaryIO offers SaaS products in support of the Cloud Journey targeting data resiliency, this collection is comprised of advisory services and optionally the man-power to accomplish these modernizing, mobility-enhancing, cloud-embracing projects.</a:t>
            </a:r>
          </a:p>
          <a:p>
            <a:r>
              <a:rPr lang="en-US" sz="1800" dirty="0" smtClean="0"/>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the listed catalog option.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https://cloud.ibm.com/catalog/services/primaryio-hdm-cloud-connect-nsx-v-to-nsx-t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245</a:t>
            </a:r>
            <a:endParaRPr lang="en-US" dirty="0"/>
          </a:p>
        </p:txBody>
      </p:sp>
    </p:spTree>
  </p:cSld>
  <p:clrMapOvr>
    <a:masterClrMapping/>
  </p:clrMapOvr>
</p:sld>
</file>

<file path=ppt/slides/slide246.xml><?xml version="1.0" encoding="utf-8"?>
<p:sld xmlns:a="http://schemas.openxmlformats.org/drawingml/2006/main" xmlns:r="http://schemas.openxmlformats.org/officeDocument/2006/relationships" xmlns:p="http://schemas.openxmlformats.org/presentationml/2006/main">
  <p:cSld name="Slide 2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Madrid (eu-es)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https://cloud.ibm.com/catalog/services/vmware-solutions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246</a:t>
            </a:r>
            <a:endParaRPr lang="en-US" dirty="0"/>
          </a:p>
        </p:txBody>
      </p:sp>
    </p:spTree>
  </p:cSld>
  <p:clrMapOvr>
    <a:masterClrMapping/>
  </p:clrMapOvr>
</p:sld>
</file>

<file path=ppt/slides/slide247.xml><?xml version="1.0" encoding="utf-8"?>
<p:sld xmlns:a="http://schemas.openxmlformats.org/drawingml/2006/main" xmlns:r="http://schemas.openxmlformats.org/officeDocument/2006/relationships" xmlns:p="http://schemas.openxmlformats.org/presentationml/2006/main">
  <p:cSld name="Slide 2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vCenter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Standardized software-defined data center (SDDC) solution that combines IBM Cloud Bare Metal Servers with VMware vSphere, NSX, and optional vSAN for a seamless hybrid cloud experience.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Standardized software-defined data center (SDDC) solution that combines IBM Cloud Bare Metal Servers with VMware vSphere, NSX, and optional vSAN for a seamless hybrid cloud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https://cloud.ibm.com/catalog/services/vcenterserver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247</a:t>
            </a:r>
            <a:endParaRPr lang="en-US" dirty="0"/>
          </a:p>
        </p:txBody>
      </p:sp>
    </p:spTree>
  </p:cSld>
  <p:clrMapOvr>
    <a:masterClrMapping/>
  </p:clrMapOvr>
</p:sld>
</file>

<file path=ppt/slides/slide248.xml><?xml version="1.0" encoding="utf-8"?>
<p:sld xmlns:a="http://schemas.openxmlformats.org/drawingml/2006/main" xmlns:r="http://schemas.openxmlformats.org/officeDocument/2006/relationships" xmlns:p="http://schemas.openxmlformats.org/presentationml/2006/main">
  <p:cSld name="Slide 2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vSphere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Customizable virtualization service that combines VMware-compatible bare metal servers, hardware components, and licenses, to build your own IBM-hosted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Customizable virtualization service that combines VMware-compatible bare metal servers, hardware components, and licenses, to build your own IBM-hosted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https://cloud.ibm.com/catalog/services/vsphere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248</a:t>
            </a:r>
            <a:endParaRPr lang="en-US" dirty="0"/>
          </a:p>
        </p:txBody>
      </p:sp>
    </p:spTree>
  </p:cSld>
  <p:clrMapOvr>
    <a:masterClrMapping/>
  </p:clrMapOvr>
</p:sld>
</file>

<file path=ppt/slides/slide249.xml><?xml version="1.0" encoding="utf-8"?>
<p:sld xmlns:a="http://schemas.openxmlformats.org/drawingml/2006/main" xmlns:r="http://schemas.openxmlformats.org/officeDocument/2006/relationships" xmlns:p="http://schemas.openxmlformats.org/presentationml/2006/main">
  <p:cSld name="Slide 2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COaaS (VPC Cost Optimization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Multi-Cloud Cost Optimization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cloud-based service designed to help IBM Cloud users manage their cloud costs.</a:t>
            </a:r>
          </a:p>
          <a:p>
            <a:r>
              <a:rPr lang="en-US" sz="1800" dirty="0" smtClean="0"/>
              <a:t/>
            </a:r>
          </a:p>
          <a:p>
            <a:r>
              <a:rPr lang="en-US" sz="1800" dirty="0" smtClean="0"/>
              <a:t>Wanclouds COaaS provides IBM users with the tools and insights needed to optimize their cloud costs and services. With Wanclouds COaaS, users can track their cloud costs, identify potential cost savings opportunities, and develop customized strategies to reduce their overall cloud spending. The service also helps users identify areas of potential waste and inefficiency, and provides guidance on how to best manage their cloud costs. Additionally, Wanclouds COaaS can provide users with detailed reports and analytics to help them understand their cloud costs and make more informed decisions.</a:t>
            </a:r>
          </a:p>
          <a:p>
            <a:r>
              <a:rPr lang="en-US" sz="1800" dirty="0" smtClean="0"/>
              <a:t/>
            </a:r>
          </a:p>
          <a:p>
            <a:r>
              <a:rPr lang="en-US" sz="1800" dirty="0" smtClean="0"/>
              <a:t>Resource Coverage:</a:t>
            </a:r>
          </a:p>
          <a:p>
            <a:r>
              <a:rPr lang="en-US" sz="1800" dirty="0" smtClean="0"/>
              <a:t>- Idle Resources</a:t>
            </a:r>
          </a:p>
          <a:p>
            <a:r>
              <a:rPr lang="en-US" sz="1800" dirty="0" smtClean="0"/>
              <a:t>- Volumes</a:t>
            </a:r>
          </a:p>
          <a:p>
            <a:r>
              <a:rPr lang="en-US" sz="1800" dirty="0" smtClean="0"/>
              <a:t>- Floating IPs</a:t>
            </a:r>
          </a:p>
          <a:p>
            <a:r>
              <a:rPr lang="en-US" sz="1800" dirty="0" smtClean="0"/>
              <a:t>- Public Gateways</a:t>
            </a:r>
          </a:p>
          <a:p>
            <a:r>
              <a:rPr lang="en-US" sz="1800" dirty="0" smtClean="0"/>
              <a:t>- Dedicated Hosts</a:t>
            </a:r>
          </a:p>
          <a:p>
            <a:r>
              <a:rPr lang="en-US" sz="1800" dirty="0" smtClean="0"/>
              <a:t>- Virtual Server Instances</a:t>
            </a:r>
          </a:p>
          <a:p>
            <a:r>
              <a:rPr lang="en-US" sz="1800" dirty="0" smtClean="0"/>
              <a:t>- Images</a:t>
            </a:r>
          </a:p>
          <a:p>
            <a:r>
              <a:rPr lang="en-US" sz="1800" dirty="0" smtClean="0"/>
              <a:t>- Snapshots</a:t>
            </a:r>
          </a:p>
          <a:p>
            <a:r>
              <a:rPr lang="en-US" sz="1800" dirty="0" smtClean="0"/>
              <a:t/>
            </a:r>
          </a:p>
          <a:p>
            <a:r>
              <a:rPr lang="en-US" sz="1800" dirty="0" smtClean="0"/>
              <a:t>Benefits</a:t>
            </a:r>
          </a:p>
          <a:p>
            <a:r>
              <a:rPr lang="en-US" sz="1800" dirty="0" smtClean="0"/>
              <a:t>- Tracking cloud costs</a:t>
            </a:r>
          </a:p>
          <a:p>
            <a:r>
              <a:rPr lang="en-US" sz="1800" dirty="0" smtClean="0"/>
              <a:t>- Identification of potential cost savings</a:t>
            </a:r>
          </a:p>
          <a:p>
            <a:r>
              <a:rPr lang="en-US" sz="1800" dirty="0" smtClean="0"/>
              <a:t>- Strategies to reduce their overall cloud spending, this Service can provide users with detailed reports and analytics to help them understand their cloud costs.</a:t>
            </a:r>
          </a:p>
          <a:p>
            <a:r>
              <a:rPr lang="en-US" sz="1800" dirty="0" smtClean="0"/>
              <a:t>- Identify areas of potential waste and inefficiency, and provide guidance on how to best manage their cloud costs.</a:t>
            </a:r>
          </a:p>
          <a:p>
            <a:r>
              <a:rPr lang="en-US" sz="1800" dirty="0" smtClean="0"/>
              <a:t/>
            </a:r>
          </a:p>
          <a:p>
            <a:r>
              <a:rPr lang="en-US" sz="1800" dirty="0" smtClean="0"/>
              <a:t>Learn more: https://www.wanclouds.net/coaas</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https://cloud.ibm.com/catalog/services/wanclouds-inc--vpc-coaas-vpc-cost-optimization-as-a-service-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249</a:t>
            </a:r>
            <a:endParaRPr lang="en-US" dirty="0"/>
          </a:p>
        </p:txBody>
      </p:sp>
    </p:spTree>
  </p:cSld>
  <p:clrMapOvr>
    <a:masterClrMapping/>
  </p:clrMapOvr>
</p:sld>
</file>

<file path=ppt/slides/slide250.xml><?xml version="1.0" encoding="utf-8"?>
<p:sld xmlns:a="http://schemas.openxmlformats.org/drawingml/2006/main" xmlns:r="http://schemas.openxmlformats.org/officeDocument/2006/relationships" xmlns:p="http://schemas.openxmlformats.org/presentationml/2006/main">
  <p:cSld name="Slide 2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Cloud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Facilitate easy migration of IBM Cloud classic infrastructure components and applications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VPC+ Cloud Migration is a third-party tool that helps facilitate easy migration of infrastructure components and applications. This tool automatically discovers your IBM Cloud classic infrastructure resources and components that can be migrated to IBM Cloud Virtual Private Cloud (VPC). You can choose the resources that you want to migrate and provision these resources in VPC. Once you are on IBM Cloud VPC, you have the opportunity to optimize, manage, and monitor your resources through the console.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https://cloud.ibm.com/catalog/services/migrationtool-from-wanclds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250</a:t>
            </a:r>
            <a:endParaRPr lang="en-US" dirty="0"/>
          </a:p>
        </p:txBody>
      </p:sp>
    </p:spTree>
  </p:cSld>
  <p:clrMapOvr>
    <a:masterClrMapping/>
  </p:clrMapOvr>
</p:sld>
</file>

<file path=ppt/slides/slide251.xml><?xml version="1.0" encoding="utf-8"?>
<p:sld xmlns:a="http://schemas.openxmlformats.org/drawingml/2006/main" xmlns:r="http://schemas.openxmlformats.org/officeDocument/2006/relationships" xmlns:p="http://schemas.openxmlformats.org/presentationml/2006/main">
  <p:cSld name="Slide 2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DRaaS (VPC+ Disaster Recovery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Multi Cloud Backup, Disaster Recovery and Optimization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offers multi-cloud Backup, Migrations, Disaster Recovery, and Cost Optimization as a Service. At the heart of our approach is our SaaS application called VPC+ enabling seamless and hassle-free backups, migrations, disaster recovery, and cost optimization.</a:t>
            </a:r>
          </a:p>
          <a:p>
            <a:r>
              <a:rPr lang="en-US" sz="1800" dirty="0" smtClean="0"/>
              <a:t/>
            </a:r>
          </a:p>
          <a:p>
            <a:r>
              <a:rPr lang="en-US" sz="1800" dirty="0" smtClean="0"/>
              <a:t>Add one or multiple public clouds accounts and create a comprehensive backup and DR setup for all of your IBM Cloud Resources across regions.</a:t>
            </a:r>
          </a:p>
          <a:p>
            <a:r>
              <a:rPr lang="en-US" sz="1800" dirty="0" smtClean="0"/>
              <a:t/>
            </a:r>
          </a:p>
          <a:p>
            <a:r>
              <a:rPr lang="en-US" sz="1800" dirty="0" smtClean="0"/>
              <a:t>Backup and Disaster Recovery as a Service</a:t>
            </a:r>
          </a:p>
          <a:p>
            <a:r>
              <a:rPr lang="en-US" sz="1800" dirty="0" smtClean="0"/>
              <a:t>- Backup your exisitng IBM Cloud VPC resources and configurations</a:t>
            </a:r>
          </a:p>
          <a:p>
            <a:r>
              <a:rPr lang="en-US" sz="1800" dirty="0" smtClean="0"/>
              <a:t>- Backup IBM IKS (Kubernetes Service), ROKS (Red Hat Openshift)</a:t>
            </a:r>
          </a:p>
          <a:p>
            <a:r>
              <a:rPr lang="en-US" sz="1800" dirty="0" smtClean="0"/>
              <a:t>- Backup Virtual Machines (VSIs) and attached Data Volumes</a:t>
            </a:r>
          </a:p>
          <a:p>
            <a:r>
              <a:rPr lang="en-US" sz="1800" dirty="0" smtClean="0"/>
              <a:t>- Backup Cloud Object Storage Buckets (COS Buckets)</a:t>
            </a:r>
          </a:p>
          <a:p>
            <a:r>
              <a:rPr lang="en-US" sz="1800" dirty="0" smtClean="0"/>
              <a:t>- Backup on-prem Kubernetes or Red Hat OpenShift clusters to IBM Cloud</a:t>
            </a:r>
          </a:p>
          <a:p>
            <a:r>
              <a:rPr lang="en-US" sz="1800" dirty="0" smtClean="0"/>
              <a:t>- Restore or replicate your infrastructure across regions</a:t>
            </a:r>
          </a:p>
          <a:p>
            <a:r>
              <a:rPr lang="en-US" sz="1800" dirty="0" smtClean="0"/>
              <a:t>- Restore your Kubernetes or Red Hat OpenShift clusters on-demand</a:t>
            </a:r>
          </a:p>
          <a:p>
            <a:r>
              <a:rPr lang="en-US" sz="1800" dirty="0" smtClean="0"/>
              <a:t>- Backup VMware VMs to IBM Cloud VPC</a:t>
            </a:r>
          </a:p>
          <a:p>
            <a:r>
              <a:rPr lang="en-US" sz="1800" dirty="0" smtClean="0"/>
              <a:t/>
            </a:r>
          </a:p>
          <a:p>
            <a:r>
              <a:rPr lang="en-US" sz="1800" dirty="0" smtClean="0"/>
              <a:t>Setup IBM Cloud as a DR site for On-Premise workoads</a:t>
            </a:r>
          </a:p>
          <a:p>
            <a:r>
              <a:rPr lang="en-US" sz="1800" dirty="0" smtClean="0"/>
              <a:t/>
            </a:r>
          </a:p>
          <a:p>
            <a:r>
              <a:rPr lang="en-US" sz="1800" dirty="0" smtClean="0"/>
              <a:t>- Setup IBM Cloud as a Warm DR site for critical workloads </a:t>
            </a:r>
          </a:p>
          <a:p>
            <a:r>
              <a:rPr lang="en-US" sz="1800" dirty="0" smtClean="0"/>
              <a:t>- Leverage IBM Cloud as a Backup for your Windows, Linux, Kubernetes workloads and Data.</a:t>
            </a:r>
          </a:p>
          <a:p>
            <a:r>
              <a:rPr lang="en-US" sz="1800" dirty="0" smtClean="0"/>
              <a:t/>
            </a:r>
          </a:p>
          <a:p>
            <a:r>
              <a:rPr lang="en-US" sz="1800" dirty="0" smtClean="0"/>
              <a:t>Cloud-Native Migration and Application Mobility</a:t>
            </a:r>
          </a:p>
          <a:p>
            <a:r>
              <a:rPr lang="en-US" sz="1800" dirty="0" smtClean="0"/>
              <a:t/>
            </a:r>
          </a:p>
          <a:p>
            <a:r>
              <a:rPr lang="en-US" sz="1800" dirty="0" smtClean="0"/>
              <a:t>- Setup IBM Cloud as a DR site</a:t>
            </a:r>
          </a:p>
          <a:p>
            <a:r>
              <a:rPr lang="en-US" sz="1800" dirty="0" smtClean="0"/>
              <a:t>- Discover and Migrate Kubernetes and OpenShift cluster to IBM Cloud</a:t>
            </a:r>
          </a:p>
          <a:p>
            <a:r>
              <a:rPr lang="en-US" sz="1800" dirty="0" smtClean="0"/>
              <a:t>- Migrate your application across your Kubernetes clusters</a:t>
            </a:r>
          </a:p>
          <a:p>
            <a:r>
              <a:rPr lang="en-US" sz="1800" dirty="0" smtClean="0"/>
              <a:t>- Migrate your on-prem Red Hat OpenShift Clusters to IBM ROKS</a:t>
            </a:r>
          </a:p>
          <a:p>
            <a:r>
              <a:rPr lang="en-US" sz="1800" dirty="0" smtClean="0"/>
              <a:t>- Migration On-Premise clusters to IBM Cloud Satellite</a:t>
            </a:r>
          </a:p>
          <a:p>
            <a:r>
              <a:rPr lang="en-US" sz="1800" dirty="0" smtClean="0"/>
              <a:t/>
            </a:r>
          </a:p>
          <a:p>
            <a:r>
              <a:rPr lang="en-US" sz="1800" dirty="0" smtClean="0"/>
              <a:t/>
            </a:r>
          </a:p>
          <a:p>
            <a:r>
              <a:rPr lang="en-US" sz="1800" dirty="0" smtClean="0"/>
              <a:t/>
            </a:r>
          </a:p>
          <a:p>
            <a:r>
              <a:rPr lang="en-US" sz="1800" dirty="0" smtClean="0"/>
              <a:t>Additional Features (needs to be separately enabled)</a:t>
            </a:r>
          </a:p>
          <a:p>
            <a:r>
              <a:rPr lang="en-US" sz="1800" dirty="0" smtClean="0"/>
              <a:t/>
            </a:r>
          </a:p>
          <a:p>
            <a:r>
              <a:rPr lang="en-US" sz="1800" dirty="0" smtClean="0"/>
              <a:t>Cost Optimization as a Service</a:t>
            </a:r>
          </a:p>
          <a:p>
            <a:r>
              <a:rPr lang="en-US" sz="1800" dirty="0" smtClean="0"/>
              <a:t>- Discover and track all of your resources across IBM Cloud</a:t>
            </a:r>
          </a:p>
          <a:p>
            <a:r>
              <a:rPr lang="en-US" sz="1800" dirty="0" smtClean="0"/>
              <a:t>- Track all your Idle resources. Stop entire VPCs, or delete unused resources</a:t>
            </a:r>
          </a:p>
          <a:p>
            <a:r>
              <a:rPr lang="en-US" sz="1800" dirty="0" smtClean="0"/>
              <a:t>- Rightsize your Compute based on your usage and optimise for cost</a:t>
            </a:r>
          </a:p>
          <a:p>
            <a:r>
              <a:rPr lang="en-US" sz="1800" dirty="0" smtClean="0"/>
              <a:t>- Assign Purpose tags based on industry standards</a:t>
            </a:r>
          </a:p>
          <a:p>
            <a:r>
              <a:rPr lang="en-US" sz="1800" dirty="0" smtClean="0"/>
              <a:t/>
            </a:r>
          </a:p>
          <a:p>
            <a:r>
              <a:rPr lang="en-US" sz="1800" dirty="0" smtClean="0"/>
              <a:t/>
            </a:r>
          </a:p>
          <a:p>
            <a:r>
              <a:rPr lang="en-US" sz="1800" dirty="0" smtClean="0"/>
              <a:t>It takes just a few minutes to get started - subscribe today or request a demo:</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https://cloud.ibm.com/catalog/services/3p-wanclds-draas-vpcplus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251</a:t>
            </a:r>
            <a:endParaRPr lang="en-US" dirty="0"/>
          </a:p>
        </p:txBody>
      </p:sp>
    </p:spTree>
  </p:cSld>
  <p:clrMapOvr>
    <a:masterClrMapping/>
  </p:clrMapOvr>
</p:sld>
</file>

<file path=ppt/slides/slide252.xml><?xml version="1.0" encoding="utf-8"?>
<p:sld xmlns:a="http://schemas.openxmlformats.org/drawingml/2006/main" xmlns:r="http://schemas.openxmlformats.org/officeDocument/2006/relationships" xmlns:p="http://schemas.openxmlformats.org/presentationml/2006/main">
  <p:cSld name="Slide 2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extend your on-premises network to IBM Cloud through site-to-site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VPN for VPC provides a simple yet powerful solution for highly scalable and robust site-to-site VPN. This VPN service provides a mixture of industry standard security and encryption options as well as support for Pre-shared Key authentication. The service also provides the ability to quickly add and remove VPN connections with the option to use pre-defined configurations.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252</a:t>
            </a:r>
            <a:endParaRPr lang="en-US" dirty="0"/>
          </a:p>
        </p:txBody>
      </p:sp>
    </p:spTree>
  </p:cSld>
  <p:clrMapOvr>
    <a:masterClrMapping/>
  </p:clrMapOvr>
</p:sld>
</file>

<file path=ppt/slides/slide253.xml><?xml version="1.0" encoding="utf-8"?>
<p:sld xmlns:a="http://schemas.openxmlformats.org/drawingml/2006/main" xmlns:r="http://schemas.openxmlformats.org/officeDocument/2006/relationships" xmlns:p="http://schemas.openxmlformats.org/presentationml/2006/main">
  <p:cSld name="Slide 2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vRealize Operations and Log Insight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and troubleshoot the performance, health, and capacity of your dedicated IBM-hosted VMware Software Defined Data Center (SDDC) stack, in a more efficient matter.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Monitor and troubleshoot the performance, health, and capacity of your dedicated IBM-hosted VMware Software Defined Data Center (SDDC) stack, in a more efficient matter.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https://cloud.ibm.com/catalog/services/vrops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253</a:t>
            </a:r>
            <a:endParaRPr lang="en-US" dirty="0"/>
          </a:p>
        </p:txBody>
      </p:sp>
    </p:spTree>
  </p:cSld>
  <p:clrMapOvr>
    <a:masterClrMapping/>
  </p:clrMapOvr>
</p:sld>
</file>

<file path=ppt/slides/slide254.xml><?xml version="1.0" encoding="utf-8"?>
<p:sld xmlns:a="http://schemas.openxmlformats.org/drawingml/2006/main" xmlns:r="http://schemas.openxmlformats.org/officeDocument/2006/relationships" xmlns:p="http://schemas.openxmlformats.org/presentationml/2006/main">
  <p:cSld name="Slide 2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AiR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Media Storage - </a:t>
            </a:r>
          </a:p>
          <a:p>
            <a:r>
              <a:rPr lang="en-US" sz="2000" dirty="0" smtClean="0">
                <a:solidFill>
                  <a:srgbClr val="808080"/>
                </a:solidFill>
              </a:rPr>
              <a:t/>
            </a:r>
          </a:p>
          <a:p>
            <a:r>
              <a:rPr lang="en-US" sz="2000" dirty="0" smtClean="0">
                <a:solidFill>
                  <a:srgbClr val="808080"/>
                </a:solidFill>
              </a:rPr>
              <a:t>Quickly and affordably find and access every moment in every media file you own.</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AiR Intelligent Media Storage</a:t>
            </a:r>
          </a:p>
          <a:p>
            <a:r>
              <a:rPr lang="en-US" sz="1800" dirty="0" smtClean="0"/>
              <a:t/>
            </a:r>
          </a:p>
          <a:p>
            <a:r>
              <a:rPr lang="en-US" sz="1800" dirty="0" smtClean="0"/>
              <a:t>Wasabi AiR is AI-powered intelligent media storage that adds structure to unstructured data, automatically tagging visual, audio, and textural elements as they are ingested. Wasabi AiR combines features such as metadata auto-tagging, Optical Character Recognition, speech to text, people recognition, and multilingual transcription, with cloud storage. Seamlessly integrate Wasabi AiR into your media workflow to enhance content discoverability, streamline operations, and maximize media value.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https://cloud.ibm.com/catalog/services/wasabi-air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254</a:t>
            </a:r>
            <a:endParaRPr lang="en-US" dirty="0"/>
          </a:p>
        </p:txBody>
      </p:sp>
    </p:spTree>
  </p:cSld>
  <p:clrMapOvr>
    <a:masterClrMapping/>
  </p:clrMapOvr>
</p:sld>
</file>

<file path=ppt/slides/slide255.xml><?xml version="1.0" encoding="utf-8"?>
<p:sld xmlns:a="http://schemas.openxmlformats.org/drawingml/2006/main" xmlns:r="http://schemas.openxmlformats.org/officeDocument/2006/relationships" xmlns:p="http://schemas.openxmlformats.org/presentationml/2006/main">
  <p:cSld name="Slide 2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Hot Cloud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Infinitely affordable and predictably priced hot cloud storage. No complex tiers. No fees for egress or API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Hot Cloud Storage is a universal, one-size-fits-all cloud object storage service that simplifies storage by enabling a highly available environment across a range of business use cases. Wasabi Hot Cloud Storage is easy to understand, simple to order, and incredibly cost-effective to scale. With Wasabi, there are no confusing storage tiers to decipher and no complicated fee structures to decode. And Wasabi storage is free from data access and API call fees, unlike traditional providers, which can substantially drive-up costs.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https://cloud.ibm.com/catalog/services/wasabi-cloud-storage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255</a:t>
            </a:r>
            <a:endParaRPr lang="en-US" dirty="0"/>
          </a:p>
        </p:txBody>
      </p:sp>
    </p:spTree>
  </p:cSld>
  <p:clrMapOvr>
    <a:masterClrMapping/>
  </p:clrMapOvr>
</p:sld>
</file>

<file path=ppt/slides/slide256.xml><?xml version="1.0" encoding="utf-8"?>
<p:sld xmlns:a="http://schemas.openxmlformats.org/drawingml/2006/main" xmlns:r="http://schemas.openxmlformats.org/officeDocument/2006/relationships" xmlns:p="http://schemas.openxmlformats.org/presentationml/2006/main">
  <p:cSld name="Slide 2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 Discovery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Add a cognitive search and content analytics engine to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a cognitive search and content analytics engine to applications to identify patterns, trends and actionable insights that drive better decision-making. Securely unify structured and unstructured data with pre-enriched content, and use a simplified query language to eliminate the need for manual filtering of results.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https://cloud.ibm.com/catalog/services/discovery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256</a:t>
            </a:r>
            <a:endParaRPr lang="en-US" dirty="0"/>
          </a:p>
        </p:txBody>
      </p:sp>
    </p:spTree>
  </p:cSld>
  <p:clrMapOvr>
    <a:masterClrMapping/>
  </p:clrMapOvr>
</p:sld>
</file>

<file path=ppt/slides/slide257.xml><?xml version="1.0" encoding="utf-8"?>
<p:sld xmlns:a="http://schemas.openxmlformats.org/drawingml/2006/main" xmlns:r="http://schemas.openxmlformats.org/officeDocument/2006/relationships" xmlns:p="http://schemas.openxmlformats.org/presentationml/2006/main">
  <p:cSld name="Slide 2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generative AI and machine learning solutions. Train, validate, tune, and deploy foundation and machine learning models.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Build with our new studio for foundation models, generative AI and machine learning. Train, validate, tune, and deploy foundation and machine learning models with ease.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257</a:t>
            </a:r>
            <a:endParaRPr lang="en-US" dirty="0"/>
          </a:p>
        </p:txBody>
      </p:sp>
    </p:spTree>
  </p:cSld>
  <p:clrMapOvr>
    <a:masterClrMapping/>
  </p:clrMapOvr>
</p:sld>
</file>

<file path=ppt/slides/slide258.xml><?xml version="1.0" encoding="utf-8"?>
<p:sld xmlns:a="http://schemas.openxmlformats.org/drawingml/2006/main" xmlns:r="http://schemas.openxmlformats.org/officeDocument/2006/relationships" xmlns:p="http://schemas.openxmlformats.org/presentationml/2006/main">
  <p:cSld name="Slide 2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Assistant lets you build conversational interfaces into any application, device, or channel.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 Assistant lets you build conversational interfaces into any application, device, or channel.</a:t>
            </a:r>
          </a:p>
          <a:p>
            <a:r>
              <a:rPr lang="en-US" sz="1800" dirty="0" smtClean="0"/>
              <a:t/>
            </a:r>
          </a:p>
          <a:p>
            <a:r>
              <a:rPr lang="en-US" sz="1800" dirty="0" smtClean="0"/>
              <a:t>Add a natural language interface to your application to automate interactions with your end users. Common applications include virtual agents and chat bots that can integrate and communicate on any channel or device. Train through an easy-to-use web application, designed so you can quickly build natural conversation flows between your apps and users, and deploy scalable, cost effective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https://cloud.ibm.com/catalog/services/conversation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258</a:t>
            </a:r>
            <a:endParaRPr lang="en-US" dirty="0"/>
          </a:p>
        </p:txBody>
      </p:sp>
    </p:spTree>
  </p:cSld>
  <p:clrMapOvr>
    <a:masterClrMapping/>
  </p:clrMapOvr>
</p:sld>
</file>

<file path=ppt/slides/slide259.xml><?xml version="1.0" encoding="utf-8"?>
<p:sld xmlns:a="http://schemas.openxmlformats.org/drawingml/2006/main" xmlns:r="http://schemas.openxmlformats.org/officeDocument/2006/relationships" xmlns:p="http://schemas.openxmlformats.org/presentationml/2006/main">
  <p:cSld name="Slide 2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BI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Get AI-generated personalized insights and data-aware recommendations from your business data, in natural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BI is a generative AI-powered business intelligence tool that is designed to help you uncover hidden insights from your data. Use natural language to analyze complex data, generate insights and data-aware recommendations that are easy to understand and actionable.</a:t>
            </a:r>
          </a:p>
          <a:p>
            <a:r>
              <a:rPr lang="en-US" sz="1800" dirty="0" smtClean="0"/>
              <a:t> </a:t>
            </a:r>
          </a:p>
          <a:p>
            <a:r>
              <a:rPr lang="en-US" sz="1800" dirty="0" smtClean="0"/>
              <a:t>After provisioning, the IBM account owner is required to complete the initial setup steps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259</a:t>
            </a:r>
            <a:endParaRPr lang="en-US" dirty="0"/>
          </a:p>
        </p:txBody>
      </p:sp>
    </p:spTree>
  </p:cSld>
  <p:clrMapOvr>
    <a:masterClrMapping/>
  </p:clrMapOvr>
</p:sld>
</file>

<file path=ppt/slides/slide260.xml><?xml version="1.0" encoding="utf-8"?>
<p:sld xmlns:a="http://schemas.openxmlformats.org/drawingml/2006/main" xmlns:r="http://schemas.openxmlformats.org/officeDocument/2006/relationships" xmlns:p="http://schemas.openxmlformats.org/presentationml/2006/main">
  <p:cSld name="Slide 2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Code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tailor-made foundation models for AI-generated code recommendations to accelerate developer productivity.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Code Assistant is a cloud service that leverages generative AI to accelerate code generation and increase developer productivity. It uses generative AI that is purpose-built for targeted use cases like Application Modernization and IT Automation.</a:t>
            </a:r>
          </a:p>
          <a:p>
            <a:r>
              <a:rPr lang="en-US" sz="1800" dirty="0" smtClean="0"/>
              <a:t>Out-of-the-box, watsonx Code Assistant provides pre-trained models based on specific programming languages to ensure trust and efficiency for accurate code generation. IBM watsonx Code Assistant allows you to customize the underlying model(s) to ensure output is grounded in your organization's best practices, while providing visibility into the potential origin of generated code.</a:t>
            </a:r>
          </a:p>
          <a:p>
            <a:r>
              <a:rPr lang="en-US" sz="1800" dirty="0" smtClean="0"/>
              <a:t/>
            </a:r>
          </a:p>
          <a:p>
            <a:r>
              <a:rPr lang="en-US" sz="1800" dirty="0" smtClean="0"/>
              <a:t>Note: There are varying support levels for the available editions of IBM watsonx Code Assistant. Please reference the [Service Description Terms](https://www.ibm.com/terms/?id=i126-9704) for specific support commitments.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260</a:t>
            </a:r>
            <a:endParaRPr lang="en-US" dirty="0"/>
          </a:p>
        </p:txBody>
      </p:sp>
    </p:spTree>
  </p:cSld>
  <p:clrMapOvr>
    <a:masterClrMapping/>
  </p:clrMapOvr>
</p:sld>
</file>

<file path=ppt/slides/slide261.xml><?xml version="1.0" encoding="utf-8"?>
<p:sld xmlns:a="http://schemas.openxmlformats.org/drawingml/2006/main" xmlns:r="http://schemas.openxmlformats.org/officeDocument/2006/relationships" xmlns:p="http://schemas.openxmlformats.org/presentationml/2006/main">
  <p:cSld name="Slide 2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Orchestrate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Lighten your workload with IBM watsonx Orchestrate, powered by LLMs. Streamline workflows and automate tasks with a catalog of skills. No specialized training needed.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Orchestrate, powered by LLMs, includes pre-built skills that use natural language processing to draw from a catalog of basic and advanced skills to execute your requests, in context and in the right order, without the need for any specialized training or developer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https://cloud.ibm.com/catalog/services/watsonx-orchestrate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261</a:t>
            </a:r>
            <a:endParaRPr lang="en-US" dirty="0"/>
          </a:p>
        </p:txBody>
      </p:sp>
    </p:spTree>
  </p:cSld>
  <p:clrMapOvr>
    <a:masterClrMapping/>
  </p:clrMapOvr>
</p:sld>
</file>

<file path=ppt/slides/slide262.xml><?xml version="1.0" encoding="utf-8"?>
<p:sld xmlns:a="http://schemas.openxmlformats.org/drawingml/2006/main" xmlns:r="http://schemas.openxmlformats.org/officeDocument/2006/relationships" xmlns:p="http://schemas.openxmlformats.org/presentationml/2006/main">
  <p:cSld name="Slide 2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Machine Learning. Quickly build, run and manage generative AI and machine learning applications with built-in performance and scalability.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Runtime service provides resources to power AI lifecycles and makes building and deploying AI solutions simple and scalable. It includes APIs, tools, models, and flexible runtimes ready for use in any cloud or hybrid environment.   For a full description of features and capabilities, visit the watsonx.ai product page https://www.ibm.com/products/watsonx-ai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https://cloud.ibm.com/catalog/services/pm-20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262</a:t>
            </a:r>
            <a:endParaRPr lang="en-US" dirty="0"/>
          </a:p>
        </p:txBody>
      </p:sp>
    </p:spTree>
  </p:cSld>
  <p:clrMapOvr>
    <a:masterClrMapping/>
  </p:clrMapOvr>
</p:sld>
</file>

<file path=ppt/slides/slide263.xml><?xml version="1.0" encoding="utf-8"?>
<p:sld xmlns:a="http://schemas.openxmlformats.org/drawingml/2006/main" xmlns:r="http://schemas.openxmlformats.org/officeDocument/2006/relationships" xmlns:p="http://schemas.openxmlformats.org/presentationml/2006/main">
  <p:cSld name="Slide 2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Studio) Develop powerful AI solutions with an integrated collaborative studio and industry-standard APIs and SDKs.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Studio provides the set of integrated tools for IBM watsonx.ai and Cloud Pak for Data as a Service. IBM watsonx.ai Studio is powered by IBM watsonx.ai Runtime. With a suite of tools for all skill levels, everyone can collaborate to develop machine learning solutions and on watsonx.ai, develop generative AI solutions. You can write code, visually code on a graphical canvas, or automatically build AI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https://cloud.ibm.com/catalog/services/data-science-experience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263</a:t>
            </a:r>
            <a:endParaRPr lang="en-US" dirty="0"/>
          </a:p>
        </p:txBody>
      </p:sp>
    </p:spTree>
  </p:cSld>
  <p:clrMapOvr>
    <a:masterClrMapping/>
  </p:clrMapOvr>
</p:sld>
</file>

<file path=ppt/slides/slide264.xml><?xml version="1.0" encoding="utf-8"?>
<p:sld xmlns:a="http://schemas.openxmlformats.org/drawingml/2006/main" xmlns:r="http://schemas.openxmlformats.org/officeDocument/2006/relationships" xmlns:p="http://schemas.openxmlformats.org/presentationml/2006/main">
  <p:cSld name="Slide 2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open, hybrid, and governed fit-for-purpose data store optimized to scale all data, analytics and AI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is a data management solution for collecting, storing, querying, and analyzing all your enterprise data (structured, semi-structured, and unstructured) with a single unified data platform. It provides a flexible and reliable platform that is optimized to work on open data formats.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https://cloud.ibm.com/catalog/services/lakehouse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264</a:t>
            </a:r>
            <a:endParaRPr lang="en-US" dirty="0"/>
          </a:p>
        </p:txBody>
      </p:sp>
    </p:spTree>
  </p:cSld>
  <p:clrMapOvr>
    <a:masterClrMapping/>
  </p:clrMapOvr>
</p:sld>
</file>

<file path=ppt/slides/slide265.xml><?xml version="1.0" encoding="utf-8"?>
<p:sld xmlns:a="http://schemas.openxmlformats.org/drawingml/2006/main" xmlns:r="http://schemas.openxmlformats.org/officeDocument/2006/relationships" xmlns:p="http://schemas.openxmlformats.org/presentationml/2006/main">
  <p:cSld name="Slide 2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 the delivery of reliable data with a unified user experience for diverse data integration styles, including stream, replication and bulk/batch patterns.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integration is a data integration tool that offers a unified experience for data teams to seamlessly handle real-time streaming, replication and bulk/batch integration patterns, without having to switch context or preselect the integration style. Modernize your data flows with a SaaS-based architecture that promotes reusability of data flows, enhances security and cost effectiveness, leveraging deployment flexibility across hybrid cloud environments. Boost data reliability with continuous monitoring of data quality issues with data observability.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https://cloud.ibm.com/catalog/services/watsonx-data-integration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265</a:t>
            </a:r>
            <a:endParaRPr lang="en-US" dirty="0"/>
          </a:p>
        </p:txBody>
      </p:sp>
    </p:spTree>
  </p:cSld>
  <p:clrMapOvr>
    <a:masterClrMapping/>
  </p:clrMapOvr>
</p:sld>
</file>

<file path=ppt/slides/slide266.xml><?xml version="1.0" encoding="utf-8"?>
<p:sld xmlns:a="http://schemas.openxmlformats.org/drawingml/2006/main" xmlns:r="http://schemas.openxmlformats.org/officeDocument/2006/relationships" xmlns:p="http://schemas.openxmlformats.org/presentationml/2006/main">
  <p:cSld name="Slide 2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intelligence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an intelligent data foundation to accelerate data insights.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watsonx.data intelligence revolutionizes the way organizations curate, manage, and utilize data by leveraging the power of AI to simplify data delivery across hybrid ecosystems. It empowers organizations to discover, trust, and access meaningful data by unifying governance, lineage, quality, and sharing, providing consumers with reliable data products.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https://cloud.ibm.com/catalog/services/datacatalog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266</a:t>
            </a:r>
            <a:endParaRPr lang="en-US" dirty="0"/>
          </a:p>
        </p:txBody>
      </p:sp>
    </p:spTree>
  </p:cSld>
  <p:clrMapOvr>
    <a:masterClrMapping/>
  </p:clrMapOvr>
</p:sld>
</file>

<file path=ppt/slides/slide267.xml><?xml version="1.0" encoding="utf-8"?>
<p:sld xmlns:a="http://schemas.openxmlformats.org/drawingml/2006/main" xmlns:r="http://schemas.openxmlformats.org/officeDocument/2006/relationships" xmlns:p="http://schemas.openxmlformats.org/presentationml/2006/main">
  <p:cSld name="Slide 2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watsonx.governance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responsibility, transparency and explainability in your data and AI workflows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watsonx.governance™ helps you direct, manage and monitor your organization’s AI activities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https://cloud.ibm.com/catalog/services/aiopenscale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267</a:t>
            </a:r>
            <a:endParaRPr lang="en-US" dirty="0"/>
          </a:p>
        </p:txBody>
      </p:sp>
    </p:spTree>
  </p:cSld>
  <p:clrMapOvr>
    <a:masterClrMapping/>
  </p:clrMapOvr>
</p:sld>
</file>

<file path=ppt/slides/slide268.xml><?xml version="1.0" encoding="utf-8"?>
<p:sld xmlns:a="http://schemas.openxmlformats.org/drawingml/2006/main" xmlns:r="http://schemas.openxmlformats.org/officeDocument/2006/relationships" xmlns:p="http://schemas.openxmlformats.org/presentationml/2006/main">
  <p:cSld name="Slide 2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WealthGrowth.AI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AI-powered platform tailored for advisors and financial institutions to drive asset growth and enhance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WealthGrowth.ai: Transforming Wealth Management with AI</a:t>
            </a:r>
          </a:p>
          <a:p>
            <a:r>
              <a:rPr lang="en-US" sz="1800" dirty="0" smtClean="0"/>
              <a:t/>
            </a:r>
          </a:p>
          <a:p>
            <a:r>
              <a:rPr lang="en-US" sz="1800" dirty="0" smtClean="0"/>
              <a:t>WealthGrowth.ai is an Agentic AI workflow designed to enhance financial advisory services by leveraging 64 AI models, multiple AI agents, over 250 APIs, and six digital applications. By automating up to 95% of advisors' tasks, it helps boost asset growth and expand client outreach.</a:t>
            </a:r>
          </a:p>
          <a:p>
            <a:r>
              <a:rPr lang="en-US" sz="1800" dirty="0" smtClean="0"/>
              <a:t/>
            </a:r>
          </a:p>
          <a:p>
            <a:r>
              <a:rPr lang="en-US" sz="1800" dirty="0" smtClean="0"/>
              <a:t>Key Benefits:</a:t>
            </a:r>
          </a:p>
          <a:p>
            <a:r>
              <a:rPr lang="en-US" sz="1800" dirty="0" smtClean="0"/>
              <a:t/>
            </a:r>
          </a:p>
          <a:p>
            <a:r>
              <a:rPr lang="en-US" sz="1800" dirty="0" smtClean="0"/>
              <a:t>1. Growing with Current Clients</a:t>
            </a:r>
          </a:p>
          <a:p>
            <a:r>
              <a:rPr lang="en-US" sz="1800" dirty="0" smtClean="0"/>
              <a:t>Increases product utilization by 3 to 4 times.</a:t>
            </a:r>
          </a:p>
          <a:p>
            <a:r>
              <a:rPr lang="en-US" sz="1800" dirty="0" smtClean="0"/>
              <a:t>Expands wallet share by up to 40%.</a:t>
            </a:r>
          </a:p>
          <a:p>
            <a:r>
              <a:rPr lang="en-US" sz="1800" dirty="0" smtClean="0"/>
              <a:t>   </a:t>
            </a:r>
          </a:p>
          <a:p>
            <a:r>
              <a:rPr lang="en-US" sz="1800" dirty="0" smtClean="0"/>
              <a:t>2. Transitioning Bank Clients &amp; Acquiring New Prospects</a:t>
            </a:r>
          </a:p>
          <a:p>
            <a:r>
              <a:rPr lang="en-US" sz="1800" dirty="0" smtClean="0"/>
              <a:t>Enables advisors to manage 6 to 10 times more clients.</a:t>
            </a:r>
          </a:p>
          <a:p>
            <a:r>
              <a:rPr lang="en-US" sz="1800" dirty="0" smtClean="0"/>
              <a:t>Boosts assets under management (AUM) by up to 6 times.</a:t>
            </a:r>
          </a:p>
          <a:p>
            <a:r>
              <a:rPr lang="en-US" sz="1800" dirty="0" smtClean="0"/>
              <a:t/>
            </a:r>
          </a:p>
          <a:p>
            <a:r>
              <a:rPr lang="en-US" sz="1800" dirty="0" smtClean="0"/>
              <a:t>3. Enabling a Centralized/Remote/Digital Advisor Strategy</a:t>
            </a:r>
          </a:p>
          <a:p>
            <a:r>
              <a:rPr lang="en-US" sz="1800" dirty="0" smtClean="0"/>
              <a:t>Expands reach to new channels, regions, and products.</a:t>
            </a:r>
          </a:p>
          <a:p>
            <a:r>
              <a:rPr lang="en-US" sz="1800" dirty="0" smtClean="0"/>
              <a:t>Reduces advisor workload while maximizing efficiency.</a:t>
            </a:r>
          </a:p>
          <a:p>
            <a:r>
              <a:rPr lang="en-US" sz="1800" dirty="0" smtClean="0"/>
              <a:t/>
            </a:r>
          </a:p>
          <a:p>
            <a:r>
              <a:rPr lang="en-US" sz="1800" dirty="0" smtClean="0"/>
              <a:t>Powered by Cognerium, WealthGrowth.ai is shaping the future of wealth management by integrating AI-driven strategies to optimize client engagement and financial growth.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Cognerium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https://cloud.ibm.com/catalog/services/cognerium-wealthgrowth-ai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268</a:t>
            </a:r>
            <a:endParaRPr lang="en-US" dirty="0"/>
          </a:p>
        </p:txBody>
      </p:sp>
    </p:spTree>
  </p:cSld>
  <p:clrMapOvr>
    <a:masterClrMapping/>
  </p:clrMapOvr>
</p:sld>
</file>

<file path=ppt/slides/slide269.xml><?xml version="1.0" encoding="utf-8"?>
<p:sld xmlns:a="http://schemas.openxmlformats.org/drawingml/2006/main" xmlns:r="http://schemas.openxmlformats.org/officeDocument/2006/relationships" xmlns:p="http://schemas.openxmlformats.org/presentationml/2006/main">
  <p:cSld name="Slide 2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Zerto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Replicate your VMs between data centers in the public cloud or between the public cloud and your on-premises data centers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Replicate your VMs between data centers in the public cloud or between the public cloud and your on-premises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269</a:t>
            </a:r>
            <a:endParaRPr lang="en-US"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MS P????"/>
        <a:font script="Hang" typeface="?? ??"/>
        <a:font script="Hans" typeface="??"/>
        <a:font script="Hant" typeface="????"/>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MS P????"/>
        <a:font script="Hang" typeface="?? ??"/>
        <a:font script="Hans" typeface="??"/>
        <a:font script="Hant" typeface="????"/>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269</Slides>
  <Notes>0</Notes>
  <HiddenSlides>0</HiddenSlides>
  <MMClips>0</MMClips>
  <ScaleCrop>false</ScaleCrop>
  <HeadingPairs>
    <vt:vector size="4" baseType="variant">
      <vt:variant>
        <vt:lpstr>Theme</vt:lpstr>
      </vt:variant>
      <vt:variant>
        <vt:i4>1</vt:i4>
      </vt:variant>
      <vt:variant>
        <vt:lpstr>Slide Titles</vt:lpstr>
      </vt:variant>
      <vt:variant>
        <vt:i4>269</vt:i4>
      </vt:variant>
    </vt:vector>
  </HeadingPairs>
  <TitlesOfParts>
    <vt:vector size="270" baseType="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lpstr>Slide 112</vt:lpstr>
      <vt:lpstr>Slide 113</vt:lpstr>
      <vt:lpstr>Slide 114</vt:lpstr>
      <vt:lpstr>Slide 115</vt:lpstr>
      <vt:lpstr>Slide 116</vt:lpstr>
      <vt:lpstr>Slide 117</vt:lpstr>
      <vt:lpstr>Slide 118</vt:lpstr>
      <vt:lpstr>Slide 119</vt:lpstr>
      <vt:lpstr>Slide 120</vt:lpstr>
      <vt:lpstr>Slide 121</vt:lpstr>
      <vt:lpstr>Slide 122</vt:lpstr>
      <vt:lpstr>Slide 123</vt:lpstr>
      <vt:lpstr>Slide 124</vt:lpstr>
      <vt:lpstr>Slide 125</vt:lpstr>
      <vt:lpstr>Slide 126</vt:lpstr>
      <vt:lpstr>Slide 127</vt:lpstr>
      <vt:lpstr>Slide 128</vt:lpstr>
      <vt:lpstr>Slide 129</vt:lpstr>
      <vt:lpstr>Slide 130</vt:lpstr>
      <vt:lpstr>Slide 131</vt:lpstr>
      <vt:lpstr>Slide 132</vt:lpstr>
      <vt:lpstr>Slide 133</vt:lpstr>
      <vt:lpstr>Slide 134</vt:lpstr>
      <vt:lpstr>Slide 135</vt:lpstr>
      <vt:lpstr>Slide 136</vt:lpstr>
      <vt:lpstr>Slide 137</vt:lpstr>
      <vt:lpstr>Slide 138</vt:lpstr>
      <vt:lpstr>Slide 139</vt:lpstr>
      <vt:lpstr>Slide 140</vt:lpstr>
      <vt:lpstr>Slide 141</vt:lpstr>
      <vt:lpstr>Slide 142</vt:lpstr>
      <vt:lpstr>Slide 143</vt:lpstr>
      <vt:lpstr>Slide 144</vt:lpstr>
      <vt:lpstr>Slide 145</vt:lpstr>
      <vt:lpstr>Slide 146</vt:lpstr>
      <vt:lpstr>Slide 147</vt:lpstr>
      <vt:lpstr>Slide 148</vt:lpstr>
      <vt:lpstr>Slide 149</vt:lpstr>
      <vt:lpstr>Slide 150</vt:lpstr>
      <vt:lpstr>Slide 151</vt:lpstr>
      <vt:lpstr>Slide 152</vt:lpstr>
      <vt:lpstr>Slide 153</vt:lpstr>
      <vt:lpstr>Slide 154</vt:lpstr>
      <vt:lpstr>Slide 155</vt:lpstr>
      <vt:lpstr>Slide 156</vt:lpstr>
      <vt:lpstr>Slide 157</vt:lpstr>
      <vt:lpstr>Slide 158</vt:lpstr>
      <vt:lpstr>Slide 159</vt:lpstr>
      <vt:lpstr>Slide 160</vt:lpstr>
      <vt:lpstr>Slide 161</vt:lpstr>
      <vt:lpstr>Slide 162</vt:lpstr>
      <vt:lpstr>Slide 163</vt:lpstr>
      <vt:lpstr>Slide 164</vt:lpstr>
      <vt:lpstr>Slide 165</vt:lpstr>
      <vt:lpstr>Slide 166</vt:lpstr>
      <vt:lpstr>Slide 167</vt:lpstr>
      <vt:lpstr>Slide 168</vt:lpstr>
      <vt:lpstr>Slide 169</vt:lpstr>
      <vt:lpstr>Slide 170</vt:lpstr>
      <vt:lpstr>Slide 171</vt:lpstr>
      <vt:lpstr>Slide 172</vt:lpstr>
      <vt:lpstr>Slide 173</vt:lpstr>
      <vt:lpstr>Slide 174</vt:lpstr>
      <vt:lpstr>Slide 175</vt:lpstr>
      <vt:lpstr>Slide 176</vt:lpstr>
      <vt:lpstr>Slide 177</vt:lpstr>
      <vt:lpstr>Slide 178</vt:lpstr>
      <vt:lpstr>Slide 179</vt:lpstr>
      <vt:lpstr>Slide 180</vt:lpstr>
      <vt:lpstr>Slide 181</vt:lpstr>
      <vt:lpstr>Slide 182</vt:lpstr>
      <vt:lpstr>Slide 183</vt:lpstr>
      <vt:lpstr>Slide 184</vt:lpstr>
      <vt:lpstr>Slide 185</vt:lpstr>
      <vt:lpstr>Slide 186</vt:lpstr>
      <vt:lpstr>Slide 187</vt:lpstr>
      <vt:lpstr>Slide 188</vt:lpstr>
      <vt:lpstr>Slide 189</vt:lpstr>
      <vt:lpstr>Slide 190</vt:lpstr>
      <vt:lpstr>Slide 191</vt:lpstr>
      <vt:lpstr>Slide 192</vt:lpstr>
      <vt:lpstr>Slide 193</vt:lpstr>
      <vt:lpstr>Slide 194</vt:lpstr>
      <vt:lpstr>Slide 195</vt:lpstr>
      <vt:lpstr>Slide 196</vt:lpstr>
      <vt:lpstr>Slide 197</vt:lpstr>
      <vt:lpstr>Slide 198</vt:lpstr>
      <vt:lpstr>Slide 199</vt:lpstr>
      <vt:lpstr>Slide 200</vt:lpstr>
      <vt:lpstr>Slide 201</vt:lpstr>
      <vt:lpstr>Slide 202</vt:lpstr>
      <vt:lpstr>Slide 203</vt:lpstr>
      <vt:lpstr>Slide 204</vt:lpstr>
      <vt:lpstr>Slide 205</vt:lpstr>
      <vt:lpstr>Slide 206</vt:lpstr>
      <vt:lpstr>Slide 207</vt:lpstr>
      <vt:lpstr>Slide 208</vt:lpstr>
      <vt:lpstr>Slide 209</vt:lpstr>
      <vt:lpstr>Slide 210</vt:lpstr>
      <vt:lpstr>Slide 211</vt:lpstr>
      <vt:lpstr>Slide 212</vt:lpstr>
      <vt:lpstr>Slide 213</vt:lpstr>
      <vt:lpstr>Slide 214</vt:lpstr>
      <vt:lpstr>Slide 215</vt:lpstr>
      <vt:lpstr>Slide 216</vt:lpstr>
      <vt:lpstr>Slide 217</vt:lpstr>
      <vt:lpstr>Slide 218</vt:lpstr>
      <vt:lpstr>Slide 219</vt:lpstr>
      <vt:lpstr>Slide 220</vt:lpstr>
      <vt:lpstr>Slide 221</vt:lpstr>
      <vt:lpstr>Slide 222</vt:lpstr>
      <vt:lpstr>Slide 223</vt:lpstr>
      <vt:lpstr>Slide 224</vt:lpstr>
      <vt:lpstr>Slide 225</vt:lpstr>
      <vt:lpstr>Slide 226</vt:lpstr>
      <vt:lpstr>Slide 227</vt:lpstr>
      <vt:lpstr>Slide 228</vt:lpstr>
      <vt:lpstr>Slide 229</vt:lpstr>
      <vt:lpstr>Slide 230</vt:lpstr>
      <vt:lpstr>Slide 231</vt:lpstr>
      <vt:lpstr>Slide 232</vt:lpstr>
      <vt:lpstr>Slide 233</vt:lpstr>
      <vt:lpstr>Slide 234</vt:lpstr>
      <vt:lpstr>Slide 235</vt:lpstr>
      <vt:lpstr>Slide 236</vt:lpstr>
      <vt:lpstr>Slide 237</vt:lpstr>
      <vt:lpstr>Slide 238</vt:lpstr>
      <vt:lpstr>Slide 239</vt:lpstr>
      <vt:lpstr>Slide 240</vt:lpstr>
      <vt:lpstr>Slide 241</vt:lpstr>
      <vt:lpstr>Slide 242</vt:lpstr>
      <vt:lpstr>Slide 243</vt:lpstr>
      <vt:lpstr>Slide 244</vt:lpstr>
      <vt:lpstr>Slide 245</vt:lpstr>
      <vt:lpstr>Slide 246</vt:lpstr>
      <vt:lpstr>Slide 247</vt:lpstr>
      <vt:lpstr>Slide 248</vt:lpstr>
      <vt:lpstr>Slide 249</vt:lpstr>
      <vt:lpstr>Slide 250</vt:lpstr>
      <vt:lpstr>Slide 251</vt:lpstr>
      <vt:lpstr>Slide 252</vt:lpstr>
      <vt:lpstr>Slide 253</vt:lpstr>
      <vt:lpstr>Slide 254</vt:lpstr>
      <vt:lpstr>Slide 255</vt:lpstr>
      <vt:lpstr>Slide 256</vt:lpstr>
      <vt:lpstr>Slide 257</vt:lpstr>
      <vt:lpstr>Slide 258</vt:lpstr>
      <vt:lpstr>Slide 259</vt:lpstr>
      <vt:lpstr>Slide 260</vt:lpstr>
      <vt:lpstr>Slide 261</vt:lpstr>
      <vt:lpstr>Slide 262</vt:lpstr>
      <vt:lpstr>Slide 263</vt:lpstr>
      <vt:lpstr>Slide 264</vt:lpstr>
      <vt:lpstr>Slide 265</vt:lpstr>
      <vt:lpstr>Slide 266</vt:lpstr>
      <vt:lpstr>Slide 267</vt:lpstr>
      <vt:lpstr>Slide 268</vt:lpstr>
      <vt:lpstr>Slide 269</vt:lpstr>
    </vt:vector>
  </TitlesOfParts>
  <Company>officegen</Company>
  <LinksUpToDate>false</LinksUpToDate>
  <SharedDoc>false</SharedDoc>
  <HyperlinksChanged>false</HyperlinksChanged>
  <AppVersion>12.0000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officegen</dc:creator>
  <cp:lastModifiedBy>officegen</cp:lastModifiedBy>
  <cp:revision>1</cp:revision>
  <dcterms:created xsi:type="dcterms:W3CDTF">2026-03-07T12:17:37Z</dcterms:created>
  <dcterms:modified xsi:type="dcterms:W3CDTF">2026-03-07T12:17:37Z</dcterms:modified>
</cp:coreProperties>
</file>