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 id="512" r:id="rId258"/>
    <p:sldId id="513" r:id="rId259"/>
    <p:sldId id="514" r:id="rId260"/>
    <p:sldId id="515" r:id="rId261"/>
    <p:sldId id="516" r:id="rId262"/>
    <p:sldId id="517" r:id="rId263"/>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slide" Target="slides/slide257.xml"/><Relationship Id="rId259" Type="http://schemas.openxmlformats.org/officeDocument/2006/relationships/slide" Target="slides/slide258.xml"/><Relationship Id="rId260" Type="http://schemas.openxmlformats.org/officeDocument/2006/relationships/slide" Target="slides/slide259.xml"/><Relationship Id="rId261" Type="http://schemas.openxmlformats.org/officeDocument/2006/relationships/slide" Target="slides/slide260.xml"/><Relationship Id="rId262" Type="http://schemas.openxmlformats.org/officeDocument/2006/relationships/slide" Target="slides/slide261.xml"/><Relationship Id="rId263" Type="http://schemas.openxmlformats.org/officeDocument/2006/relationships/slide" Target="slides/slide262.xml"/><Relationship Id="rId264" Type="http://schemas.openxmlformats.org/officeDocument/2006/relationships/presProps" Target="presProps.xml"/><Relationship Id="rId265" Type="http://schemas.openxmlformats.org/officeDocument/2006/relationships/viewProps" Target="viewProps.xml"/><Relationship Id="rId266" Type="http://schemas.openxmlformats.org/officeDocument/2006/relationships/theme" Target="theme/theme1.xml"/><Relationship Id="rId267"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12/25/2025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12/25/2025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12/25/2025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5.png"/><Relationship Id="rId3"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6.png"/><Relationship Id="rId3" Type="http://schemas.openxmlformats.org/officeDocument/2006/relationships/image" Target="../media/image1.png"/></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7.png"/><Relationship Id="rId3" Type="http://schemas.openxmlformats.org/officeDocument/2006/relationships/image" Target="../media/image1.png"/></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8.png"/><Relationship Id="rId3" Type="http://schemas.openxmlformats.org/officeDocument/2006/relationships/image" Target="../media/image1.png"/></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9.png"/><Relationship Id="rId3" Type="http://schemas.openxmlformats.org/officeDocument/2006/relationships/image" Target="../media/image1.png"/></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0.png"/><Relationship Id="rId3" Type="http://schemas.openxmlformats.org/officeDocument/2006/relationships/image" Target="../media/image1.png"/></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1.png"/><Relationship Id="rId3" Type="http://schemas.openxmlformats.org/officeDocument/2006/relationships/image" Target="../media/image1.png"/></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2.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December 25, 2025</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Akasia FinOps Modeler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Model Costs for your existing VMware Infrastructure for IBM Cloud for VMware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Akasia FinOps Modeler provides cost comparisons of an existing VMware environment, its VCF and VVF pricing as well as its in-Cloud pricing for AWS, Azure, GCP, IBM Cloud and Oracle Cloud. The Akasia TCO models allow service providers, consulting experts, and IT managers in the VMware and cloud ecosystem to quickly analyze data center environments and provide projected costs, allowing IT management teams to make an informed decision regarding their data center transformation.</a:t>
            </a:r>
          </a:p>
          <a:p>
            <a:r>
              <a:rPr lang="en-US" sz="1800" dirty="0" smtClean="0"/>
              <a:t/>
            </a:r>
          </a:p>
          <a:p>
            <a:r>
              <a:rPr lang="en-US" sz="1800" dirty="0" smtClean="0"/>
              <a:t>The Akasia FinOps Modeler analyzes and optimizes for the following infrastructure scenarios:</a:t>
            </a:r>
          </a:p>
          <a:p>
            <a:r>
              <a:rPr lang="en-US" sz="1800" dirty="0" smtClean="0"/>
              <a:t>•	Providing analysis for comparing current costs to the new, revamped VMware pricing structure </a:t>
            </a:r>
          </a:p>
          <a:p>
            <a:r>
              <a:rPr lang="en-US" sz="1800" dirty="0" smtClean="0"/>
              <a:t>•	Right-sizing existing VMware workloads to keep costs low under the new VMware pricing structure</a:t>
            </a:r>
          </a:p>
          <a:p>
            <a:r>
              <a:rPr lang="en-US" sz="1800" dirty="0" smtClean="0"/>
              <a:t>•	TCO analysis and modeling if the client migrates to VMware-on-Cloud  such as VMware on AWS, Azure VMware Solution, IBM Cloud for VMware, Google Cloud VMware Engine and Oracle Cloud VMware Solution. </a:t>
            </a:r>
          </a:p>
          <a:p>
            <a:r>
              <a:rPr lang="en-US" sz="1800" dirty="0" smtClean="0"/>
              <a:t>•	TCO analysis if the client wants to migrate away from VMware to a cloud-native platform</a:t>
            </a:r>
          </a:p>
          <a:p>
            <a:r>
              <a:rPr lang="en-US" sz="1800" dirty="0" smtClean="0"/>
              <a:t>•	TCO analysis and modeling for migrating workloads to Nutanix or Microsoft Azure Stack</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Akasia,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https://cloud.ibm.com/catalog/services/akasiafinopsmodeler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Analytics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Submit your Apache Spark applications as needed and customize the Spark runtimes to satisfy the requirements of your application.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IBM Analytics Engine instance is allocated compute and memory resources on demand when Spark applications are started. When an application is not in running state, no computing resources are allocated to the instance. Pricing is based on the amount of resources consumed by the applications running in the instance, billed on a per second basis.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https://cloud.ibm.com/catalog/services/ibmanalyticsengine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Anycloud Backup for 365 is a partner-ready SaaS offering of data protection and is created to safely backup data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365 is a SaaS-based backup and recovery solution designed to secure data across Microsoft 365. The service covers Exchange Online, OneDrive for Business, SharePoint, and Teams, ensuring safe storage, simple restore, and long-term compliance. It is built for both end-users and enterprises that require reliable protection and fast recovery, with storage hosted in IBM Cloud data centers worldwide.</a:t>
            </a:r>
          </a:p>
          <a:p>
            <a:r>
              <a:rPr lang="en-US" sz="1800" dirty="0" smtClean="0"/>
              <a:t/>
            </a:r>
          </a:p>
          <a:p>
            <a:r>
              <a:rPr lang="en-US" sz="1800" dirty="0" smtClean="0"/>
              <a:t/>
            </a:r>
          </a:p>
          <a:p>
            <a:r>
              <a:rPr lang="en-US" sz="1800" dirty="0" smtClean="0"/>
              <a:t>USER-FRIENDLY PORTAL</a:t>
            </a:r>
          </a:p>
          <a:p>
            <a:r>
              <a:rPr lang="en-US" sz="1800" dirty="0" smtClean="0"/>
              <a:t>The solution is operated through an intuitive web portal that enables:</a:t>
            </a:r>
          </a:p>
          <a:p>
            <a:r>
              <a:rPr lang="en-US" sz="1800" dirty="0" smtClean="0"/>
              <a:t>• Central management of organizational data and scheduling of backup jobs</a:t>
            </a:r>
          </a:p>
          <a:p>
            <a:r>
              <a:rPr lang="en-US" sz="1800" dirty="0" smtClean="0"/>
              <a:t>• Definition of retention policies from 1 year up to 25 years, all with unlimited storage under fair usage</a:t>
            </a:r>
          </a:p>
          <a:p>
            <a:r>
              <a:rPr lang="en-US" sz="1800" dirty="0" smtClean="0"/>
              <a:t>• Self-service restore of emails and OneDrive data for end-users</a:t>
            </a:r>
          </a:p>
          <a:p>
            <a:r>
              <a:rPr lang="en-US" sz="1800" dirty="0" smtClean="0"/>
              <a:t>• Full restore options for administrators, including single files, entire folders, or whole sites</a:t>
            </a:r>
          </a:p>
          <a:p>
            <a:r>
              <a:rPr lang="en-US" sz="1800" dirty="0" smtClean="0"/>
              <a:t/>
            </a:r>
          </a:p>
          <a:p>
            <a:r>
              <a:rPr lang="en-US" sz="1800" dirty="0" smtClean="0"/>
              <a:t/>
            </a:r>
          </a:p>
          <a:p>
            <a:r>
              <a:rPr lang="en-US" sz="1800" dirty="0" smtClean="0"/>
              <a:t>KEY BENEFITS</a:t>
            </a:r>
          </a:p>
          <a:p>
            <a:r>
              <a:rPr lang="en-US" sz="1800" dirty="0" smtClean="0"/>
              <a:t>• Cloud-to-cloud backup with complete segregation from Microsoft 365</a:t>
            </a:r>
          </a:p>
          <a:p>
            <a:r>
              <a:rPr lang="en-US" sz="1800" dirty="0" smtClean="0"/>
              <a:t>• Compliance-ready for all industries including finance and public sector</a:t>
            </a:r>
          </a:p>
          <a:p>
            <a:r>
              <a:rPr lang="en-US" sz="1800" dirty="0" smtClean="0"/>
              <a:t>• Data resilience with geographical redundancy across IBM Cloud Tier-3+ data centers</a:t>
            </a:r>
          </a:p>
          <a:p>
            <a:r>
              <a:rPr lang="en-US" sz="1800" dirty="0" smtClean="0"/>
              <a:t>• Simple onboarding and automated daily backups with configurable RPO and RTO</a:t>
            </a:r>
          </a:p>
          <a:p>
            <a:r>
              <a:rPr lang="en-US" sz="1800" dirty="0" smtClean="0"/>
              <a:t>• Insider Threat Protection with 30-day undelete safeguard</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Data protection and compliance are core to Anycloud Backup for 365. Backups are encrypted with AES-256 in transit and at rest, and data locality remains fixed once chosen by the customer. The service fully supports GDPR, including the right-to-be-forgotten, and provides a complete audit trail of activities. All IBM data centers used are certified for ISO 27001, ISO 27017, ISO 27018, and SOC reports, ensuring maximum trust and security.</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Retention up to 25 years with unlimited storage under fair usage</a:t>
            </a:r>
          </a:p>
          <a:p>
            <a:r>
              <a:rPr lang="en-US" sz="1800" dirty="0" smtClean="0"/>
              <a:t>• GDPR-compliant with right-to-be-forgotten support</a:t>
            </a:r>
          </a:p>
          <a:p>
            <a:r>
              <a:rPr lang="en-US" sz="1800" dirty="0" smtClean="0"/>
              <a:t>• Automated backup scheduling and fast restore workflows</a:t>
            </a:r>
          </a:p>
          <a:p>
            <a:r>
              <a:rPr lang="en-US" sz="1800" dirty="0" smtClean="0"/>
              <a:t>• Hosted in 16+ IBM Cloud data centers worldwide</a:t>
            </a:r>
          </a:p>
          <a:p>
            <a:r>
              <a:rPr lang="en-US" sz="1800" dirty="0" smtClean="0"/>
              <a:t/>
            </a:r>
          </a:p>
          <a:p>
            <a:r>
              <a:rPr lang="en-US" sz="1800" dirty="0" smtClean="0"/>
              <a:t/>
            </a:r>
          </a:p>
          <a:p>
            <a:r>
              <a:rPr lang="en-US" sz="1800" dirty="0" smtClean="0"/>
              <a:t>BETTER TOGETHER</a:t>
            </a:r>
          </a:p>
          <a:p>
            <a:r>
              <a:rPr lang="en-US" sz="1800" dirty="0" smtClean="0"/>
              <a:t>Anycloud Backup for 365 protects business-critical data across Exchange, SharePoint, OneDrive, and Teams. Anycloud Backup for Entra ID secures the identity layer with protection of users, groups, roles, and access policies. Together, they deliver full coverage of both data and identity, ensuring resilience, compliance, and rapid recovery in case of cyberattacks, misconfiguration, or accidental deletion. By combining the two services, organizations achieve a unified and future-proof protection strategy for their entire Microsoft 365 environment.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SaaS bundle for Microsoft 365 and Entra ID with fast restore, identity dashboards, and GDPR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365 + Entra ID bundle combines protection of Microsoft 365 data with security for Microsoft Entra ID identities. The solution unites Anycloud Backup for 365 and Anycloud Backup for Entra ID into one offering, delivering complete cloud-to-cloud backup of both business-critical content and identity objects. Data and identities are stored securely in IBM Cloud datacenters worldwide, with compliance, resilience, and fast restore at the core.</a:t>
            </a:r>
          </a:p>
          <a:p>
            <a:r>
              <a:rPr lang="en-US" sz="1800" dirty="0" smtClean="0"/>
              <a:t/>
            </a:r>
          </a:p>
          <a:p>
            <a:r>
              <a:rPr lang="en-US" sz="1800" dirty="0" smtClean="0"/>
              <a:t/>
            </a:r>
          </a:p>
          <a:p>
            <a:r>
              <a:rPr lang="en-US" sz="1800" dirty="0" smtClean="0"/>
              <a:t>USER-FRIENDLY PORTALS</a:t>
            </a:r>
          </a:p>
          <a:p>
            <a:r>
              <a:rPr lang="en-US" sz="1800" dirty="0" smtClean="0"/>
              <a:t>The bundle is operated through intuitive web portals:</a:t>
            </a:r>
          </a:p>
          <a:p>
            <a:r>
              <a:rPr lang="en-US" sz="1800" dirty="0" smtClean="0"/>
              <a:t/>
            </a:r>
          </a:p>
          <a:p>
            <a:r>
              <a:rPr lang="en-US" sz="1800" dirty="0" smtClean="0"/>
              <a:t>• Management Portal for scheduling backups, defining retention policies, and managing both data and identity backups</a:t>
            </a:r>
          </a:p>
          <a:p>
            <a:r>
              <a:rPr lang="en-US" sz="1800" dirty="0" smtClean="0"/>
              <a:t>• Self-Service Restore Portal for end-users to recover emails and OneDrive data</a:t>
            </a:r>
          </a:p>
          <a:p>
            <a:r>
              <a:rPr lang="en-US" sz="1800" dirty="0" smtClean="0"/>
              <a:t>• Restore Portals for administrators to restore Microsoft 365 content and Entra ID identity objects such as users, groups, roles, and conditional access policies</a:t>
            </a:r>
          </a:p>
          <a:p>
            <a:r>
              <a:rPr lang="en-US" sz="1800" dirty="0" smtClean="0"/>
              <a:t/>
            </a:r>
          </a:p>
          <a:p>
            <a:r>
              <a:rPr lang="en-US" sz="1800" dirty="0" smtClean="0"/>
              <a:t/>
            </a:r>
          </a:p>
          <a:p>
            <a:r>
              <a:rPr lang="en-US" sz="1800" dirty="0" smtClean="0"/>
              <a:t>KEY BENEFITS</a:t>
            </a:r>
          </a:p>
          <a:p>
            <a:r>
              <a:rPr lang="en-US" sz="1800" dirty="0" smtClean="0"/>
              <a:t/>
            </a:r>
          </a:p>
          <a:p>
            <a:r>
              <a:rPr lang="en-US" sz="1800" dirty="0" smtClean="0"/>
              <a:t>• One combined service covering both Microsoft 365 content and Entra ID identity infrastructure</a:t>
            </a:r>
          </a:p>
          <a:p>
            <a:r>
              <a:rPr lang="en-US" sz="1800" dirty="0" smtClean="0"/>
              <a:t>• Cloud-to-cloud backup with segregation from Microsoft ensuring independence and resilience</a:t>
            </a:r>
          </a:p>
          <a:p>
            <a:r>
              <a:rPr lang="en-US" sz="1800" dirty="0" smtClean="0"/>
              <a:t>• Fast restore of files, folders, mailboxes, and identity objects to minimize downtime</a:t>
            </a:r>
          </a:p>
          <a:p>
            <a:r>
              <a:rPr lang="en-US" sz="1800" dirty="0" smtClean="0"/>
              <a:t>• Geographical redundancy across IBM Cloud Tier-3+ datacenters with global data locality options</a:t>
            </a:r>
          </a:p>
          <a:p>
            <a:r>
              <a:rPr lang="en-US" sz="1800" dirty="0" smtClean="0"/>
              <a:t>• Insider Threat Protection with 30-day undelete safeguard</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The bundle is designed to meet strict compliance and security requirements. Data is encrypted with AES-256 in transit and at rest, with fixed storage locality once selected. Both services fully support GDPR, including right-to-be-forgotten, and provide complete audit trails. IBM Cloud datacenters are ISO 27001, ISO 27017, ISO 27018, and SOC certified.</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Retention from 1 year up to 25 years with unlimited storage under fair usage</a:t>
            </a:r>
          </a:p>
          <a:p>
            <a:r>
              <a:rPr lang="en-US" sz="1800" dirty="0" smtClean="0"/>
              <a:t>• GDPR compliance including right-to-be-forgotten and support for industry regulatory standards</a:t>
            </a:r>
          </a:p>
          <a:p>
            <a:r>
              <a:rPr lang="en-US" sz="1800" dirty="0" smtClean="0"/>
              <a:t>• Automated backup jobs configured to meet customer RTO and RPO targets</a:t>
            </a:r>
          </a:p>
          <a:p>
            <a:r>
              <a:rPr lang="en-US" sz="1800" dirty="0" smtClean="0"/>
              <a:t>• Hosted in 16+ IBM Cloud datacenters worldwide</a:t>
            </a:r>
          </a:p>
          <a:p>
            <a:r>
              <a:rPr lang="en-US" sz="1800" dirty="0" smtClean="0"/>
              <a:t>• Unified bundle license covering both data and identity protection</a:t>
            </a:r>
          </a:p>
          <a:p>
            <a:r>
              <a:rPr lang="en-US" sz="1800" dirty="0" smtClean="0"/>
              <a:t/>
            </a:r>
          </a:p>
          <a:p>
            <a:r>
              <a:rPr lang="en-US" sz="1800" dirty="0" smtClean="0"/>
              <a:t/>
            </a:r>
          </a:p>
          <a:p>
            <a:r>
              <a:rPr lang="en-US" sz="1800" dirty="0" smtClean="0"/>
              <a:t>BETTER TOGETHER</a:t>
            </a:r>
          </a:p>
          <a:p>
            <a:r>
              <a:rPr lang="en-US" sz="1800" dirty="0" smtClean="0"/>
              <a:t>Microsoft 365 is only fully protected when both data and identity are secured. By combining Anycloud Backup for 365 and Anycloud Backup for Entra ID, organizations close the gap between content loss and identity compromise. The bundle ensures that emails, files, and Teams data can be restored alongside critical identity objects such as users, groups, and access policies. This integrated protection reduces downtime, ensures compliance, and provides a future-proof safeguard for the entire Microsoft 365 environment.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SaaS backup for Microsoft Entra ID with fast recovery, compliance dashboards, and identity protection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Entra ID is a SaaS solution designed to secure Microsoft Entra ID (formerly Azure Active Directory). The service protects identity objects such as users, groups, roles, applications, and conditional access policies against misconfiguration, deletion, and cyberthreats. Backup data is stored securely in IBM Cloud datacenters worldwide, ensuring compliance, resilience, and fast restore.</a:t>
            </a:r>
          </a:p>
          <a:p>
            <a:r>
              <a:rPr lang="en-US" sz="1800" dirty="0" smtClean="0"/>
              <a:t/>
            </a:r>
          </a:p>
          <a:p>
            <a:r>
              <a:rPr lang="en-US" sz="1800" dirty="0" smtClean="0"/>
              <a:t/>
            </a:r>
          </a:p>
          <a:p>
            <a:r>
              <a:rPr lang="en-US" sz="1800" dirty="0" smtClean="0"/>
              <a:t>USER-FRIENDLY PORTAL</a:t>
            </a:r>
          </a:p>
          <a:p>
            <a:r>
              <a:rPr lang="en-US" sz="1800" dirty="0" smtClean="0"/>
              <a:t>The solution is managed through an intuitive web portal that enables administrators to:</a:t>
            </a:r>
          </a:p>
          <a:p>
            <a:r>
              <a:rPr lang="en-US" sz="1800" dirty="0" smtClean="0"/>
              <a:t>• Configure and monitor backup jobs with customizable retention policies</a:t>
            </a:r>
          </a:p>
          <a:p>
            <a:r>
              <a:rPr lang="en-US" sz="1800" dirty="0" smtClean="0"/>
              <a:t>• Restore Entra ID objects such as users, groups, applications, and roles</a:t>
            </a:r>
          </a:p>
          <a:p>
            <a:r>
              <a:rPr lang="en-US" sz="1800" dirty="0" smtClean="0"/>
              <a:t>• Access dashboards with identity security scores and personalized recommendations</a:t>
            </a:r>
          </a:p>
          <a:p>
            <a:r>
              <a:rPr lang="en-US" sz="1800" dirty="0" smtClean="0"/>
              <a:t>• Review a full audit trail of sign-ins, role changes, and policy modifications</a:t>
            </a:r>
          </a:p>
          <a:p>
            <a:r>
              <a:rPr lang="en-US" sz="1800" dirty="0" smtClean="0"/>
              <a:t/>
            </a:r>
          </a:p>
          <a:p>
            <a:r>
              <a:rPr lang="en-US" sz="1800" dirty="0" smtClean="0"/>
              <a:t/>
            </a:r>
          </a:p>
          <a:p>
            <a:r>
              <a:rPr lang="en-US" sz="1800" dirty="0" smtClean="0"/>
              <a:t>KEY BENEFITS</a:t>
            </a:r>
          </a:p>
          <a:p>
            <a:r>
              <a:rPr lang="en-US" sz="1800" dirty="0" smtClean="0"/>
              <a:t>• Purpose-built SaaS backup for Microsoft Entra ID identities and configurations</a:t>
            </a:r>
          </a:p>
          <a:p>
            <a:r>
              <a:rPr lang="en-US" sz="1800" dirty="0" smtClean="0"/>
              <a:t>• Protection against cyberattacks, insider threats, and accidental deletion</a:t>
            </a:r>
          </a:p>
          <a:p>
            <a:r>
              <a:rPr lang="en-US" sz="1800" dirty="0" smtClean="0"/>
              <a:t>• Security dashboards providing visibility and governance insights</a:t>
            </a:r>
          </a:p>
          <a:p>
            <a:r>
              <a:rPr lang="en-US" sz="1800" dirty="0" smtClean="0"/>
              <a:t>• GDPR compliance including right-to-be-forgotten support</a:t>
            </a:r>
          </a:p>
          <a:p>
            <a:r>
              <a:rPr lang="en-US" sz="1800" dirty="0" smtClean="0"/>
              <a:t>• Fast, object-level restore of identities, groups, and policies</a:t>
            </a:r>
          </a:p>
          <a:p>
            <a:r>
              <a:rPr lang="en-US" sz="1800" dirty="0" smtClean="0"/>
              <a:t>• Hosted in IBM Cloud Tier-3+ datacenters with global data locality options</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The service ensures data confidentiality and compliance with industry standards. Backup data is encrypted with AES-256 in transit and at rest, with immutable storage preventing unauthorized deletion or tampering. Customers can select their preferred IBM Cloud region for data locality. The service supports GDPR and other regulatory frameworks, with audit-ready reporting and “right-to-be-forgotten” functionality.</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Flexible retention from 1 day to unlimited</a:t>
            </a:r>
          </a:p>
          <a:p>
            <a:r>
              <a:rPr lang="en-US" sz="1800" dirty="0" smtClean="0"/>
              <a:t>• Immutable backup storage with segregation of duties</a:t>
            </a:r>
          </a:p>
          <a:p>
            <a:r>
              <a:rPr lang="en-US" sz="1800" dirty="0" smtClean="0"/>
              <a:t>• Automated incremental backups with minimal API throttling</a:t>
            </a:r>
          </a:p>
          <a:p>
            <a:r>
              <a:rPr lang="en-US" sz="1800" dirty="0" smtClean="0"/>
              <a:t>• Identity dashboards with live security scoring and recommendations</a:t>
            </a:r>
          </a:p>
          <a:p>
            <a:r>
              <a:rPr lang="en-US" sz="1800" dirty="0" smtClean="0"/>
              <a:t>• Hosted in 16+ IBM Cloud datacenters worldwide</a:t>
            </a:r>
          </a:p>
          <a:p>
            <a:r>
              <a:rPr lang="en-US" sz="1800" dirty="0" smtClean="0"/>
              <a:t/>
            </a:r>
          </a:p>
          <a:p>
            <a:r>
              <a:rPr lang="en-US" sz="1800" dirty="0" smtClean="0"/>
              <a:t/>
            </a:r>
          </a:p>
          <a:p>
            <a:r>
              <a:rPr lang="en-US" sz="1800" dirty="0" smtClean="0"/>
              <a:t>BETTER TOGETHER</a:t>
            </a:r>
          </a:p>
          <a:p>
            <a:r>
              <a:rPr lang="en-US" sz="1800" dirty="0" smtClean="0"/>
              <a:t>While Anycloud Backup for Entra ID provides complete protection of the identity layer, it becomes even more powerful when combined with Anycloud Backup for 365. Together, the services deliver unified protection of both Microsoft 365 content and Entra ID identities, ensuring end-to-end security, compliance, and resilience across the entire Microsoft cloud environment.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Competency AI advisor that maps your workforce, then assigns agents to roles, tasks and people.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Cobalt Iron - 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 (coming soon)</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Management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Replication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efficient change data capture and near real-time data delivery with transactional integrity.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Data Replication provides efficient change data capture and near real-time data delivery with transactional integrity to support big data integration and consolidation, warehousing and analytics initiatives at scale. It provides you the flexibility to replicate data between a variety of sources and targets.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https://cloud.ibm.com/catalog/services/data-replication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and Lite-tier provisioning is temporarily unavailable. For any concerns please contact wgyure@us.ibm.com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Datavalue®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Make faster, more confident decisions with your data using the Datavalue agent to assess data compliance and data valuation.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Datavalue® agent provides a standardized benchmark to assess data readiness for analytics, compliance, and monetization. This empowers organizations to make faster, more confident decisions around commercially viable derivative data.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Datavault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https://cloud.ibm.com/catalog/services/datavault-ai-inc-datavault-ai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Digilabs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Lab and LMS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Digilabs is at the forefront of digital transformation, offering cutting-edge labs and training programs designed to equip the next generation of technology leaders with the skills they need to excel. Our labs, hosted on IBM’s industry-leading cloud platform, provide a hands-on learning experience that bridges the gap between theoretical knowledge and practical application.</a:t>
            </a:r>
          </a:p>
          <a:p>
            <a:r>
              <a:rPr lang="en-US" sz="1800" dirty="0" smtClean="0"/>
              <a:t/>
            </a:r>
          </a:p>
          <a:p>
            <a:r>
              <a:rPr lang="en-US" sz="1800" dirty="0" smtClean="0"/>
              <a:t>-------------------------------------------------------------------</a:t>
            </a:r>
          </a:p>
          <a:p>
            <a:r>
              <a:rPr lang="en-US" sz="1800" dirty="0" smtClean="0"/>
              <a:t/>
            </a:r>
          </a:p>
          <a:p>
            <a:r>
              <a:rPr lang="en-US" sz="1800" dirty="0" smtClean="0"/>
              <a:t>Key Benefits:</a:t>
            </a:r>
          </a:p>
          <a:p>
            <a:r>
              <a:rPr lang="en-US" sz="1800" dirty="0" smtClean="0"/>
              <a:t/>
            </a:r>
          </a:p>
          <a:p>
            <a:r>
              <a:rPr lang="en-US" sz="1800" dirty="0" smtClean="0"/>
              <a:t>Enhanced Learning Experience: Students gain practical insights and develop essential skills through hands-on experience in a real-world setting.</a:t>
            </a:r>
          </a:p>
          <a:p>
            <a:r>
              <a:rPr lang="en-US" sz="1800" dirty="0" smtClean="0"/>
              <a:t/>
            </a:r>
          </a:p>
          <a:p>
            <a:r>
              <a:rPr lang="en-US" sz="1800" dirty="0" smtClean="0"/>
              <a:t>Improved Learning Outcomes: Practical application of concepts leads to deeper understanding and better retention.</a:t>
            </a:r>
          </a:p>
          <a:p>
            <a:r>
              <a:rPr lang="en-US" sz="1800" dirty="0" smtClean="0"/>
              <a:t/>
            </a:r>
          </a:p>
          <a:p>
            <a:r>
              <a:rPr lang="en-US" sz="1800" dirty="0" smtClean="0"/>
              <a:t>Accessibility and Flexibility: Students can access labs anytime, anywhere, promoting flexible and self-paced learning.</a:t>
            </a:r>
          </a:p>
          <a:p>
            <a:r>
              <a:rPr lang="en-US" sz="1800" dirty="0" smtClean="0"/>
              <a:t/>
            </a:r>
          </a:p>
          <a:p>
            <a:r>
              <a:rPr lang="en-US" sz="1800" dirty="0" smtClean="0"/>
              <a:t>Industry-Relevant Skills: Labs align with industry demands, equipping students with skills needed for success in the workforce.</a:t>
            </a:r>
          </a:p>
          <a:p>
            <a:r>
              <a:rPr lang="en-US" sz="1800" dirty="0" smtClean="0"/>
              <a:t/>
            </a:r>
          </a:p>
          <a:p>
            <a:r>
              <a:rPr lang="en-US" sz="1800" dirty="0" smtClean="0"/>
              <a:t>Streamlined Workflow: Seamless LMS integration simplifies access and management for both students and educators.</a:t>
            </a:r>
          </a:p>
          <a:p>
            <a:r>
              <a:rPr lang="en-US" sz="1800" dirty="0" smtClean="0"/>
              <a:t/>
            </a:r>
          </a:p>
          <a:p>
            <a:r>
              <a:rPr lang="en-US" sz="1800" dirty="0" smtClean="0"/>
              <a:t>Cost-Effective Solution: Virtual labs eliminate the need for expensive physical infrastructure and maintenance.</a:t>
            </a:r>
          </a:p>
          <a:p>
            <a:r>
              <a:rPr lang="en-US" sz="1800" dirty="0" smtClean="0"/>
              <a:t/>
            </a:r>
          </a:p>
          <a:p>
            <a:r>
              <a:rPr lang="en-US" sz="1800" dirty="0" smtClean="0"/>
              <a:t>Multidisciplinary Specializations: Offers a range of specializations, including Cloud Architecture, Data Analytics, Information Security, DevOps, Blockchain, and Cyber Security.</a:t>
            </a:r>
          </a:p>
          <a:p>
            <a:r>
              <a:rPr lang="en-US" sz="1800" dirty="0" smtClean="0"/>
              <a:t/>
            </a:r>
          </a:p>
          <a:p>
            <a:r>
              <a:rPr lang="en-US" sz="1800" dirty="0" smtClean="0"/>
              <a:t>-------------------------------------------------------------------</a:t>
            </a:r>
          </a:p>
          <a:p>
            <a:r>
              <a:rPr lang="en-US" sz="1800" dirty="0" smtClean="0"/>
              <a:t/>
            </a:r>
          </a:p>
          <a:p>
            <a:r>
              <a:rPr lang="en-US" sz="1800" dirty="0" smtClean="0"/>
              <a:t>Our Offerings:</a:t>
            </a:r>
          </a:p>
          <a:p>
            <a:r>
              <a:rPr lang="en-US" sz="1800" dirty="0" smtClean="0"/>
              <a:t/>
            </a:r>
          </a:p>
          <a:p>
            <a:r>
              <a:rPr lang="en-US" sz="1800" dirty="0" smtClean="0"/>
              <a:t>Extensive Cloud Labs: Gain hands-on experience with over 150 labs available on a robust cloud platform</a:t>
            </a:r>
          </a:p>
          <a:p>
            <a:r>
              <a:rPr lang="en-US" sz="1800" dirty="0" smtClean="0"/>
              <a:t/>
            </a:r>
          </a:p>
          <a:p>
            <a:r>
              <a:rPr lang="en-US" sz="1800" dirty="0" smtClean="0"/>
              <a:t>Secure Online Assessments: Complete assessments online with automated proctoring for secure testing.</a:t>
            </a:r>
          </a:p>
          <a:p>
            <a:r>
              <a:rPr lang="en-US" sz="1800" dirty="0" smtClean="0"/>
              <a:t/>
            </a:r>
          </a:p>
          <a:p>
            <a:r>
              <a:rPr lang="en-US" sz="1800" dirty="0" smtClean="0"/>
              <a:t>Schedule Management: Easily track and manage your classes and lab schedules through an integrated system.</a:t>
            </a:r>
          </a:p>
          <a:p>
            <a:r>
              <a:rPr lang="en-US" sz="1800" dirty="0" smtClean="0"/>
              <a:t/>
            </a:r>
          </a:p>
          <a:p>
            <a:r>
              <a:rPr lang="en-US" sz="1800" dirty="0" smtClean="0"/>
              <a:t>Comprehensive Reporting: Access detailed reports on attendance,student performance, and class activities.</a:t>
            </a:r>
          </a:p>
          <a:p>
            <a:r>
              <a:rPr lang="en-US" sz="1800" dirty="0" smtClean="0"/>
              <a:t/>
            </a:r>
          </a:p>
          <a:p>
            <a:r>
              <a:rPr lang="en-US" sz="1800" dirty="0" smtClean="0"/>
              <a:t>Timely Notifications: Receive timely notifications about classes, labs, tests, and other important update</a:t>
            </a:r>
          </a:p>
          <a:p>
            <a:r>
              <a:rPr lang="en-US" sz="1800" dirty="0" smtClean="0"/>
              <a:t/>
            </a:r>
          </a:p>
          <a:p>
            <a:r>
              <a:rPr lang="en-US" sz="1800" dirty="0" smtClean="0"/>
              <a:t>Live Online Classes: Attend live online classes from anywhere, guided by expert instructors.</a:t>
            </a:r>
          </a:p>
          <a:p>
            <a:r>
              <a:rPr lang="en-US" sz="1800" dirty="0" smtClean="0"/>
              <a:t> </a:t>
            </a:r>
          </a:p>
          <a:p>
            <a:r>
              <a:rPr lang="en-US" sz="1800" dirty="0" smtClean="0"/>
              <a:t>Project Guidance: Engage in project discussions and receive monitoring from faculty to ensure progress.</a:t>
            </a:r>
          </a:p>
          <a:p>
            <a:r>
              <a:rPr lang="en-US" sz="1800" dirty="0" smtClean="0"/>
              <a:t/>
            </a:r>
          </a:p>
          <a:p>
            <a:r>
              <a:rPr lang="en-US" sz="1800" dirty="0" smtClean="0"/>
              <a:t>Interactive Forums &amp; Dashboard:Participate in discussions on forums and monitor your progress via a personalized dashboard.</a:t>
            </a:r>
          </a:p>
          <a:p>
            <a:r>
              <a:rPr lang="en-US" sz="1800" dirty="0" smtClean="0"/>
              <a:t/>
            </a:r>
          </a:p>
          <a:p>
            <a:r>
              <a:rPr lang="en-US" sz="1800" dirty="0" smtClean="0"/>
              <a:t>Real-Time Chat: Use the chatbox for real-time interaction between faculty and students, as well as group discussions.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https://cloud.ibm.com/catalog/services/stardigilabs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VPC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VPC, organizations can streamline their virtual desktop delivery by combining the power of the Dizzion cloud-native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Flex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Flex enables clients to simply and intuitively deploy and manage their virtual desktop and app workloads on IBM Cloud VPC, leveraging Dizzion’s cloud-native Frame Desktop as a Service (DaaS)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Flex on IBM Cloud VPC,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 </a:t>
            </a:r>
          </a:p>
          <a:p>
            <a:r>
              <a:rPr lang="en-US" sz="1800" dirty="0" smtClean="0"/>
              <a:t>- - - </a:t>
            </a:r>
          </a:p>
          <a:p>
            <a:r>
              <a:rPr lang="en-US" sz="1800" dirty="0" smtClean="0"/>
              <a:t/>
            </a:r>
          </a:p>
          <a:p>
            <a:r>
              <a:rPr lang="en-US" sz="1800" dirty="0" smtClean="0"/>
              <a:t/>
            </a:r>
          </a:p>
          <a:p>
            <a:r>
              <a:rPr lang="en-US" sz="1800" dirty="0" smtClean="0"/>
              <a:t>For sales support, reach out to Dizzion directly at channel@dizzion.com.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https://cloud.ibm.com/catalog/services/dizzion-flex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Enterprise Application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Enterprise Application Service for Java is an application platform for building, deploying, and running enterprise Java applications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Enterprise Application Service for Java (EASeJ) is a fully managed application platform that simplifies how enterprises build, deploy, and run Java applications in the cloud. EASeJ optimizes the entire Java application lifecycle, enabling users to deliver faster, and focus on innovation and value creation.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https://cloud.ibm.com/catalog/services/enterprise-app-java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Email, SMS, Webhooks and Push Notifications for your IBM Cloud service events.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an event notification routing service that notifies you to critical events that occur in your IBM Cloud account or triggers automated actions by using webhooks. You can filter and route event notifications from IBM Cloud services to Email, SMS, Webhooks and Push Notifications.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services that consolidate and orchestrate data protection operations across multiple backup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FalconStor’s Habanero Data Protection Services are fully managed hybrid or cloud services that consolidate and orchestrate data protection operations across multiple backup applications and environments, delivered with IBM Cloud and IBM Cloud Object Storage (COS). Powered by StorSafe and integrated with IBM Power Virtual Server, Habanero optimizes and modernizes enterprise data protection while meeting compliance, security, and ransomware recovery requirements.</a:t>
            </a:r>
          </a:p>
          <a:p>
            <a:r>
              <a:rPr lang="en-US" sz="1800" dirty="0" smtClean="0"/>
              <a:t>FalconStor Habanero provides COS for long-term backup and archive of data. This turnkey solution managed by FalconStor makes adoption of object storage for all your backup and archive needs easy and cost effective.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 Managed on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managed IBM i server instance on PowerVS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i Managed on Power Virtual Server (PowerVS) is a cloud offering where IBM hosts and manages IBM i LPARs (Virtual Servers) on IBM Cloud. This offering extends the existing IaaS based PowerVS on IBM Cloud offering, to one where IBM Cloud will monitor and manage IBM i LPARs and associated infrastructure (network, memory, storage), apply fixes and updates to the IBM i operating system, and manage the applicable security and private controls.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Knowledge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Teach Watson the language of your domain.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Teach Watson the language of your domain with custom machine learning models that identify entities and relationships unique to your industry in unstructured text. Build your models in a collaborative environment designed for both developers and domain experts, without needing to write code. Use the models in Watson Discovery, Watson Natural Language Understanding and Watson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https://cloud.ibm.com/catalog/services/knowledge-studio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HPC Managed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support new or existing HPC environment for hybrid environments (On-Prem,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Lantrasoft, we provide tailored solutions for your digital transformation utilizing Hybrid/IBM Cloud and IBM Spectrum LSF, Scale. We ensure seamless integration with your existing systems and empower your business with scalable resources through flexible architectures and intelligent workload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https://cloud.ibm.com/catalog/services/lantrasoft-hpc-managed-services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Maximo MAS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upgrade, or migrate new or existing Maximo Application to Containerized MAS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This selection of services aims to assist Maximo customers seeking to upgrade to a MAS v8+ option.</a:t>
            </a:r>
          </a:p>
          <a:p>
            <a:r>
              <a:rPr lang="en-US" sz="1800" dirty="0" smtClean="0"/>
              <a:t>2. Lantrasoft performs the assessment and provides recommendations to support your desired option through advisory services and optionally the implementation efforts to accomplish these modernizing on-prem to hybrid-cloud-enabled projects.</a:t>
            </a:r>
          </a:p>
          <a:p>
            <a:r>
              <a:rPr lang="en-US" sz="1800" dirty="0" smtClean="0"/>
              <a:t>3. The services are designed to suit your specific upgrade or migration requirements and objectives. Builds out a unique project plan, scope, costs and timeline.</a:t>
            </a:r>
          </a:p>
          <a:p>
            <a:r>
              <a:rPr lang="en-US" sz="1800" dirty="0" smtClean="0"/>
              <a:t>4. All projects, irrespective of the category and customization, require a current state assessment or discovery coupled with a solid understanding of the customer goals and associated target environment.</a:t>
            </a:r>
          </a:p>
          <a:p>
            <a:r>
              <a:rPr lang="en-US" sz="1800" dirty="0" smtClean="0"/>
              <a:t>5. Once well-comprehended, an accurate statement of work (SOW) and associated price quote is generated in support of the project.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https://cloud.ibm.com/catalog/services/lantrasoft-maximo-mas-services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Live Expert Hand-off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Trigger video or audio consultations with your experts over live video/audio, based on your hand-off rules and team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Live Expert Hand-off Agent brings real-time human support into automated workflows by triggering live video or audio consultations whenever your defined hand-off criteria are met. This agent connects IBM Orchestrate flows to your sales or service experts, ensuring customers receive human guidance at moments where expert involvement improves clarity, trust, or conversion. When a workflow reaches a handoff-ready step, the agent launches a live Uptok session with an available expert and transfers the relevant context to streamline the interaction.</a:t>
            </a:r>
          </a:p>
          <a:p>
            <a:r>
              <a:rPr lang="en-US" sz="1800" dirty="0" smtClean="0"/>
              <a:t/>
            </a:r>
          </a:p>
          <a:p>
            <a:r>
              <a:rPr lang="en-US" sz="1800" dirty="0" smtClean="0"/>
              <a:t>Ideal for high-consideration sales, Configure-Price-Quote (CPQ) support, insurance quoting, onboarding, and complex service inquiries, this agent helps your team step in only when human expertise drives measurable impact––while keeping your workflow automation simple and predictable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https://cloud.ibm.com/catalog/services/uptok-live-expert-handoff</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Lyve Data Transfer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Lyve Mobile Data Transfer Service allows you to quickly, easily and securely move your edge or on-prem data into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Seagate Lyve Mobile is an edge to cloud, mass storage transfer platform providing efficient and secure end to end, data migration and logistics services accelerating the transfer of edge or on-prem data to IBM Cloud. Built for data intensive mobility, Lyve Mobile enables enterprises to aggregate, store and move data easily, bypassing network bottlenecks and allowing mass data transfers quickly and securely using a comprehensive suite of software, hardware and services provided by Seagate.</a:t>
            </a:r>
          </a:p>
          <a:p>
            <a:r>
              <a:rPr lang="en-US" sz="1800" dirty="0" smtClean="0"/>
              <a:t/>
            </a:r>
          </a:p>
          <a:p>
            <a:r>
              <a:rPr lang="en-US" sz="1800" dirty="0" smtClean="0"/>
              <a:t>Accelerate your Edge and/or On-Prem Data Transfer to IBM Cloud quickly, securely and easily with Seagate Lyve Mobile.</a:t>
            </a:r>
          </a:p>
          <a:p>
            <a:r>
              <a:rPr lang="en-US" sz="1800" dirty="0" smtClean="0"/>
              <a:t/>
            </a:r>
          </a:p>
          <a:p>
            <a:r>
              <a:rPr lang="en-US" sz="1800" dirty="0" smtClean="0"/>
              <a:t>Our field ready, just in time, scalable Data Transfer Service utilizes Seagate's mass capacity storage arrays, alongside Seagate's Cloud-Import Software and expert IBM Cloud Import Services, making Lyve Mobile a complete, simple, low-cost, secure solution for fast, data transfer and data mobility projects, at scale, without the worries of network latency.</a:t>
            </a:r>
          </a:p>
          <a:p>
            <a:r>
              <a:rPr lang="en-US" sz="1800" dirty="0" smtClean="0"/>
              <a:t/>
            </a:r>
          </a:p>
          <a:p>
            <a:r>
              <a:rPr lang="en-US" sz="1800" dirty="0" smtClean="0"/>
              <a:t>Our end-to-end process is fully a fully managed service that delivers white glove service to ensure a successful transfer of data from the edge or on-prem to IBM Cloud, all from the most trusted data company in the world, Seagate.</a:t>
            </a:r>
          </a:p>
          <a:p>
            <a:r>
              <a:rPr lang="en-US" sz="1800" dirty="0" smtClean="0"/>
              <a:t/>
            </a:r>
          </a:p>
          <a:p>
            <a:r>
              <a:rPr lang="en-US" sz="1800" dirty="0" smtClean="0"/>
              <a:t/>
            </a:r>
          </a:p>
          <a:p>
            <a:r>
              <a:rPr lang="en-US" sz="1800" dirty="0" smtClean="0"/>
              <a:t>PRICING:</a:t>
            </a:r>
          </a:p>
          <a:p>
            <a:r>
              <a:rPr lang="en-US" sz="1800" dirty="0" smtClean="0"/>
              <a:t>Standard migration services are priced at $40/TB per month with a minimum of 50TB per device and includes full project lifecycle management, 24-hour rapid device fulfilment of Lyve Mobile arrays, secured product provisioning, personal configuration assistance, and end to end logistics; all with world-class, 24/7 support to help you migrate your data quickly, securely, easily and affordably.</a:t>
            </a:r>
          </a:p>
          <a:p>
            <a:r>
              <a:rPr lang="en-US" sz="1800" dirty="0" smtClean="0"/>
              <a:t/>
            </a:r>
          </a:p>
          <a:p>
            <a:r>
              <a:rPr lang="en-US" sz="1800" dirty="0" smtClean="0"/>
              <a:t/>
            </a:r>
          </a:p>
          <a:p>
            <a:r>
              <a:rPr lang="en-US" sz="1800" dirty="0" smtClean="0"/>
              <a:t>To better understand the ordering process, please review this informational slide deck before proceeding.</a:t>
            </a:r>
          </a:p>
          <a:p>
            <a:r>
              <a:rPr lang="en-US" sz="1800" dirty="0" smtClean="0"/>
              <a:t/>
            </a:r>
          </a:p>
          <a:p>
            <a:r>
              <a:rPr lang="en-US" sz="1800" dirty="0" smtClean="0"/>
              <a:t>FOR IBM POWER USERS: please click on this link to understand the process for transferring data from IBM Power Systems to IBM Cloud.</a:t>
            </a:r>
          </a:p>
          <a:p>
            <a:r>
              <a:rPr lang="en-US" sz="1800" dirty="0" smtClean="0"/>
              <a:t/>
            </a:r>
          </a:p>
          <a:p>
            <a:r>
              <a:rPr lang="en-US" sz="1800" dirty="0" smtClean="0"/>
              <a:t/>
            </a:r>
          </a:p>
          <a:p>
            <a:r>
              <a:rPr lang="en-US" sz="1800" dirty="0" smtClean="0"/>
              <a:t>PLEASE NOTE: You must have an IBM account prior to ordering this service.  If you do not, please reach out to your IBM Account Manager.</a:t>
            </a:r>
          </a:p>
          <a:p>
            <a:r>
              <a:rPr lang="en-US" sz="1800" dirty="0" smtClean="0"/>
              <a:t/>
            </a:r>
          </a:p>
          <a:p>
            <a:r>
              <a:rPr lang="en-US" sz="1800" dirty="0" smtClean="0"/>
              <a:t/>
            </a:r>
          </a:p>
          <a:p>
            <a:r>
              <a:rPr lang="en-US" sz="1800" dirty="0" smtClean="0"/>
              <a:t>Once a customer purechases through the IBM Catalogue, they will be contacted by the Seagate Lyve Mobile team to finalize their configuration and schedule the start date for their data transfer service.  Then, their account will be reviewed and created, which will be linked to their IBM account for consolidated billing for invoicing.</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Seagate Technology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https://cloud.ibm.com/catalog/services/seagate-lyve-subscription-per-tb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Master Data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millionways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HR assistant that analyzes candidate documents to deliver personality insights, interview questions, and hiring recommendations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millionways HR Personality Agent</a:t>
            </a:r>
          </a:p>
          <a:p>
            <a:r>
              <a:rPr lang="en-US" sz="1800" dirty="0" smtClean="0"/>
              <a:t/>
            </a:r>
          </a:p>
          <a:p>
            <a:r>
              <a:rPr lang="en-US" sz="1800" dirty="0" smtClean="0"/>
              <a:t>millionways HR Personality Agent is an AI-powered hiring assistant that transforms candidate documents (interviews, resumes, cover letters) into actionable hiring intelligence. Built on the world’s first **Large Psychological Model (LPM)**, it goes beyond skills and experience to analyze communication style, decision-making patterns, and behavioral traits — enabling data-driven, bias-aware hiring decisions.</a:t>
            </a:r>
          </a:p>
          <a:p>
            <a:r>
              <a:rPr lang="en-US" sz="1800" dirty="0" smtClean="0"/>
              <a:t/>
            </a:r>
          </a:p>
          <a:p>
            <a:r>
              <a:rPr lang="en-US" sz="1800" dirty="0" smtClean="0"/>
              <a:t>## Key Features</a:t>
            </a:r>
          </a:p>
          <a:p>
            <a:r>
              <a:rPr lang="en-US" sz="1800" dirty="0" smtClean="0"/>
              <a:t>- **Candidate Personality Profiling:** Generates a deep psychological profile from any text input  </a:t>
            </a:r>
          </a:p>
          <a:p>
            <a:r>
              <a:rPr lang="en-US" sz="1800" dirty="0" smtClean="0"/>
              <a:t>- **Actionable Hiring Recommendations:** Suggests interview strategies, tailored questions, and candidate follow-ups  </a:t>
            </a:r>
          </a:p>
          <a:p>
            <a:r>
              <a:rPr lang="en-US" sz="1800" dirty="0" smtClean="0"/>
              <a:t>- **Cultural Fit &amp; Team Dynamics:** Evaluates compatibility with your team’s working style  </a:t>
            </a:r>
          </a:p>
          <a:p>
            <a:r>
              <a:rPr lang="en-US" sz="1800" dirty="0" smtClean="0"/>
              <a:t>- **Behavioral Risk Insights:** Flags potential areas for misalignment or friction before a hire is made  </a:t>
            </a:r>
          </a:p>
          <a:p>
            <a:r>
              <a:rPr lang="en-US" sz="1800" dirty="0" smtClean="0"/>
              <a:t>- **Easy Integration:** Fully compatible with IBM Agent Services and available via a simple REST API  </a:t>
            </a:r>
          </a:p>
          <a:p>
            <a:r>
              <a:rPr lang="en-US" sz="1800" dirty="0" smtClean="0"/>
              <a:t/>
            </a:r>
          </a:p>
          <a:p>
            <a:r>
              <a:rPr lang="en-US" sz="1800" dirty="0" smtClean="0"/>
              <a:t>## Business Value</a:t>
            </a:r>
          </a:p>
          <a:p>
            <a:r>
              <a:rPr lang="en-US" sz="1800" dirty="0" smtClean="0"/>
              <a:t>- Reduce bad hires and save millions in replacement costs  </a:t>
            </a:r>
          </a:p>
          <a:p>
            <a:r>
              <a:rPr lang="en-US" sz="1800" dirty="0" smtClean="0"/>
              <a:t>- Enhance interview quality and team performance with psychology-backed recommendations  </a:t>
            </a:r>
          </a:p>
          <a:p>
            <a:r>
              <a:rPr lang="en-US" sz="1800" dirty="0" smtClean="0"/>
              <a:t>- Accelerate hiring decisions by automating personality insights at scale  </a:t>
            </a:r>
          </a:p>
          <a:p>
            <a:r>
              <a:rPr lang="en-US" sz="1800" dirty="0" smtClean="0"/>
              <a:t/>
            </a:r>
          </a:p>
          <a:p>
            <a:r>
              <a:rPr lang="en-US" sz="1800" dirty="0" smtClean="0"/>
              <a:t>## Ideal For</a:t>
            </a:r>
          </a:p>
          <a:p>
            <a:r>
              <a:rPr lang="en-US" sz="1800" dirty="0" smtClean="0"/>
              <a:t>Recruiters, HR leaders, and hiring managers looking to improve quality-of-hire, reduce bias, and optimize team fit.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millionways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https://cloud.ibm.com/catalog/services/millionways-millionways-agent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Natural Language Understanding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text to extract meta-data from content such as concepts, entities, emotion, relations, sentiment and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advanced NLP to analyze text and extract meta-data from content such as concepts, entities, keywords, categories, sentiment, emotion, relations, and semantic roles. Apply custom annotation models developed using Watson Knowledge Studio to identify industry/domain specific entities and relations in unstructured text with Watson NLU.</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https://cloud.ibm.com/catalog/services/natural-language-understanding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 - Build IBM Storage Protect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Partner with Technology Expert Labs - Build IBM Storage Protect for PowerVS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Partner with Technology Expert Labs - Build IBM Storage Protect for PowerVS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https://cloud.ibm.com/catalog/services/expert-labs-storage-protect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 - Build SAP HANA Starter Edition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Partner with Technology Expert Labs - Build SAP HANA Starter Edition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Partner with Technology Expert Labs - Build SAP HANA Starter Edition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https://cloud.ibm.com/catalog/services/expert-labs-sap-hana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 - Migrate Workloads to IBM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Partner with Technology Expert Labs - Migrate Workloads to IBM Power Virtual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Partner with Technology Expert Labs - Migrate Workloads to IBM Power Virtual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https://cloud.ibm.com/catalog/services/expert-labs-migrate-powervs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IBM Watsonx Orchestrate Powered Patient AI Agent (Sofie) helps both prospective and existing patients with healthcare needs such as assessments, appointment scheduling, and managing interactions across the entire patient journey. Hospitals and healthcare clinics can use it to deliver better patient experiences while reducing operational workload. The solution is HIPAA compliant and built to extend into electronic health record (EHR) systems such as NextGen and others, depending on the customer’s environment.</a:t>
            </a:r>
          </a:p>
          <a:p>
            <a:r>
              <a:rPr lang="en-US" sz="1800" dirty="0" smtClean="0"/>
              <a:t/>
            </a:r>
          </a:p>
          <a:p>
            <a:r>
              <a:rPr lang="en-US" sz="1800" dirty="0" smtClean="0"/>
              <a:t>The AI Agent works seamlessly across channels—including voice, web, and leading social platforms like WhatsApp, Instagram, and Facebook—making patient engagement easy, intuitive, and always accessible.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Enterprise Pools Metered Capacity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on-premises consumption in Power Enterprise Pools with PowerVS and other IBM Cloud services on a single monthly invoice.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IT teams to deploy AIX, IBM i, and Linux applications more affordably and flexibly across a hybrid Power environment by integrating charges for pay-per-use compute resources on systems both on-premises and in the public cloud. Connect a Power Enterprise Pools 2.0 to a Power Virtual Server Enterprise Savings Plan (ESP) to have any charges for consumption of Metered Capacity in an on-premises Power Enterprise Pool invoiced alongside Power Virtual Server and other IBM Cloud services in a single, consolidated invoice from IBM Cloud.  Have on-premises Metered Capacity consumption count toward any committed spend of a PowerVS Cloud ESP.</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https://cloud.ibm.com/catalog/services/power-enterprise-pools-connector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Dedicated Host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DR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Image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Address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Security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Route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Snapshot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Virtual Machine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Virtual Persistent Memory Volumes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a:t>
            </a:r>
          </a:p>
          <a:p>
            <a:r>
              <a:rPr lang="en-US" sz="1800" dirty="0" smtClean="0"/>
              <a:t>for Power Systems workloads. Integrated with the IBM Cloud platform for </a:t>
            </a:r>
          </a:p>
          <a:p>
            <a:r>
              <a:rPr lang="en-US" sz="1800" dirty="0" smtClean="0"/>
              <a:t>on-demand provisioning, this offering provides a secure and scalable </a:t>
            </a:r>
          </a:p>
          <a:p>
            <a:r>
              <a:rPr lang="en-US" sz="1800" dirty="0" smtClean="0"/>
              <a:t>server virtualization environment built upon the advanced RAS features </a:t>
            </a:r>
          </a:p>
          <a:p>
            <a:r>
              <a:rPr lang="en-US" sz="1800" dirty="0" smtClean="0"/>
              <a:t>and leading performance of the Power Systems™ platform.</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https://cloud.ibm.com/catalog/services/power-iaas.vpmem-volume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Volume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Profound AppDev</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Complete Application Development Suite for IBM i Futurization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Comprehensive Futurization Made Simple</a:t>
            </a:r>
          </a:p>
          <a:p>
            <a:r>
              <a:rPr lang="en-US" sz="1800" dirty="0" smtClean="0"/>
              <a:t>Profound AppDev combines our most powerful IBM i development tools into one integrated suite, giving you unprecedented control over your futurization journey. Whether you need rapid UI transformation, advanced web development capabilities, or enterprise AI innovation, Profound AppDev has you covered.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Profound Logic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https://cloud.ibm.com/catalog/services/profound-logic-appdev</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Qiskit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workloads on IBM quantum computers with the Qiskit Runtime service on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Qiskit Runtime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Raxak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Comprehensive Security Configuration Management for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Raxak Protect automates security compliance across private and public clouds. Using the SaaS tool or managed service, developers can deploy cloud apps quickly, cost-effectively, and without error. Raxak Protect allows you to apply security profiles to your servers (VMs or bare-metal) based on recommendations from DISA, NIST, and other regulatory agencies including PCI, HIPAA, FFIEC, and FISMA.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Cloud Raxak,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https://cloud.ibm.com/catalog/services/raxak-protect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InstructLab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scale, and secure the alignment of LLMs— addressing the challenges enterprises face in ownership, accuracy,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InstructLab deployed as a service on IBM Cloud is designed to simplify, scale, and secure the training and deployment of AI models. By simplifying InstructLab model creation, organizations can build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Tyler Lisowski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Secrets Manager, you can create, lease, and centrally manage secrets that are used in IBM Cloud services or your custom-built applications. Secrets are stored in a dedicated instance of Secrets Manager, built on open source HashiCorp Vault.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SpeedShotX-SAAS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Browser-based AI Visual Activation for sports, brands &amp; venues—engaging fans via voice &amp; text in any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SpeedShotX, developed by Fiducia AI, is an AI Visual Engagement platform that personalizes Sports, Media, and Entertainment experiences while strengthening brand engagement. Through web or mobile, fans can capture live or broadcasted moments that are analyzed in real time by IBM watsonx.ai to reveal player stats, match insights, and sponsor activations. The results are presented through a conversational interface that supports both speech and text in any language, making every fan interaction immersive and inclusive. By merging computer vision, generative AI, and contextual understanding, SpeedShotX connects fans, athletes, and brands through intelligent real-time engagement.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Fiducia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https://cloud.ibm.com/catalog/services/fiducia-ai-inc-speedshotx-saas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STAR Virtual Learning Platform (VLP)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TapestryX is next-generation Networked Accounting Ledger Technology (NALT) that can be deployed to support B2B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TapestryX is a real-time, high-capacity, secure and scalable, decentralized B2B transaction synchronization and double-entry accounting protocol.</a:t>
            </a:r>
          </a:p>
          <a:p>
            <a:r>
              <a:rPr lang="en-US" sz="1800" dirty="0" smtClean="0"/>
              <a:t/>
            </a:r>
          </a:p>
          <a:p>
            <a:r>
              <a:rPr lang="en-US" sz="1800" dirty="0" smtClean="0"/>
              <a:t>▪ Each Node (representing an institutional participant) controls its segment of the entire, interlinked platform ledger</a:t>
            </a:r>
          </a:p>
          <a:p>
            <a:r>
              <a:rPr lang="en-US" sz="1800" dirty="0" smtClean="0"/>
              <a:t>▪ Event-driven and self-synchronizing(1)</a:t>
            </a:r>
          </a:p>
          <a:p>
            <a:r>
              <a:rPr lang="en-US" sz="1800" dirty="0" smtClean="0"/>
              <a:t>▪ Each Node posts asset transfer details as well as (future-dated) obligations into immutable ledgers</a:t>
            </a:r>
          </a:p>
          <a:p>
            <a:r>
              <a:rPr lang="en-US" sz="1800" dirty="0" smtClean="0"/>
              <a:t>▪ Transaction Accounting Periods - allowing period archiving and active memory optimization</a:t>
            </a:r>
          </a:p>
          <a:p>
            <a:r>
              <a:rPr lang="en-US" sz="1800" dirty="0" smtClean="0"/>
              <a:t>▪ Simple, deterministic scripts (asset &amp; life-cycle agnostic)</a:t>
            </a:r>
          </a:p>
          <a:p>
            <a:r>
              <a:rPr lang="en-US" sz="1800" dirty="0" smtClean="0"/>
              <a:t>▪ Interoperable with legacy infrastructure (via Airlock feature)</a:t>
            </a:r>
          </a:p>
          <a:p>
            <a:r>
              <a:rPr lang="en-US" sz="1800" dirty="0" smtClean="0"/>
              <a:t>▪ Confidential and Secure</a:t>
            </a:r>
          </a:p>
          <a:p>
            <a:r>
              <a:rPr lang="en-US" sz="1800" dirty="0" smtClean="0"/>
              <a:t>▪ Configurable for proper GAAP or IFRS Financial Reporting</a:t>
            </a:r>
          </a:p>
          <a:p>
            <a:r>
              <a:rPr lang="en-US" sz="1800" dirty="0" smtClean="0"/>
              <a:t>▪ Decentralized initiation of transaction, validation and processing – no single point of failure</a:t>
            </a:r>
          </a:p>
          <a:p>
            <a:r>
              <a:rPr lang="en-US" sz="1800" dirty="0" smtClean="0"/>
              <a:t>▪ High Performance (~ 100K TPS) and Resilient to Cyber attacks</a:t>
            </a:r>
          </a:p>
          <a:p>
            <a:r>
              <a:rPr lang="en-US" sz="1800" dirty="0" smtClean="0"/>
              <a:t/>
            </a:r>
          </a:p>
          <a:p>
            <a:r>
              <a:rPr lang="en-US" sz="1800" dirty="0" smtClean="0"/>
              <a:t>Consistency and Completeness of all Decentralized Ledgers without reliance on consensus, mining or 3rd Party validation.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Upsun Fixed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Upsun is the cloud application platform that humans and robots love. Applications can be frustrating; Upsun makes it simple.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Code without limits and deploy without worry.</a:t>
            </a:r>
          </a:p>
          <a:p>
            <a:r>
              <a:rPr lang="en-US" sz="1800" dirty="0" smtClean="0"/>
              <a:t/>
            </a:r>
          </a:p>
          <a:p>
            <a:r>
              <a:rPr lang="en-US" sz="1800" dirty="0" smtClean="0"/>
              <a:t/>
            </a:r>
          </a:p>
          <a:p>
            <a:r>
              <a:rPr lang="en-US" sz="1800" dirty="0" smtClean="0"/>
              <a:t>Upsun helps developers launch faster and more reliably by removing the complexities of cloud infrastructure management. Platform.sh simplifies collaboration, streamlines deployments, and provides resources to guarantee performance and compliance. </a:t>
            </a:r>
          </a:p>
          <a:p>
            <a:r>
              <a:rPr lang="en-US" sz="1800" dirty="0" smtClean="0"/>
              <a:t/>
            </a:r>
          </a:p>
          <a:p>
            <a:r>
              <a:rPr lang="en-US" sz="1800" dirty="0" smtClean="0"/>
              <a:t/>
            </a:r>
          </a:p>
          <a:p>
            <a:r>
              <a:rPr lang="en-US" sz="1800" dirty="0" smtClean="0"/>
              <a:t/>
            </a:r>
          </a:p>
          <a:p>
            <a:r>
              <a:rPr lang="en-US" sz="1800" dirty="0" smtClean="0"/>
              <a:t/>
            </a:r>
          </a:p>
          <a:p>
            <a:r>
              <a:rPr lang="en-US" sz="1800" dirty="0" smtClean="0"/>
              <a:t>Upsun supports a wide array of runtimes, including Node.js, Python, Ruby, PHP, Go, Rust, and Java, and offers fully managed services such as PostgreSQL, MariaDB, Redis, MongoDB, and Elasticsearch, both with out-of-the-box optimizations and automated updates.</a:t>
            </a:r>
          </a:p>
          <a:p>
            <a:r>
              <a:rPr lang="en-US" sz="1800" dirty="0" smtClean="0"/>
              <a:t/>
            </a:r>
          </a:p>
          <a:p>
            <a:r>
              <a:rPr lang="en-US" sz="1800" dirty="0" smtClean="0"/>
              <a:t/>
            </a:r>
          </a:p>
          <a:p>
            <a:r>
              <a:rPr lang="en-US" sz="1800" dirty="0" smtClean="0"/>
              <a:t/>
            </a:r>
          </a:p>
          <a:p>
            <a:r>
              <a:rPr lang="en-US" sz="1800" dirty="0" smtClean="0"/>
              <a:t/>
            </a:r>
          </a:p>
          <a:p>
            <a:r>
              <a:rPr lang="en-US" sz="1800" dirty="0" smtClean="0"/>
              <a:t>Its git-based workflows and full-stack cloning feature allows teams to replicate entire environments-including code, data, and services- for testing and iteration without disrupting production. Whether you're developing new applications or optimizing existing ones, Upsun offers a reliable, scalable solution for all your cloud needs.</a:t>
            </a:r>
          </a:p>
          <a:p>
            <a:r>
              <a:rPr lang="en-US" sz="1800" dirty="0" smtClean="0"/>
              <a:t/>
            </a:r>
          </a:p>
          <a:p>
            <a:r>
              <a:rPr lang="en-US" sz="1800" dirty="0" smtClean="0"/>
              <a:t/>
            </a:r>
          </a:p>
          <a:p>
            <a:r>
              <a:rPr lang="en-US" sz="1800" dirty="0" smtClean="0"/>
              <a:t/>
            </a:r>
          </a:p>
          <a:p>
            <a:r>
              <a:rPr lang="en-US" sz="1800" dirty="0" smtClean="0"/>
              <a:t/>
            </a:r>
          </a:p>
          <a:p>
            <a:r>
              <a:rPr lang="en-US" sz="1800" dirty="0" smtClean="0"/>
              <a:t>For organizations transitioning to the cloud or modernizing legacy applications, Upsun provides the flexibility to do so with minimal effort. This is why we are the trusted partner to enterprises and agencies worldwide.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Platform.sh SAS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https://cloud.ibm.com/catalog/services/upsun-fixed-products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AiR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Media Storage - </a:t>
            </a:r>
          </a:p>
          <a:p>
            <a:r>
              <a:rPr lang="en-US" sz="2000" dirty="0" smtClean="0">
                <a:solidFill>
                  <a:srgbClr val="808080"/>
                </a:solidFill>
              </a:rPr>
              <a:t/>
            </a:r>
          </a:p>
          <a:p>
            <a:r>
              <a:rPr lang="en-US" sz="2000" dirty="0" smtClean="0">
                <a:solidFill>
                  <a:srgbClr val="808080"/>
                </a:solidFill>
              </a:rPr>
              <a:t>Quickly and affordably find and access every moment in every media file you own.</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AiR Intelligent Media Storage</a:t>
            </a:r>
          </a:p>
          <a:p>
            <a:r>
              <a:rPr lang="en-US" sz="1800" dirty="0" smtClean="0"/>
              <a:t/>
            </a:r>
          </a:p>
          <a:p>
            <a:r>
              <a:rPr lang="en-US" sz="1800" dirty="0" smtClean="0"/>
              <a:t>Wasabi AiR is AI-powered intelligent media storage that adds structure to unstructured data, automatically tagging visual, audio, and textural elements as they are ingested. Wasabi AiR combines features such as metadata auto-tagging, Optical Character Recognition, speech to text, people recognition, and multilingual transcription, with cloud storage. Seamlessly integrate Wasabi AiR into your media workflow to enhance content discoverability, streamline operations, and maximize media value.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https://cloud.ibm.com/catalog/services/wasabi-air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lets you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lets you build conversational interfaces into any application, device, or channel.</a:t>
            </a:r>
          </a:p>
          <a:p>
            <a:r>
              <a:rPr lang="en-US" sz="1800" dirty="0" smtClean="0"/>
              <a:t/>
            </a:r>
          </a:p>
          <a:p>
            <a:r>
              <a:rPr lang="en-US" sz="1800" dirty="0" smtClean="0"/>
              <a:t>Add a natural language interface to your application to automate interactions with your end users. Common applications include virtual agents and chat bots that can integrate and communicate on any channel or device. Train through an easy-to-use web application, designed so you can quickly build natural conversation flows between your apps and users, and deploy scalable, cost effective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255</a:t>
            </a:r>
            <a:endParaRPr lang="en-US"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256</a:t>
            </a:r>
            <a:endParaRPr lang="en-US"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2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257</a:t>
            </a:r>
            <a:endParaRPr lang="en-US"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2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258</a:t>
            </a:r>
            <a:endParaRPr lang="en-US"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2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259</a:t>
            </a:r>
            <a:endParaRPr lang="en-US"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2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260</a:t>
            </a:r>
            <a:endParaRPr lang="en-US"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2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261</a:t>
            </a:r>
            <a:endParaRPr lang="en-US" dirty="0"/>
          </a:p>
        </p:txBody>
      </p:sp>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2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262</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262</Slides>
  <Notes>0</Notes>
  <HiddenSlides>0</HiddenSlides>
  <MMClips>0</MMClips>
  <ScaleCrop>false</ScaleCrop>
  <HeadingPairs>
    <vt:vector size="4" baseType="variant">
      <vt:variant>
        <vt:lpstr>Theme</vt:lpstr>
      </vt:variant>
      <vt:variant>
        <vt:i4>1</vt:i4>
      </vt:variant>
      <vt:variant>
        <vt:lpstr>Slide Titles</vt:lpstr>
      </vt:variant>
      <vt:variant>
        <vt:i4>262</vt:i4>
      </vt:variant>
    </vt:vector>
  </HeadingPairs>
  <TitlesOfParts>
    <vt:vector size="263"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lpstr>Slide 257</vt:lpstr>
      <vt:lpstr>Slide 258</vt:lpstr>
      <vt:lpstr>Slide 259</vt:lpstr>
      <vt:lpstr>Slide 260</vt:lpstr>
      <vt:lpstr>Slide 261</vt:lpstr>
      <vt:lpstr>Slide 262</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2025-12-25T00:09:36Z</dcterms:created>
  <dcterms:modified xsi:type="dcterms:W3CDTF">2025-12-25T00:09:36Z</dcterms:modified>
</cp:coreProperties>
</file>