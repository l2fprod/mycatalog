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jpg" ContentType="image/jpg"/>
  <Default Extension="png" ContentType="image/png"/>
  <Default Extension="gif" ContentType="image/gif"/>
  <Override PartName="/docProps/app.xml" ContentType="application/vnd.openxmlformats-officedocument.extended-properties+xml"/>
  <Override PartName="/ppt/theme/theme1.xml" ContentType="application/vnd.openxmlformats-officedocument.theme+xml"/>
  <Override PartName="/docProps/core.xml" ContentType="application/vnd.openxmlformats-package.core-properties+xml"/>
  <Override PartName="/ppt/slideMasters/slideMaster1.xml" ContentType="application/vnd.openxmlformats-officedocument.presentationml.slide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tableStyles.xml" ContentType="application/vnd.openxmlformats-officedocument.presentationml.tableStyles+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Lst>
  <p:sldSz cx="12192000" cy="6858000" type="screen16x9"/>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392"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presProps" Target="presProps.xml"/><Relationship Id="rId311" Type="http://schemas.openxmlformats.org/officeDocument/2006/relationships/viewProps" Target="viewProps.xml"/><Relationship Id="rId312" Type="http://schemas.openxmlformats.org/officeDocument/2006/relationships/theme" Target="theme/theme1.xml"/><Relationship Id="rId31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8166F1F-CE9B-4651-A6AA-CD717754106B}"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buChar char="•"/>
            </a:pPr>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6116CE-C4A3-4A05-B2D7-7C2E9A889C0F}"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76116CE-C4A3-4A05-B2D7-7C2E9A889C0F}"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76116CE-C4A3-4A05-B2D7-7C2E9A889C0F}" type="datetimeFigureOut">
              <a:rPr lang="en-US" smtClean="0"/>
              <a:t>1/30/2017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76116CE-C4A3-4A05-B2D7-7C2E9A889C0F}" type="datetimeFigureOut">
              <a:rPr lang="en-US" smtClean="0"/>
              <a:t>1/30/2017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76116CE-C4A3-4A05-B2D7-7C2E9A889C0F}" type="datetimeFigureOut">
              <a:rPr lang="en-US" smtClean="0"/>
              <a:t>1/30/2017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6116CE-C4A3-4A05-B2D7-7C2E9A889C0F}" type="datetimeFigureOut">
              <a:rPr lang="en-US" smtClean="0"/>
              <a:t>1/30/2017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6116CE-C4A3-4A05-B2D7-7C2E9A889C0F}" type="datetimeFigureOut">
              <a:rPr lang="en-US" smtClean="0"/>
              <a:t>1/30/2017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6116CE-C4A3-4A05-B2D7-7C2E9A889C0F}" type="datetimeFigureOut">
              <a:rPr lang="en-US" smtClean="0"/>
              <a:t>1/30/2017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6116CE-C4A3-4A05-B2D7-7C2E9A889C0F}" type="datetimeFigureOut">
              <a:rPr lang="en-US" smtClean="0"/>
              <a:t>1/30/2017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6116CE-C4A3-4A05-B2D7-7C2E9A889C0F}" type="datetimeFigureOut">
              <a:rPr lang="en-US" smtClean="0"/>
              <a:t>1/30/2017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93E5F-521B-4CAD-9D3A-AE923D912DC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166F1F-CE9B-4651-A6AA-CD717754106B}" type="datetimeFigureOut">
              <a:rPr lang="en-US" smtClean="0"/>
              <a:t>6/13/2013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021451-1387-4CA6-816F-3879F97B5CB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png"/><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3.png"/><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png"/><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0.png"/><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1.png"/><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png"/><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3.png"/><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4.png"/><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5.png"/><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6.png"/><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7.png"/><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8.png"/><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9.png"/><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png"/><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png"/><Relationship Id="rId3"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2.png"/><Relationship Id="rId3"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png"/><Relationship Id="rId3"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4.png"/><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5.png"/><Relationship Id="rId3"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6.png"/><Relationship Id="rId3"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7.png"/><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8.png"/><Relationship Id="rId3"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9.png"/><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0.png"/><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2.png"/><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3.png"/><Relationship Id="rId3"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4.png"/><Relationship Id="rId3"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5.png"/><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6.png"/><Relationship Id="rId3"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7.png"/><Relationship Id="rId3"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8.png"/><Relationship Id="rId3"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9.png"/><Relationship Id="rId3"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0.png"/><Relationship Id="rId3"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1.png"/><Relationship Id="rId3"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2.png"/><Relationship Id="rId3"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3.png"/><Relationship Id="rId3"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4.png"/><Relationship Id="rId3"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5.png"/><Relationship Id="rId3"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6.png"/><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7.png"/><Relationship Id="rId3"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8.png"/><Relationship Id="rId3"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9.png"/><Relationship Id="rId3"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0.png"/><Relationship Id="rId3"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1.png"/><Relationship Id="rId3"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2.png"/><Relationship Id="rId3"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3.png"/><Relationship Id="rId3"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4.png"/><Relationship Id="rId3"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5.png"/><Relationship Id="rId3"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6.png"/><Relationship Id="rId3"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7.png"/><Relationship Id="rId3"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8.png"/><Relationship Id="rId3"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9.png"/><Relationship Id="rId3"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0.png"/><Relationship Id="rId3"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2.png"/><Relationship Id="rId3"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3.png"/><Relationship Id="rId3"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4.png"/><Relationship Id="rId3"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5.png"/><Relationship Id="rId3"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6.png"/><Relationship Id="rId3"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7.png"/><Relationship Id="rId3"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8.png"/><Relationship Id="rId3"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9.png"/><Relationship Id="rId3"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0.png"/><Relationship Id="rId3"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2.png"/><Relationship Id="rId3"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3.png"/><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4.png"/><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5.png"/><Relationship Id="rId3"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6.png"/><Relationship Id="rId3"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7.png"/><Relationship Id="rId3"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8.png"/><Relationship Id="rId3"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9.png"/><Relationship Id="rId3"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0.png"/><Relationship Id="rId3"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1.png"/><Relationship Id="rId3"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2.png"/><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3.png"/><Relationship Id="rId3"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4.png"/><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5.png"/><Relationship Id="rId3"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6.png"/><Relationship Id="rId3"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7.png"/><Relationship Id="rId3"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8.png"/><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9.png"/><Relationship Id="rId3"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0.png"/><Relationship Id="rId3"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1.png"/><Relationship Id="rId3"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2.png"/><Relationship Id="rId3"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3.png"/><Relationship Id="rId3"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4.png"/><Relationship Id="rId3"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5.png"/><Relationship Id="rId3"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6.png"/><Relationship Id="rId3"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7.png"/><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8.png"/><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9.png"/><Relationship Id="rId3"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0.png"/><Relationship Id="rId3"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png"/><Relationship Id="rId3"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2.png"/><Relationship Id="rId3"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3.png"/><Relationship Id="rId3"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4.png"/><Relationship Id="rId3"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5.png"/><Relationship Id="rId3"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6.png"/><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7.png"/><Relationship Id="rId3"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8.png"/><Relationship Id="rId3"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9.png"/><Relationship Id="rId3"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0.png"/><Relationship Id="rId3"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 Id="rId3"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2.png"/><Relationship Id="rId3"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3.png"/><Relationship Id="rId3"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4.png"/><Relationship Id="rId3"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5.png"/><Relationship Id="rId3"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6.png"/><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7.png"/><Relationship Id="rId3"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8.png"/><Relationship Id="rId3"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9.png"/><Relationship Id="rId3"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0.png"/><Relationship Id="rId3"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1.png"/><Relationship Id="rId3"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2.png"/><Relationship Id="rId3"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3.png"/><Relationship Id="rId3"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4.png"/><Relationship Id="rId3"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5.png"/><Relationship Id="rId3"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6.png"/><Relationship Id="rId3"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7.png"/><Relationship Id="rId3"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8.png"/><Relationship Id="rId3"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9.png"/><Relationship Id="rId3"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1.png"/><Relationship Id="rId3"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2.png"/><Relationship Id="rId3"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3.png"/><Relationship Id="rId3"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4.png"/><Relationship Id="rId3"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5.png"/><Relationship Id="rId3"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6.png"/><Relationship Id="rId3"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7.png"/><Relationship Id="rId3"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8.png"/><Relationship Id="rId3"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9.png"/><Relationship Id="rId3"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0.png"/><Relationship Id="rId3"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1.png"/><Relationship Id="rId3"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2.png"/><Relationship Id="rId3"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3.png"/><Relationship Id="rId3"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4.png"/><Relationship Id="rId3"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5.png"/><Relationship Id="rId3"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6.png"/><Relationship Id="rId3"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7.png"/><Relationship Id="rId3"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8.png"/><Relationship Id="rId3"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9.png"/><Relationship Id="rId3"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0.png"/><Relationship Id="rId3"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2.png"/><Relationship Id="rId3"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3.png"/><Relationship Id="rId3"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4.png"/><Relationship Id="rId3"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5.png"/><Relationship Id="rId3"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6.png"/><Relationship Id="rId3"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7.png"/><Relationship Id="rId3"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8.png"/><Relationship Id="rId3"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9.png"/><Relationship Id="rId3"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0.png"/><Relationship Id="rId3"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1.png"/><Relationship Id="rId3"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2.png"/><Relationship Id="rId3"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3.png"/><Relationship Id="rId3"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4.png"/><Relationship Id="rId3"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5.png"/><Relationship Id="rId3"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6.png"/><Relationship Id="rId3"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7.png"/><Relationship Id="rId3"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8.png"/><Relationship Id="rId3"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9.png"/><Relationship Id="rId3" Type="http://schemas.openxmlformats.org/officeDocument/2006/relationships/image" Target="../media/image1.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0.png"/><Relationship Id="rId3"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1.png"/><Relationship Id="rId3"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2.png"/><Relationship Id="rId3"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3.png"/><Relationship Id="rId3"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4.png"/><Relationship Id="rId3"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5.png"/><Relationship Id="rId3"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6.png"/><Relationship Id="rId3"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7.png"/><Relationship Id="rId3"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8.png"/><Relationship Id="rId3"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9.png"/><Relationship Id="rId3"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0.png"/><Relationship Id="rId3" Type="http://schemas.openxmlformats.org/officeDocument/2006/relationships/image" Target="../media/image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1.png"/><Relationship Id="rId3"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2.png"/><Relationship Id="rId3"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3.png"/><Relationship Id="rId3"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4.png"/><Relationship Id="rId3"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5.png"/><Relationship Id="rId3"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6.png"/><Relationship Id="rId3" Type="http://schemas.openxmlformats.org/officeDocument/2006/relationships/image" Target="../media/image1.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7.png"/><Relationship Id="rId3"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8.png"/><Relationship Id="rId3" Type="http://schemas.openxmlformats.org/officeDocument/2006/relationships/image" Target="../media/image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9.png"/><Relationship Id="rId3" Type="http://schemas.openxmlformats.org/officeDocument/2006/relationships/image" Target="../media/image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0.png"/><Relationship Id="rId3"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1.png"/><Relationship Id="rId3"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2.png"/><Relationship Id="rId3"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3.png"/><Relationship Id="rId3"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4.png"/><Relationship Id="rId3" Type="http://schemas.openxmlformats.org/officeDocument/2006/relationships/image" Target="../media/image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5.png"/><Relationship Id="rId3" Type="http://schemas.openxmlformats.org/officeDocument/2006/relationships/image" Target="../media/image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6.png"/><Relationship Id="rId3" Type="http://schemas.openxmlformats.org/officeDocument/2006/relationships/image" Target="../media/image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7.png"/><Relationship Id="rId3"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8.png"/><Relationship Id="rId3"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9.png"/><Relationship Id="rId3"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0.png"/><Relationship Id="rId3"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1.png"/><Relationship Id="rId3"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2.png"/><Relationship Id="rId3" Type="http://schemas.openxmlformats.org/officeDocument/2006/relationships/image" Target="../media/image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3.png"/><Relationship Id="rId3" Type="http://schemas.openxmlformats.org/officeDocument/2006/relationships/image" Target="../media/image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4.png"/><Relationship Id="rId3" Type="http://schemas.openxmlformats.org/officeDocument/2006/relationships/image" Target="../media/image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5.png"/><Relationship Id="rId3" Type="http://schemas.openxmlformats.org/officeDocument/2006/relationships/image" Target="../media/image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6.png"/><Relationship Id="rId3" Type="http://schemas.openxmlformats.org/officeDocument/2006/relationships/image" Target="../media/image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7.png"/><Relationship Id="rId3"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8.png"/><Relationship Id="rId3"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9.png"/><Relationship Id="rId3"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0.png"/><Relationship Id="rId3"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1.png"/><Relationship Id="rId3"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2.png"/><Relationship Id="rId3" Type="http://schemas.openxmlformats.org/officeDocument/2006/relationships/image" Target="../media/image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3.png"/><Relationship Id="rId3" Type="http://schemas.openxmlformats.org/officeDocument/2006/relationships/image" Target="../media/image1.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4.png"/><Relationship Id="rId3"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5.png"/><Relationship Id="rId3" Type="http://schemas.openxmlformats.org/officeDocument/2006/relationships/image" Target="../media/image1.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6.png"/><Relationship Id="rId3" Type="http://schemas.openxmlformats.org/officeDocument/2006/relationships/image" Target="../media/image1.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7.png"/><Relationship Id="rId3" Type="http://schemas.openxmlformats.org/officeDocument/2006/relationships/image" Target="../media/image1.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8.png"/><Relationship Id="rId3" Type="http://schemas.openxmlformats.org/officeDocument/2006/relationships/image" Target="../media/image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9.png"/><Relationship Id="rId3"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0.png"/><Relationship Id="rId3"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1.png"/><Relationship Id="rId3" Type="http://schemas.openxmlformats.org/officeDocument/2006/relationships/image" Target="../media/image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2.png"/><Relationship Id="rId3" Type="http://schemas.openxmlformats.org/officeDocument/2006/relationships/image" Target="../media/image1.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3.png"/><Relationship Id="rId3" Type="http://schemas.openxmlformats.org/officeDocument/2006/relationships/image" Target="../media/image1.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4.png"/><Relationship Id="rId3" Type="http://schemas.openxmlformats.org/officeDocument/2006/relationships/image" Target="../media/image1.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5.png"/><Relationship Id="rId3"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6.png"/><Relationship Id="rId3" Type="http://schemas.openxmlformats.org/officeDocument/2006/relationships/image" Target="../media/image1.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7.png"/><Relationship Id="rId3" Type="http://schemas.openxmlformats.org/officeDocument/2006/relationships/image" Target="../media/image1.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8.png"/><Relationship Id="rId3" Type="http://schemas.openxmlformats.org/officeDocument/2006/relationships/image" Target="../media/image1.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9.png"/><Relationship Id="rId3" Type="http://schemas.openxmlformats.org/officeDocument/2006/relationships/image" Target="../media/image1.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0.png"/><Relationship Id="rId3" Type="http://schemas.openxmlformats.org/officeDocument/2006/relationships/image" Target="../media/image1.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1.png"/><Relationship Id="rId3" Type="http://schemas.openxmlformats.org/officeDocument/2006/relationships/image" Target="../media/image1.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2.png"/><Relationship Id="rId3" Type="http://schemas.openxmlformats.org/officeDocument/2006/relationships/image" Target="../media/image1.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3.png"/><Relationship Id="rId3" Type="http://schemas.openxmlformats.org/officeDocument/2006/relationships/image" Target="../media/image1.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4.png"/><Relationship Id="rId3"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5.png"/><Relationship Id="rId3" Type="http://schemas.openxmlformats.org/officeDocument/2006/relationships/image" Target="../media/image1.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6.png"/><Relationship Id="rId3" Type="http://schemas.openxmlformats.org/officeDocument/2006/relationships/image" Target="../media/image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7.png"/><Relationship Id="rId3" Type="http://schemas.openxmlformats.org/officeDocument/2006/relationships/image" Target="../media/image1.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8.png"/><Relationship Id="rId3" Type="http://schemas.openxmlformats.org/officeDocument/2006/relationships/image" Target="../media/image1.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9.png"/><Relationship Id="rId3" Type="http://schemas.openxmlformats.org/officeDocument/2006/relationships/image" Target="../media/image1.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0.png"/><Relationship Id="rId3" Type="http://schemas.openxmlformats.org/officeDocument/2006/relationships/image" Target="../media/image1.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1.png"/><Relationship Id="rId3" Type="http://schemas.openxmlformats.org/officeDocument/2006/relationships/image" Target="../media/image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2.png"/><Relationship Id="rId3" Type="http://schemas.openxmlformats.org/officeDocument/2006/relationships/image" Target="../media/image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3.png"/><Relationship Id="rId3" Type="http://schemas.openxmlformats.org/officeDocument/2006/relationships/image" Target="../media/image1.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4.png"/><Relationship Id="rId3" Type="http://schemas.openxmlformats.org/officeDocument/2006/relationships/image" Target="../media/image1.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5.png"/><Relationship Id="rId3" Type="http://schemas.openxmlformats.org/officeDocument/2006/relationships/image" Target="../media/image1.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6.png"/><Relationship Id="rId3" Type="http://schemas.openxmlformats.org/officeDocument/2006/relationships/image" Target="../media/image1.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7.png"/><Relationship Id="rId3" Type="http://schemas.openxmlformats.org/officeDocument/2006/relationships/image" Target="../media/image1.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8.png"/><Relationship Id="rId3" Type="http://schemas.openxmlformats.org/officeDocument/2006/relationships/image" Target="../media/image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9.png"/><Relationship Id="rId3" Type="http://schemas.openxmlformats.org/officeDocument/2006/relationships/image" Target="../media/image1.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0.png"/><Relationship Id="rId3" Type="http://schemas.openxmlformats.org/officeDocument/2006/relationships/image" Target="../media/image1.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 Id="rId3" Type="http://schemas.openxmlformats.org/officeDocument/2006/relationships/image" Target="../media/image1.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2.png"/><Relationship Id="rId3" Type="http://schemas.openxmlformats.org/officeDocument/2006/relationships/image" Target="../media/image1.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3.png"/><Relationship Id="rId3" Type="http://schemas.openxmlformats.org/officeDocument/2006/relationships/image" Target="../media/image1.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4.png"/><Relationship Id="rId3" Type="http://schemas.openxmlformats.org/officeDocument/2006/relationships/image" Target="../media/image1.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5.png"/><Relationship Id="rId3" Type="http://schemas.openxmlformats.org/officeDocument/2006/relationships/image" Target="../media/image1.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6.png"/><Relationship Id="rId3" Type="http://schemas.openxmlformats.org/officeDocument/2006/relationships/image" Target="../media/image1.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7.png"/><Relationship Id="rId3" Type="http://schemas.openxmlformats.org/officeDocument/2006/relationships/image" Target="../media/image1.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8.png"/><Relationship Id="rId3" Type="http://schemas.openxmlformats.org/officeDocument/2006/relationships/image" Target="../media/image1.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9.png"/><Relationship Id="rId3" Type="http://schemas.openxmlformats.org/officeDocument/2006/relationships/image" Target="../media/image1.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0.png"/><Relationship Id="rId3" Type="http://schemas.openxmlformats.org/officeDocument/2006/relationships/image" Target="../media/image1.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1.png"/><Relationship Id="rId3" Type="http://schemas.openxmlformats.org/officeDocument/2006/relationships/image" Target="../media/image1.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2.png"/><Relationship Id="rId3" Type="http://schemas.openxmlformats.org/officeDocument/2006/relationships/image" Target="../media/image1.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3.png"/><Relationship Id="rId3" Type="http://schemas.openxmlformats.org/officeDocument/2006/relationships/image" Target="../media/image1.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4.png"/><Relationship Id="rId3" Type="http://schemas.openxmlformats.org/officeDocument/2006/relationships/image" Target="../media/image1.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5.png"/><Relationship Id="rId3" Type="http://schemas.openxmlformats.org/officeDocument/2006/relationships/image" Target="../media/image1.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6.png"/><Relationship Id="rId3" Type="http://schemas.openxmlformats.org/officeDocument/2006/relationships/image" Target="../media/image1.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7.png"/><Relationship Id="rId3" Type="http://schemas.openxmlformats.org/officeDocument/2006/relationships/image" Target="../media/image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8.png"/><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 2"/>
          <p:cNvSpPr txBox="1"/>
          <p:nvPr/>
        </p:nvSpPr>
        <p:spPr>
          <a:xfrm>
            <a:off x="1500000" y="1000000"/>
            <a:ext cx="12192000" cy="369332"/>
          </a:xfrm>
          <a:prstGeom prst="rect">
            <a:avLst/>
          </a:prstGeom>
          <a:noFill/>
        </p:spPr>
        <p:txBody>
          <a:bodyPr wrap="square" rtlCol="0"/>
          <a:lstStyle/>
          <a:p>
            <a:r>
              <a:rPr lang="en-US" sz="4000" b="1" dirty="0" smtClean="0">
                <a:solidFill>
                  <a:srgbClr val="2a6d9e"/>
                </a:solidFill>
              </a:rPr>
              <a:t>My Catalog</a:t>
            </a:r>
            <a:endParaRPr lang="en-US" sz="4000" dirty="0"/>
          </a:p>
        </p:txBody>
      </p:sp>
      <p:sp>
        <p:nvSpPr>
          <p:cNvPr id="3" name="Object 3"/>
          <p:cNvSpPr txBox="1"/>
          <p:nvPr/>
        </p:nvSpPr>
        <p:spPr>
          <a:xfrm>
            <a:off x="1500000" y="1800000"/>
            <a:ext cx="12192000" cy="369332"/>
          </a:xfrm>
          <a:prstGeom prst="rect">
            <a:avLst/>
          </a:prstGeom>
          <a:noFill/>
        </p:spPr>
        <p:txBody>
          <a:bodyPr wrap="square" rtlCol="0"/>
          <a:lstStyle/>
          <a:p>
            <a:r>
              <a:rPr lang="en-US" sz="4000" b="1" dirty="0" smtClean="0">
                <a:solidFill>
                  <a:srgbClr val="2a6d9e"/>
                </a:solidFill>
              </a:rPr>
              <a:t>Exported on October 14, 2026</a:t>
            </a:r>
            <a:endParaRPr lang="en-US" sz="4000" dirty="0"/>
          </a:p>
        </p:txBody>
      </p:sp>
      <p:sp>
        <p:nvSpPr>
          <p:cNvPr id="4" name="Object 4"/>
          <p:cNvSpPr txBox="1"/>
          <p:nvPr/>
        </p:nvSpPr>
        <p:spPr>
          <a:xfrm>
            <a:off x="1500000" y="5000000"/>
            <a:ext cx="9000000" cy="369332"/>
          </a:xfrm>
          <a:prstGeom prst="rect">
            <a:avLst/>
          </a:prstGeom>
          <a:noFill/>
        </p:spPr>
        <p:txBody>
          <a:bodyPr wrap="square" rtlCol="0"/>
          <a:lstStyle/>
          <a:p>
            <a:r>
              <a:rPr lang="en-US" sz="2000" dirty="0" smtClean="0">
                <a:solidFill>
                  <a:srgbClr val="ff0000"/>
                </a:solidFill>
              </a:rPr>
              <a:t>The list of services in this document was extracted from the IBM Cloud catalog using the public catalog API. This content attempts to be as accurate as possible. Use with care and refer to the official IBM Cloud Catalog https://cloud.ibm.com/catalog#services.</a:t>
            </a:r>
            <a:endParaRPr lang="en-US" sz="2000" dirty="0"/>
          </a:p>
        </p:txBody>
      </p:sp>
      <p:pic>
        <p:nvPicPr>
          <p:cNvPr id="5" name="Object 4"/>
          <p:cNvPicPr>
            <a:picLocks noChangeAspect="1"/>
          </p:cNvPicPr>
          <p:nvPr/>
        </p:nvPicPr>
        <p:blipFill>
          <a:blip r:embed="rId2" cstate="print"/>
          <a:stretch>
            <a:fillRect/>
          </a:stretch>
        </p:blipFill>
        <p:spPr>
          <a:xfrm>
            <a:off x="10000000" y="300000"/>
            <a:ext cx="1500000" cy="100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3K Global Customer Service and Support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An autonomous multi-agent customer support for watsonx Orchestrate that maps to your existing customer data.</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
            </a:r>
          </a:p>
          <a:p>
            <a:r>
              <a:rPr lang="en-US" sz="1800" dirty="0" smtClean="0"/>
              <a:t/>
            </a:r>
          </a:p>
          <a:p>
            <a:r>
              <a:rPr lang="en-US" sz="1800" dirty="0" smtClean="0"/>
              <a:t/>
            </a:r>
          </a:p>
          <a:p>
            <a:r>
              <a:rPr lang="en-US" sz="1800" dirty="0" smtClean="0"/>
              <a:t/>
            </a:r>
          </a:p>
          <a:p>
            <a:r>
              <a:rPr lang="en-US" sz="1800" dirty="0" smtClean="0"/>
              <a:t>* The 3KT Customer Support Agent is</a:t>
            </a:r>
          </a:p>
          <a:p>
            <a:r>
              <a:rPr lang="en-US" sz="1800" dirty="0" smtClean="0"/>
              <a:t>a native watsonx Orchestrate multi-agent system that automates</a:t>
            </a:r>
          </a:p>
          <a:p>
            <a:r>
              <a:rPr lang="en-US" sz="1800" dirty="0" smtClean="0"/>
              <a:t>end-to-end customer service workflows case context retrieval,</a:t>
            </a:r>
          </a:p>
          <a:p>
            <a:r>
              <a:rPr lang="en-US" sz="1800" dirty="0" smtClean="0"/>
              <a:t>knowledge-base search, issue resolution, satisfaction</a:t>
            </a:r>
          </a:p>
          <a:p>
            <a:r>
              <a:rPr lang="en-US" sz="1800" dirty="0" smtClean="0"/>
              <a:t>feedback, escalation to human and continuous</a:t>
            </a:r>
          </a:p>
          <a:p>
            <a:r>
              <a:rPr lang="en-US" sz="1800" dirty="0" smtClean="0"/>
              <a:t>knowledge-base learning without requiring a custom integration project for</a:t>
            </a:r>
          </a:p>
          <a:p>
            <a:r>
              <a:rPr lang="en-US" sz="1800" dirty="0" smtClean="0"/>
              <a:t>every customer.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 supervisor agent orchestrates multiple</a:t>
            </a:r>
          </a:p>
          <a:p>
            <a:r>
              <a:rPr lang="en-US" sz="1800" dirty="0" smtClean="0"/>
              <a:t>specialist agents, each with a narrow, well-defined responsibility, so requests</a:t>
            </a:r>
          </a:p>
          <a:p>
            <a:r>
              <a:rPr lang="en-US" sz="1800" dirty="0" smtClean="0"/>
              <a:t>are routed to the right specialist automatically based on customer intent and</a:t>
            </a:r>
          </a:p>
          <a:p>
            <a:r>
              <a:rPr lang="en-US" sz="1800" dirty="0" smtClean="0"/>
              <a:t>case priority.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What sets it apart is autonomous</a:t>
            </a:r>
          </a:p>
          <a:p>
            <a:r>
              <a:rPr lang="en-US" sz="1800" dirty="0" smtClean="0"/>
              <a:t>schema mapping: rather than requiring your team to hand-build connectors for</a:t>
            </a:r>
          </a:p>
          <a:p>
            <a:r>
              <a:rPr lang="en-US" sz="1800" dirty="0" smtClean="0"/>
              <a:t>each customer's database, the agent uses a domain ontology covering</a:t>
            </a:r>
          </a:p>
          <a:p>
            <a:r>
              <a:rPr lang="en-US" sz="1800" dirty="0" smtClean="0"/>
              <a:t>Retail/E-Commerce, Logistics, Financial Services, Telecommunications, etc to</a:t>
            </a:r>
          </a:p>
          <a:p>
            <a:r>
              <a:rPr lang="en-US" sz="1800" dirty="0" smtClean="0"/>
              <a:t>automatically discover, map, and validate a customer's existing</a:t>
            </a:r>
          </a:p>
          <a:p>
            <a:r>
              <a:rPr lang="en-US" sz="1800" dirty="0" smtClean="0"/>
              <a:t>case/order/customer tables into the agent's canonical schema This is what lets</a:t>
            </a:r>
          </a:p>
          <a:p>
            <a:r>
              <a:rPr lang="en-US" sz="1800" dirty="0" smtClean="0"/>
              <a:t>the same packaged agent be provisioned against a new customer's data with</a:t>
            </a:r>
          </a:p>
          <a:p>
            <a:r>
              <a:rPr lang="en-US" sz="1800" dirty="0" smtClean="0"/>
              <a:t>configuration, not custom development.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Once connected, the agent</a:t>
            </a:r>
          </a:p>
          <a:p>
            <a:r>
              <a:rPr lang="en-US" sz="1800" dirty="0" smtClean="0"/>
              <a:t>resolves common issues automatically (order status, returns, billing questions,</a:t>
            </a:r>
          </a:p>
          <a:p>
            <a:r>
              <a:rPr lang="en-US" sz="1800" dirty="0" smtClean="0"/>
              <a:t>password resets, etc as applicable), escalates to a human when automated</a:t>
            </a:r>
          </a:p>
          <a:p>
            <a:r>
              <a:rPr lang="en-US" sz="1800" dirty="0" smtClean="0"/>
              <a:t>resolution isn't appropriate, and closes the loop by collecting Customer</a:t>
            </a:r>
          </a:p>
          <a:p>
            <a:r>
              <a:rPr lang="en-US" sz="1800" dirty="0" smtClean="0"/>
              <a:t>Satisfaction Feedback and feeding resolved-case patterns</a:t>
            </a:r>
          </a:p>
          <a:p>
            <a:r>
              <a:rPr lang="en-US" sz="1800" dirty="0" smtClean="0"/>
              <a:t>back into the knowledge base so answer quality improves over</a:t>
            </a:r>
          </a:p>
          <a:p>
            <a:r>
              <a:rPr lang="en-US" sz="1800" dirty="0" smtClean="0"/>
              <a:t>time.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t>
            </a:r>
          </a:p>
          <a:p>
            <a:r>
              <a:rPr lang="en-US" sz="1800" dirty="0" smtClean="0"/>
              <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3K Technologies, LLC (dba 3K Global AI)</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https://cloud.ibm.com/catalog/services/3k-technologies-predictive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ABBYY Know Your Customer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Streamline KYC processes with Document and Process AI, delivering faster compliance, reduced manual effort and scalable efficiency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ABBYY and IBM watsonx.Orchestrate's integrated solution redefines KYC workflows by automating critical compliance tasks. Combining ABBYY's Document and Process AI with IBM watsonx.Orchestrate’s advanced task automation, the solution extracts, validates, and processes data from any document format or language with precision. It transforms unstructured data into actionable insights, orchestrates workflows across systems and teams, and ensures consistent, accurate compliance, reducing manual effort and risk. This powerful synergy creates scalable, efficient KYC operations for high-volume, compliance-critical environments.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ABBYY USA Software House,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https://cloud.ibm.com/catalog/services/abbyy-kyc-agent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AgileCDN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one-stop global CDN</a:t>
            </a:r>
          </a:p>
          <a:p>
            <a:r>
              <a:rPr lang="en-US" sz="2000" dirty="0" smtClean="0">
                <a:solidFill>
                  <a:srgbClr val="808080"/>
                </a:solidFill>
              </a:rPr>
              <a:t>acceleration platform</a:t>
            </a:r>
          </a:p>
          <a:p>
            <a:r>
              <a:rPr lang="en-US" sz="2000" dirty="0" smtClean="0">
                <a:solidFill>
                  <a:srgbClr val="808080"/>
                </a:solidFill>
              </a:rPr>
              <a:t>Global acceleration for websites and applications.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AgileCDN is a one-stop SaaS platform that focuses on global information delivery acceleration services, committed to providing customers with faster, more secure, and easier-to-use CDN solutions. Through powerful infrastructure and intelligent technology covering the world, AgileCDN helps enterprises improve information delivery efficiency, optimize User Experience, and ensure cyber security.</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AGILEWING TECHNOLOGY CO. LIMITED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https://cloud.ibm.com/catalog/services/agilecdn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AI Medical Scribe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agent generating structured clinical notes from conversations, reducing documentation time and improving accuracy and completen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AI Medical Scribe Agent is an intelligent documentation assistant that captures and transforms clinical conversations into structured, accurate, and compliant medical notes in real time.</a:t>
            </a:r>
          </a:p>
          <a:p>
            <a:r>
              <a:rPr lang="en-US" sz="1800" dirty="0" smtClean="0"/>
              <a:t>Clinicians spend a significant portion of their time on documentation, often leading to burnout, incomplete records, and reduced patient interaction. This agent addresses these challenges by automatically generating clinical notes from voice or text inputs, aligned with standardized formats such as SOAP.</a:t>
            </a:r>
          </a:p>
          <a:p>
            <a:r>
              <a:rPr lang="en-US" sz="1800" dirty="0" smtClean="0"/>
              <a:t>Integrated directly into clinical workflows, the agent structures information into history, examination findings, assessments, and plans, while preserving clinical context and relevance. It supports customization based on specialty-specific templates and organizational requirements.</a:t>
            </a:r>
          </a:p>
          <a:p>
            <a:r>
              <a:rPr lang="en-US" sz="1800" dirty="0" smtClean="0"/>
              <a:t>The agent also enhances documentation quality by ensuring completeness and consistency, which supports downstream processes such as coding, billing, and clinical decision-making.</a:t>
            </a:r>
          </a:p>
          <a:p>
            <a:r>
              <a:rPr lang="en-US" sz="1800" dirty="0" smtClean="0"/>
              <a:t>By reducing manual data entry and streamlining documentation workflows, the AI Medical Scribe Agent improves clinician efficiency, increases time available for patient care, and supports high-quality, compliant medical records.</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Viclinic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https://cloud.ibm.com/catalog/services/viclinic-inc-medical-ai-scribe-agent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AI Squared Sparx</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AI-driven “chat with your data” platform that connects to your data and delivers instant insights through natural-language search.</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AI Squared Sparx is an AI-driven “chat with your data” platform that connects to your existing systems, unifies your data, and delivers instant insights through natural-language search.</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AI Squared Global</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https://cloud.ibm.com/catalog/services/ai-squared-global-ai-squared-sparx</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AiSolved - Seekers Of Knowledge Meet AI Solutions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AiSolved: AI optimization with IBM CPLEX for business modeling, strategic growth, and efficiency.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AiSolved democratizes AI optimization for all businesses, leveraging IBM CPLEX for advanced modeling. It enables strategic partnerships, enhancing capabilities without upfront costs. With real-time updates and seamless integration, AiSolved supports revenue growth through strategic AI applications, making informed decision-making accessible. This initiative aims for a future where optimal strategies powered by AI are available to every enterprise.</a:t>
            </a:r>
          </a:p>
          <a:p>
            <a:r>
              <a:rPr lang="en-US" sz="1800" dirty="0" smtClean="0"/>
              <a:t/>
            </a:r>
          </a:p>
          <a:p>
            <a:r>
              <a:rPr lang="en-US" sz="1800" dirty="0" smtClean="0"/>
              <a:t>AiSolved &amp; IBM Cplex</a:t>
            </a:r>
          </a:p>
          <a:p>
            <a:r>
              <a:rPr lang="en-US" sz="1800" dirty="0" smtClean="0"/>
              <a:t/>
            </a:r>
          </a:p>
          <a:p>
            <a:r>
              <a:rPr lang="en-US" sz="1800" dirty="0" smtClean="0"/>
              <a:t>AiSolved is where cutting-edge optimization meets the transformative power of AI. In today's landscape where resources are finite and choices vast, optimization is about making the best possible decisions within constraints. Our groundbreaking platform taps into IBM Cplex's potential, bridging challenges to data-driven, AI-enhanced solutions. Venture into a revolution with AiSolved, transforming abstract visions into tangible, optimized realities.</a:t>
            </a:r>
          </a:p>
          <a:p>
            <a:r>
              <a:rPr lang="en-US" sz="1800" dirty="0" smtClean="0"/>
              <a:t/>
            </a:r>
          </a:p>
          <a:p>
            <a:r>
              <a:rPr lang="en-US" sz="1800" dirty="0" smtClean="0"/>
              <a:t>Pioneering AI-Infused Platform Integration</a:t>
            </a:r>
          </a:p>
          <a:p>
            <a:r>
              <a:rPr lang="en-US" sz="1800" dirty="0" smtClean="0"/>
              <a:t/>
            </a:r>
          </a:p>
          <a:p>
            <a:r>
              <a:rPr lang="en-US" sz="1800" dirty="0" smtClean="0"/>
              <a:t>Sophisticated Meets Agile: Our platform merges mathematical modeling with AI-driven agility, shering in the next-gen of efficient problem solving. Seamless Power: By empowering Cplex experts with AI capabilities, we ensure a swifter, more redictive model conceptualization, development, and deployment. Dynamic Decision-making: Harnessing both structured and unstructured data, AI's predictive analytics yields results that are dynamic and forward-thinking.</a:t>
            </a:r>
          </a:p>
          <a:p>
            <a:r>
              <a:rPr lang="en-US" sz="1800" dirty="0" smtClean="0"/>
              <a:t/>
            </a:r>
          </a:p>
          <a:p>
            <a:r>
              <a:rPr lang="en-US" sz="1800" dirty="0" smtClean="0"/>
              <a:t>Collaborative Expertise with Cplex &amp; AI Brilliance</a:t>
            </a:r>
          </a:p>
          <a:p>
            <a:r>
              <a:rPr lang="en-US" sz="1800" dirty="0" smtClean="0"/>
              <a:t/>
            </a:r>
          </a:p>
          <a:p>
            <a:r>
              <a:rPr lang="en-US" sz="1800" dirty="0" smtClean="0"/>
              <a:t>Expert Assembly: Our team consists of select Cplex experts with a knack for AI, ensuring a blend of revolutionary and practical solutions. Beyond Model Building: We elevate the experience of Cplex experts by providing a rich AI toolkit, bridging the gap between vision and reality. Unity in Diversity: Promoting collaboration, our experts pool their unique strengths, ensuring solutions are holistic, precise, and AI-optimized.</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Blue Sky Creations Pty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https://cloud.ibm.com/catalog/services/aisolved</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Alice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The 11x AI SDR that provides granular customer research and drives outreach campaigns converting prospects into high-value leads.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11x's Alice provides deep, granular customer research, drives email and LinkedIn outreach, mastering your playbook, converting prospects into high-value leads.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11x AI</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https://cloud.ibm.com/catalog/services/11x-alice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Alta data-driven AI GTM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The #1 Data-Driven AI Revenue Workforce for Sales &amp; Marketing teams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⁠Alta: Your data-driven AI Revenue Workforce</a:t>
            </a:r>
          </a:p>
          <a:p>
            <a:r>
              <a:rPr lang="en-US" sz="1800" dirty="0" smtClean="0"/>
              <a:t/>
            </a:r>
          </a:p>
          <a:p>
            <a:r>
              <a:rPr lang="en-US" sz="1800" dirty="0" smtClean="0"/>
              <a:t>Alta uses data and AI to drive revenue across your entire go-to-market team. Our AI agents—Katie (AI SDR), Alex (AI Calling Agent), and Luna (AI RevOps)—handle the heavy lifting, from prospecting to pipeline reporting.</a:t>
            </a:r>
          </a:p>
          <a:p>
            <a:r>
              <a:rPr lang="en-US" sz="1800" dirty="0" smtClean="0"/>
              <a:t/>
            </a:r>
          </a:p>
          <a:p>
            <a:r>
              <a:rPr lang="en-US" sz="1800" dirty="0" smtClean="0"/>
              <a:t>Katie finds and engages top prospects with personalized outreach.</a:t>
            </a:r>
          </a:p>
          <a:p>
            <a:r>
              <a:rPr lang="en-US" sz="1800" dirty="0" smtClean="0"/>
              <a:t/>
            </a:r>
          </a:p>
          <a:p>
            <a:r>
              <a:rPr lang="en-US" sz="1800" dirty="0" smtClean="0"/>
              <a:t>Alex handles outbound calls, inbound lead response, and follow-ups—booking meetings at scale.</a:t>
            </a:r>
          </a:p>
          <a:p>
            <a:r>
              <a:rPr lang="en-US" sz="1800" dirty="0" smtClean="0"/>
              <a:t/>
            </a:r>
          </a:p>
          <a:p>
            <a:r>
              <a:rPr lang="en-US" sz="1800" dirty="0" smtClean="0"/>
              <a:t>Luna surfaces real-time insights and alerts leadership to what matters most.</a:t>
            </a:r>
          </a:p>
          <a:p>
            <a:r>
              <a:rPr lang="en-US" sz="1800" dirty="0" smtClean="0"/>
              <a:t/>
            </a:r>
          </a:p>
          <a:p>
            <a:r>
              <a:rPr lang="en-US" sz="1800" dirty="0" smtClean="0"/>
              <a:t>Alta connects strategy with flawless execution—so you can grow faster, close more, and operate smarter.</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Alta AI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https://cloud.ibm.com/catalog/services/alta-agent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AnonTech ViziVault Platform</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Manage personal information as-a-service safely, securely, and in compliance with data privacy regulations using ViziVault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Overview</a:t>
            </a:r>
          </a:p>
          <a:p>
            <a:r>
              <a:rPr lang="en-US" sz="1800" dirty="0" smtClean="0"/>
              <a:t>The AnonTech team is revolutionizing personal information management and re-defining the data privacy space with ViziVault.</a:t>
            </a:r>
          </a:p>
          <a:p>
            <a:r>
              <a:rPr lang="en-US" sz="1800" dirty="0" smtClean="0"/>
              <a:t/>
            </a:r>
          </a:p>
          <a:p>
            <a:r>
              <a:rPr lang="en-US" sz="1800" dirty="0" smtClean="0"/>
              <a:t>Our personal information management platform, ViziVault, allows you to isolate, manage, analyze, and protect your customer's personal information. Our powerful, easy-to-use, API makes integration a breeze and handles all data encryption &amp; decryption. The ViziVault Enterprise management console allows the right people to monitor and administer personal information usage, keeping your organization safe, secure, and in compliance with data privacy regulations.</a:t>
            </a:r>
          </a:p>
          <a:p>
            <a:r>
              <a:rPr lang="en-US" sz="1800" dirty="0" smtClean="0"/>
              <a:t/>
            </a:r>
          </a:p>
          <a:p>
            <a:r>
              <a:rPr lang="en-US" sz="1800" dirty="0" smtClean="0"/>
              <a:t>Engineers use the technology as a data source-of-truth &amp; achieve full data security, administrators have complete role-based access control over who has access to what data, data privacy officers get visibility into risk levels within an organization, and management gets peace-of-mind knowing they are safe from data breaches and in full compliance with government &amp; corporate data privacy regulations.</a:t>
            </a:r>
          </a:p>
          <a:p>
            <a:r>
              <a:rPr lang="en-US" sz="1800" dirty="0" smtClean="0"/>
              <a:t/>
            </a:r>
          </a:p>
          <a:p>
            <a:r>
              <a:rPr lang="en-US" sz="1800" dirty="0" smtClean="0"/>
              <a:t>The AnonTech team has leveraged their 15+ years of legal and compliance experience to develop a new data privacy technology, called ViziVault, which bridges the gap between security and compliance. With ViziVault, data privacy is built into products by design instead of being an afterthought.</a:t>
            </a:r>
          </a:p>
          <a:p>
            <a:r>
              <a:rPr lang="en-US" sz="1800" dirty="0" smtClean="0"/>
              <a:t/>
            </a:r>
          </a:p>
          <a:p>
            <a:r>
              <a:rPr lang="en-US" sz="1800" dirty="0" smtClean="0"/>
              <a:t>Getting Support</a:t>
            </a:r>
          </a:p>
          <a:p>
            <a:r>
              <a:rPr lang="en-US" sz="1800" dirty="0" smtClean="0"/>
              <a:t>Please submit issues directly to our support form on our website: https://www.anontech.io/support 24/7/365. Please include as much detail as possible on the issue. Daytime support is available during standard business hours (M-F 9-5 US EST). Off-hour support is limited and responses may be delayed. Prior to submitting an issue, please take a moment to review our documentation here: docs.anontech.io. To submit additional information, include attachments/screenshots, or escalate an urgent issue, please e-mail us at support@anontech.io. A member of our team will respond immediately upon receipt.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Anon Technology,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https://cloud.ibm.com/catalog/services/3p-anontech-xaas-vizivault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Anycloud Backup for 365</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Microsoft 365 backup service protecting Exchange, OneDrive, SharePoint, and Teams with secure cloud-to-cloud backup and restore.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OVERVIEW</a:t>
            </a:r>
          </a:p>
          <a:p>
            <a:r>
              <a:rPr lang="en-US" sz="1800" dirty="0" smtClean="0"/>
              <a:t/>
            </a:r>
          </a:p>
          <a:p>
            <a:r>
              <a:rPr lang="en-US" sz="1800" dirty="0" smtClean="0"/>
              <a:t>Anycloud Backup for 365 is a partner-ready SaaS backup service designed to protect organizational data stored in Microsoft 365. The solution provides cloud-to-cloud backup and recovery for Exchange Online, OneDrive for Business, SharePoint Online, and Microsoft Teams. The service creates an independent copy of Microsoft 365 data by transferring backup data directly to IBM Cloud. By storing backups outside the Microsoft 365 environment, organizations maintain an additional recovery option in cases such as accidental deletion, configuration errors, ransomware incidents, or data retention changes.</a:t>
            </a:r>
          </a:p>
          <a:p>
            <a:r>
              <a:rPr lang="en-US" sz="1800" dirty="0" smtClean="0"/>
              <a:t>Anycloud Backup for 365 is designed to be delivered by IT partners, managed service providers, and distributors as a scalable data protection service for organizations using Microsoft 365.</a:t>
            </a:r>
          </a:p>
          <a:p>
            <a:r>
              <a:rPr lang="en-US" sz="1800" dirty="0" smtClean="0"/>
              <a:t>Backup storage is hosted in IBM Cloud data centers located across multiple global regions, allowing customers to select the storage location during deployment.</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MANAGEMENT AND OPERATIONS</a:t>
            </a:r>
          </a:p>
          <a:p>
            <a:r>
              <a:rPr lang="en-US" sz="1800" dirty="0" smtClean="0"/>
              <a:t>The service is managed through a web-based management portal that provides centralized control of backup and restore operations. Partners and administrators can configure backup jobs, manage tenants, monitor operations, and control restore activities through a unified interface. </a:t>
            </a:r>
          </a:p>
          <a:p>
            <a:r>
              <a:rPr lang="en-US" sz="1800" dirty="0" smtClean="0"/>
              <a:t>• Centralized management of Microsoft 365 backup jobs</a:t>
            </a:r>
          </a:p>
          <a:p>
            <a:r>
              <a:rPr lang="en-US" sz="1800" dirty="0" smtClean="0"/>
              <a:t>• Automated backup scheduling</a:t>
            </a:r>
          </a:p>
          <a:p>
            <a:r>
              <a:rPr lang="en-US" sz="1800" dirty="0" smtClean="0"/>
              <a:t>• Self-service restore functionality for email and OneDrive data</a:t>
            </a:r>
          </a:p>
          <a:p>
            <a:r>
              <a:rPr lang="en-US" sz="1800" dirty="0" smtClean="0"/>
              <a:t>• Administrator-driven restore for files, folders, mailboxes, and SharePoint sites</a:t>
            </a:r>
          </a:p>
          <a:p>
            <a:r>
              <a:rPr lang="en-US" sz="1800" dirty="0" smtClean="0"/>
              <a:t>• Multi-tenant management designed for service providers</a:t>
            </a:r>
          </a:p>
          <a:p>
            <a:r>
              <a:rPr lang="en-US" sz="1800" dirty="0" smtClean="0"/>
              <a:t/>
            </a:r>
          </a:p>
          <a:p>
            <a:r>
              <a:rPr lang="en-US" sz="1800" dirty="0" smtClean="0"/>
              <a:t>Backup operations run automatically according to the configured schedule and generate activity logs for operational visibility.</a:t>
            </a:r>
          </a:p>
          <a:p>
            <a:r>
              <a:rPr lang="en-US" sz="1800" dirty="0" smtClean="0"/>
              <a:t/>
            </a:r>
          </a:p>
          <a:p>
            <a:r>
              <a:rPr lang="en-US" sz="1800" dirty="0" smtClean="0"/>
              <a:t>KEY CAPABILITIES</a:t>
            </a:r>
          </a:p>
          <a:p>
            <a:r>
              <a:rPr lang="en-US" sz="1800" dirty="0" smtClean="0"/>
              <a:t>Anycloud Backup for 365 provides capabilities designed to support structured Microsoft 365 data protection.</a:t>
            </a:r>
          </a:p>
          <a:p>
            <a:r>
              <a:rPr lang="en-US" sz="1800" dirty="0" smtClean="0"/>
              <a:t>• Cloud-to-cloud architecture separating backup data from the Microsoft 365 tenant</a:t>
            </a:r>
          </a:p>
          <a:p>
            <a:r>
              <a:rPr lang="en-US" sz="1800" dirty="0" smtClean="0"/>
              <a:t>• Independent backup storage hosted in IBM Cloud infrastucture, with the possibility of choosing a climate-friendly site</a:t>
            </a:r>
          </a:p>
          <a:p>
            <a:r>
              <a:rPr lang="en-US" sz="1800" dirty="0" smtClean="0"/>
              <a:t>• Role-based access control for administrative access management</a:t>
            </a:r>
          </a:p>
          <a:p>
            <a:r>
              <a:rPr lang="en-US" sz="1800" dirty="0" smtClean="0"/>
              <a:t>• Multi-tenant platform supporting partner and MSP operations</a:t>
            </a:r>
          </a:p>
          <a:p>
            <a:r>
              <a:rPr lang="en-US" sz="1800" dirty="0" smtClean="0"/>
              <a:t>• Protection mechanisms preventing deletion of backup data during a defined safeguard period</a:t>
            </a:r>
          </a:p>
          <a:p>
            <a:r>
              <a:rPr lang="en-US" sz="1800" dirty="0" smtClean="0"/>
              <a:t/>
            </a:r>
          </a:p>
          <a:p>
            <a:r>
              <a:rPr lang="en-US" sz="1800" dirty="0" smtClean="0"/>
              <a:t>These capabilities enable partners to deliver Microsoft 365 backup services to their customers through a centralized platform.</a:t>
            </a:r>
          </a:p>
          <a:p>
            <a:r>
              <a:rPr lang="en-US" sz="1800" dirty="0" smtClean="0"/>
              <a:t/>
            </a:r>
          </a:p>
          <a:p>
            <a:r>
              <a:rPr lang="en-US" sz="1800" dirty="0" smtClean="0"/>
              <a:t>SECURITY AND DATA PROTECTION</a:t>
            </a:r>
          </a:p>
          <a:p>
            <a:r>
              <a:rPr lang="en-US" sz="1800" dirty="0" smtClean="0"/>
              <a:t>Backup data is encrypted using AES-256 encryption both during transmission and while stored. Customers select the storage region during the onboarding process, and backup data remains stored in the selected location. The platform includes operational features that support governance and operational transparency, including activity logging for backup and restore operations and capabilities for removing user data from retention when required by applicable regulations.</a:t>
            </a:r>
          </a:p>
          <a:p>
            <a:r>
              <a:rPr lang="en-US" sz="1800" dirty="0" smtClean="0"/>
              <a:t>IBM Cloud data centers used by the service maintain recognized industry certifications, including ISO 27001 and SOC reporting.</a:t>
            </a:r>
          </a:p>
          <a:p>
            <a:r>
              <a:rPr lang="en-US" sz="1800" dirty="0" smtClean="0"/>
              <a:t/>
            </a:r>
          </a:p>
          <a:p>
            <a:r>
              <a:rPr lang="en-US" sz="1800" dirty="0" smtClean="0"/>
              <a:t>TECHNICAL CHARACTERISTICS</a:t>
            </a:r>
          </a:p>
          <a:p>
            <a:r>
              <a:rPr lang="en-US" sz="1800" dirty="0" smtClean="0"/>
              <a:t>• SaaS-based cloud-to-cloud Microsoft 365 backup service</a:t>
            </a:r>
          </a:p>
          <a:p>
            <a:r>
              <a:rPr lang="en-US" sz="1800" dirty="0" smtClean="0"/>
              <a:t>• Protection for Exchange Online, OneDrive for Business, SharePoint, and Microsoft Teams</a:t>
            </a:r>
          </a:p>
          <a:p>
            <a:r>
              <a:rPr lang="en-US" sz="1800" dirty="0" smtClean="0"/>
              <a:t>• AES-256 encryption for data in transit and at rest</a:t>
            </a:r>
          </a:p>
          <a:p>
            <a:r>
              <a:rPr lang="en-US" sz="1800" dirty="0" smtClean="0"/>
              <a:t>• Retention configuration from 1 year to 25 years</a:t>
            </a:r>
          </a:p>
          <a:p>
            <a:r>
              <a:rPr lang="en-US" sz="1800" dirty="0" smtClean="0"/>
              <a:t>• Item-level and full restore capabilities</a:t>
            </a:r>
          </a:p>
          <a:p>
            <a:r>
              <a:rPr lang="en-US" sz="1800" dirty="0" smtClean="0"/>
              <a:t>• Hosted across IBM Cloud data centers globally</a:t>
            </a:r>
          </a:p>
          <a:p>
            <a:r>
              <a:rPr lang="en-US" sz="1800" dirty="0" smtClean="0"/>
              <a:t/>
            </a:r>
          </a:p>
          <a:p>
            <a:r>
              <a:rPr lang="en-US" sz="1800" dirty="0" smtClean="0"/>
              <a:t>EXTENDED PROTECTION FOR MICROSOFT ENVIRONMENTA</a:t>
            </a:r>
          </a:p>
          <a:p>
            <a:r>
              <a:rPr lang="en-US" sz="1800" dirty="0" smtClean="0"/>
              <a:t>Anycloud Backup for 365 protects collaboration and productivity data such as email, files, and team contect. Anycloud Backup for Entra ID protects identity configuration elements including users, groups, roles, and access policies. When deployed together, the service provide backup coverage across both the data layer and identity layer of Microsoft environments.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any.cloud A/S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https://cloud.ibm.com/catalog/services/anycloud-365-backup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Anycloud Backup for 365 and Entra ID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Backup bundle for Microsoft 365 and Entra ID protecting data and identity with cloud-to-cloud backup and recovery.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OVERVIEW: </a:t>
            </a:r>
          </a:p>
          <a:p>
            <a:r>
              <a:rPr lang="en-US" sz="1800" dirty="0" smtClean="0"/>
              <a:t>Anycloud Backup for Microsoft 365 and Entra ID is a partner-ready SaaS bundle designed to protect both organizational data and identity configurations within Microsoft cloud environments. The solution combines cloud-to-cloud backup for Microsoft 365 workloads with identity configuration backup for Microsoft Entra ID. Together, the services enable backup and recovery of collaboration data and identity objects across a unified platform. Microsoft 365 data such as emails, files, sites, and team content is backed up from Exchange Online, OneDrive for Business, SharePoint Online, and Microsoft Teams. Identity configurations within Microsoft Entra ID - including users, groups, roles, applications, and policies - can also be backup and restored. </a:t>
            </a:r>
          </a:p>
          <a:p>
            <a:r>
              <a:rPr lang="en-US" sz="1800" dirty="0" smtClean="0"/>
              <a:t>By maintaining independent backups of both data and identity configurations, organizations and partners gain additional recovery options in scenarios such as accidental deletion, configuration errors, security incidents, or administrative changes. The bundle is designed to be delivered by IT partners, managed service providers, and distributors as a scalable protection service for organizations usinf Microsoft 365 and Microsoft Entra ID. Backup data is stored in IBM Cloud data centers located across multiple global regions, allowing customers to select the storage location during deployment. </a:t>
            </a:r>
          </a:p>
          <a:p>
            <a:r>
              <a:rPr lang="en-US" sz="1800" dirty="0" smtClean="0"/>
              <a:t/>
            </a:r>
          </a:p>
          <a:p>
            <a:r>
              <a:rPr lang="en-US" sz="1800" dirty="0" smtClean="0"/>
              <a:t>MANAGEMENT &amp; OPERATIONS</a:t>
            </a:r>
          </a:p>
          <a:p>
            <a:r>
              <a:rPr lang="en-US" sz="1800" dirty="0" smtClean="0"/>
              <a:t>The platform is managed through a web-based portal that provides centralized administration of backup, monitoring, and recovery operations. Partners and administrators can manage Microsoft 365 and Entra ID protection through a unified interface designed for multi-tenant environments.</a:t>
            </a:r>
          </a:p>
          <a:p>
            <a:r>
              <a:rPr lang="en-US" sz="1800" dirty="0" smtClean="0"/>
              <a:t>Operational capabilities include: </a:t>
            </a:r>
          </a:p>
          <a:p>
            <a:r>
              <a:rPr lang="en-US" sz="1800" dirty="0" smtClean="0"/>
              <a:t>• Backup and recovery for Microsoft 365 workloads</a:t>
            </a:r>
          </a:p>
          <a:p>
            <a:r>
              <a:rPr lang="en-US" sz="1800" dirty="0" smtClean="0"/>
              <a:t>• Backup of Microsoft Entra ID identity configurations</a:t>
            </a:r>
          </a:p>
          <a:p>
            <a:r>
              <a:rPr lang="en-US" sz="1800" dirty="0" smtClean="0"/>
              <a:t>• Centralized monitoring of backup activities</a:t>
            </a:r>
          </a:p>
          <a:p>
            <a:r>
              <a:rPr lang="en-US" sz="1800" dirty="0" smtClean="0"/>
              <a:t>• Identity security score insights</a:t>
            </a:r>
          </a:p>
          <a:p>
            <a:r>
              <a:rPr lang="en-US" sz="1800" dirty="0" smtClean="0"/>
              <a:t>• Restore workflows for both data and identity objects</a:t>
            </a:r>
          </a:p>
          <a:p>
            <a:r>
              <a:rPr lang="en-US" sz="1800" dirty="0" smtClean="0"/>
              <a:t>• Multi-tenant management for partners and service providers</a:t>
            </a:r>
          </a:p>
          <a:p>
            <a:r>
              <a:rPr lang="en-US" sz="1800" dirty="0" smtClean="0"/>
              <a:t>Backup and monitoring operations run automatically and generate activity logs for operational transparency.</a:t>
            </a:r>
          </a:p>
          <a:p>
            <a:r>
              <a:rPr lang="en-US" sz="1800" dirty="0" smtClean="0"/>
              <a:t/>
            </a:r>
          </a:p>
          <a:p>
            <a:r>
              <a:rPr lang="en-US" sz="1800" dirty="0" smtClean="0"/>
              <a:t>KEY CAPABILITIES</a:t>
            </a:r>
          </a:p>
          <a:p>
            <a:r>
              <a:rPr lang="en-US" sz="1800" dirty="0" smtClean="0"/>
              <a:t>The bundle provides combined protection for collaboration data and identity infrastructure within Microsoft environments. Capabilities include:</a:t>
            </a:r>
          </a:p>
          <a:p>
            <a:r>
              <a:rPr lang="en-US" sz="1800" dirty="0" smtClean="0"/>
              <a:t>• Cloud-to-cloud backup for Microsoft 365 data</a:t>
            </a:r>
          </a:p>
          <a:p>
            <a:r>
              <a:rPr lang="en-US" sz="1800" dirty="0" smtClean="0"/>
              <a:t>• Visibility into identity security posture through security insights</a:t>
            </a:r>
          </a:p>
          <a:p>
            <a:r>
              <a:rPr lang="en-US" sz="1800" dirty="0" smtClean="0"/>
              <a:t>• Item-level restore for Microsoft 365 workloads</a:t>
            </a:r>
          </a:p>
          <a:p>
            <a:r>
              <a:rPr lang="en-US" sz="1800" dirty="0" smtClean="0"/>
              <a:t>• Multi-tenant management platform for partner environments</a:t>
            </a:r>
          </a:p>
          <a:p>
            <a:r>
              <a:rPr lang="en-US" sz="1800" dirty="0" smtClean="0"/>
              <a:t>These capabilities allow partners to deliver a combined data and identity protection service to their customers.</a:t>
            </a:r>
          </a:p>
          <a:p>
            <a:r>
              <a:rPr lang="en-US" sz="1800" dirty="0" smtClean="0"/>
              <a:t/>
            </a:r>
          </a:p>
          <a:p>
            <a:r>
              <a:rPr lang="en-US" sz="1800" dirty="0" smtClean="0"/>
              <a:t>SECURITY &amp; DATA RPOTECTION:</a:t>
            </a:r>
          </a:p>
          <a:p>
            <a:r>
              <a:rPr lang="en-US" sz="1800" dirty="0" smtClean="0"/>
              <a:t>Backup data is encrypted using AES-256 encryption both during transit and while stored. Customers select the storage region during deployment, and backup data remains stored in the chosen location. The platform records backup and recovery operations through activity logs that provide operational visibility. The service is delivered using IBM Cloud infrastructure designed to support global deployments. </a:t>
            </a:r>
          </a:p>
          <a:p>
            <a:r>
              <a:rPr lang="en-US" sz="1800" dirty="0" smtClean="0"/>
              <a:t/>
            </a:r>
          </a:p>
          <a:p>
            <a:r>
              <a:rPr lang="en-US" sz="1800" dirty="0" smtClean="0"/>
              <a:t>TECHNICAL CHARACTERISTICS:</a:t>
            </a:r>
          </a:p>
          <a:p>
            <a:r>
              <a:rPr lang="en-US" sz="1800" dirty="0" smtClean="0"/>
              <a:t>• SaaS-based backup for Microsoft 365 and Entra ID</a:t>
            </a:r>
          </a:p>
          <a:p>
            <a:r>
              <a:rPr lang="en-US" sz="1800" dirty="0" smtClean="0"/>
              <a:t>• Cloud-to-cloud backup architecture</a:t>
            </a:r>
          </a:p>
          <a:p>
            <a:r>
              <a:rPr lang="en-US" sz="1800" dirty="0" smtClean="0"/>
              <a:t>• Protection for Exchange, OneDrive, SharePoint, Teams, and Entra ID configurations</a:t>
            </a:r>
          </a:p>
          <a:p>
            <a:r>
              <a:rPr lang="en-US" sz="1800" dirty="0" smtClean="0"/>
              <a:t>• Identity security score insight visibility</a:t>
            </a:r>
          </a:p>
          <a:p>
            <a:r>
              <a:rPr lang="en-US" sz="1800" dirty="0" smtClean="0"/>
              <a:t>• AES-256 encryption for data in transit and at rest</a:t>
            </a:r>
          </a:p>
          <a:p>
            <a:r>
              <a:rPr lang="en-US" sz="1800" dirty="0" smtClean="0"/>
              <a:t>• Automaed backup scheduling and monitoring</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any.cloud A/S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https://cloud.ibm.com/catalog/services/anycloudbackup365andentra</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Anycloud Backup for Entra ID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Cloud-to-cloud backup for Microsoft Entra ID enabling recovery of users, groups, roles, and identity policies with security score.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OVERVIEW</a:t>
            </a:r>
          </a:p>
          <a:p>
            <a:r>
              <a:rPr lang="en-US" sz="1800" dirty="0" smtClean="0"/>
              <a:t>Anycloud backup for Entra ID is a partner-ready SaaS backup service designed to protect identity configurations within Microsoft Entra ID. The solution enables backup and recovery of users, groups, roles, applications, and identity policies. </a:t>
            </a:r>
          </a:p>
          <a:p>
            <a:r>
              <a:rPr lang="en-US" sz="1800" dirty="0" smtClean="0"/>
              <a:t>Identity systems play a central role in access management and security operations. Changes to identity configurations, whether caused by administrative errors, misconfigurations, or security incidents, can disrupt access to business systems and cloud services. Anycloud Backup for Entra ID create independent backups of identity configurations and eables organizations to restore critical identity objects when needed. This helps IT teams recover from unintended changes and maintain operational continuity. The service also provides visibility into identity security by presenting insights related to Microsoft Entra ID security score metrics. The solution is designed to be delivered by IT partners and managed service providers as part of a managed identity protection service for organizations using Microsoft Entra ID.</a:t>
            </a:r>
          </a:p>
          <a:p>
            <a:r>
              <a:rPr lang="en-US" sz="1800" dirty="0" smtClean="0"/>
              <a:t/>
            </a:r>
          </a:p>
          <a:p>
            <a:r>
              <a:rPr lang="en-US" sz="1800" dirty="0" smtClean="0"/>
              <a:t>MANAGEMENT AND OPERATIONS</a:t>
            </a:r>
          </a:p>
          <a:p>
            <a:r>
              <a:rPr lang="en-US" sz="1800" dirty="0" smtClean="0"/>
              <a:t>The service is managed through a web-based portal that provides centralized administration of backup and recovery operations. Administrators and partners can monitor identity configuration changes, review security insights, and perform recovery operations through a unified interface. Operational capabilities include: </a:t>
            </a:r>
          </a:p>
          <a:p>
            <a:r>
              <a:rPr lang="en-US" sz="1800" dirty="0" smtClean="0"/>
              <a:t>• Backup of Entra ID indetity objects and configuration elements</a:t>
            </a:r>
          </a:p>
          <a:p>
            <a:r>
              <a:rPr lang="en-US" sz="1800" dirty="0" smtClean="0"/>
              <a:t>• Monitoring of identity security score insights</a:t>
            </a:r>
          </a:p>
          <a:p>
            <a:r>
              <a:rPr lang="en-US" sz="1800" dirty="0" smtClean="0"/>
              <a:t>• Administrative visibility into identity configuration changes</a:t>
            </a:r>
          </a:p>
          <a:p>
            <a:r>
              <a:rPr lang="en-US" sz="1800" dirty="0" smtClean="0"/>
              <a:t>• Multi-tenant management for partners and managed service providers</a:t>
            </a:r>
          </a:p>
          <a:p>
            <a:r>
              <a:rPr lang="en-US" sz="1800" dirty="0" smtClean="0"/>
              <a:t>Backup and monitoring operations run automatically and generate activity logs that provide operational transparency. </a:t>
            </a:r>
          </a:p>
          <a:p>
            <a:r>
              <a:rPr lang="en-US" sz="1800" dirty="0" smtClean="0"/>
              <a:t/>
            </a:r>
          </a:p>
          <a:p>
            <a:r>
              <a:rPr lang="en-US" sz="1800" dirty="0" smtClean="0"/>
              <a:t>KEY CAPABILITIES</a:t>
            </a:r>
          </a:p>
          <a:p>
            <a:r>
              <a:rPr lang="en-US" sz="1800" dirty="0" smtClean="0"/>
              <a:t>Anycloud Backup for Entra ID provides capabilities designed to support identity resilience and recovery.</a:t>
            </a:r>
          </a:p>
          <a:p>
            <a:r>
              <a:rPr lang="en-US" sz="1800" dirty="0" smtClean="0"/>
              <a:t>• Backup and recovery of Microsoft Entra ID identity configurations</a:t>
            </a:r>
          </a:p>
          <a:p>
            <a:r>
              <a:rPr lang="en-US" sz="1800" dirty="0" smtClean="0"/>
              <a:t>• Protection of users, groups, roles, applications, and access policies</a:t>
            </a:r>
          </a:p>
          <a:p>
            <a:r>
              <a:rPr lang="en-US" sz="1800" dirty="0" smtClean="0"/>
              <a:t>• Identity security score insights providing visibility into identity posture</a:t>
            </a:r>
          </a:p>
          <a:p>
            <a:r>
              <a:rPr lang="en-US" sz="1800" dirty="0" smtClean="0"/>
              <a:t>• Centralized identity recovery workflows</a:t>
            </a:r>
          </a:p>
          <a:p>
            <a:r>
              <a:rPr lang="en-US" sz="1800" dirty="0" smtClean="0"/>
              <a:t>• Role-based access control for administrative operations</a:t>
            </a:r>
          </a:p>
          <a:p>
            <a:r>
              <a:rPr lang="en-US" sz="1800" dirty="0" smtClean="0"/>
              <a:t>• Multi-tenant management for partner and MSP environments</a:t>
            </a:r>
          </a:p>
          <a:p>
            <a:r>
              <a:rPr lang="en-US" sz="1800" dirty="0" smtClean="0"/>
              <a:t>These capabilities allow partners to provide identity protection services for organizations relying on Microsoft Entra ID. </a:t>
            </a:r>
          </a:p>
          <a:p>
            <a:r>
              <a:rPr lang="en-US" sz="1800" dirty="0" smtClean="0"/>
              <a:t/>
            </a:r>
          </a:p>
          <a:p>
            <a:r>
              <a:rPr lang="en-US" sz="1800" dirty="0" smtClean="0"/>
              <a:t>SECURITY AND DATA PROTECTION</a:t>
            </a:r>
          </a:p>
          <a:p>
            <a:r>
              <a:rPr lang="en-US" sz="1800" dirty="0" smtClean="0"/>
              <a:t>The platform stores backup data using encryption for both data in transit and data at rest. Activity logs record backup and recovery operations, providing operational visibility and traceability of identity configuration changes. The service is delivered using cloud infrastructure designed to support global deployments. </a:t>
            </a:r>
          </a:p>
          <a:p>
            <a:r>
              <a:rPr lang="en-US" sz="1800" dirty="0" smtClean="0"/>
              <a:t/>
            </a:r>
          </a:p>
          <a:p>
            <a:r>
              <a:rPr lang="en-US" sz="1800" dirty="0" smtClean="0"/>
              <a:t>TECHNICAL CHARACTERISTICS</a:t>
            </a:r>
          </a:p>
          <a:p>
            <a:r>
              <a:rPr lang="en-US" sz="1800" dirty="0" smtClean="0"/>
              <a:t>• Backup of Microsoft Entra ID users, groups, roles, applications, and policies</a:t>
            </a:r>
          </a:p>
          <a:p>
            <a:r>
              <a:rPr lang="en-US" sz="1800" dirty="0" smtClean="0"/>
              <a:t>• Security score insight visibility</a:t>
            </a:r>
          </a:p>
          <a:p>
            <a:r>
              <a:rPr lang="en-US" sz="1800" dirty="0" smtClean="0"/>
              <a:t>• Automated monitoring and backup operations </a:t>
            </a:r>
          </a:p>
          <a:p>
            <a:r>
              <a:rPr lang="en-US" sz="1800" dirty="0" smtClean="0"/>
              <a:t>• Multi-tenant platform designed for partner environments</a:t>
            </a:r>
          </a:p>
          <a:p>
            <a:r>
              <a:rPr lang="en-US" sz="1800" dirty="0" smtClean="0"/>
              <a:t/>
            </a:r>
          </a:p>
          <a:p>
            <a:r>
              <a:rPr lang="en-US" sz="1800" dirty="0" smtClean="0"/>
              <a:t>EXTENTED PROTECTION FOR MICROSOFT ENVIRONMENTS</a:t>
            </a:r>
          </a:p>
          <a:p>
            <a:r>
              <a:rPr lang="en-US" sz="1800" dirty="0" smtClean="0"/>
              <a:t>Anycloud Backup for 365 and Anycloud Backup for Entra ID address different layers of the Microsoft cloud environment. Anycloud Backup for 365 protects collaboration and productivity data such as email, files, and team content across Exchange Online, OneDrive, SharePoint, and Microsoft Teams. Anycloud Backup for Entra ID protects the identity configuration layer including users, groups, roles, applications, and identity policies. </a:t>
            </a:r>
          </a:p>
          <a:p>
            <a:r>
              <a:rPr lang="en-US" sz="1800" dirty="0" smtClean="0"/>
              <a:t>When deployed together, the services provide backup coverage across both the data layer and identity layer, enabling organizations and partners to manage recovery for Microsoft environments through a unified protection approach.</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any.cloud A/S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https://cloud.ibm.com/catalog/services/anycloudbackupentra</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API Connect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An enterprise-grade platform for creating, securing, managing, sharing, monetizing, and analyzing custom APIs located on-premises and on the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API Connect is a comprehensive, end-to-end API management solution for creating, securing, managing, sharing, monetizing, and analyzing APIs located on cloud and on-premises.</a:t>
            </a:r>
          </a:p>
          <a:p>
            <a:r>
              <a:rPr lang="en-US" sz="1800" dirty="0" smtClean="0"/>
              <a:t/>
            </a:r>
          </a:p>
          <a:p>
            <a:r>
              <a:rPr lang="en-US" sz="1800" dirty="0" smtClean="0"/>
              <a:t/>
            </a:r>
          </a:p>
          <a:p>
            <a:r>
              <a:rPr lang="en-US" sz="1800" dirty="0" smtClean="0"/>
              <a:t/>
            </a:r>
          </a:p>
          <a:p>
            <a:r>
              <a:rPr lang="en-US" sz="1800" dirty="0" smtClean="0"/>
              <a:t>The Reserved Instance plan provides a dedicated, multi-zone high availability deployment of API Connect v10 that leverages core IBM Cloud services for common tasks like identity management, monitoring, auditing, and logging. It includes the management, gateway, analytics, and portal server components of API Connect, as well as tools for registering and managing existing gateways located on-premises and on third-party clouds.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Integration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https://cloud.ibm.com/catalog/services/apiconnect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App Configuration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Centralized, in-flight configuration for web and mobile applications and distributed environments.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App Configuration is a centralized feature management and configuration service for use with web and mobile applications, microservices, and distributed environments.</a:t>
            </a:r>
          </a:p>
          <a:p>
            <a:r>
              <a:rPr lang="en-US" sz="1800" dirty="0" smtClean="0"/>
              <a:t>Instrument your applications with App Configuration SDKs, and use the App Configuration dashboard or administrator API to define feature flags, organize them into collections, and target them to segments (groups) of users or resources that you define. Change feature flag states in the cloud to activate or deactivate features in your application or environment, often without re-starting.</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https://cloud.ibm.com/catalog/services/apprapp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App ID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User Authentication and User Profiles for your apps.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Use App ID to add authentication to your mobile and web apps and protect your APIs and back-ends running anywhere. No code change or redeploy is required for your containerised apps.</a:t>
            </a:r>
          </a:p>
          <a:p>
            <a:r>
              <a:rPr lang="en-US" sz="1800" dirty="0" smtClean="0"/>
              <a:t/>
            </a:r>
          </a:p>
          <a:p>
            <a:r>
              <a:rPr lang="en-US" sz="1800" dirty="0" smtClean="0"/>
              <a:t>Add email/password based sign-up and sign-in, and MFA with App ID's scalable user registry - Cloud Directory, or social log-in with Google or Facebook. For employee apps, use SAML 2.0 federation to let users sign-in with their enterprise credentials. For all app users, enrich their profiles with additional info so you can build engaging experiences.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Osaka (jp-osa) Tokyo (jp-tok) Frankfurt (eu-de)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https://cloud.ibm.com/catalog/services/appid</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ASPR AI Sales Assistant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Accelerate wins and reduce churn by 10+% in less than 60 days using AI Sales Assistants that make every rep your best.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ASPR AI is a unified Sales Assistant powered by five specialized AI agents that transform sales productivity and accelerate deal outcomes. By grounding insights in CRM data, emails, transcripts, and playbooks, ASPR AI eliminates hallucinations, automates manual work, and democratizes resident knowledge across teams.</a:t>
            </a:r>
          </a:p>
          <a:p>
            <a:r>
              <a:rPr lang="en-US" sz="1800" dirty="0" smtClean="0"/>
              <a:t/>
            </a:r>
          </a:p>
          <a:p>
            <a:r>
              <a:rPr lang="en-US" sz="1800" dirty="0" smtClean="0"/>
              <a:t>Sales teams use ASPR AI to:</a:t>
            </a:r>
          </a:p>
          <a:p>
            <a:r>
              <a:rPr lang="en-US" sz="1800" dirty="0" smtClean="0"/>
              <a:t/>
            </a:r>
          </a:p>
          <a:p>
            <a:r>
              <a:rPr lang="en-US" sz="1800" dirty="0" smtClean="0"/>
              <a:t/>
            </a:r>
          </a:p>
          <a:p>
            <a:r>
              <a:rPr lang="en-US" sz="1800" dirty="0" smtClean="0"/>
              <a:t/>
            </a:r>
          </a:p>
          <a:p>
            <a:r>
              <a:rPr lang="en-US" sz="1800" dirty="0" smtClean="0"/>
              <a:t>-Save 25+ hours per week per rep.</a:t>
            </a:r>
          </a:p>
          <a:p>
            <a:r>
              <a:rPr lang="en-US" sz="1800" dirty="0" smtClean="0"/>
              <a:t>-Cut sales tool costs by 50% or more.</a:t>
            </a:r>
          </a:p>
          <a:p>
            <a:r>
              <a:rPr lang="en-US" sz="1800" dirty="0" smtClean="0"/>
              <a:t>-Accelerate wins and reduce churn by 10% in under 60 days.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ASPR AI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https://cloud.ibm.com/catalog/services/aspr-ai-inc-aspr-ai-sales-assistant-resident-knowledge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Auto Scale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Auto Scale for VPC is a fast, easy way to optimize the performance and cost of your applications.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Auto Scale for VPC is a fast, easy way to optimize the performance and cost of your applications at no additional cost other than the compute resources used.</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https://cloud.ibm.com/catalog/services/is.instance-group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Backup and Recovery</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Backup and Recovery is a managed service for File and folder backup &amp; Database servers (such as MS SQL Server) in VMware and VPC environments running on IBM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Backup and Recovery is a managed backup service for File and folder &amp; Database servers (such as MS SQL Server) in VMware and VPC environments running on IBM Cloud. This service lets you define backup schedules to routinely protect data sources using a secure, agent-based, application-consistent backup service. Backup infrastructure is managed by IBM.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 </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Osaka (jp-osa) 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https://cloud.ibm.com/catalog/services/backup-recovery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Banking Agent from Incede.ai</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Helps customers quickly find the most convenient branch, identify the right banker based on their needs and schedule appointments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An AI-powered banking agent that automates customer service through natural conversation: branch lookups, appointment scheduling, and booking management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Incede.ai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https://cloud.ibm.com/catalog/services/incede-skubanking</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Bare Metal Server for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IBM Cloud Bare Metal Servers provide performance, flexibility, on-demand provisioning, and control.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Bare Metal Server provides performance, flexibility, on-demand provisioning, and control. Choose between hourly or monthly pre-configured servers or customize with single to quad processing solutions that range from 4 to 72 cores. Bare metal servers are available worldwide and with no monthly contracts so you can build the best solution for your workloads.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https://cloud.ibm.com/catalog/infrastructure/bare-metal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Bare Metal Servers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Leverage x86 servers with physical single tenancy and high performance offering end user virtualization.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Bare metal servers for VPC are dedicated servers offering direct hardware performance and is integrated as a first-class compute offering within Virtual Private Cloud. Users can leverage existing VPC services across storage, networking, and security with bare metal for VPC and can incorporate its higher end hardware profiles with the additional benefit of end-user managed virtualization.</a:t>
            </a:r>
          </a:p>
          <a:p>
            <a:r>
              <a:rPr lang="en-US" sz="1800" dirty="0" smtClean="0"/>
              <a:t/>
            </a:r>
          </a:p>
          <a:p>
            <a:r>
              <a:rPr lang="en-US" sz="1800" dirty="0" smtClean="0"/>
              <a:t>#### Pricing</a:t>
            </a:r>
          </a:p>
          <a:p>
            <a:r>
              <a:rPr lang="en-US" sz="1800" dirty="0" smtClean="0"/>
              <a:t/>
            </a:r>
          </a:p>
          <a:p>
            <a:r>
              <a:rPr lang="en-US" sz="1800" dirty="0" smtClean="0"/>
              <a:t>##### Hourly, pay-as-you-go</a:t>
            </a:r>
          </a:p>
          <a:p>
            <a:r>
              <a:rPr lang="en-US" sz="1800" dirty="0" smtClean="0"/>
              <a:t>Pay-as-you-go bandwidth is per gigabyte. Your billing charges accrue from provision to cancellation, and are billed in arrears. This VPC product does not support suspended billing and will continue to bill regardless of the power state. Total pricing includes bare metal server instance profiles and software, internet data transfers, and optional VPC services. Each additional component is priced separately and included as part of your total IBM Cloud VPC charge. Service tiers are bound to your account, not to any specific VPC.</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https://cloud.ibm.com/catalog/services/is.bare-metal-server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Beam Agent - Invoice Reconciliation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Automates invoice status tracking by reading emails, checking payment status, and sending responses to suppliers &amp; internal teams.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Beam's Invoice Reconciliaton Agents streamlines invoice status management. Beam's agent autmatomatically</a:t>
            </a:r>
          </a:p>
          <a:p>
            <a:r>
              <a:rPr lang="en-US" sz="1800" dirty="0" smtClean="0"/>
              <a:t>1. Detects and validates email relevance to filter invoice-related commmunications</a:t>
            </a:r>
          </a:p>
          <a:p>
            <a:r>
              <a:rPr lang="en-US" sz="1800" dirty="0" smtClean="0"/>
              <a:t>2. Extracts key information from incoming emails and attachments including invoices and external data</a:t>
            </a:r>
          </a:p>
          <a:p>
            <a:r>
              <a:rPr lang="en-US" sz="1800" dirty="0" smtClean="0"/>
              <a:t>3. Integrates with internal systems to check invoice status and retrieve payment and transactions history</a:t>
            </a:r>
          </a:p>
          <a:p>
            <a:r>
              <a:rPr lang="en-US" sz="1800" dirty="0" smtClean="0"/>
              <a:t>4. Reasoning on invoice status and determining whether invoices are paid, pending, in processing, not received, or required status clarification.</a:t>
            </a:r>
          </a:p>
          <a:p>
            <a:r>
              <a:rPr lang="en-US" sz="1800" dirty="0" smtClean="0"/>
              <a:t>5. Generates automated responses and appropiate email formatting based on invoice status.</a:t>
            </a:r>
          </a:p>
          <a:p>
            <a:r>
              <a:rPr lang="en-US" sz="1800" dirty="0" smtClean="0"/>
              <a:t/>
            </a:r>
          </a:p>
          <a:p>
            <a:r>
              <a:rPr lang="en-US" sz="1800" dirty="0" smtClean="0"/>
              <a:t>Includes POC verficiation for addtional validation and quality assurance.</a:t>
            </a:r>
          </a:p>
          <a:p>
            <a:r>
              <a:rPr lang="en-US" sz="1800" dirty="0" smtClean="0"/>
              <a:t/>
            </a:r>
          </a:p>
          <a:p>
            <a:r>
              <a:rPr lang="en-US" sz="1800" dirty="0" smtClean="0"/>
              <a:t/>
            </a:r>
          </a:p>
          <a:p>
            <a:r>
              <a:rPr lang="en-US" sz="1800" dirty="0" smtClean="0"/>
              <a:t>Key benefits:</a:t>
            </a:r>
          </a:p>
          <a:p>
            <a:r>
              <a:rPr lang="en-US" sz="1800" dirty="0" smtClean="0"/>
              <a:t>1. Reduces manual invoice tracking and follow-ups up to 80%</a:t>
            </a:r>
          </a:p>
          <a:p>
            <a:r>
              <a:rPr lang="en-US" sz="1800" dirty="0" smtClean="0"/>
              <a:t>2. Maintains accuracte records through system integration with accuracy scores at 95%</a:t>
            </a:r>
          </a:p>
          <a:p>
            <a:r>
              <a:rPr lang="en-US" sz="1800" dirty="0" smtClean="0"/>
              <a:t>3. Provides consistent communciation with suppliers and internal teams</a:t>
            </a:r>
          </a:p>
          <a:p>
            <a:r>
              <a:rPr lang="en-US" sz="1800" dirty="0" smtClean="0"/>
              <a:t>4. Minimizes human error by 5 - 15%</a:t>
            </a:r>
          </a:p>
          <a:p>
            <a:r>
              <a:rPr lang="en-US" sz="1800" dirty="0" smtClean="0"/>
              <a:t>5. Scale efficiently to handle high volume invoice inquiries</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Beam AI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https://cloud.ibm.com/catalog/services/beam-invoice-rec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Bespoken Automated Testing For IVR and Chat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Bespoken is a leader in fully automated testing for IVR systems, conversational AI, and chatbots.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Bespoken is the AI-powered solution built to reduce the time, cost, and tedium of testing, monitoring, and scaling your contact center. </a:t>
            </a:r>
          </a:p>
          <a:p>
            <a:r>
              <a:rPr lang="en-US" sz="1800" dirty="0" smtClean="0"/>
              <a:t>Our platform automates testing, monitoring, and load simulation to ensure your voice and chatbot experiences are working exactly as they should — every time.</a:t>
            </a:r>
          </a:p>
          <a:p>
            <a:r>
              <a:rPr lang="en-US" sz="1800" dirty="0" smtClean="0"/>
              <a:t/>
            </a:r>
          </a:p>
          <a:p>
            <a:r>
              <a:rPr lang="en-US" sz="1800" dirty="0" smtClean="0"/>
              <a:t>Bespoken helps your contact center deliver flawless customer interactions, reduce costs, and scale with confidence.  Our suite of tools ensures better customer experiences and better business outcomes.</a:t>
            </a:r>
          </a:p>
          <a:p>
            <a:r>
              <a:rPr lang="en-US" sz="1800" dirty="0" smtClean="0"/>
              <a:t/>
            </a:r>
          </a:p>
          <a:p>
            <a:r>
              <a:rPr lang="en-US" sz="1800" dirty="0" smtClean="0"/>
              <a:t>The Bespoken platform consists of five products: Exploratory Testing, Functional Testing, Continuous Monitoring, Model/LLM Testing, and Load Testing.</a:t>
            </a:r>
          </a:p>
          <a:p>
            <a:r>
              <a:rPr lang="en-US" sz="1800" dirty="0" smtClean="0"/>
              <a:t/>
            </a:r>
          </a:p>
          <a:p>
            <a:r>
              <a:rPr lang="en-US" sz="1800" dirty="0" smtClean="0"/>
              <a:t>Exploratory Testing, Functional Testing, and Continuous Monitoring are included in all Bespoken subscriptions (Self-Serve Professional, Guided Professional, and Enterprise).  Model/LLM Testing is available with Guided Professional and higher, and Load Testing is a separate product priced on the load test parameters.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Bespoken</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https://cloud.ibm.com/catalog/services/automated-testing-and-monitoring-for-voice-and-chat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BeX Legal AI Assistant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Digital Employee for legal teams — contract drafting, review, negotiation, research, and compliance, guided by your playbook.</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BeX Legal AI Assistant is an enterprise AI Digital Employee that automates legal workflows — contract drafting, review, negotiation, research, and compliance analysis — within IBM watsonx Orchestrate. </a:t>
            </a:r>
          </a:p>
          <a:p>
            <a:r>
              <a:rPr lang="en-US" sz="1800" dirty="0" smtClean="0"/>
              <a:t>Driven by configurable legal playbooks, it produces structured, auditable outputs aligned to your organisation's own standards, with a purpose-built dynamic UI and the ability to execute tasks autonomously end-to-end.</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PPIC Technologies Pte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https://cloud.ibm.com/catalog/services/ppic-technologies-pte-ltd-legal-ai-assistant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BioLLM Culture Query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AI-powered agent for querying and analyzing biological culture data using large language model capabilities.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BioLLM Culture Query Agent is an AI-powered native agent built on IBM watsonx Orchestrate that enables researchers, lab technicians, and bioinformaticians to interact with biological culture databases using natural language queries.</a:t>
            </a:r>
          </a:p>
          <a:p>
            <a:r>
              <a:rPr lang="en-US" sz="1800" dirty="0" smtClean="0"/>
              <a:t/>
            </a:r>
          </a:p>
          <a:p>
            <a:r>
              <a:rPr lang="en-US" sz="1800" dirty="0" smtClean="0"/>
              <a:t>The agent leverages large language model (LLM) capabilities to understand complex biological queries, retrieve relevant culture data, and deliver actionable insights—eliminating the need for specialized query languages or manual database navigation.</a:t>
            </a:r>
          </a:p>
          <a:p>
            <a:r>
              <a:rPr lang="en-US" sz="1800" dirty="0" smtClean="0"/>
              <a:t/>
            </a:r>
          </a:p>
          <a:p>
            <a:r>
              <a:rPr lang="en-US" sz="1800" dirty="0" smtClean="0"/>
              <a:t>Key capabilities include natural language querying of culture collections, intelligent data retrieval and summarization, cross-referencing of culture metadata, and seamless integration with existing laboratory information management systems (LIMS). Whether you are managing microbial cultures, cell lines, or other biological specimens, BioLLM Culture Query Agent streamlines data access and accelerates research workflows.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BioLLM Co.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https://cloud.ibm.com/catalog/services/biollm-culture-query-agent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26</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Block Storage for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Persistent iSCSI based storage with high-powered performance and capacity up to 12TB.</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Get local disk performance with SAN persistence and durability. Increase storage capacity available to your IBM Cloud Virtual Servers and Bare Metal Servers with a maximum of 48k IOPs. Deploy flash-backed block storage volumes from 20GB to 12TB–and customize it all with a variety of capabilities. </a:t>
            </a:r>
          </a:p>
          <a:p>
            <a:r>
              <a:rPr lang="en-US" sz="1800" dirty="0" smtClean="0"/>
              <a:t/>
            </a:r>
          </a:p>
          <a:p>
            <a:r>
              <a:rPr lang="en-US" sz="1800" dirty="0" smtClean="0"/>
              <a:t>Choose Endurance tiers for simple, predefined, per-GB pricing—ideal for workloads without well defined performance requirements. </a:t>
            </a:r>
          </a:p>
          <a:p>
            <a:r>
              <a:rPr lang="en-US" sz="1800" dirty="0" smtClean="0"/>
              <a:t>Or, build a fine-tuned environment with allocated IOPS with Performance options—ideal for well-understood workload requirements that fall outside of the available Endurance tiers.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Madrid (eu-es)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https://cloud.ibm.com/catalog/infrastructure/block-storage-group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Block Storage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Persistent storage for use as boot and data storage for  Virtual Servers in a VPC network.</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Get local disk performance with SAN persistence and durability. Increase storage capacity available to your IBM Cloud Virtual Servers with a maximum of 48k IOPS. Deploy flash-backed block storage volumes from 20GB to 16TB–and customize it all with a variety of capabilities.</a:t>
            </a:r>
          </a:p>
          <a:p>
            <a:r>
              <a:rPr lang="en-US" sz="1800" dirty="0" smtClean="0"/>
              <a:t/>
            </a:r>
          </a:p>
          <a:p>
            <a:r>
              <a:rPr lang="en-US" sz="1800" dirty="0" smtClean="0"/>
              <a:t>Choose an IOPS tier profile for simple, predefined, per-GB pricing—ideal for workloads without well-defined performance requirements.</a:t>
            </a:r>
          </a:p>
          <a:p>
            <a:r>
              <a:rPr lang="en-US" sz="1800" dirty="0" smtClean="0"/>
              <a:t/>
            </a:r>
          </a:p>
          <a:p>
            <a:r>
              <a:rPr lang="en-US" sz="1800" dirty="0" smtClean="0"/>
              <a:t>Or, build a fine-tuned environment with allocated IOPS using a Custom IOPS profile—ideal for workloads without well-understood requirements that fall outside of the predefined IOPS tiers.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https://cloud.ibm.com/catalog/services/is.volume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Block Storage Snapshots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Back up block storage volumes to IBM Cloud Object Storage with this regional snapshot service.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With this service, you can create point-in-time copies of your block storage boot and data volumes. The snapshots are stored in Cloud Object Storage.</a:t>
            </a:r>
          </a:p>
          <a:p>
            <a:r>
              <a:rPr lang="en-US" sz="1800" dirty="0" smtClean="0"/>
              <a:t/>
            </a:r>
          </a:p>
          <a:p>
            <a:r>
              <a:rPr lang="en-US" sz="1800" dirty="0" smtClean="0"/>
              <a:t>The first snapshot is a full backup of the volume. The subsequent snapshots of the same volume are incremental; they capture only the changes that occurred since the last snapshot was taken. </a:t>
            </a:r>
          </a:p>
          <a:p>
            <a:r>
              <a:rPr lang="en-US" sz="1800" dirty="0" smtClean="0"/>
              <a:t/>
            </a:r>
          </a:p>
          <a:p>
            <a:r>
              <a:rPr lang="en-US" sz="1800" dirty="0" smtClean="0"/>
              <a:t>You can take snapshots of individual volumes and you can create a consistency group to take snapshots of multiple volumes that are attached to the same VSI simultaneously.</a:t>
            </a:r>
          </a:p>
          <a:p>
            <a:r>
              <a:rPr lang="en-US" sz="1800" dirty="0" smtClean="0"/>
              <a:t/>
            </a:r>
          </a:p>
          <a:p>
            <a:r>
              <a:rPr lang="en-US" sz="1800" dirty="0" smtClean="0"/>
              <a:t>You can use these snapshots later to create stand-alone data volumes, provision new virtual server instances, or add new data volumes to existing virtual server instance. You can use the snapshots to recover operations after a disastrous event or to expand your VPC to other regions.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https://cloud.ibm.com/catalog/services/is.snapshot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Branch FLOW</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Branch FLOW™ is an AI-powered operations agent providing real-time insights into branch demand, utilization, and wait times.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Branch FLOW™ enables institutions to transform branch operational data into actionable intelligence that improves customer experience, workforce productivity, and operational efficiency.</a:t>
            </a:r>
          </a:p>
          <a:p>
            <a:r>
              <a:rPr lang="en-US" sz="1800" dirty="0" smtClean="0"/>
              <a:t/>
            </a:r>
          </a:p>
          <a:p>
            <a:r>
              <a:rPr lang="en-US" sz="1800" dirty="0" smtClean="0"/>
              <a:t>The platform continuously analyzes branch demand, serving capacity, transaction patterns, staffing levels, and utilization metrics to identify operational stress, peak traffic periods, service bottlenecks, and emerging operational risks. By combining operational analytics with AI-driven decision support, Branch FLOW™ helps branch managers, operations teams, and business leaders make faster, more informed decisions.</a:t>
            </a:r>
          </a:p>
          <a:p>
            <a:r>
              <a:rPr lang="en-US" sz="1800" dirty="0" smtClean="0"/>
              <a:t/>
            </a:r>
          </a:p>
          <a:p>
            <a:r>
              <a:rPr lang="en-US" sz="1800" dirty="0" smtClean="0"/>
              <a:t>Through a conversational AI experience, users can explore branch performance using natural language. The platform provides visibility into operational stress, staffing effectiveness, wait-time risks, queue pressure, utilization trends, and capacity constraints, enabling proactive intervention before service levels are impacted.</a:t>
            </a:r>
          </a:p>
          <a:p>
            <a:r>
              <a:rPr lang="en-US" sz="1800" dirty="0" smtClean="0"/>
              <a:t/>
            </a:r>
          </a:p>
          <a:p>
            <a:r>
              <a:rPr lang="en-US" sz="1800" dirty="0" smtClean="0"/>
              <a:t>Powered by a proprietary six-signal scoring engine, Branch FLOW™ moves organizations beyond traditional reporting to always-on operational intelligence. Helps organizations improve service consistency, reduce customer wait times, optimize workforce allocation, enhance operational productivity, and accelerate decision-making.</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Essex Lake Group LLC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https://cloud.ibm.com/catalog/services/essex-lake-group-branch-flow</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Bright Data Web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Bright Data Web Agent is an AI-powered assistant that enables real-time web access in scale - without getting blocked.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Bright Data Web Agent is an AI-driven assistant that lets your applications (or LLM-based agents) unlock the public web. Sitting on top of Bright Data’s global network and unblocking stack. You can simply send a query, and Bright Data Agent streams back, Markdown-perfect for real-time market monitoring, competitive intelligence, or grounding AI responses-while abstracting away proxy management, concurrency, retries and compliance.</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Bright Data</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https://cloud.ibm.com/catalog/services/bright-data-bright-data-mcp-model-context-protocol-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31</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BrightAgent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BrightAgent is your agentic data companion that makes the end to end complex data analysis work easy for everyone!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BrightAgent is your agentic data companion that makes the end to end complex data analysis work easy for everyone! Powered by a team of specialized data agents that are engineered to focus on the end to end data workflow - ingestion, governance, retervial, engineering, analytics and visualization - BrightAgent orchestrates every step of the data workflow for you. A conversational natural langugage user interface empowers you to work with BrightAgent without needing any technical data skills. Every team member, regarless of technical skill level, can easily unlock rich insights from all their data assets, wherever the data lives. From 600+ connectors for data ingestion, plus ability to upload structured and unstructured dat, BrightAgent guides you through data quality checks, governance tasks, schema creation, metadata management, and full data transformations to ensure clean data pipelines are established to power all your agentic insight and analytics needs. The data workflow journey is broken and BrightAgent, your super data agent, is able to fix it end to end, transforming everyone's work to be data informed work.</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Brighthive ,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https://cloud.ibm.com/catalog/services/brighthive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32</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BUS4i System Copy - Migrate 23 for Power i</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BUS4i System Copy moves and migrates your IBM I to another. Backup and restore your data and applications in a single step</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BUS4i System Copy simplifies the process of moving and migrating your IBM I to another IBM I System, whether it's in the cloud or on-premise. Here's how it works:</a:t>
            </a:r>
          </a:p>
          <a:p>
            <a:r>
              <a:rPr lang="en-US" sz="1800" dirty="0" smtClean="0"/>
              <a:t/>
            </a:r>
          </a:p>
          <a:p>
            <a:r>
              <a:rPr lang="en-US" sz="1800" dirty="0" smtClean="0"/>
              <a:t>1. Effortless Backup and Restore:</a:t>
            </a:r>
          </a:p>
          <a:p>
            <a:r>
              <a:rPr lang="en-US" sz="1800" dirty="0" smtClean="0"/>
              <a:t>   - No tapes or additional disk space/storage are needed.</a:t>
            </a:r>
          </a:p>
          <a:p>
            <a:r>
              <a:rPr lang="en-US" sz="1800" dirty="0" smtClean="0"/>
              <a:t>   - A simple IP connection is sufficient.</a:t>
            </a:r>
          </a:p>
          <a:p>
            <a:r>
              <a:rPr lang="en-US" sz="1800" dirty="0" smtClean="0"/>
              <a:t>   - The restoration process begins simultaneously with the backup.</a:t>
            </a:r>
          </a:p>
          <a:p>
            <a:r>
              <a:rPr lang="en-US" sz="1800" dirty="0" smtClean="0"/>
              <a:t/>
            </a:r>
          </a:p>
          <a:p>
            <a:r>
              <a:rPr lang="en-US" sz="1800" dirty="0" smtClean="0"/>
              <a:t>2. Email Notifications:</a:t>
            </a:r>
          </a:p>
          <a:p>
            <a:r>
              <a:rPr lang="en-US" sz="1800" dirty="0" smtClean="0"/>
              <a:t>   - Receive an email notification as soon as your restore is  completed.</a:t>
            </a:r>
          </a:p>
          <a:p>
            <a:r>
              <a:rPr lang="en-US" sz="1800" dirty="0" smtClean="0"/>
              <a:t/>
            </a:r>
          </a:p>
          <a:p>
            <a:r>
              <a:rPr lang="en-US" sz="1800" dirty="0" smtClean="0"/>
              <a:t>3. User-Friendly Experience:</a:t>
            </a:r>
          </a:p>
          <a:p>
            <a:r>
              <a:rPr lang="en-US" sz="1800" dirty="0" smtClean="0"/>
              <a:t>   - The entire procedure is designed for user convenience.</a:t>
            </a:r>
          </a:p>
          <a:p>
            <a:r>
              <a:rPr lang="en-US" sz="1800" dirty="0" smtClean="0"/>
              <a:t>   - Enjoy testing your new system hassle-free.</a:t>
            </a:r>
          </a:p>
          <a:p>
            <a:r>
              <a:rPr lang="en-US" sz="1800" dirty="0" smtClean="0"/>
              <a:t/>
            </a:r>
          </a:p>
          <a:p>
            <a:r>
              <a:rPr lang="en-US" sz="1800" dirty="0" smtClean="0"/>
              <a:t>Experience a smooth and efficient transition with BUS4i System Copy.</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T.S.P. - Gesellschaft fuer Informationssysteme mbH</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https://cloud.ibm.com/catalog/services/tsp-bus4i-system-copy-migrate-23-for-power-i</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33</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Care Coordinator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specialized healthcare agent built for appointment recalls and reminders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Hubkom AI Care Coordinator is a HIPAA-compliant voice assistant engineered to automate and optimize patient communication, care coordination, and administrative workflows across your medical practice. Acting as an intelligent orchestration layer, it manages proactive outreach through specialized care programs, including appointment recalls and appointment reminders.</a:t>
            </a:r>
          </a:p>
          <a:p>
            <a:r>
              <a:rPr lang="en-US" sz="1800" dirty="0" smtClean="0"/>
              <a:t/>
            </a:r>
          </a:p>
          <a:p>
            <a:r>
              <a:rPr lang="en-US" sz="1800" dirty="0" smtClean="0"/>
              <a:t>Hubkom AI Care Coordinator leverages advanced conversational intelligence to streamline medical administrative tasks that traditionally place a heavy burden on front-desk staff. Through specialized care workflows, it evaluates patient records, identifies care gaps, initiates timely outreach, schedules appointments, answers common clinical and administrative questions, assesses follow-up needs, and supports multilingual patient interactions to improve access and continuity of care.</a:t>
            </a:r>
          </a:p>
          <a:p>
            <a:r>
              <a:rPr lang="en-US" sz="1800" dirty="0" smtClean="0"/>
              <a:t/>
            </a:r>
          </a:p>
          <a:p>
            <a:r>
              <a:rPr lang="en-US" sz="1800" dirty="0" smtClean="0"/>
              <a:t>Designed to coordinate multiple AI-driven patient engagement workflows, the Care Coordinator intelligently routes each conversation to the appropriate care program while maintaining a seamless and personalized patient experience. This modular architecture enables healthcare organizations to expand automation across new outreach initiatives without changing the patient experience.</a:t>
            </a:r>
          </a:p>
          <a:p>
            <a:r>
              <a:rPr lang="en-US" sz="1800" dirty="0" smtClean="0"/>
              <a:t/>
            </a:r>
          </a:p>
          <a:p>
            <a:r>
              <a:rPr lang="en-US" sz="1800" dirty="0" smtClean="0"/>
              <a:t>Built by Hubkom Solutions, a provider dedicated to empowering medical practices with physician-designed smart support and secure digital health solutions.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Hubkom Solutions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https://cloud.ibm.com/catalog/services/hubkom-solutions-appointment-recall-agent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34</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Caveonix RiskForesight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Manage cyber and compliance risk with proactive monitoring and automated defense controls to protect against threats and meet industry or government regulations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Manage cyber and compliance risk with proactive monitoring and automated defense controls to protect against threats and meet industry or government regulations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https://cloud.ibm.com/catalog/services/caveonix</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35</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Celerity CopyAssure for PowerVS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Continuous recovery and clean room testing with snapshots, clones &amp; exports—aligned with IBM Cyber Vault.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 CopyAssure – Clean, Fast, and Secure Cyber Recovery for IBM PowerVS</a:t>
            </a:r>
          </a:p>
          <a:p>
            <a:r>
              <a:rPr lang="en-US" sz="1800" dirty="0" smtClean="0"/>
              <a:t/>
            </a:r>
          </a:p>
          <a:p>
            <a:r>
              <a:rPr lang="en-US" sz="1800" dirty="0" smtClean="0"/>
              <a:t>**CopyAssure** is Celerity’s advanced cyber recovery and data resilience solution for **IBM Power Virtual Server (PowerVS)** environments, supporting **IBM i, AIX, and Linux**.  </a:t>
            </a:r>
          </a:p>
          <a:p>
            <a:r>
              <a:rPr lang="en-US" sz="1800" dirty="0" smtClean="0"/>
              <a:t>Built for mission-critical workloads, CopyAssure delivers automated, verified recovery using continuously tested backup copies. Based on IBM’s **Cyber Vault blueprint**, it combines frequent data copies, immutable storage, cleanroom validation, and end-to-end orchestration—helping organisations recover with confidence from even the most disruptive cyberattacks and more.</a:t>
            </a:r>
          </a:p>
          <a:p>
            <a:r>
              <a:rPr lang="en-US" sz="1800" dirty="0" smtClean="0"/>
              <a:t/>
            </a:r>
          </a:p>
          <a:p>
            <a:r>
              <a:rPr lang="en-US" sz="1800" dirty="0" smtClean="0"/>
              <a:t>CopyAssure can also be leveraged to spin up clean, digital twin system copies for testing, development, or even **AI training**—without risking the integrity of the core environment.</a:t>
            </a:r>
          </a:p>
          <a:p>
            <a:r>
              <a:rPr lang="en-US" sz="1800" dirty="0" smtClean="0"/>
              <a:t/>
            </a:r>
          </a:p>
          <a:p>
            <a:r>
              <a:rPr lang="en-US" sz="1800" dirty="0" smtClean="0"/>
              <a:t>Find out more: https://celerity-uk.com/data-security-and-resilience/copyassure</a:t>
            </a:r>
          </a:p>
          <a:p>
            <a:r>
              <a:rPr lang="en-US" sz="1800" dirty="0" smtClean="0"/>
              <a:t/>
            </a:r>
          </a:p>
          <a:p>
            <a:r>
              <a:rPr lang="en-US" sz="1800" dirty="0" smtClean="0"/>
              <a:t>---</a:t>
            </a:r>
          </a:p>
          <a:p>
            <a:r>
              <a:rPr lang="en-US" sz="1800" dirty="0" smtClean="0"/>
              <a:t/>
            </a:r>
          </a:p>
          <a:p>
            <a:r>
              <a:rPr lang="en-US" sz="1800" dirty="0" smtClean="0"/>
              <a:t>### Key Features</a:t>
            </a:r>
          </a:p>
          <a:p>
            <a:r>
              <a:rPr lang="en-US" sz="1800" dirty="0" smtClean="0"/>
              <a:t/>
            </a:r>
          </a:p>
          <a:p>
            <a:r>
              <a:rPr lang="en-US" sz="1800" dirty="0" smtClean="0"/>
              <a:t>---</a:t>
            </a:r>
          </a:p>
          <a:p>
            <a:r>
              <a:rPr lang="en-US" sz="1800" dirty="0" smtClean="0"/>
              <a:t/>
            </a:r>
          </a:p>
          <a:p>
            <a:r>
              <a:rPr lang="en-US" sz="1800" dirty="0" smtClean="0"/>
              <a:t>### Scheduled Snapshots, Cloning &amp; Exports with Continuous Testing</a:t>
            </a:r>
          </a:p>
          <a:p>
            <a:r>
              <a:rPr lang="en-US" sz="1800" dirty="0" smtClean="0"/>
              <a:t/>
            </a:r>
          </a:p>
          <a:p>
            <a:r>
              <a:rPr lang="en-US" sz="1800" dirty="0" smtClean="0"/>
              <a:t>CopyAssure orchestrates scheduled snapshots, volume clones, and optional image export to IBM Cloud Object Storage (COS) to provide layered, resilient recovery points with immutability. These are continuously tested to demonstrate recoverability within defined RPO and RTO thresholds.</a:t>
            </a:r>
          </a:p>
          <a:p>
            <a:r>
              <a:rPr lang="en-US" sz="1800" dirty="0" smtClean="0"/>
              <a:t/>
            </a:r>
          </a:p>
          <a:p>
            <a:r>
              <a:rPr lang="en-US" sz="1800" dirty="0" smtClean="0"/>
              <a:t>To extend assurance further, the service includes automated system validation through a proprietary virtual operator. This technology emulates real user interactions—such as 5250 terminal sessions for IBM i, and interactive workloads for AIX and Linux—to verify that systems are fully operational post-recovery.</a:t>
            </a:r>
          </a:p>
          <a:p>
            <a:r>
              <a:rPr lang="en-US" sz="1800" dirty="0" smtClean="0"/>
              <a:t/>
            </a:r>
          </a:p>
          <a:p>
            <a:r>
              <a:rPr lang="en-US" sz="1800" dirty="0" smtClean="0"/>
              <a:t>---</a:t>
            </a:r>
          </a:p>
          <a:p>
            <a:r>
              <a:rPr lang="en-US" sz="1800" dirty="0" smtClean="0"/>
              <a:t/>
            </a:r>
          </a:p>
          <a:p>
            <a:r>
              <a:rPr lang="en-US" sz="1800" dirty="0" smtClean="0"/>
              <a:t>### Proactive Air-Gapped Copies</a:t>
            </a:r>
          </a:p>
          <a:p>
            <a:r>
              <a:rPr lang="en-US" sz="1800" dirty="0" smtClean="0"/>
              <a:t/>
            </a:r>
          </a:p>
          <a:p>
            <a:r>
              <a:rPr lang="en-US" sz="1800" dirty="0" smtClean="0"/>
              <a:t>CopyAssure leverages PowerVS volume clone technology to create logically air-gapped snapshots. This approach provides an additional layer of defence against ransomware and insider threats by ensuring backup copies are inaccessible from compromised systems.</a:t>
            </a:r>
          </a:p>
          <a:p>
            <a:r>
              <a:rPr lang="en-US" sz="1800" dirty="0" smtClean="0"/>
              <a:t/>
            </a:r>
          </a:p>
          <a:p>
            <a:r>
              <a:rPr lang="en-US" sz="1800" dirty="0" smtClean="0"/>
              <a:t>---</a:t>
            </a:r>
          </a:p>
          <a:p>
            <a:r>
              <a:rPr lang="en-US" sz="1800" dirty="0" smtClean="0"/>
              <a:t/>
            </a:r>
          </a:p>
          <a:p>
            <a:r>
              <a:rPr lang="en-US" sz="1800" dirty="0" smtClean="0"/>
              <a:t>### Immutable Data Protection</a:t>
            </a:r>
          </a:p>
          <a:p>
            <a:r>
              <a:rPr lang="en-US" sz="1800" dirty="0" smtClean="0"/>
              <a:t/>
            </a:r>
          </a:p>
          <a:p>
            <a:r>
              <a:rPr lang="en-US" sz="1800" dirty="0" smtClean="0"/>
              <a:t>CopyAssure supports image export to IBM Cloud Object Storage (COS) using write-once, read-many (WORM) storage, providing immutable backup copies protected against tampering, deletion, or ransomware encryption. This capability supports long-term data integrity and aligns with regulatory and audit-readiness requirements.</a:t>
            </a:r>
          </a:p>
          <a:p>
            <a:r>
              <a:rPr lang="en-US" sz="1800" dirty="0" smtClean="0"/>
              <a:t/>
            </a:r>
          </a:p>
          <a:p>
            <a:r>
              <a:rPr lang="en-US" sz="1800" dirty="0" smtClean="0"/>
              <a:t>---</a:t>
            </a:r>
          </a:p>
          <a:p>
            <a:r>
              <a:rPr lang="en-US" sz="1800" dirty="0" smtClean="0"/>
              <a:t/>
            </a:r>
          </a:p>
          <a:p>
            <a:r>
              <a:rPr lang="en-US" sz="1800" dirty="0" smtClean="0"/>
              <a:t>### Continuous Recoverability Validation</a:t>
            </a:r>
          </a:p>
          <a:p>
            <a:r>
              <a:rPr lang="en-US" sz="1800" dirty="0" smtClean="0"/>
              <a:t/>
            </a:r>
          </a:p>
          <a:p>
            <a:r>
              <a:rPr lang="en-US" sz="1800" dirty="0" smtClean="0"/>
              <a:t>Aligned with IBM’s Cyber Vault methodology, CopyAssure provisions secure cleanroom environments to validate cloned backups prior to restoration. This process proves that a system is fully recoverable through controlled boot procedures, OS-level checks, and bespoke validation of user activity and application services.</a:t>
            </a:r>
          </a:p>
          <a:p>
            <a:r>
              <a:rPr lang="en-US" sz="1800" dirty="0" smtClean="0"/>
              <a:t/>
            </a:r>
          </a:p>
          <a:p>
            <a:r>
              <a:rPr lang="en-US" sz="1800" dirty="0" smtClean="0"/>
              <a:t>**The validation framework includes multiple stages:**</a:t>
            </a:r>
          </a:p>
          <a:p>
            <a:r>
              <a:rPr lang="en-US" sz="1800" dirty="0" smtClean="0"/>
              <a:t/>
            </a:r>
          </a:p>
          <a:p>
            <a:r>
              <a:rPr lang="en-US" sz="1800" dirty="0" smtClean="0"/>
              <a:t>- **T1 – System Validation**: Confirms successful boot and core OS integrity  </a:t>
            </a:r>
          </a:p>
          <a:p>
            <a:r>
              <a:rPr lang="en-US" sz="1800" dirty="0" smtClean="0"/>
              <a:t>- **T2 – Application Validation**: Verifies application availability and service responsiveness  </a:t>
            </a:r>
          </a:p>
          <a:p>
            <a:r>
              <a:rPr lang="en-US" sz="1800" dirty="0" smtClean="0"/>
              <a:t>- **T3 – Data Validation**: Confirms access to critical data and consistency within key datasets</a:t>
            </a:r>
          </a:p>
          <a:p>
            <a:r>
              <a:rPr lang="en-US" sz="1800" dirty="0" smtClean="0"/>
              <a:t/>
            </a:r>
          </a:p>
          <a:p>
            <a:r>
              <a:rPr lang="en-US" sz="1800" dirty="0" smtClean="0"/>
              <a:t>This multi-layered approach ensures only clean, operational recovery points are promoted for restoration.</a:t>
            </a:r>
          </a:p>
          <a:p>
            <a:r>
              <a:rPr lang="en-US" sz="1800" dirty="0" smtClean="0"/>
              <a:t/>
            </a:r>
          </a:p>
          <a:p>
            <a:r>
              <a:rPr lang="en-US" sz="1800" dirty="0" smtClean="0"/>
              <a:t>---</a:t>
            </a:r>
          </a:p>
          <a:p>
            <a:r>
              <a:rPr lang="en-US" sz="1800" dirty="0" smtClean="0"/>
              <a:t/>
            </a:r>
          </a:p>
          <a:p>
            <a:r>
              <a:rPr lang="en-US" sz="1800" dirty="0" smtClean="0"/>
              <a:t>### Fully Automated Workflow</a:t>
            </a:r>
          </a:p>
          <a:p>
            <a:r>
              <a:rPr lang="en-US" sz="1800" dirty="0" smtClean="0"/>
              <a:t/>
            </a:r>
          </a:p>
          <a:p>
            <a:r>
              <a:rPr lang="en-US" sz="1800" dirty="0" smtClean="0"/>
              <a:t>CopyAssure delivers end-to-end automation across backup validation and recovery orchestration. By removing manual steps, the service improves consistency, reduces human error, and accelerates recovery across complex environments—enabling repeatable, policy-driven execution at scale.</a:t>
            </a:r>
          </a:p>
          <a:p>
            <a:r>
              <a:rPr lang="en-US" sz="1800" dirty="0" smtClean="0"/>
              <a:t/>
            </a:r>
          </a:p>
          <a:p>
            <a:r>
              <a:rPr lang="en-US" sz="1800" dirty="0" smtClean="0"/>
              <a:t>---</a:t>
            </a:r>
          </a:p>
          <a:p>
            <a:r>
              <a:rPr lang="en-US" sz="1800" dirty="0" smtClean="0"/>
              <a:t/>
            </a:r>
          </a:p>
          <a:p>
            <a:r>
              <a:rPr lang="en-US" sz="1800" dirty="0" smtClean="0"/>
              <a:t>### NIST-Aligned Architecture</a:t>
            </a:r>
          </a:p>
          <a:p>
            <a:r>
              <a:rPr lang="en-US" sz="1800" dirty="0" smtClean="0"/>
              <a:t/>
            </a:r>
          </a:p>
          <a:p>
            <a:r>
              <a:rPr lang="en-US" sz="1800" dirty="0" smtClean="0"/>
              <a:t>CopyAssure is aligned with the NIST Cybersecurity Framework, supporting the core functions of Identify, Protect, Detect, Respond, and Recover. This alignment helps organisations strengthen their cyber resilience strategy, meet regulatory expectations, and streamline audit readiness.</a:t>
            </a:r>
          </a:p>
          <a:p>
            <a:r>
              <a:rPr lang="en-US" sz="1800" dirty="0" smtClean="0"/>
              <a:t/>
            </a:r>
          </a:p>
          <a:p>
            <a:r>
              <a:rPr lang="en-US" sz="1800" dirty="0" smtClean="0"/>
              <a:t>---</a:t>
            </a:r>
          </a:p>
          <a:p>
            <a:r>
              <a:rPr lang="en-US" sz="1800" dirty="0" smtClean="0"/>
              <a:t/>
            </a:r>
          </a:p>
          <a:p>
            <a:r>
              <a:rPr lang="en-US" sz="1800" dirty="0" smtClean="0"/>
              <a:t>### Operational Continuity</a:t>
            </a:r>
          </a:p>
          <a:p>
            <a:r>
              <a:rPr lang="en-US" sz="1800" dirty="0" smtClean="0"/>
              <a:t/>
            </a:r>
          </a:p>
          <a:p>
            <a:r>
              <a:rPr lang="en-US" sz="1800" dirty="0" smtClean="0"/>
              <a:t>CopyAssure enables secure, verified recovery without interrupting production systems. All validation and testing occur in isolated cleanroom environments, ensuring non-disruptive assurance for high-availability workloads and regulated operations. This supports continuous business operations, even during threat response or audit preparation.</a:t>
            </a:r>
          </a:p>
          <a:p>
            <a:r>
              <a:rPr lang="en-US" sz="1800" dirty="0" smtClean="0"/>
              <a:t/>
            </a:r>
          </a:p>
          <a:p>
            <a:r>
              <a:rPr lang="en-US" sz="1800" dirty="0" smtClean="0"/>
              <a:t>---</a:t>
            </a:r>
          </a:p>
          <a:p>
            <a:r>
              <a:rPr lang="en-US" sz="1800" dirty="0" smtClean="0"/>
              <a:t/>
            </a:r>
          </a:p>
          <a:p>
            <a:r>
              <a:rPr lang="en-US" sz="1800" dirty="0" smtClean="0"/>
              <a:t>### Cost Efficiency</a:t>
            </a:r>
          </a:p>
          <a:p>
            <a:r>
              <a:rPr lang="en-US" sz="1800" dirty="0" smtClean="0"/>
              <a:t/>
            </a:r>
          </a:p>
          <a:p>
            <a:r>
              <a:rPr lang="en-US" sz="1800" dirty="0" smtClean="0"/>
              <a:t>CopyAssure helps reduce both direct and hidden costs associated with cyber recovery—including unplanned downtime, manual recovery labour, extended investigation cycles, and potential ransomware-related losses. Automated processes and cleanroom validation reduce operational burden while accelerating time-to-recovery.</a:t>
            </a:r>
          </a:p>
          <a:p>
            <a:r>
              <a:rPr lang="en-US" sz="1800" dirty="0" smtClean="0"/>
              <a:t/>
            </a:r>
          </a:p>
          <a:p>
            <a:r>
              <a:rPr lang="en-US" sz="1800" dirty="0" smtClean="0"/>
              <a:t>---</a:t>
            </a:r>
          </a:p>
          <a:p>
            <a:r>
              <a:rPr lang="en-US" sz="1800" dirty="0" smtClean="0"/>
              <a:t/>
            </a:r>
          </a:p>
          <a:p>
            <a:r>
              <a:rPr lang="en-US" sz="1800" dirty="0" smtClean="0"/>
              <a:t>### Peace of Mind</a:t>
            </a:r>
          </a:p>
          <a:p>
            <a:r>
              <a:rPr lang="en-US" sz="1800" dirty="0" smtClean="0"/>
              <a:t/>
            </a:r>
          </a:p>
          <a:p>
            <a:r>
              <a:rPr lang="en-US" sz="1800" dirty="0" smtClean="0"/>
              <a:t>With immutable storage, automated cleanroom validation, and proven recovery workflows, CopyAssure gives organisations confidence that every restore point is secure, tested, and reliable. This assurance supports both operational resilience and regulatory compliance.</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Celerity</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https://cloud.ibm.com/catalog/services/celerity-copy-assure-for-powervs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36</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Celerity Professional Services for PowerVS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Expert services for IBM i, AIX &amp; Linux on PowerVS including Migrations, Cyber Resilience, Backups &amp; DR + Performance Optimisation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 Expert Power Systems Services for PowerVS and Hybrid Cloud</a:t>
            </a:r>
          </a:p>
          <a:p>
            <a:r>
              <a:rPr lang="en-US" sz="1800" dirty="0" smtClean="0"/>
              <a:t/>
            </a:r>
          </a:p>
          <a:p>
            <a:r>
              <a:rPr lang="en-US" sz="1800" dirty="0" smtClean="0"/>
              <a:t>### Ensure Resilience, Security, and Performance</a:t>
            </a:r>
          </a:p>
          <a:p>
            <a:r>
              <a:rPr lang="en-US" sz="1800" dirty="0" smtClean="0"/>
              <a:t/>
            </a:r>
          </a:p>
          <a:p>
            <a:r>
              <a:rPr lang="en-US" sz="1800" dirty="0" smtClean="0"/>
              <a:t>Expert services for IBM i, AIX, and Linux on Power to ensure critical workloads in PowerVS and hybrid cloud remain resilient, secure, and performant.</a:t>
            </a:r>
          </a:p>
          <a:p>
            <a:r>
              <a:rPr lang="en-US" sz="1800" dirty="0" smtClean="0"/>
              <a:t/>
            </a:r>
          </a:p>
          <a:p>
            <a:r>
              <a:rPr lang="en-US" sz="1800" dirty="0" smtClean="0"/>
              <a:t>---</a:t>
            </a:r>
          </a:p>
          <a:p>
            <a:r>
              <a:rPr lang="en-US" sz="1800" dirty="0" smtClean="0"/>
              <a:t/>
            </a:r>
          </a:p>
          <a:p>
            <a:r>
              <a:rPr lang="en-US" sz="1800" dirty="0" smtClean="0"/>
              <a:t>### Migration to PowerVS</a:t>
            </a:r>
          </a:p>
          <a:p>
            <a:r>
              <a:rPr lang="en-US" sz="1800" dirty="0" smtClean="0"/>
              <a:t/>
            </a:r>
          </a:p>
          <a:p>
            <a:r>
              <a:rPr lang="en-US" sz="1800" dirty="0" smtClean="0"/>
              <a:t>- Full end-to-end workload migrations for IBM i, AIX, and Linux on Power—with minimal downtime.</a:t>
            </a:r>
          </a:p>
          <a:p>
            <a:r>
              <a:rPr lang="en-US" sz="1800" dirty="0" smtClean="0"/>
              <a:t>- Industry-leading replication tools ensure data integrity and seamless cutover without disrupting operations.</a:t>
            </a:r>
          </a:p>
          <a:p>
            <a:r>
              <a:rPr lang="en-US" sz="1800" dirty="0" smtClean="0"/>
              <a:t>- Support for deploying cloud-native applications and AI to IBM i and AIX VMs in PowerVS.</a:t>
            </a:r>
          </a:p>
          <a:p>
            <a:r>
              <a:rPr lang="en-US" sz="1800" dirty="0" smtClean="0"/>
              <a:t>- Modernise data management by moving away from traditional tape and multiple VTL instances.</a:t>
            </a:r>
          </a:p>
          <a:p>
            <a:r>
              <a:rPr lang="en-US" sz="1800" dirty="0" smtClean="0"/>
              <a:t/>
            </a:r>
          </a:p>
          <a:p>
            <a:r>
              <a:rPr lang="en-US" sz="1800" dirty="0" smtClean="0"/>
              <a:t>---</a:t>
            </a:r>
          </a:p>
          <a:p>
            <a:r>
              <a:rPr lang="en-US" sz="1800" dirty="0" smtClean="0"/>
              <a:t/>
            </a:r>
          </a:p>
          <a:p>
            <a:r>
              <a:rPr lang="en-US" sz="1800" dirty="0" smtClean="0"/>
              <a:t>### Disaster Recovery (DR) in the Cloud</a:t>
            </a:r>
          </a:p>
          <a:p>
            <a:r>
              <a:rPr lang="en-US" sz="1800" dirty="0" smtClean="0"/>
              <a:t/>
            </a:r>
          </a:p>
          <a:p>
            <a:r>
              <a:rPr lang="en-US" sz="1800" dirty="0" smtClean="0"/>
              <a:t>- Proven DR strategies for IBM i, AIX, and Linux on Power, tailored to environments of any size.</a:t>
            </a:r>
          </a:p>
          <a:p>
            <a:r>
              <a:rPr lang="en-US" sz="1800" dirty="0" smtClean="0"/>
              <a:t>- DR designs that dynamically scale to match production capacity.</a:t>
            </a:r>
          </a:p>
          <a:p>
            <a:r>
              <a:rPr lang="en-US" sz="1800" dirty="0" smtClean="0"/>
              <a:t>- Testing and validation to ensure DR readiness and reliability.</a:t>
            </a:r>
          </a:p>
          <a:p>
            <a:r>
              <a:rPr lang="en-US" sz="1800" dirty="0" smtClean="0"/>
              <a:t/>
            </a:r>
          </a:p>
          <a:p>
            <a:r>
              <a:rPr lang="en-US" sz="1800" dirty="0" smtClean="0"/>
              <a:t>---</a:t>
            </a:r>
          </a:p>
          <a:p>
            <a:r>
              <a:rPr lang="en-US" sz="1800" dirty="0" smtClean="0"/>
              <a:t/>
            </a:r>
          </a:p>
          <a:p>
            <a:r>
              <a:rPr lang="en-US" sz="1800" dirty="0" smtClean="0"/>
              <a:t>### System Design and Sizing in PowerVS</a:t>
            </a:r>
          </a:p>
          <a:p>
            <a:r>
              <a:rPr lang="en-US" sz="1800" dirty="0" smtClean="0"/>
              <a:t/>
            </a:r>
          </a:p>
          <a:p>
            <a:r>
              <a:rPr lang="en-US" sz="1800" dirty="0" smtClean="0"/>
              <a:t>- Expert resource planning for compute, storage, and network requirements.</a:t>
            </a:r>
          </a:p>
          <a:p>
            <a:r>
              <a:rPr lang="en-US" sz="1800" dirty="0" smtClean="0"/>
              <a:t>- Design includes secure routing, workload optimization, and hybrid or multi-cloud integration.</a:t>
            </a:r>
          </a:p>
          <a:p>
            <a:r>
              <a:rPr lang="en-US" sz="1800" dirty="0" smtClean="0"/>
              <a:t/>
            </a:r>
          </a:p>
          <a:p>
            <a:r>
              <a:rPr lang="en-US" sz="1800" dirty="0" smtClean="0"/>
              <a:t>---</a:t>
            </a:r>
          </a:p>
          <a:p>
            <a:r>
              <a:rPr lang="en-US" sz="1800" dirty="0" smtClean="0"/>
              <a:t/>
            </a:r>
          </a:p>
          <a:p>
            <a:r>
              <a:rPr lang="en-US" sz="1800" dirty="0" smtClean="0"/>
              <a:t>### Data Resilience in the Cloud</a:t>
            </a:r>
          </a:p>
          <a:p>
            <a:r>
              <a:rPr lang="en-US" sz="1800" dirty="0" smtClean="0"/>
              <a:t/>
            </a:r>
          </a:p>
          <a:p>
            <a:r>
              <a:rPr lang="en-US" sz="1800" dirty="0" smtClean="0"/>
              <a:t>- Cloud-based VTL solutions and native storage backups.</a:t>
            </a:r>
          </a:p>
          <a:p>
            <a:r>
              <a:rPr lang="en-US" sz="1800" dirty="0" smtClean="0"/>
              <a:t>- Use of software replication and snapshot technology for layered protection.</a:t>
            </a:r>
          </a:p>
          <a:p>
            <a:r>
              <a:rPr lang="en-US" sz="1800" dirty="0" smtClean="0"/>
              <a:t>- Cross-cloud and hybrid replication options for added resilience.</a:t>
            </a:r>
          </a:p>
          <a:p>
            <a:r>
              <a:rPr lang="en-US" sz="1800" dirty="0" smtClean="0"/>
              <a:t/>
            </a:r>
          </a:p>
          <a:p>
            <a:r>
              <a:rPr lang="en-US" sz="1800" dirty="0" smtClean="0"/>
              <a:t>---</a:t>
            </a:r>
          </a:p>
          <a:p>
            <a:r>
              <a:rPr lang="en-US" sz="1800" dirty="0" smtClean="0"/>
              <a:t/>
            </a:r>
          </a:p>
          <a:p>
            <a:r>
              <a:rPr lang="en-US" sz="1800" dirty="0" smtClean="0"/>
              <a:t>### Ongoing Support and Monitoring</a:t>
            </a:r>
          </a:p>
          <a:p>
            <a:r>
              <a:rPr lang="en-US" sz="1800" dirty="0" smtClean="0"/>
              <a:t/>
            </a:r>
          </a:p>
          <a:p>
            <a:r>
              <a:rPr lang="en-US" sz="1800" dirty="0" smtClean="0"/>
              <a:t>- Proactive monitoring and support for IBM i, AIX, and Linux workloads in PowerVS.</a:t>
            </a:r>
          </a:p>
          <a:p>
            <a:r>
              <a:rPr lang="en-US" sz="1800" dirty="0" smtClean="0"/>
              <a:t>- Ensure continuous system health, performance, and compliance.</a:t>
            </a:r>
          </a:p>
          <a:p>
            <a:r>
              <a:rPr lang="en-US" sz="1800" dirty="0" smtClean="0"/>
              <a:t/>
            </a:r>
          </a:p>
          <a:p>
            <a:r>
              <a:rPr lang="en-US" sz="1800" dirty="0" smtClean="0"/>
              <a:t>---</a:t>
            </a:r>
          </a:p>
          <a:p>
            <a:r>
              <a:rPr lang="en-US" sz="1800" dirty="0" smtClean="0"/>
              <a:t/>
            </a:r>
          </a:p>
          <a:p>
            <a:r>
              <a:rPr lang="en-US" sz="1800" dirty="0" smtClean="0"/>
              <a:t>### Security for IBM Power Workloads in PowerVS</a:t>
            </a:r>
          </a:p>
          <a:p>
            <a:r>
              <a:rPr lang="en-US" sz="1800" dirty="0" smtClean="0"/>
              <a:t/>
            </a:r>
          </a:p>
          <a:p>
            <a:r>
              <a:rPr lang="en-US" sz="1800" dirty="0" smtClean="0"/>
              <a:t>- TLS and certificate management across platforms.</a:t>
            </a:r>
          </a:p>
          <a:p>
            <a:r>
              <a:rPr lang="en-US" sz="1800" dirty="0" smtClean="0"/>
              <a:t>- IBM i exit point controls and hardened remote access.</a:t>
            </a:r>
          </a:p>
          <a:p>
            <a:r>
              <a:rPr lang="en-US" sz="1800" dirty="0" smtClean="0"/>
              <a:t>- OS-level lockdowns and configuration reviews for AIX and Linux.</a:t>
            </a:r>
          </a:p>
          <a:p>
            <a:r>
              <a:rPr lang="en-US" sz="1800" dirty="0" smtClean="0"/>
              <a:t>- Continuous compliance assessments.</a:t>
            </a:r>
          </a:p>
          <a:p>
            <a:r>
              <a:rPr lang="en-US" sz="1800" dirty="0" smtClean="0"/>
              <a:t/>
            </a:r>
          </a:p>
          <a:p>
            <a:r>
              <a:rPr lang="en-US" sz="1800" dirty="0" smtClean="0"/>
              <a:t>---</a:t>
            </a:r>
          </a:p>
          <a:p>
            <a:r>
              <a:rPr lang="en-US" sz="1800" dirty="0" smtClean="0"/>
              <a:t/>
            </a:r>
          </a:p>
          <a:p>
            <a:r>
              <a:rPr lang="en-US" sz="1800" dirty="0" smtClean="0"/>
              <a:t>### SIEM Integration</a:t>
            </a:r>
          </a:p>
          <a:p>
            <a:r>
              <a:rPr lang="en-US" sz="1800" dirty="0" smtClean="0"/>
              <a:t/>
            </a:r>
          </a:p>
          <a:p>
            <a:r>
              <a:rPr lang="en-US" sz="1800" dirty="0" smtClean="0"/>
              <a:t>- Centralised log and event forwarding to your SIEM platform.</a:t>
            </a:r>
          </a:p>
          <a:p>
            <a:r>
              <a:rPr lang="en-US" sz="1800" dirty="0" smtClean="0"/>
              <a:t>- Support for IBM i logs, AIX syslogs, and Linux event streams.</a:t>
            </a:r>
          </a:p>
          <a:p>
            <a:r>
              <a:rPr lang="en-US" sz="1800" dirty="0" smtClean="0"/>
              <a:t>- Integration with cloud or on-prem SIEM, configured and tuned by our SOC experts.</a:t>
            </a:r>
          </a:p>
          <a:p>
            <a:r>
              <a:rPr lang="en-US" sz="1800" dirty="0" smtClean="0"/>
              <a:t/>
            </a:r>
          </a:p>
          <a:p>
            <a:r>
              <a:rPr lang="en-US" sz="1800" dirty="0" smtClean="0"/>
              <a:t>---</a:t>
            </a:r>
          </a:p>
          <a:p>
            <a:r>
              <a:rPr lang="en-US" sz="1800" dirty="0" smtClean="0"/>
              <a:t/>
            </a:r>
          </a:p>
          <a:p>
            <a:r>
              <a:rPr lang="en-US" sz="1800" dirty="0" smtClean="0"/>
              <a:t>### Scoping Our Professional Services</a:t>
            </a:r>
          </a:p>
          <a:p>
            <a:r>
              <a:rPr lang="en-US" sz="1800" dirty="0" smtClean="0"/>
              <a:t/>
            </a:r>
          </a:p>
          <a:p>
            <a:r>
              <a:rPr lang="en-US" sz="1800" dirty="0" smtClean="0"/>
              <a:t>- Engagements begin with a structured discovery phase to define scope and objectives.</a:t>
            </a:r>
          </a:p>
          <a:p>
            <a:r>
              <a:rPr lang="en-US" sz="1800" dirty="0" smtClean="0"/>
              <a:t>- All services are delivered remotely via secure connections.</a:t>
            </a:r>
          </a:p>
          <a:p>
            <a:r>
              <a:rPr lang="en-US" sz="1800" dirty="0" smtClean="0"/>
              <a:t>- Regular communication and reporting ensure project visibility and success.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Celerity</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https://cloud.ibm.com/catalog/services/celerity-professional-services-for-powervs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37</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Check-a-roo</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Cryptocurrency risk analysis and compliance tool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We provide risk analysis for cryptocurrency addresses so you can be proactive about choosing which entities you transact with.  Quickly get a grade from A to F on a cryptocurrency address of interest and make your business decisions quickly.</a:t>
            </a:r>
          </a:p>
          <a:p>
            <a:r>
              <a:rPr lang="en-US" sz="1800" dirty="0" smtClean="0"/>
              <a:t/>
            </a:r>
          </a:p>
          <a:p>
            <a:r>
              <a:rPr lang="en-US" sz="1800" dirty="0" smtClean="0"/>
              <a:t>We are behavior-based not KYC-based, as our AI algorithms combine on-chain and off-chain intelligence with blockchain analysis. </a:t>
            </a:r>
          </a:p>
          <a:p>
            <a:r>
              <a:rPr lang="en-US" sz="1800" dirty="0" smtClean="0"/>
              <a:t/>
            </a:r>
          </a:p>
          <a:p>
            <a:r>
              <a:rPr lang="en-US" sz="1800" dirty="0" smtClean="0"/>
              <a:t>This product is the API version of our visual Ledger Navigator product (https://www.blockpliance.com/services/tokenomics).</a:t>
            </a:r>
          </a:p>
          <a:p>
            <a:r>
              <a:rPr lang="en-US" sz="1800" dirty="0" smtClean="0"/>
              <a:t/>
            </a:r>
          </a:p>
          <a:p>
            <a:r>
              <a:rPr lang="en-US" sz="1800" dirty="0" smtClean="0"/>
              <a:t>Our algorithm analyzes for 30 categories of risk including money laundering, human trafficking, CSAM, terrorist financing, ransomware, scams and other criminal activity.</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Blockpliance,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Analytics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https://cloud.ibm.com/catalog/services/blockpliance-check-a-roo</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38</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Citrix NetScaler VPX</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Application delivery controller from vendor Citrix with complete administrative control.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Citrix NetScaler VPX is an industry-leading application delivery controller that enables seamless delivery of business applications - to any device and location – with superior layer 4-7 load balancing, advanced application optimization and unmatched security. It can be used for local load balancing of traffic among servers within a single data center and also global load balancing of traffic among servers spread across multiple data centers.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https://cloud.ibm.com/catalog/infrastructure/CITRIX_NETSCALER_VPX</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39</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CityStream Compliance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Automated AI Work zone compliance monitoring tool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Nexar's Work Zone Compliance Solution eliminates the need for cities to send inspectors into the field to verify whether construction activity is properly permitted. By leveraging a nationwide network of dashcam-equipped vehicles that continuously capture street-level imagery, the platform uses AI vision models to automatically detect construction equipment and cross-reference those detections against official permit databases in real time. Cities can monitor every active work zone across their jurisdiction simultaneously, flag unpermitted activity as it appears, and issue enforcement actions directly from a single console.</a:t>
            </a:r>
          </a:p>
          <a:p>
            <a:r>
              <a:rPr lang="en-US" sz="1800" dirty="0" smtClean="0"/>
              <a:t/>
            </a:r>
          </a:p>
          <a:p>
            <a:r>
              <a:rPr lang="en-US" sz="1800" dirty="0" smtClean="0"/>
              <a:t>For municipal agencies managing thousands of permits with limited staff, this means dramatically faster violation detection, higher compliance rates, and increased revenue recovery from civil penalties — all without adding headcount. The platform integrates with IBM watsonx Orchestrate to let operators query compliance data conversationally, generate maps of active violations, and drill into specific locations with full photographic evidence and permit context. It turns work zone enforcement from a reactive, labor-intensive process into a continuous, automated intelligence layer over the city's streets.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Nexar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https://cloud.ibm.com/catalog/services/nexar-workzone-permits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40</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Claira</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Hire agents, power people. Competency AI advisor that maps your workforce, then assigns agents to roles, tasks and people.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Claira is your talent expert, helping you hire AI, hire humans and build a collaborative workforce. Using competencies, Claira creates profiles for agents and people and matches them to roles, projects or tasks - streamlining operations, cutting costs and driving productivity.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CLAIRA TECHNOLOGIES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https://cloud.ibm.com/catalog/services/claira-technologies-inc-claira</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41</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Client VPN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Securely connect to your IBM Cloud resources from anywhere through a client-to-site VPN server.</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Client VPN for VPC provides an open-source compatible client-to-site VPN solution that allows users to connect to IBM Cloud resources through secure, encrypted connections.  When your users are working remotely, traveling or at a location without a site-to-site VPN connection, they can use an OpenVPN client to connect to VPN servers on your IBM Cloud VPC.</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https://cloud.ibm.com/catalog/services/is.vpn-server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42</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Backup for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fast and flexible backup solution that is managed by IBM Cloud and provides capacity options to scale perfectly with your needs.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An automated agent-based multi-tenant backup system, that provides users with a method to back up data between servers in one or more data centers on the IBM Cloud. IBM Cloud Backup is an enterprise-level backup storage and disaster recovery solution that is available for local access across globally dispersed data centers. With IBM Cloud Backup, you can add cloud-based backup to any physical, virtual, or hybrid server environment, leverage system image and granular recovery options and restore capabilities for dissimilar hardware, and schedule backups and retention schemes to follow custom timetables or employ the daily, or weekly preconfigured schedules as needed. Backups can target full systems, specific directories, or even individual files, and will incorporate block-level change processing, data deduplication, and intelligent on-the-fly compression, and employ point and click downed-system restoration, from central management and administration via a very intuitive web-based utility from anywhere in the world. With end-to-end encryption that is enforced for IBM Cloud Backup, your data is always secure – from source to vault, and can scale as needed, to satisfy all of your backup workload requirements.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Madrid (eu-es)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https://cloud.ibm.com/catalog/infrastructure/cloud-backup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43</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Backup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Provides the ability to schedule VPC block storage snapshot backups and manage retention through backup policies.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Backup for VPC is an enterprise-level backup solution that automates creation and retention of your VPC block storage volumes. This service lets you set a scheduled backup of your block storage volumes and snapshots created from those volumes.</a:t>
            </a:r>
          </a:p>
          <a:p>
            <a:r>
              <a:rPr lang="en-US" sz="1800" dirty="0" smtClean="0"/>
              <a:t/>
            </a:r>
          </a:p>
          <a:p>
            <a:r>
              <a:rPr lang="en-US" sz="1800" dirty="0" smtClean="0"/>
              <a:t>When a backup is triggered, it creates a new snapshot of the volume contents. A snapshot is a point-in-time copy of your block storage volume. The entire contents of the volume are copied and retained. Subsequent snapshots will capture the incremental changes from the previous snapshots.</a:t>
            </a:r>
          </a:p>
          <a:p>
            <a:r>
              <a:rPr lang="en-US" sz="1800" dirty="0" smtClean="0"/>
              <a:t/>
            </a:r>
          </a:p>
          <a:p>
            <a:r>
              <a:rPr lang="en-US" sz="1800" dirty="0" smtClean="0"/>
              <a:t>#### Pricing</a:t>
            </a:r>
          </a:p>
          <a:p>
            <a:r>
              <a:rPr lang="en-US" sz="1800" dirty="0" smtClean="0"/>
              <a:t/>
            </a:r>
          </a:p>
          <a:p>
            <a:r>
              <a:rPr lang="en-US" sz="1800" dirty="0" smtClean="0"/>
              <a:t>You will be charged for the storage capacity used for each of your backups. To estimate pricing while you create a backup policy, use the "Add to estimate" button on the Create tab. For more information, see the [Backup service documentation](/docs/vpc?topic=vpc-backup-service-about).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https://cloud.ibm.com/catalog/services/is.backup-policy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44</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HSM</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Protect your keys and secrets in a dedicated hardware security module.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 hardware security module (HSM) is a dedicated crypto processor designed for the protection of the crypto key life cycle. HSMs act as trust anchors that protect the cryptographic infrastructure of some of the most security-conscious organizations in the world by securely managing, processing, and storing cryptographic keys inside a hardened, tamper-resistant device. Cloud HSM is a FIPS 140-2 Level 3 validated, single-tenant device available around the world where you need it most.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Madrid (eu-es)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https://cloud.ibm.com/catalog/infrastructure/hardware-security-module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45</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Load Balancer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Elastic Load Balancer as a service with core load balancing features and flexible usage-based pricing.</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service offers variety of application delivery features such as layer-4 load balancing of TCP based applications, periodic checking of application server health, SSL offload, intuitive graphical interface, and built-in high reliability. The service is charged as per its actual consumption - per the total number of hours its used and the total amount of data it has processed. Public outbound bandwidth charges will be extra.</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https://cloud.ibm.com/catalog/infrastructure/ibm-cloud-load-balancer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46</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Logs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Optimize log analysis and management for rapid issue resolution and proactively avoid downtime.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Logs turns log data into actionable insights, reducing operational costs and boosting system reliability. Fully integrated with IBM Cloud, IBM Cloud Logs allows quick issue detection, performance optimization, and ensures strong security compliance without traditional log indexing overhead.</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Logging and Monitoring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https://cloud.ibm.com/catalog/services/logs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47</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Monitoring</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Offers visibility into the performance and health of your infrastructure and apps, with in-depth troubleshooting and alerting.</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Monitoring is a managed enterprise grade monitoring service that provides operational visibility into the performance and health of applications, services and infrastructure. It offers administrators, DevOps teams and developers full stack telemetry with advanced features to monitor and troubleshoot, define alerts, and design custom dashboards.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Sysdig</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Logging and Monitoring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https://cloud.ibm.com/catalog/services/sysdig-monitor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48</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Native Storage and Data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Robin Cloud Native Storage and Data Service is a high-performance Storage and Data Management solution for your Stateful Applications on IBM Cloud IKS.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Robin Cloud Native Storage and Data Service brings high performance storage and application-aware data management to Kubernetes. It is a IBM certified operator that installs natively on IKS and OpenShift and delivers block and file storage for stateful applications such as databases, data analytics, and AI/ML applications. Robin CNS automates storage and data management operations on OpenShift and provides a simple API for developers and DevOps teams so that they can easily manage stateful applications without having to become storage experts</a:t>
            </a:r>
          </a:p>
          <a:p>
            <a:r>
              <a:rPr lang="en-US" sz="1800" dirty="0" smtClean="0"/>
              <a:t>&amp;nbsp;</a:t>
            </a:r>
          </a:p>
          <a:p>
            <a:r>
              <a:rPr lang="en-US" sz="1800" dirty="0" smtClean="0"/>
              <a:t>&amp;nbsp;</a:t>
            </a:r>
          </a:p>
          <a:p>
            <a:r>
              <a:rPr lang="en-US" sz="1800" dirty="0" smtClean="0"/>
              <a:t>GETTING SUPPORT</a:t>
            </a:r>
          </a:p>
          <a:p>
            <a:r>
              <a:rPr lang="en-US" sz="1800" dirty="0" smtClean="0"/>
              <a:t>This product is provided and supported by Robin.io. Robin support is available 24x7x365. Please reach out to Robin on Slack (slack.robin.io) for immediate assistance. Alternatively you can contact Robin support by emailing support@robin.com. Include a contact information and any details you can provide on the issue. Please include severity of the issue in the subject line. Robin will reply back within 24 hours.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Robin.io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Frankfurt (eu-de)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https://cloud.ibm.com/catalog/services/robin-storage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49</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Object Storage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Developer enabled data storage for cloud applications integrated with IBM Cloud services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Object Storage is a highly scalable cloud storage service, designed for high durability, resiliency and security. Store, manage and access your data via our self-service portal and RESTful APIs. Connect applications directly to Cloud Object Storage use other IBM Cloud Services with your data.</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https://cloud.ibm.com/catalog/services/cloud-object-storage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50</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Object Storage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Data storage for backup, archive, regulatory data and cloud infrastructure services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Object storage is ideal for cost-effectively storing large volumes of unstructured data with durability, security, availability and reliability. Store content for your analytics, IoT, social, cognitive and mobile workloads, or for archiving and backup. Store and access your unstructured data via our self-service portal and APIs.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https://cloud.ibm.com/catalog/infrastructure/cloud-object-storage-infrastructure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51</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Platform Professional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Professional services to support cloud platform operations and enable customers to build and optimise custom software solutions.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Cloud Platform Professional Services offers expert support to help organizations leverage cloud platforms effectively. Our services include platform setup, optimization, software development, and CI/CD pipeline implementation. Whether you need help deploying OpenShift clusters, scaling workloads, or building tailored software solutions, our team delivers results aligned with your business needs.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Lyticly Pty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Analytics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https://cloud.ibm.com/catalog/services/cloud-platform-professional-services-lyticly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52</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Reservations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Save up to 60% by reserving capacity in advance on IBM Cloud Virtual Servers for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IBM’s next-generation public cloud infrastructure, IBM Cloud VPC (virtual private cloud), offers customers up to a 60% discount through IBM Cloud Reservations pricing – now available on IBM Cloud Virtual Servers for VPC. Customers can create 1-year and 3-year capacity reservations at significantly lower prices when compared to current, on-demand prices inside IBM Cloud VPC. The freedom to choose between multiple payment options when building high-performance clouds is here.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https://cloud.ibm.com/catalog/services/is.reservation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53</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 Secure Virtualization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Protect your workloads and simplify compliance using IBM Cloud Secure Virtualization.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Protect your workloads and simplify compliance using IBM Cloud Secure Virtualization.</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https://cloud.ibm.com/catalog/services/hytrust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54</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Cloudant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scalable JSON document database for web, mobile, IoT, and serverless applications.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Cloudant is a fully managed JSON document database that offers independent serverless scaling of provisioned throughput capacity and storage. Cloudant is compatible with Apache CouchDB and accessible through a simple to use HTTPS API for web, mobile, and IoT applications.  Cloudant is SOC2 and ISO 27001 compliant with HIPAA readiness optional for Dedicated Hardware environments. Cloudant Standard plan instances come with a 99.99% SLA. All data is encrypted at rest and over the wire. Cloudant JSON documents are stored in triplicate across three separate availability zones for in-region HA/DR in regions that support AZ's. Any Cloudant instance deployed from the Frankfurt region/location will be in an EU-managed environment. See https://ibm.com/cloud/cloudant, or select View docs from the Actions menu for more details. Use the new Standard on Transaction Engine plan which offers cheaper storage and query costs, strongly consistent reads, scalable and consistent global secondary indexes, elimination of in region document conflicts, and additional in database encryption of data values.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Mumbai - Airtel (in-mum) Osaka (jp-osa) 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https://cloud.ibm.com/catalog/services/cloudantnosqldb</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55</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Cloudsway CDN Pro</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Cloudsway CDN is a new generation of content delivery platform, which can provide users with programmable CDN interactive services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1.Programmable Delivery: Nginx based programmable delivery for rapid debugging and release under complex requirements. New configuration interface designed for simplicity and ease of use, reliably supporting any complex business logic. Improved configuration version management can easily embedded in enterprise DevOps.</a:t>
            </a:r>
          </a:p>
          <a:p>
            <a:r>
              <a:rPr lang="en-US" sz="1800" dirty="0" smtClean="0"/>
              <a:t>2.Secure and Reliable: Enabling 4 layer and 7 layer DDoS defense mechanisms, while extending support for high-performance Web application firewalls. </a:t>
            </a:r>
          </a:p>
          <a:p>
            <a:r>
              <a:rPr lang="en-US" sz="1800" dirty="0" smtClean="0"/>
              <a:t>Reject suspicious packets and forward secure packets back to the source site based on real-time analytics.</a:t>
            </a:r>
          </a:p>
          <a:p>
            <a:r>
              <a:rPr lang="en-US" sz="1800" dirty="0" smtClean="0"/>
              <a:t>3.Excellent Performance: Accurate intelligent scheduling system based on real-time detection and Wangsu's proprietary private high-speed return to source protocol comprehensively improve the performance of edge access and return to source connection.</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HONGKONG CLOUDSWAY LIMITED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https://cloud.ibm.com/catalog/services/cloudsway-cdn-global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56</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Cluster Network</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Cluster Network for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 cluster network is a collection of interconnected systems working together and acting as a single entity. This combined grouping of systems allows for a high level of processing power for very complicated computations, primarily AI model training. IBM Cluster Networks use the NVIDIA H100 instance profile, which supports up to 15 VNI and vNICs with full network capabilities, 1.5 TB of memory, and 152 vCPUs running with the 8474C processor.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https://cloud.ibm.com/catalog/services/is.cluster-network</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57</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Code Engine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Run your application, batch job, or container on a managed serverless platform.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Run your container, source-code, application, or batch job on a fully managed runtime. Go live in seconds and pay only for what you use. Scale up and down – even to zero.</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Containers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Osaka (jp-osa) 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https://cloud.ibm.com/catalog/services/codeengine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58</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Cognos Assistant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The Cognos Assistant is an intelligent, conversational analytics agent designed to transform how organization interact with Cognos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Cognos Assistant is an intelligent, conversational analytics agent designed to transform how organizations interact with IBM Cognos Analytics and uncover actionable insights with natural language. It brings together data, reporting, and workflow automation in a unified, intuitive experience — enabling business users, analysts, and decision makers to work faster and smarter without deep technical skills.</a:t>
            </a:r>
          </a:p>
          <a:p>
            <a:r>
              <a:rPr lang="en-US" sz="1800" dirty="0" smtClean="0"/>
              <a:t/>
            </a:r>
          </a:p>
          <a:p>
            <a:r>
              <a:rPr lang="en-US" sz="1800" dirty="0" smtClean="0"/>
              <a:t>Built on IBM watsonx Orchestrate, Cognos Assistant acts as a bridge between users, APIs, and your Cognos environment, providing an enterprise-ready conversational interface that transforms reporting and analytics tasks into simple chat interactions.</a:t>
            </a:r>
          </a:p>
          <a:p>
            <a:r>
              <a:rPr lang="en-US" sz="1800" dirty="0" smtClean="0"/>
              <a:t/>
            </a:r>
          </a:p>
          <a:p>
            <a:r>
              <a:rPr lang="en-US" sz="1800" dirty="0" smtClean="0"/>
              <a:t>What Cognos Assistant Enables</a:t>
            </a:r>
          </a:p>
          <a:p>
            <a:r>
              <a:rPr lang="en-US" sz="1800" dirty="0" smtClean="0"/>
              <a:t>Content Retrieval &amp; Insights</a:t>
            </a:r>
          </a:p>
          <a:p>
            <a:r>
              <a:rPr lang="en-US" sz="1800" dirty="0" smtClean="0"/>
              <a:t>Retrieve metadata and details for reports, data modules, and other Cognos objects.</a:t>
            </a:r>
          </a:p>
          <a:p>
            <a:r>
              <a:rPr lang="en-US" sz="1800" dirty="0" smtClean="0"/>
              <a:t>Present structured information about content to help understand dependencies, owners, and paths.</a:t>
            </a:r>
          </a:p>
          <a:p>
            <a:r>
              <a:rPr lang="en-US" sz="1800" dirty="0" smtClean="0"/>
              <a:t>List users, groups, and roles available in the Cognos system.</a:t>
            </a:r>
          </a:p>
          <a:p>
            <a:r>
              <a:rPr lang="en-US" sz="1800" dirty="0" smtClean="0"/>
              <a:t/>
            </a:r>
          </a:p>
          <a:p>
            <a:r>
              <a:rPr lang="en-US" sz="1800" dirty="0" smtClean="0"/>
              <a:t>This enables users to quickly discover what exists in their Cognos environment and understand content relationships without deep technical navigation.</a:t>
            </a:r>
          </a:p>
          <a:p>
            <a:r>
              <a:rPr lang="en-US" sz="1800" dirty="0" smtClean="0"/>
              <a:t/>
            </a:r>
          </a:p>
          <a:p>
            <a:r>
              <a:rPr lang="en-US" sz="1800" dirty="0" smtClean="0"/>
              <a:t>Content Management &amp; Actions</a:t>
            </a:r>
          </a:p>
          <a:p>
            <a:r>
              <a:rPr lang="en-US" sz="1800" dirty="0" smtClean="0"/>
              <a:t/>
            </a:r>
          </a:p>
          <a:p>
            <a:r>
              <a:rPr lang="en-US" sz="1800" dirty="0" smtClean="0"/>
              <a:t>Cognos Assistant also helps in performing content management actions such as:</a:t>
            </a:r>
          </a:p>
          <a:p>
            <a:r>
              <a:rPr lang="en-US" sz="1800" dirty="0" smtClean="0"/>
              <a:t/>
            </a:r>
          </a:p>
          <a:p>
            <a:r>
              <a:rPr lang="en-US" sz="1800" dirty="0" smtClean="0"/>
              <a:t>Delete unused or obsolete content (reports, folders, dashboards).</a:t>
            </a:r>
          </a:p>
          <a:p>
            <a:r>
              <a:rPr lang="en-US" sz="1800" dirty="0" smtClean="0"/>
              <a:t>Move or organize content objects.</a:t>
            </a:r>
          </a:p>
          <a:p>
            <a:r>
              <a:rPr lang="en-US" sz="1800" dirty="0" smtClean="0"/>
              <a:t>Manage users and user groups — including deletion of users no longer needed in the system.</a:t>
            </a:r>
          </a:p>
          <a:p>
            <a:r>
              <a:rPr lang="en-US" sz="1800" dirty="0" smtClean="0"/>
              <a:t/>
            </a:r>
          </a:p>
          <a:p>
            <a:r>
              <a:rPr lang="en-US" sz="1800" dirty="0" smtClean="0"/>
              <a:t>These features streamline administration and help keep your Cognos environment clean, consistent, and compliant.</a:t>
            </a:r>
          </a:p>
          <a:p>
            <a:r>
              <a:rPr lang="en-US" sz="1800" dirty="0" smtClean="0"/>
              <a:t/>
            </a:r>
          </a:p>
          <a:p>
            <a:r>
              <a:rPr lang="en-US" sz="1800" dirty="0" smtClean="0"/>
              <a:t>Report Scheduling &amp; Status Insights</a:t>
            </a:r>
          </a:p>
          <a:p>
            <a:r>
              <a:rPr lang="en-US" sz="1800" dirty="0" smtClean="0"/>
              <a:t/>
            </a:r>
          </a:p>
          <a:p>
            <a:r>
              <a:rPr lang="en-US" sz="1800" dirty="0" smtClean="0"/>
              <a:t>Cognos Assistant facilitates report scheduling and monitoring tasks by:</a:t>
            </a:r>
          </a:p>
          <a:p>
            <a:r>
              <a:rPr lang="en-US" sz="1800" dirty="0" smtClean="0"/>
              <a:t/>
            </a:r>
          </a:p>
          <a:p>
            <a:r>
              <a:rPr lang="en-US" sz="1800" dirty="0" smtClean="0"/>
              <a:t>Calling underlying APIs to create, update, or disable schedules for existing reports.</a:t>
            </a:r>
          </a:p>
          <a:p>
            <a:r>
              <a:rPr lang="en-US" sz="1800" dirty="0" smtClean="0"/>
              <a:t>Retrieving the latest execution status, run history, and timing of scheduled reports.</a:t>
            </a:r>
          </a:p>
          <a:p>
            <a:r>
              <a:rPr lang="en-US" sz="1800" dirty="0" smtClean="0"/>
              <a:t>Providing visibility into whether scheduled reports are active or require attention.</a:t>
            </a:r>
          </a:p>
          <a:p>
            <a:r>
              <a:rPr lang="en-US" sz="1800" dirty="0" smtClean="0"/>
              <a:t/>
            </a:r>
          </a:p>
          <a:p>
            <a:r>
              <a:rPr lang="en-US" sz="1800" dirty="0" smtClean="0"/>
              <a:t>These features help streamline report operations and reduce manual effort in managing scheduled reporting across the Cognos environment.</a:t>
            </a:r>
          </a:p>
          <a:p>
            <a:r>
              <a:rPr lang="en-US" sz="1800" dirty="0" smtClean="0"/>
              <a:t/>
            </a:r>
          </a:p>
          <a:p>
            <a:r>
              <a:rPr lang="en-US" sz="1800" dirty="0" smtClean="0"/>
              <a:t>Key Benefits</a:t>
            </a:r>
          </a:p>
          <a:p>
            <a:r>
              <a:rPr lang="en-US" sz="1800" dirty="0" smtClean="0"/>
              <a:t>Fast Administrative Operations</a:t>
            </a:r>
          </a:p>
          <a:p>
            <a:r>
              <a:rPr lang="en-US" sz="1800" dirty="0" smtClean="0"/>
              <a:t/>
            </a:r>
          </a:p>
          <a:p>
            <a:r>
              <a:rPr lang="en-US" sz="1800" dirty="0" smtClean="0"/>
              <a:t>Quickly perform common Cognos administrative tasks without navigating the Cognos Administration interface or writing scripts.</a:t>
            </a:r>
          </a:p>
          <a:p>
            <a:r>
              <a:rPr lang="en-US" sz="1800" dirty="0" smtClean="0"/>
              <a:t/>
            </a:r>
          </a:p>
          <a:p>
            <a:r>
              <a:rPr lang="en-US" sz="1800" dirty="0" smtClean="0"/>
              <a:t>Reduced Technical Barriers</a:t>
            </a:r>
          </a:p>
          <a:p>
            <a:r>
              <a:rPr lang="en-US" sz="1800" dirty="0" smtClean="0"/>
              <a:t/>
            </a:r>
          </a:p>
          <a:p>
            <a:r>
              <a:rPr lang="en-US" sz="1800" dirty="0" smtClean="0"/>
              <a:t>Enable non-technical users to trigger complex Cognos REST API actions through guided interactions and simple prompts.</a:t>
            </a:r>
          </a:p>
          <a:p>
            <a:r>
              <a:rPr lang="en-US" sz="1800" dirty="0" smtClean="0"/>
              <a:t/>
            </a:r>
          </a:p>
          <a:p>
            <a:r>
              <a:rPr lang="en-US" sz="1800" dirty="0" smtClean="0"/>
              <a:t>Reliable &amp; Controlled Workflows</a:t>
            </a:r>
          </a:p>
          <a:p>
            <a:r>
              <a:rPr lang="en-US" sz="1800" dirty="0" smtClean="0"/>
              <a:t/>
            </a:r>
          </a:p>
          <a:p>
            <a:r>
              <a:rPr lang="en-US" sz="1800" dirty="0" smtClean="0"/>
              <a:t>Ensure tasks run in the correct sequence with built-in orchestration, clear status updates, and error handling.</a:t>
            </a:r>
          </a:p>
          <a:p>
            <a:r>
              <a:rPr lang="en-US" sz="1800" dirty="0" smtClean="0"/>
              <a:t/>
            </a:r>
          </a:p>
          <a:p>
            <a:r>
              <a:rPr lang="en-US" sz="1800" dirty="0" smtClean="0"/>
              <a:t>Designed For Every User</a:t>
            </a:r>
          </a:p>
          <a:p>
            <a:r>
              <a:rPr lang="en-US" sz="1800" dirty="0" smtClean="0"/>
              <a:t>Cognos Administrators who want to automate routine maintenance.</a:t>
            </a:r>
          </a:p>
          <a:p>
            <a:r>
              <a:rPr lang="en-US" sz="1800" dirty="0" smtClean="0"/>
              <a:t>Support Teams needing consistent execution of bulk user or content actions.</a:t>
            </a:r>
          </a:p>
          <a:p>
            <a:r>
              <a:rPr lang="en-US" sz="1800" dirty="0" smtClean="0"/>
              <a:t>Data Teams seeking simplified control over report schedules and metadata insights.</a:t>
            </a:r>
          </a:p>
          <a:p>
            <a:r>
              <a:rPr lang="en-US" sz="1800" dirty="0" smtClean="0"/>
              <a:t>Business Analysts who require quick visibility into content and status without deep API knowledge.</a:t>
            </a:r>
          </a:p>
          <a:p>
            <a:r>
              <a:rPr lang="en-US" sz="1800" dirty="0" smtClean="0"/>
              <a:t>Get Started with Cognos Partners</a:t>
            </a:r>
          </a:p>
          <a:p>
            <a:r>
              <a:rPr lang="en-US" sz="1800" dirty="0" smtClean="0"/>
              <a:t/>
            </a:r>
          </a:p>
          <a:p>
            <a:r>
              <a:rPr lang="en-US" sz="1800" dirty="0" smtClean="0"/>
              <a:t>Unlock the full potential of Cognos Assistant by partnering with Cognos Partners – experts in IBM Cognos Analytics and watsonx Orchestrate implementations.</a:t>
            </a:r>
          </a:p>
          <a:p>
            <a:r>
              <a:rPr lang="en-US" sz="1800" dirty="0" smtClean="0"/>
              <a:t/>
            </a:r>
          </a:p>
          <a:p>
            <a:r>
              <a:rPr lang="en-US" sz="1800" dirty="0" smtClean="0"/>
              <a:t>Our team works closely with your organization to:</a:t>
            </a:r>
          </a:p>
          <a:p>
            <a:r>
              <a:rPr lang="en-US" sz="1800" dirty="0" smtClean="0"/>
              <a:t/>
            </a:r>
          </a:p>
          <a:p>
            <a:r>
              <a:rPr lang="en-US" sz="1800" dirty="0" smtClean="0"/>
              <a:t>Assess your Cognos environment and identify high-value automation and reporting use cases</a:t>
            </a:r>
          </a:p>
          <a:p>
            <a:r>
              <a:rPr lang="en-US" sz="1800" dirty="0" smtClean="0"/>
              <a:t>Integrate Cognos Assistant securely with your Cognos Analytics platform using REST APIs and enterprise authentication</a:t>
            </a:r>
          </a:p>
          <a:p>
            <a:r>
              <a:rPr lang="en-US" sz="1800" dirty="0" smtClean="0"/>
              <a:t>Define governance, roles, and permissions to ensure safe and compliant operations</a:t>
            </a:r>
          </a:p>
          <a:p>
            <a:r>
              <a:rPr lang="en-US" sz="1800" dirty="0" smtClean="0"/>
              <a:t>Design and configure orchestrated workflows tailored to your administrative, reporting, and operational needs</a:t>
            </a:r>
          </a:p>
          <a:p>
            <a:r>
              <a:rPr lang="en-US" sz="1800" dirty="0" smtClean="0"/>
              <a:t>Provide ongoing optimization and support as your analytics landscape evolves</a:t>
            </a:r>
          </a:p>
          <a:p>
            <a:r>
              <a:rPr lang="en-US" sz="1800" dirty="0" smtClean="0"/>
              <a:t/>
            </a:r>
          </a:p>
          <a:p>
            <a:r>
              <a:rPr lang="en-US" sz="1800" dirty="0" smtClean="0"/>
              <a:t>With Cognos Partners, you gain more than an assistant — you gain a strategic partner who helps modernize and streamline your Cognos ecosystem.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Ganga Consultancy Services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Analytics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https://cloud.ibm.com/catalog/services/ganga-consultancy-services-cognos-assistant-cp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59</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Commissioning Readiness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Is your facility ready to commission? Gate-by-gate readiness, the blockers, and the evidence. No connection needed to start.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Commissioning Readiness answers the question every commissioning lead carries into a readiness review: is this facility ready to start up, and if not, what is blocking it and where is the proof? It reviews readiness gate by gate across the commissioning disciplines (mechanical, electrical, instrumentation, controls, safety, environmental, operational), and returns a readiness score with a ranked list of blockers, each tied to its source evidence, grounded in the CII SR19-01 DR310 commissioning-completion lifecycle. No system connection is needed to start. Connect IBM Maximo to score your own records. It is deterministic and standards-grounded. It speaks to the commissioning lead (gate-by-gate sign-off), the programme director (portfolio readiness), the project manager (in-flight blockers), and the discipline lead (clean status recording) in regulated infrastructure.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Vistergy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https://cloud.ibm.com/catalog/services/vistergy-ltd-commissioning-readiness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60</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Company Research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Performs in-depth company analysis. Ideal for investors, analysts, business researchers seeking a systematic &amp;  complete overview.</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multi-stage company research agent is a specialized AI-driven solution that delivers deep, structured insights into any company. Designed to support professionals in investment, strategy, consulting, and business development, the agent follows a systematic research process to ensure no critical area is overlooked.</a:t>
            </a:r>
          </a:p>
          <a:p>
            <a:r>
              <a:rPr lang="en-US" sz="1800" dirty="0" smtClean="0"/>
              <a:t/>
            </a:r>
          </a:p>
          <a:p>
            <a:r>
              <a:rPr lang="en-US" sz="1800" dirty="0" smtClean="0"/>
              <a:t>It analyzes a company across multiple dimensions—including business operations, financial health, competitive positioning, market presence, leadership, innovation, and risks—providing a complete picture of the organization's strengths, challenges, and strategic direction.</a:t>
            </a:r>
          </a:p>
          <a:p>
            <a:r>
              <a:rPr lang="en-US" sz="1800" dirty="0" smtClean="0"/>
              <a:t/>
            </a:r>
          </a:p>
          <a:p>
            <a:r>
              <a:rPr lang="en-US" sz="1800" dirty="0" smtClean="0"/>
              <a:t>The agent’s methodology ensures that the research output is consistent, comprehensive, and aligned with industry standards—making it ideal for due diligence, enterprise evaluations, and executive decision-making.</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Lyzr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https://cloud.ibm.com/catalog/services/lyzr-company-research-agent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61</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Compliance and Customer Experience Automation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Monitor customer and employee communication channels to automate customer experience, and compliance &amp; conduct risk</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Cognitive View monitors customer and employee interactions to help firms meet compliance, reduce conduct risk, and improve customer experience. It proactively detects security, data loss, and compliance risks across all communication channels, enabling firms to meet compliance, reduce conduct risk and improve customer experience.</a:t>
            </a:r>
          </a:p>
          <a:p>
            <a:r>
              <a:rPr lang="en-US" sz="1800" dirty="0" smtClean="0"/>
              <a:t/>
            </a:r>
          </a:p>
          <a:p>
            <a:r>
              <a:rPr lang="en-US" sz="1800" dirty="0" smtClean="0"/>
              <a:t/>
            </a:r>
          </a:p>
          <a:p>
            <a:r>
              <a:rPr lang="en-US" sz="1800" dirty="0" smtClean="0"/>
              <a:t>Compliance &amp; Conduct risk</a:t>
            </a:r>
          </a:p>
          <a:p>
            <a:r>
              <a:rPr lang="en-US" sz="1800" dirty="0" smtClean="0"/>
              <a:t>- Voice, video, and text analytics to automate workforce monitoring</a:t>
            </a:r>
          </a:p>
          <a:p>
            <a:r>
              <a:rPr lang="en-US" sz="1800" dirty="0" smtClean="0"/>
              <a:t>- Customer conversation analytics to ensure there are no compliance and conduct risk</a:t>
            </a:r>
          </a:p>
          <a:p>
            <a:r>
              <a:rPr lang="en-US" sz="1800" dirty="0" smtClean="0"/>
              <a:t>- Monitors employee conversations for lousy behavior patterns, including racism, sexual harassment, stalking, and bullying, to end toxic work culture.</a:t>
            </a:r>
          </a:p>
          <a:p>
            <a:r>
              <a:rPr lang="en-US" sz="1800" dirty="0" smtClean="0"/>
              <a:t/>
            </a:r>
          </a:p>
          <a:p>
            <a:r>
              <a:rPr lang="en-US" sz="1800" dirty="0" smtClean="0"/>
              <a:t>Customer Experience &amp; Complaints</a:t>
            </a:r>
          </a:p>
          <a:p>
            <a:r>
              <a:rPr lang="en-US" sz="1800" dirty="0" smtClean="0"/>
              <a:t>- Sentiment &amp; tone analysis</a:t>
            </a:r>
          </a:p>
          <a:p>
            <a:r>
              <a:rPr lang="en-US" sz="1800" dirty="0" smtClean="0"/>
              <a:t>- Predict customer concern &amp; churn early and prevent complaints escalation</a:t>
            </a:r>
          </a:p>
          <a:p>
            <a:r>
              <a:rPr lang="en-US" sz="1800" dirty="0" smtClean="0"/>
              <a:t/>
            </a:r>
          </a:p>
          <a:p>
            <a:r>
              <a:rPr lang="en-US" sz="1800" dirty="0" smtClean="0"/>
              <a:t>Complaint Insights</a:t>
            </a:r>
          </a:p>
          <a:p>
            <a:r>
              <a:rPr lang="en-US" sz="1800" dirty="0" smtClean="0"/>
              <a:t>- Industry-wide complaint reference data to support dispute resolution professionals in helping of faster decission making process</a:t>
            </a:r>
          </a:p>
          <a:p>
            <a:r>
              <a:rPr lang="en-US" sz="1800" dirty="0" smtClean="0"/>
              <a:t>- Learn more about past and emerging complaint patterns, top compliance issues, and industry trends</a:t>
            </a:r>
          </a:p>
          <a:p>
            <a:r>
              <a:rPr lang="en-US" sz="1800" dirty="0" smtClean="0"/>
              <a:t>- Compare &amp; benchmark complaints &amp; process gaps against the industry peers or product lines to identify systemic risks, improvements made, and opportunities for improvement.</a:t>
            </a:r>
          </a:p>
          <a:p>
            <a:r>
              <a:rPr lang="en-US" sz="1800" dirty="0" smtClean="0"/>
              <a:t/>
            </a:r>
          </a:p>
          <a:p>
            <a:r>
              <a:rPr lang="en-US" sz="1800" dirty="0" smtClean="0"/>
              <a:t/>
            </a:r>
          </a:p>
          <a:p>
            <a:r>
              <a:rPr lang="en-US" sz="1800" dirty="0" smtClean="0"/>
              <a:t>In addition, Cognitive View offers custom pricing for advanced modules like compliance, conduct risk, and video analytics which is not mentioned here. Please connect with mailto:sales@cognitiveview.com to discuss your requirements.</a:t>
            </a:r>
          </a:p>
          <a:p>
            <a:r>
              <a:rPr lang="en-US" sz="1800" dirty="0" smtClean="0"/>
              <a:t/>
            </a:r>
          </a:p>
          <a:p>
            <a:r>
              <a:rPr lang="en-US" sz="1800" dirty="0" smtClean="0"/>
              <a:t>Support Information:</a:t>
            </a:r>
          </a:p>
          <a:p>
            <a:r>
              <a:rPr lang="en-US" sz="1800" dirty="0" smtClean="0"/>
              <a:t/>
            </a:r>
          </a:p>
          <a:p>
            <a:r>
              <a:rPr lang="en-US" sz="1800" dirty="0" smtClean="0"/>
              <a:t>Customers can submit issues directly to our support team from our website: https://help.cognitiveview.com (24/7/365). The site allows customer to submit an issue report or leave a message through the chat support. Please include as much detail as possible on the issue. Online support is available during standard business hours (M-F 10:30 AM -9 PM AEST). Off-hours support is finite and responses may be delayed.</a:t>
            </a:r>
          </a:p>
          <a:p>
            <a:r>
              <a:rPr lang="en-US" sz="1800" dirty="0" smtClean="0"/>
              <a:t/>
            </a:r>
          </a:p>
          <a:p>
            <a:r>
              <a:rPr lang="en-US" sz="1800" dirty="0" smtClean="0"/>
              <a:t>To submit additional information, include attachments/screenshots, or escalate an urgent issue, please e-mail us at support@cognitiveview.com.</a:t>
            </a:r>
          </a:p>
          <a:p>
            <a:r>
              <a:rPr lang="en-US" sz="1800" dirty="0" smtClean="0"/>
              <a:t/>
            </a:r>
          </a:p>
          <a:p>
            <a:r>
              <a:rPr lang="en-US" sz="1800" dirty="0" smtClean="0"/>
              <a:t>A member of our team will respond immediately upon receipt. For further information please visit: https://www.cognitiveview.com/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Cognitive View</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https://cloud.ibm.com/catalog/services/3p-cognitiveview-xaas-cognitiveview</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62</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Construction Work Pack Compliance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Know your work packages are compliant before they reach the facility. Regulator-ready audit trail per finding.</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Know whether your construction work packages are compliant before they reach the facility, with a regulator-ready audit trail for every finding. Each package is scored against the canonical AWP standard, CII SR19-01 v2.0 (60 data requirements across 19 categories, extending CFIHOS for construction execution). No system connection is needed. Connect IBM Maximo when you want it to read live work-pack state. On your authorisation it then writes the service request or work order that closes the gap. Built for compliance officers verifying alignment, sponsors carrying sign-off, project directors reviewing readiness, and AWP coordinators building and fixing packs, in nuclear, energy, data centre, and LNG.</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Vistergy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https://cloud.ibm.com/catalog/services/vistergy-ltd-construction-work-pack-compliance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63</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Container Registry</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Securely store container images and monitor their vulnerabilities in a private registry.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Manage Docker container images in a fully managed private registry. Push private images into this registry to run them in IBM Cloud Kubernetes Service and other runtime environments. Images are checked for security issues, so that you can make informed decisions about your deployments.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Containers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https://cloud.ibm.com/catalog/services/container-registry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64</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Container Security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Assess, design, implement and manage Container Security solutions that will help secure your entire DevSecOps processes and infrastructure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Integrate security across the software development lifecycle (SDLC) and help bring Security Professionals and DevOps together to transform into a consolidated set of practices called DevSecOps, for rapid and secure software development and deployment. </a:t>
            </a:r>
          </a:p>
          <a:p>
            <a:r>
              <a:rPr lang="en-US" sz="1800" dirty="0" smtClean="0"/>
              <a:t/>
            </a:r>
          </a:p>
          <a:p>
            <a:r>
              <a:rPr lang="en-US" sz="1800" dirty="0" smtClean="0"/>
              <a:t>Our security services include assessment, solution design, implementation and managed security services for all phases of container lifecycle, backed by expertise and technologies to automate security processes within the development pipeline. </a:t>
            </a:r>
          </a:p>
          <a:p>
            <a:r>
              <a:rPr lang="en-US" sz="1800" dirty="0" smtClean="0"/>
              <a:t/>
            </a:r>
          </a:p>
          <a:p>
            <a:r>
              <a:rPr lang="en-US" sz="1800" dirty="0" smtClean="0"/>
              <a:t>As a trusted security advisor and partner, we can help enterprises overcome the security challenges of all major container risk areas.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Containers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https://cloud.ibm.com/catalog/infrastructure/container-consulting-referral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65</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Continuous Care And Follow Up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agent supporting ongoing care and follow-up, improving outcomes, adherence, and care continuity across the patient journey.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Continuous Care &amp; Follow-Up Agent is an AI-powered solution designed to support ongoing patient care beyond the initial visit or discharge, enabling continuous monitoring, engagement, and care coordination.</a:t>
            </a:r>
          </a:p>
          <a:p>
            <a:r>
              <a:rPr lang="en-US" sz="1800" dirty="0" smtClean="0"/>
              <a:t>Healthcare delivery often lacks structured follow-up and long-term care management, especially for chronic conditions. This agent addresses these gaps by maintaining continuous interaction with patients, tracking symptoms, monitoring adherence, and supporting recovery and disease management over time.</a:t>
            </a:r>
          </a:p>
          <a:p>
            <a:r>
              <a:rPr lang="en-US" sz="1800" dirty="0" smtClean="0"/>
              <a:t>Through conversational check-ins and structured data collection, the agent gathers relevant patient information and identifies potential risks or deviations from care plans. It supports clinicians by providing visibility into patient status between visits and enabling timely intervention when needed.</a:t>
            </a:r>
          </a:p>
          <a:p>
            <a:r>
              <a:rPr lang="en-US" sz="1800" dirty="0" smtClean="0"/>
              <a:t>The agent enhances patient engagement by delivering personalized guidance, reminders, and follow-up instructions aligned with clinical protocols. It ensures that patients remain connected to their care team and adhere to recommended treatment plans.</a:t>
            </a:r>
          </a:p>
          <a:p>
            <a:r>
              <a:rPr lang="en-US" sz="1800" dirty="0" smtClean="0"/>
              <a:t>By enabling continuous care workflows, the agent improves outcomes, reduces complications, and supports value-based care models through better long-term patient management.</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Viclinic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https://cloud.ibm.com/catalog/services/viclinic-inc-continuous-care-followup-agent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66</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Continuous Delivery</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Support DevOps best practices by using Git, issue tracking, source code vulnerability analysis, and CI/CD pipelines in the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Use Continuous Delivery to automate builds, unit tests, deployments, and more. Push code using Git Repos and Issue Tracking. Identify vulnerabilities in source code. Create toolchains to enable tool integrations that support your development, deployment, and operation tasks.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Tokyo (jp-tok) Frankfurt (eu-de) London (eu-gb) Dallas (us-south)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https://cloud.ibm.com/catalog/services/continuous-delivery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67</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Converlistics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Enterprise Observability, component traceability, and reuse for chatbots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Converlistics provides Enterprise Observability, component traceability, and reuse for chatbots.  Our end-to end platform allows teams to manage, understand, iterate, and enhance the Virtual Agents &amp; ChatBots that run your business.</a:t>
            </a:r>
          </a:p>
          <a:p>
            <a:r>
              <a:rPr lang="en-US" sz="1800" dirty="0" smtClean="0"/>
              <a:t/>
            </a:r>
          </a:p>
          <a:p>
            <a:r>
              <a:rPr lang="en-US" sz="1800" dirty="0" smtClean="0"/>
              <a:t/>
            </a:r>
          </a:p>
          <a:p>
            <a:r>
              <a:rPr lang="en-US" sz="1800" dirty="0" smtClean="0"/>
              <a:t>We support Google Dialogflow CX, Kore.ai, Watson Assistant Dialog, and AWS Lex v2. Component merge export functions are currently limited to AWS Lex v2 and Watson Assistant Dialog. EG: You may merge Kore.ai and DialogflowCX components, but any export of the merge must be to AWS Lex V2 or IBM Watson Dialog</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Cerebral Blue LLC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https://cloud.ibm.com/catalog/services/converlistics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68</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ConvertIO Workload Migration and Conversion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Workload migration and conversion to Cloud VPC performed at scale using the conversion/migration ConvertIO engine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This selection of the ConvertIO product platform, wrapped in services, targets VMware customers seeking to modernize and embrace IBM cloud-native VSI workloads running in IBM Cloud VPC.</a:t>
            </a:r>
          </a:p>
          <a:p>
            <a:r>
              <a:rPr lang="en-US" sz="1800" dirty="0" smtClean="0"/>
              <a:t>While PrimaryIO offers SaaS products in support of the Cloud Journey targeting data resiliency, this catalog offering encompasses the scoping, sizing, migration and conversion of VMware estates into IBM Cloud VPC domiciled VSI workloads.  This option is targeting enterprises looking to reduce their VMware VCF estate and become more cloud-native. </a:t>
            </a:r>
          </a:p>
          <a:p>
            <a:r>
              <a:rPr lang="en-US" sz="1800" dirty="0" smtClean="0"/>
              <a:t>The services are designed to create an easy to consume, yet bespoke, tailored project.  Each project is fully detailed with project plan, associated cost and transparency to the project status with focus on rapid achievement of critical path objectives.</a:t>
            </a:r>
          </a:p>
          <a:p>
            <a:r>
              <a:rPr lang="en-US" sz="1800" dirty="0" smtClean="0"/>
              <a:t>All projects, irrespective of category and customization, require a current state assessment coupled with a solid understanding of the customer goal and associated target environment.  Once well-comprehended, an accurate statement of work and associated price quote is generated in support of the project.  At such time, the project can be procured through this catalog entry.</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PrimaryIO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https://cloud.ibm.com/catalog/services/convertio</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69</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CORIZANCE AML Screening</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Automated AML screening against global sanctions and PEP lists to help detect financial crime and ensure compliance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Corizance AML Screening is a cloud-based compliance solution that enables organizations to automatically screen individuals and entities against global sanctions lists, politically exposed persons (PEP), and watchlists. Designed to support anti-money laundering (AML) obligations, this service helps financial institutions, fintechs, and regulated businesses detect potential risks and prevent financial crime.</a:t>
            </a:r>
          </a:p>
          <a:p>
            <a:r>
              <a:rPr lang="en-US" sz="1800" dirty="0" smtClean="0"/>
              <a:t/>
            </a:r>
          </a:p>
          <a:p>
            <a:r>
              <a:rPr lang="en-US" sz="1800" dirty="0" smtClean="0"/>
              <a:t>The platform supports bulk data uploads, API-based integration, and real-time search, offering flexibility for both batch and interactive workflows. With robust matching algorithms, fuzzy logic, and regular updates of sanctions data from official sources (OFAC, UN, EU, UK, Australia, SEBI), Corizance AML Screening ensures high accuracy and comprehensive coverage.</a:t>
            </a:r>
          </a:p>
          <a:p>
            <a:r>
              <a:rPr lang="en-US" sz="1800" dirty="0" smtClean="0"/>
              <a:t/>
            </a:r>
          </a:p>
          <a:p>
            <a:r>
              <a:rPr lang="en-US" sz="1800" dirty="0" smtClean="0"/>
              <a:t>Key features include:</a:t>
            </a:r>
          </a:p>
          <a:p>
            <a:r>
              <a:rPr lang="en-US" sz="1800" dirty="0" smtClean="0"/>
              <a:t/>
            </a:r>
          </a:p>
          <a:p>
            <a:r>
              <a:rPr lang="en-US" sz="1800" dirty="0" smtClean="0"/>
              <a:t>1.Sanctions and PEP screening using structured and unstructured data</a:t>
            </a:r>
          </a:p>
          <a:p>
            <a:r>
              <a:rPr lang="en-US" sz="1800" dirty="0" smtClean="0"/>
              <a:t/>
            </a:r>
          </a:p>
          <a:p>
            <a:r>
              <a:rPr lang="en-US" sz="1800" dirty="0" smtClean="0"/>
              <a:t>2.Support for CSV, Excel, form-based, and JSON input</a:t>
            </a:r>
          </a:p>
          <a:p>
            <a:r>
              <a:rPr lang="en-US" sz="1800" dirty="0" smtClean="0"/>
              <a:t/>
            </a:r>
          </a:p>
          <a:p>
            <a:r>
              <a:rPr lang="en-US" sz="1800" dirty="0" smtClean="0"/>
              <a:t>3.Real-time and bulk screening capabilities</a:t>
            </a:r>
          </a:p>
          <a:p>
            <a:r>
              <a:rPr lang="en-US" sz="1800" dirty="0" smtClean="0"/>
              <a:t/>
            </a:r>
          </a:p>
          <a:p>
            <a:r>
              <a:rPr lang="en-US" sz="1800" dirty="0" smtClean="0"/>
              <a:t>4.High-performance matching with fuzzy logic</a:t>
            </a:r>
          </a:p>
          <a:p>
            <a:r>
              <a:rPr lang="en-US" sz="1800" dirty="0" smtClean="0"/>
              <a:t/>
            </a:r>
          </a:p>
          <a:p>
            <a:r>
              <a:rPr lang="en-US" sz="1800" dirty="0" smtClean="0"/>
              <a:t>Whether you’re onboarding new customers, conducting periodic reviews, or ensuring continuous compliance, Corizance AML Screening provides a scalable and efficient solution to meet your regulatory requirements.</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CORIZANCE Limited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https://cloud.ibm.com/catalog/services/corizance-aml-screening</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70</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CrushBank</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CrushBank uses WatsonX to transform IT support, enabling faster resolutions, fewer escalations, and unparalleled analytics.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CrushBank Technology created the award-winning AI system that uses trustworthy AI from IBM watsonX to transform IT support, enabling faster resolutions, fewer escalations, and unparalleled analytics. CrushBank creates Smart Data for your business filling critical gaps in support information, leading to enhanced client relations and better outcomes.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CrushBank Technology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Frankfurt (eu-de) London (eu-gb)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https://cloud.ibm.com/catalog/services/crushbank-crushbank</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71</a:t>
            </a: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CtrlAgent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AI-native platform to build, deploy &amp; govern intelligent agents that automate enterprise processes securely.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CtrlAgent.ai is an AI-native enterprise transformation platform that empowers large organizations to build, deploy, and govern intelligent digital agents (or “digital workers”) at scale. With CtrlAgent, businesses can redesign core operations — from customer support and HR to IT and financial services — by automating processes with human-level conversation, cross-agent collaboration, and built-in security &amp; compliance.</a:t>
            </a:r>
          </a:p>
          <a:p>
            <a:r>
              <a:rPr lang="en-US" sz="1800" dirty="0" smtClean="0"/>
              <a:t/>
            </a:r>
          </a:p>
          <a:p>
            <a:r>
              <a:rPr lang="en-US" sz="1800" dirty="0" smtClean="0"/>
              <a:t/>
            </a:r>
          </a:p>
          <a:p>
            <a:r>
              <a:rPr lang="en-US" sz="1800" dirty="0" smtClean="0"/>
              <a:t/>
            </a:r>
          </a:p>
          <a:p>
            <a:r>
              <a:rPr lang="en-US" sz="1800" dirty="0" smtClean="0"/>
              <a:t/>
            </a:r>
          </a:p>
          <a:p>
            <a:r>
              <a:rPr lang="en-US" sz="1800" dirty="0" smtClean="0"/>
              <a:t>Rather than having isolated bots or fixed workflows, CtrlAgent gives you:</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Seamless orchestration &amp; collaboration across multiple agents and systems</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Customizable business rules via a flexible studio to enforce deterministic outcomes</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Lifelike multi-channel engagement (voice, web, mobile) in 130+ languages</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Enterprise-grade governance &amp; compliance built-in</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Actionable monitoring and insights to continuously optimize performance</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With CtrlAgent, you avoid long, costly AI projects and instead get a unified, secure, scalable “autonomous AI factory” — turning your enterprise into a self-driving, insight-rich system that delivers speed, precision, and ROI across verticals like banking, insurance, telecom, healthcare, HR, and more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CtrlAgent,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https://cloud.ibm.com/catalog/services/ctrlagent-inc-ctrlagent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72</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Custom Migrations DR and Managed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Wanclouds' Custom Multi-Cloud Migrations and Disaster Recovery as a Service offering for IBM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This is a fully-managed and accelerated way of taking your current environment, be it on-premises or cloud, and backing it or migrating  as well as managing it post-migration to your desired IBM cloud account and region. </a:t>
            </a:r>
          </a:p>
          <a:p>
            <a:r>
              <a:rPr lang="en-US" sz="1800" dirty="0" smtClean="0"/>
              <a:t/>
            </a:r>
          </a:p>
          <a:p>
            <a:r>
              <a:rPr lang="en-US" sz="1800" dirty="0" smtClean="0"/>
              <a:t/>
            </a:r>
          </a:p>
          <a:p>
            <a:r>
              <a:rPr lang="en-US" sz="1800" dirty="0" smtClean="0"/>
              <a:t>With this offering we can backup, restore, migrate, and manage:</a:t>
            </a:r>
          </a:p>
          <a:p>
            <a:r>
              <a:rPr lang="en-US" sz="1800" dirty="0" smtClean="0"/>
              <a:t/>
            </a:r>
          </a:p>
          <a:p>
            <a:r>
              <a:rPr lang="en-US" sz="1800" dirty="0" smtClean="0"/>
              <a:t>- IBM Cloud VSIs &amp; Data</a:t>
            </a:r>
          </a:p>
          <a:p>
            <a:r>
              <a:rPr lang="en-US" sz="1800" dirty="0" smtClean="0"/>
              <a:t>- VMWare Infrastructure on-prem</a:t>
            </a:r>
          </a:p>
          <a:p>
            <a:r>
              <a:rPr lang="en-US" sz="1800" dirty="0" smtClean="0"/>
              <a:t>- VMware VMs and Data on-premise or within IBM Classic or AWS</a:t>
            </a:r>
          </a:p>
          <a:p>
            <a:r>
              <a:rPr lang="en-US" sz="1800" dirty="0" smtClean="0"/>
              <a:t>- On Premise Linux, Window, Data, OpenShift, K8s, Data</a:t>
            </a:r>
          </a:p>
          <a:p>
            <a:r>
              <a:rPr lang="en-US" sz="1800" dirty="0" smtClean="0"/>
              <a:t>- Kubernetes and Red Hat Openshift</a:t>
            </a:r>
          </a:p>
          <a:p>
            <a:r>
              <a:rPr lang="en-US" sz="1800" dirty="0" smtClean="0"/>
              <a:t>- IKS and ROKS clusters</a:t>
            </a:r>
          </a:p>
          <a:p>
            <a:r>
              <a:rPr lang="en-US" sz="1800" dirty="0" smtClean="0"/>
              <a:t>- AWS VMs, Data, EKS, VPC Resources</a:t>
            </a:r>
          </a:p>
          <a:p>
            <a:r>
              <a:rPr lang="en-US" sz="1800" dirty="0" smtClean="0"/>
              <a:t>- Google Cloud VMs, GKE, Data, and Workloads</a:t>
            </a:r>
          </a:p>
          <a:p>
            <a:r>
              <a:rPr lang="en-US" sz="1800" dirty="0" smtClean="0"/>
              <a:t>- Microsoft Azure VMs, AKS, Data and workloads</a:t>
            </a:r>
          </a:p>
          <a:p>
            <a:r>
              <a:rPr lang="en-US" sz="1800" dirty="0" smtClean="0"/>
              <a:t>- On Prem IBM Power System LPARs (AIX, IBMi, x86, Linux on Power )</a:t>
            </a:r>
          </a:p>
          <a:p>
            <a:r>
              <a:rPr lang="en-US" sz="1800" dirty="0" smtClean="0"/>
              <a:t/>
            </a:r>
          </a:p>
          <a:p>
            <a:r>
              <a:rPr lang="en-US" sz="1800" dirty="0" smtClean="0"/>
              <a:t>to:</a:t>
            </a:r>
          </a:p>
          <a:p>
            <a:r>
              <a:rPr lang="en-US" sz="1800" dirty="0" smtClean="0"/>
              <a:t/>
            </a:r>
          </a:p>
          <a:p>
            <a:r>
              <a:rPr lang="en-US" sz="1800" dirty="0" smtClean="0"/>
              <a:t>- IBM Cloud</a:t>
            </a:r>
          </a:p>
          <a:p>
            <a:r>
              <a:rPr lang="en-US" sz="1800" dirty="0" smtClean="0"/>
              <a:t>- IBM Cloud Classic</a:t>
            </a:r>
          </a:p>
          <a:p>
            <a:r>
              <a:rPr lang="en-US" sz="1800" dirty="0" smtClean="0"/>
              <a:t>- IBM Cloud Satellite (for Red Hat Openshift)</a:t>
            </a:r>
          </a:p>
          <a:p>
            <a:r>
              <a:rPr lang="en-US" sz="1800" dirty="0" smtClean="0"/>
              <a:t/>
            </a:r>
          </a:p>
          <a:p>
            <a:r>
              <a:rPr lang="en-US" sz="1800" dirty="0" smtClean="0"/>
              <a:t/>
            </a:r>
          </a:p>
          <a:p>
            <a:r>
              <a:rPr lang="en-US" sz="1800" dirty="0" smtClean="0"/>
              <a:t>Disaster Recovery Setup and Migration scenarios coverage;</a:t>
            </a:r>
          </a:p>
          <a:p>
            <a:r>
              <a:rPr lang="en-US" sz="1800" dirty="0" smtClean="0"/>
              <a:t/>
            </a:r>
          </a:p>
          <a:p>
            <a:r>
              <a:rPr lang="en-US" sz="1800" dirty="0" smtClean="0"/>
              <a:t>- VMware (on-premise) to IBM Cloud VPC</a:t>
            </a:r>
          </a:p>
          <a:p>
            <a:r>
              <a:rPr lang="en-US" sz="1800" dirty="0" smtClean="0"/>
              <a:t>- VMware (in Classic) to Cloud VPC</a:t>
            </a:r>
          </a:p>
          <a:p>
            <a:r>
              <a:rPr lang="en-US" sz="1800" dirty="0" smtClean="0"/>
              <a:t>- VMware (on-premise) to VMware on Cloud</a:t>
            </a:r>
          </a:p>
          <a:p>
            <a:r>
              <a:rPr lang="en-US" sz="1800" dirty="0" smtClean="0"/>
              <a:t>- Red Hat Openshift to Red Hat Openshift on Cloud</a:t>
            </a:r>
          </a:p>
          <a:p>
            <a:r>
              <a:rPr lang="en-US" sz="1800" dirty="0" smtClean="0"/>
              <a:t>- Kubernetes deployments from on-prem or other public clouds</a:t>
            </a:r>
          </a:p>
          <a:p>
            <a:r>
              <a:rPr lang="en-US" sz="1800" dirty="0" smtClean="0"/>
              <a:t>- Linux Servers (RHEL, Ubuntu, CentOS, SUSE, Debian versions supported by cloud)</a:t>
            </a:r>
          </a:p>
          <a:p>
            <a:r>
              <a:rPr lang="en-US" sz="1800" dirty="0" smtClean="0"/>
              <a:t>- Windows Servers (versions supported by cloud)</a:t>
            </a:r>
          </a:p>
          <a:p>
            <a:r>
              <a:rPr lang="en-US" sz="1800" dirty="0" smtClean="0"/>
              <a:t>- Data and Storage</a:t>
            </a:r>
          </a:p>
          <a:p>
            <a:r>
              <a:rPr lang="en-US" sz="1800" dirty="0" smtClean="0"/>
              <a:t/>
            </a:r>
          </a:p>
          <a:p>
            <a:r>
              <a:rPr lang="en-US" sz="1800" dirty="0" smtClean="0"/>
              <a:t>Managed Service:</a:t>
            </a:r>
          </a:p>
          <a:p>
            <a:r>
              <a:rPr lang="en-US" sz="1800" dirty="0" smtClean="0"/>
              <a:t/>
            </a:r>
          </a:p>
          <a:p>
            <a:r>
              <a:rPr lang="en-US" sz="1800" dirty="0" smtClean="0"/>
              <a:t>- Setup, Configure, and Maintain IBM Cloud Environment (VPC)</a:t>
            </a:r>
          </a:p>
          <a:p>
            <a:r>
              <a:rPr lang="en-US" sz="1800" dirty="0" smtClean="0"/>
              <a:t>- Device Management (Linux, Windows, FWs, LBs)</a:t>
            </a:r>
          </a:p>
          <a:p>
            <a:r>
              <a:rPr lang="en-US" sz="1800" dirty="0" smtClean="0"/>
              <a:t>- Help customer setup and maintain security policies, ACLs, and Firewalls</a:t>
            </a:r>
          </a:p>
          <a:p>
            <a:r>
              <a:rPr lang="en-US" sz="1800" dirty="0" smtClean="0"/>
              <a:t>- Backup IBM Cloud VPC workloads to the same or different regions (VPC Configs, VSIs, Kubernetes, Red Hat Openshift)</a:t>
            </a:r>
          </a:p>
          <a:p>
            <a:r>
              <a:rPr lang="en-US" sz="1800" dirty="0" smtClean="0"/>
              <a:t>- Manage IBM IKS (Kubernetes) and ROKS (Red Hat Openshift)</a:t>
            </a:r>
          </a:p>
          <a:p>
            <a:r>
              <a:rPr lang="en-US" sz="1800" dirty="0" smtClean="0"/>
              <a:t>- Optimize Cloud Infrastructure and Cloud Spending</a:t>
            </a:r>
          </a:p>
          <a:p>
            <a:r>
              <a:rPr lang="en-US" sz="1800" dirty="0" smtClean="0"/>
              <a:t>- Ongong Consultation regarding changes, scaling, optimizing infrastructure</a:t>
            </a:r>
          </a:p>
          <a:p>
            <a:r>
              <a:rPr lang="en-US" sz="1800" dirty="0" smtClean="0"/>
              <a:t>- Infrastructure Monitoring</a:t>
            </a:r>
          </a:p>
          <a:p>
            <a:r>
              <a:rPr lang="en-US" sz="1800" dirty="0" smtClean="0"/>
              <a:t>- 8x5 support (This doesn't replace IBM's 24x7 cloud support)</a:t>
            </a:r>
          </a:p>
          <a:p>
            <a:r>
              <a:rPr lang="en-US" sz="1800" dirty="0" smtClean="0"/>
              <a:t/>
            </a:r>
          </a:p>
          <a:p>
            <a:r>
              <a:rPr lang="en-US" sz="1800" dirty="0" smtClean="0"/>
              <a:t>Our team of experts leverage our VPC+ Automation Suite which is hosted on IBM Cloud to fast-track the entire process and eliminate the long, complicated and error-prone manual processes.</a:t>
            </a:r>
          </a:p>
          <a:p>
            <a:r>
              <a:rPr lang="en-US" sz="1800" dirty="0" smtClean="0"/>
              <a:t/>
            </a:r>
          </a:p>
          <a:p>
            <a:r>
              <a:rPr lang="en-US" sz="1800" dirty="0" smtClean="0"/>
              <a:t>There are three categories of this offering:</a:t>
            </a:r>
          </a:p>
          <a:p>
            <a:r>
              <a:rPr lang="en-US" sz="1800" dirty="0" smtClean="0"/>
              <a:t/>
            </a:r>
          </a:p>
          <a:p>
            <a:r>
              <a:rPr lang="en-US" sz="1800" dirty="0" smtClean="0"/>
              <a:t>- Disaster Recovery as a Service</a:t>
            </a:r>
          </a:p>
          <a:p>
            <a:r>
              <a:rPr lang="en-US" sz="1800" dirty="0" smtClean="0"/>
              <a:t>- Migrations as a Service</a:t>
            </a:r>
          </a:p>
          <a:p>
            <a:r>
              <a:rPr lang="en-US" sz="1800" dirty="0" smtClean="0"/>
              <a:t>- Ongoing Managed Service</a:t>
            </a:r>
          </a:p>
          <a:p>
            <a:r>
              <a:rPr lang="en-US" sz="1800" dirty="0" smtClean="0"/>
              <a:t/>
            </a:r>
          </a:p>
          <a:p>
            <a:r>
              <a:rPr lang="en-US" sz="1800" dirty="0" smtClean="0"/>
              <a:t>Disaster Recovery as a Service:</a:t>
            </a:r>
          </a:p>
          <a:p>
            <a:r>
              <a:rPr lang="en-US" sz="1800" dirty="0" smtClean="0"/>
              <a:t/>
            </a:r>
          </a:p>
          <a:p>
            <a:r>
              <a:rPr lang="en-US" sz="1800" dirty="0" smtClean="0"/>
              <a:t>- Minimum of 1 year subscription</a:t>
            </a:r>
          </a:p>
          <a:p>
            <a:r>
              <a:rPr lang="en-US" sz="1800" dirty="0" smtClean="0"/>
              <a:t>- Kick-off, Onboard the customer on VPC+</a:t>
            </a:r>
          </a:p>
          <a:p>
            <a:r>
              <a:rPr lang="en-US" sz="1800" dirty="0" smtClean="0"/>
              <a:t>- Discover source environment</a:t>
            </a:r>
          </a:p>
          <a:p>
            <a:r>
              <a:rPr lang="en-US" sz="1800" dirty="0" smtClean="0"/>
              <a:t>- Setup Cloud VPC Infrastructure for DR</a:t>
            </a:r>
          </a:p>
          <a:p>
            <a:r>
              <a:rPr lang="en-US" sz="1800" dirty="0" smtClean="0"/>
              <a:t>- Backup workloads to cloud object store</a:t>
            </a:r>
          </a:p>
          <a:p>
            <a:r>
              <a:rPr lang="en-US" sz="1800" dirty="0" smtClean="0"/>
              <a:t>- Configure DR scenario according to customer RPO, RTO goals</a:t>
            </a:r>
          </a:p>
          <a:p>
            <a:r>
              <a:rPr lang="en-US" sz="1800" dirty="0" smtClean="0"/>
              <a:t>- Provide cloud support for the DR setup</a:t>
            </a:r>
          </a:p>
          <a:p>
            <a:r>
              <a:rPr lang="en-US" sz="1800" dirty="0" smtClean="0"/>
              <a:t>- Customer to facilitate access and actively collaborate with   Wanclouds</a:t>
            </a:r>
          </a:p>
          <a:p>
            <a:r>
              <a:rPr lang="en-US" sz="1800" dirty="0" smtClean="0"/>
              <a:t>- All source OSs and software must be compatible with cloud</a:t>
            </a:r>
          </a:p>
          <a:p>
            <a:r>
              <a:rPr lang="en-US" sz="1800" dirty="0" smtClean="0"/>
              <a:t/>
            </a:r>
          </a:p>
          <a:p>
            <a:r>
              <a:rPr lang="en-US" sz="1800" dirty="0" smtClean="0"/>
              <a:t/>
            </a:r>
          </a:p>
          <a:p>
            <a:r>
              <a:rPr lang="en-US" sz="1800" dirty="0" smtClean="0"/>
              <a:t>Migrations as a Service (MaaS):</a:t>
            </a:r>
          </a:p>
          <a:p>
            <a:r>
              <a:rPr lang="en-US" sz="1800" dirty="0" smtClean="0"/>
              <a:t/>
            </a:r>
          </a:p>
          <a:p>
            <a:r>
              <a:rPr lang="en-US" sz="1800" dirty="0" smtClean="0"/>
              <a:t>The following tasks are involved:</a:t>
            </a:r>
          </a:p>
          <a:p>
            <a:r>
              <a:rPr lang="en-US" sz="1800" dirty="0" smtClean="0"/>
              <a:t>- Kick-off</a:t>
            </a:r>
          </a:p>
          <a:p>
            <a:r>
              <a:rPr lang="en-US" sz="1800" dirty="0" smtClean="0"/>
              <a:t>- Project/Program Management </a:t>
            </a:r>
          </a:p>
          <a:p>
            <a:r>
              <a:rPr lang="en-US" sz="1800" dirty="0" smtClean="0"/>
              <a:t>- Discover the source environment</a:t>
            </a:r>
          </a:p>
          <a:p>
            <a:r>
              <a:rPr lang="en-US" sz="1800" dirty="0" smtClean="0"/>
              <a:t>- Workout migration timeline and schedule</a:t>
            </a:r>
          </a:p>
          <a:p>
            <a:r>
              <a:rPr lang="en-US" sz="1800" dirty="0" smtClean="0"/>
              <a:t>- Design and Setup the Cloud environment </a:t>
            </a:r>
          </a:p>
          <a:p>
            <a:r>
              <a:rPr lang="en-US" sz="1800" dirty="0" smtClean="0"/>
              <a:t>- Perform the migration in the least disruptive manner using VPC+</a:t>
            </a:r>
          </a:p>
          <a:p>
            <a:r>
              <a:rPr lang="en-US" sz="1800" dirty="0" smtClean="0"/>
              <a:t>- Verify that everything is working as expected</a:t>
            </a:r>
          </a:p>
          <a:p>
            <a:r>
              <a:rPr lang="en-US" sz="1800" dirty="0" smtClean="0"/>
              <a:t>- Customer to facilitate access to the source and cloud environments and actively collaborate with Wanclouds</a:t>
            </a:r>
          </a:p>
          <a:p>
            <a:r>
              <a:rPr lang="en-US" sz="1800" dirty="0" smtClean="0"/>
              <a:t>- Migration tasks are completed within 4-6 weeks</a:t>
            </a:r>
          </a:p>
          <a:p>
            <a:r>
              <a:rPr lang="en-US" sz="1800" dirty="0" smtClean="0"/>
              <a:t>- Post Migration cloud support </a:t>
            </a:r>
          </a:p>
          <a:p>
            <a:r>
              <a:rPr lang="en-US" sz="1800" dirty="0" smtClean="0"/>
              <a:t>-    Options of 1 month, 3 months, 1 year</a:t>
            </a:r>
          </a:p>
          <a:p>
            <a:r>
              <a:rPr lang="en-US" sz="1800" dirty="0" smtClean="0"/>
              <a:t>-    8x5 workdays - support portal </a:t>
            </a:r>
          </a:p>
          <a:p>
            <a:r>
              <a:rPr lang="en-US" sz="1800" dirty="0" smtClean="0"/>
              <a:t>- All source OSs and software must be compatible with cloud</a:t>
            </a:r>
          </a:p>
          <a:p>
            <a:r>
              <a:rPr lang="en-US" sz="1800" dirty="0" smtClean="0"/>
              <a:t/>
            </a:r>
          </a:p>
          <a:p>
            <a:r>
              <a:rPr lang="en-US" sz="1800" dirty="0" smtClean="0"/>
              <a:t>Managed Service</a:t>
            </a:r>
          </a:p>
          <a:p>
            <a:r>
              <a:rPr lang="en-US" sz="1800" dirty="0" smtClean="0"/>
              <a:t/>
            </a:r>
          </a:p>
          <a:p>
            <a:r>
              <a:rPr lang="en-US" sz="1800" dirty="0" smtClean="0"/>
              <a:t>- Mininum 1 year subscription</a:t>
            </a:r>
          </a:p>
          <a:p>
            <a:r>
              <a:rPr lang="en-US" sz="1800" dirty="0" smtClean="0"/>
              <a:t/>
            </a:r>
          </a:p>
          <a:p>
            <a:r>
              <a:rPr lang="en-US" sz="1800" dirty="0" smtClean="0"/>
              <a:t/>
            </a:r>
          </a:p>
          <a:p>
            <a:r>
              <a:rPr lang="en-US" sz="1800" dirty="0" smtClean="0"/>
              <a:t>Why choose Wanclouds ?</a:t>
            </a:r>
          </a:p>
          <a:p>
            <a:r>
              <a:rPr lang="en-US" sz="1800" dirty="0" smtClean="0"/>
              <a:t/>
            </a:r>
          </a:p>
          <a:p>
            <a:r>
              <a:rPr lang="en-US" sz="1800" dirty="0" smtClean="0"/>
              <a:t>- Fast, simple, and accelerated timelines</a:t>
            </a:r>
          </a:p>
          <a:p>
            <a:r>
              <a:rPr lang="en-US" sz="1800" dirty="0" smtClean="0"/>
              <a:t>- Comprehensive coverage for diverse resources and platforms</a:t>
            </a:r>
          </a:p>
          <a:p>
            <a:r>
              <a:rPr lang="en-US" sz="1800" dirty="0" smtClean="0"/>
              <a:t>- Efficient RTO and Flexible RPO</a:t>
            </a:r>
          </a:p>
          <a:p>
            <a:r>
              <a:rPr lang="en-US" sz="1800" dirty="0" smtClean="0"/>
              <a:t>- Setup Cold DR, Warm DR, or Hot DR</a:t>
            </a:r>
          </a:p>
          <a:p>
            <a:r>
              <a:rPr lang="en-US" sz="1800" dirty="0" smtClean="0"/>
              <a:t>- Comprehensive - Single Pane of Glass for VMware, Kubernetes, Data, and Cloud Infra.</a:t>
            </a:r>
          </a:p>
          <a:p>
            <a:r>
              <a:rPr lang="en-US" sz="1800" dirty="0" smtClean="0"/>
              <a:t>- Flexible DR - On-Prem to Cloud and across Clouds</a:t>
            </a:r>
          </a:p>
          <a:p>
            <a:r>
              <a:rPr lang="en-US" sz="1800" dirty="0" smtClean="0"/>
              <a:t>- Encryption - in transit and at rest</a:t>
            </a:r>
          </a:p>
          <a:p>
            <a:r>
              <a:rPr lang="en-US" sz="1800" dirty="0" smtClean="0"/>
              <a:t>- Non-Disruptive to running environments</a:t>
            </a:r>
          </a:p>
          <a:p>
            <a:r>
              <a:rPr lang="en-US" sz="1800" dirty="0" smtClean="0"/>
              <a:t>- Cost-effective</a:t>
            </a:r>
          </a:p>
          <a:p>
            <a:r>
              <a:rPr lang="en-US" sz="1800" dirty="0" smtClean="0"/>
              <a:t>- Fully managed - no need to learn clouds, multiple tools</a:t>
            </a:r>
          </a:p>
          <a:p>
            <a:r>
              <a:rPr lang="en-US" sz="1800" dirty="0" smtClean="0"/>
              <a:t/>
            </a:r>
          </a:p>
          <a:p>
            <a:r>
              <a:rPr lang="en-US" sz="1800" dirty="0" smtClean="0"/>
              <a:t/>
            </a:r>
          </a:p>
          <a:p>
            <a:r>
              <a:rPr lang="en-US" sz="1800" dirty="0" smtClean="0"/>
              <a:t/>
            </a:r>
          </a:p>
          <a:p>
            <a:r>
              <a:rPr lang="en-US" sz="1800" dirty="0" smtClean="0"/>
              <a:t>Learn more: https://www.wanclouds.net/ibm</a:t>
            </a:r>
          </a:p>
          <a:p>
            <a:r>
              <a:rPr lang="en-US" sz="1800" dirty="0" smtClean="0"/>
              <a:t/>
            </a:r>
          </a:p>
          <a:p>
            <a:r>
              <a:rPr lang="en-US" sz="1800" dirty="0" smtClean="0"/>
              <a:t>For any help, please go to https://support.wanclouds.net or email us at support@wanclouds.net</a:t>
            </a:r>
          </a:p>
          <a:p>
            <a:r>
              <a:rPr lang="en-US" sz="1800" dirty="0" smtClean="0"/>
              <a:t>For sales related queries, please contact usat sales@wanclouds.net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Wanclouds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https://cloud.ibm.com/catalog/services/wanclouds-custom-migration-as-a-service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73</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CVVkey</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Card Security Vault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Debit and Credit Cards Fraud Prevention Solutions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Keyno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https://cloud.ibm.com/catalog/services/keyno-cvvkey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74</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CyberStrong by CyberSaint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The CyberStrong platform empowers security leaders with a comprehensive view of their cyber risk landscape utilizing generative AI</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CyberSaint is an innovative company delivering a powerfully automated Cyber Risk Management platform, CyberStrong. Fortune 50 titans and high-growth startups alike rely on CyberSaint's platform to achieve real-time risk management and continuous compliance from assessment to Boardroom.</a:t>
            </a:r>
          </a:p>
          <a:p>
            <a:r>
              <a:rPr lang="en-US" sz="1800" dirty="0" smtClean="0"/>
              <a:t/>
            </a:r>
          </a:p>
          <a:p>
            <a:r>
              <a:rPr lang="en-US" sz="1800" dirty="0" smtClean="0"/>
              <a:t>CyberStrong empowers CISOs, CIOs, cyber risk professionals and IT compliance teams to mitigate even the most unprecedented risks while automating control compliance assessments at scale. Customers leverage CyberSaint to standardize on frameworks and standards, implement risk quantification, and communicate their real-time cybersecurity posture- leading to faster, more informed decision-making at the executive level and millions in cost-savings.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CyberSaint Security</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https://cloud.ibm.com/catalog/services/cyberstrong</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75</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Data Virtualization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Lite-tier provisioning is no longer available due to the sunsetting of Data Virtualization as a Service (DVaaS). Enterprise-tier provisioning remains available and now requires approval from a product manager</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For decades, companies have tried to break down silos by copying data from different operational systems into central data stores for analysis, such as data marts, data warehouses and data lakes. These methods can be costly and are prone to error. Most struggle to manage an average of 33 unique data sources, which are diverse in structure and often trapped within inaccessible data silos. With Data Virtualization, you can query data across many systems without having to copy and replicate it, saving time and reducing costs. Data Virtualization queries data from its source, simplifying your analytics by providing the latest and most accurate data.</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https://cloud.ibm.com/catalog/services/data-virtualization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76</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Databases for Elasticsearch</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Elasticsearch combines the power of a full text search engine with the indexing strengths of a JSON document database.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Elasticsearch combines the power of a full text search engine with the indexing strengths of a JSON document database to create a powerful tool for rich data analysis on large volumes of data. Databases for Elasticsearch makes Elasticsearch even better by managing it for you. Features include high availability, automated backup orchestration, autoscaling, and de-coupled allocation of storage, RAM, and vCPUs. Databases for Elasticsearch pricing is based on underlying disk, RAM, and optional vCPU allocation, as well as backup storage usage. The service is HIPAA-Ready and compliant with PCI-DSS, SOC 1 Type 2, SOC 2 Type 2, ISO 27001, ISO 27017, ISO 27018, ISO 27701, GDPR and HITRUST. You can also learn more by viewing docs, API docs, and terms.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https://cloud.ibm.com/catalog/services/databases-for-elasticsearch</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77</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Databases for MongoDB</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MongoDB is a JSON document store with a rich query and aggregation framework.</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MongoDB is a JSON document store with a rich query and aggregation framework. Databases for MongoDB makes MongoDB even better by managing it for you. Features include high availability, automated backup orchestration, autoscaling, and de-coupled allocation of storage, RAM, and vCPUs. Databases for MongoDB pricing is based on underlying disk and RAM allocation, as well as backup storage usage. MongoDB Standard and Enterprise is HIPAA-Ready and compliant with PCI-DSS, SOC 1 Type 2, SOC 2 Type 2, ISO 27001, ISO 27017, ISO 27018, ISO 27701, GDPR and HITRUST. You can also learn more by viewing docs, API docs, and terms.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https://cloud.ibm.com/catalog/services/databases-for-mongodb</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78</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Databases for MySQL</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Build mission critical web applications that offer high performance with scalability and security.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MySQL is a fast, easy-to-use, and flexible RDBMS. As the central component of the LAMP (Linux, Apache, MySQL and PHP) web service model, it sports a number of connectors, including Python, PHP and C++ for development needs. Databases for MySQL makes MySQL even better by managing it for you. Features include high availability, automated backup orchestration, autoscaling, and de-coupled allocation of storage, RAM, and vCPUs. Databases for MySQL pricing is based on underlying disk, RAM, and optional vCPU allocation, as well as backup storage usage. You can also learn more by viewing docs, API docs, and terms.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https://cloud.ibm.com/catalog/services/databases-for-mysql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79</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Databases for PostgreSQL</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PostgreSQL is a powerful, open source object-relational database that is highly customizable.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PostgreSQL is a powerful, open source object-relational database that is highly customizable. It’s a feature-rich enterprise database with JSON support, giving you the best of both the SQL and NoSQL worlds. Databases for PostgreSQL makes PostgreSQL even better by managing it for you. Features include high availability, automated backup orchestration, autoscaling, and de-coupled allocation of storage, RAM, and vCPUs. Databases for PostgreSQL pricing is based on underlying disk, RAM, and optional vCPU allocation, as well as backup storage usage. The service is HIPAA-Ready and compliant with PCI-DSS, SOC 1 Type 2, SOC 2 Type 2, ISO 27001, ISO 27017, ISO 27018, ISO 27701, GDPR and HITRUST. You can also learn more by viewing docs, API docs, and terms.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https://cloud.ibm.com/catalog/services/databases-for-postgresql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80</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Databases for Redis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Redis is a blazingly fast, in-memory data structure store.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Redis is an open source, in-memory data structure store, used as a database, cache and message broker. It supports data structures such as strings, hashes, lists, sets, sorted sets with range queries, bitmaps, hyperloglogs and geospatial indexes with radius queries. Databases for Redis makes Redis even better by managing it for you. Features include high availability, automated backup orchestration, autoscaling, and de-coupled allocation of storage, RAM, and vCPUs. Databases for Redis pricing is based on underlying disk, RAM, and optional vCPU allocation, as well as backup storage usage. The service is HIPAA-Ready and compliant with PCI-DSS, SOC 1 Type 2, SOC 2 Type 2, ISO 27001, ISO 27017, ISO 27018, ISO 27701, GDPR and HITRUST. You can also learn more by viewing docs, API docs and terms.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https://cloud.ibm.com/catalog/services/databases-for-redis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81</a:t>
            </a: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Databases Independent Backups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Independent Backups allows you to retain, manage, and restore database backups independently of the database instance lifecycle.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Databases Independent Backups is a managed offering for IBM Cloud Databases Gen 2 (on VPC) that lets you retain and restore backups independently of the database instance lifecycle.  The service support use cases such as compliance, testing, or protection against accidental data loss. Backups are enabled by VPC Block Storage snapshots, providing cost‑efficient and flexible storage designed for instant restore, including large, multi-terabyte recovery. Each instance is an IBM Cloud resources with its own lifecycle, identity, billing, and IAM access controls, enabling fine grained access control and support even after the original database instance is no longer present.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https://cloud.ibm.com/catalog/services/databases-independent-backups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82</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DataStage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Create ETL and data pipeline services for real-time, micro-batch, and batch data orchestration.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DataStage® offers industry-leading batch and real-time data integration to build trusted data pipelines across on-premises and hybrid cloud environments allowing any integration style (ETL, ELT) to prepare data for AI.</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Analytics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Frankfurt (eu-de) London (eu-gb) Toronto (ca-tor)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https://cloud.ibm.com/catalog/services/datastage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83</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Datavalue®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Make faster, more confident decisions with your data using the Datavalue agent to assess data compliance and data valuation.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Datavalue® agent provides a standardized benchmark to assess data readiness for analytics, compliance, and monetization. This empowers organizations to make faster, more confident decisions around commercially viable derivative data.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Datavault AI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https://cloud.ibm.com/catalog/services/datavault-ai-inc-datavault-ai</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84</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Db2</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fully managed, high performance transactional database for mission critical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Built to run the world’s mission-critical workloads, IBM® Db2® database engine supports low-latency transactions and real-time analytics workloads to empower enterprises while modernizing data workloads to meet organizational AI and hybrid cloud needs.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Analytics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https://cloud.ibm.com/catalog/services/dashdb-for-transactions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85</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Db2 Warehouse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Db2 Warehouse on Cloud is a flexible and powerful data warehouse for enterprise-level analytics.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Db2 Warehouse on Cloud is a fully-managed, enterprise-class, cloud data warehouse service. Powered by IBM BLU Acceleration, Db2 Warehouse on Cloud provides you with unmatched query performance. The service is offered in multiple form factors: SMP for cost-effective cloud data warehousing, and MPP for high-performance parallel query processing and high availability.</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https://cloud.ibm.com/catalog/services/dashdb</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86</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Dedicated Host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https://cloud.ibm.com/catalog/services/power-iaas.dedicated-host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87</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Dedicated Host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single-tenant hosts that offer dedicated resources and maximum control over instance placement.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Dedicated Hosts for VPC are single-tenant hosts that are available exclusively for your use.  Dedicated hosts provide the flexibility for you to use your own software licenses, and provide maximum isolation and control over instance placement to help address corporate compliance and regulatory requirements.</a:t>
            </a:r>
          </a:p>
          <a:p>
            <a:r>
              <a:rPr lang="en-US" sz="1800" dirty="0" smtClean="0"/>
              <a:t/>
            </a:r>
          </a:p>
          <a:p>
            <a:r>
              <a:rPr lang="en-US" sz="1800" dirty="0" smtClean="0"/>
              <a:t/>
            </a:r>
          </a:p>
          <a:p>
            <a:r>
              <a:rPr lang="en-US" sz="1800" dirty="0" smtClean="0"/>
              <a:t>Dedicated host groups are built into the solution and can help you define one or more dedicated hosts for a specific business purpose.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https://cloud.ibm.com/catalog/services/is.dedicated-host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88</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Digilabs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Virtual Lab and LMS Platform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Digilabs is at the forefront of digital transformation, offering cutting-edge labs and training programs designed to equip the next generation of technology leaders with the skills they need to excel. Our labs, hosted on IBM’s industry-leading cloud platform, provide a hands-on learning experience that bridges the gap between theoretical knowledge and practical application.</a:t>
            </a:r>
          </a:p>
          <a:p>
            <a:r>
              <a:rPr lang="en-US" sz="1800" dirty="0" smtClean="0"/>
              <a:t/>
            </a:r>
          </a:p>
          <a:p>
            <a:r>
              <a:rPr lang="en-US" sz="1800" dirty="0" smtClean="0"/>
              <a:t>-------------------------------------------------------------------</a:t>
            </a:r>
          </a:p>
          <a:p>
            <a:r>
              <a:rPr lang="en-US" sz="1800" dirty="0" smtClean="0"/>
              <a:t/>
            </a:r>
          </a:p>
          <a:p>
            <a:r>
              <a:rPr lang="en-US" sz="1800" dirty="0" smtClean="0"/>
              <a:t>Key Benefits:</a:t>
            </a:r>
          </a:p>
          <a:p>
            <a:r>
              <a:rPr lang="en-US" sz="1800" dirty="0" smtClean="0"/>
              <a:t/>
            </a:r>
          </a:p>
          <a:p>
            <a:r>
              <a:rPr lang="en-US" sz="1800" dirty="0" smtClean="0"/>
              <a:t>Enhanced Learning Experience: Students gain practical insights and develop essential skills through hands-on experience in a real-world setting.</a:t>
            </a:r>
          </a:p>
          <a:p>
            <a:r>
              <a:rPr lang="en-US" sz="1800" dirty="0" smtClean="0"/>
              <a:t/>
            </a:r>
          </a:p>
          <a:p>
            <a:r>
              <a:rPr lang="en-US" sz="1800" dirty="0" smtClean="0"/>
              <a:t>Improved Learning Outcomes: Practical application of concepts leads to deeper understanding and better retention.</a:t>
            </a:r>
          </a:p>
          <a:p>
            <a:r>
              <a:rPr lang="en-US" sz="1800" dirty="0" smtClean="0"/>
              <a:t/>
            </a:r>
          </a:p>
          <a:p>
            <a:r>
              <a:rPr lang="en-US" sz="1800" dirty="0" smtClean="0"/>
              <a:t>Accessibility and Flexibility: Students can access labs anytime, anywhere, promoting flexible and self-paced learning.</a:t>
            </a:r>
          </a:p>
          <a:p>
            <a:r>
              <a:rPr lang="en-US" sz="1800" dirty="0" smtClean="0"/>
              <a:t/>
            </a:r>
          </a:p>
          <a:p>
            <a:r>
              <a:rPr lang="en-US" sz="1800" dirty="0" smtClean="0"/>
              <a:t>Industry-Relevant Skills: Labs align with industry demands, equipping students with skills needed for success in the workforce.</a:t>
            </a:r>
          </a:p>
          <a:p>
            <a:r>
              <a:rPr lang="en-US" sz="1800" dirty="0" smtClean="0"/>
              <a:t/>
            </a:r>
          </a:p>
          <a:p>
            <a:r>
              <a:rPr lang="en-US" sz="1800" dirty="0" smtClean="0"/>
              <a:t>Streamlined Workflow: Seamless LMS integration simplifies access and management for both students and educators.</a:t>
            </a:r>
          </a:p>
          <a:p>
            <a:r>
              <a:rPr lang="en-US" sz="1800" dirty="0" smtClean="0"/>
              <a:t/>
            </a:r>
          </a:p>
          <a:p>
            <a:r>
              <a:rPr lang="en-US" sz="1800" dirty="0" smtClean="0"/>
              <a:t>Cost-Effective Solution: Virtual labs eliminate the need for expensive physical infrastructure and maintenance.</a:t>
            </a:r>
          </a:p>
          <a:p>
            <a:r>
              <a:rPr lang="en-US" sz="1800" dirty="0" smtClean="0"/>
              <a:t/>
            </a:r>
          </a:p>
          <a:p>
            <a:r>
              <a:rPr lang="en-US" sz="1800" dirty="0" smtClean="0"/>
              <a:t>Multidisciplinary Specializations: Offers a range of specializations, including Cloud Architecture, Data Analytics, Information Security, DevOps, Blockchain, and Cyber Security.</a:t>
            </a:r>
          </a:p>
          <a:p>
            <a:r>
              <a:rPr lang="en-US" sz="1800" dirty="0" smtClean="0"/>
              <a:t/>
            </a:r>
          </a:p>
          <a:p>
            <a:r>
              <a:rPr lang="en-US" sz="1800" dirty="0" smtClean="0"/>
              <a:t>-------------------------------------------------------------------</a:t>
            </a:r>
          </a:p>
          <a:p>
            <a:r>
              <a:rPr lang="en-US" sz="1800" dirty="0" smtClean="0"/>
              <a:t/>
            </a:r>
          </a:p>
          <a:p>
            <a:r>
              <a:rPr lang="en-US" sz="1800" dirty="0" smtClean="0"/>
              <a:t>Our Offerings:</a:t>
            </a:r>
          </a:p>
          <a:p>
            <a:r>
              <a:rPr lang="en-US" sz="1800" dirty="0" smtClean="0"/>
              <a:t/>
            </a:r>
          </a:p>
          <a:p>
            <a:r>
              <a:rPr lang="en-US" sz="1800" dirty="0" smtClean="0"/>
              <a:t>Extensive Cloud Labs: Gain hands-on experience with over 150 labs available on a robust cloud platform</a:t>
            </a:r>
          </a:p>
          <a:p>
            <a:r>
              <a:rPr lang="en-US" sz="1800" dirty="0" smtClean="0"/>
              <a:t/>
            </a:r>
          </a:p>
          <a:p>
            <a:r>
              <a:rPr lang="en-US" sz="1800" dirty="0" smtClean="0"/>
              <a:t>Secure Online Assessments: Complete assessments online with automated proctoring for secure testing.</a:t>
            </a:r>
          </a:p>
          <a:p>
            <a:r>
              <a:rPr lang="en-US" sz="1800" dirty="0" smtClean="0"/>
              <a:t/>
            </a:r>
          </a:p>
          <a:p>
            <a:r>
              <a:rPr lang="en-US" sz="1800" dirty="0" smtClean="0"/>
              <a:t>Schedule Management: Easily track and manage your classes and lab schedules through an integrated system.</a:t>
            </a:r>
          </a:p>
          <a:p>
            <a:r>
              <a:rPr lang="en-US" sz="1800" dirty="0" smtClean="0"/>
              <a:t/>
            </a:r>
          </a:p>
          <a:p>
            <a:r>
              <a:rPr lang="en-US" sz="1800" dirty="0" smtClean="0"/>
              <a:t>Comprehensive Reporting: Access detailed reports on attendance,student performance, and class activities.</a:t>
            </a:r>
          </a:p>
          <a:p>
            <a:r>
              <a:rPr lang="en-US" sz="1800" dirty="0" smtClean="0"/>
              <a:t/>
            </a:r>
          </a:p>
          <a:p>
            <a:r>
              <a:rPr lang="en-US" sz="1800" dirty="0" smtClean="0"/>
              <a:t>Timely Notifications: Receive timely notifications about classes, labs, tests, and other important update</a:t>
            </a:r>
          </a:p>
          <a:p>
            <a:r>
              <a:rPr lang="en-US" sz="1800" dirty="0" smtClean="0"/>
              <a:t/>
            </a:r>
          </a:p>
          <a:p>
            <a:r>
              <a:rPr lang="en-US" sz="1800" dirty="0" smtClean="0"/>
              <a:t>Live Online Classes: Attend live online classes from anywhere, guided by expert instructors.</a:t>
            </a:r>
          </a:p>
          <a:p>
            <a:r>
              <a:rPr lang="en-US" sz="1800" dirty="0" smtClean="0"/>
              <a:t> </a:t>
            </a:r>
          </a:p>
          <a:p>
            <a:r>
              <a:rPr lang="en-US" sz="1800" dirty="0" smtClean="0"/>
              <a:t>Project Guidance: Engage in project discussions and receive monitoring from faculty to ensure progress.</a:t>
            </a:r>
          </a:p>
          <a:p>
            <a:r>
              <a:rPr lang="en-US" sz="1800" dirty="0" smtClean="0"/>
              <a:t/>
            </a:r>
          </a:p>
          <a:p>
            <a:r>
              <a:rPr lang="en-US" sz="1800" dirty="0" smtClean="0"/>
              <a:t>Interactive Forums &amp; Dashboard:Participate in discussions on forums and monitor your progress via a personalized dashboard.</a:t>
            </a:r>
          </a:p>
          <a:p>
            <a:r>
              <a:rPr lang="en-US" sz="1800" dirty="0" smtClean="0"/>
              <a:t/>
            </a:r>
          </a:p>
          <a:p>
            <a:r>
              <a:rPr lang="en-US" sz="1800" dirty="0" smtClean="0"/>
              <a:t>Real-Time Chat: Use the chatbox for real-time interaction between faculty and students, as well as group discussions.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Star Systems India Private Limited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https://cloud.ibm.com/catalog/services/stardigilabs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89</a:t>
            </a: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Direct Link Connect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Leverage a Service Provider to quickly establish and deliver connectivity to IBM Cloud locations.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Direct Link Connect offers private access to your IBM Cloud infrastructure and to any other clouds linked to your Network Service Provider, through your local IBM Cloud data center. This option is perfect for creating multi-cloud connectivity in a single environment. We connect customers to the IBM Cloud private network, using a shared bandwidth topology. As with all Direct Link products, you can add global routing that enables private network traffic to all IBM Cloud locations.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https://cloud.ibm.com/catalog/services/directlink.connect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90</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Direct Link Connect on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IBM Cloud Direct Link Connect offers private access to your IBM Cloud infrastructure and to any other clouds linked to your Network Service Provider, through your local IBM Cloud data center.</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Direct Link Connect offers private access to your IBM Cloud infrastructure and to any other clouds linked to your Network Service Provider, through your local IBM Cloud data center. This option is perfect for creating multi-cloud connectivity in a single environment. We connect customers to the IBM Cloud private network, using a shared bandwidth topology. As with all Direct Link products, you can add global routing that enables private network traffic to all IBM Cloud locations.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https://cloud.ibm.com/catalog/infrastructure/direct-link-cloud-connect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91</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Direct Link Dedicated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Ensure the security of sensitive data to and from the IBM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This is the 2.0 version of Direct Link. IBM Cloud Direct Link helps ensure the security of sensitive data to and from the IBM Cloud. Back up or store huge volumes of data from your data center on IBM Cloud with predictable bandwidth costs. With a dedicated network connection, your transfer rates are fast, consistent and reliable.</a:t>
            </a:r>
          </a:p>
          <a:p>
            <a:r>
              <a:rPr lang="en-US" sz="1800" dirty="0" smtClean="0"/>
              <a:t/>
            </a:r>
          </a:p>
          <a:p>
            <a:r>
              <a:rPr lang="en-US" sz="1800" dirty="0" smtClean="0"/>
              <a:t>Secure</a:t>
            </a:r>
          </a:p>
          <a:p>
            <a:r>
              <a:rPr lang="en-US" sz="1800" dirty="0" smtClean="0"/>
              <a:t>Protect your sensitive, business-critical data by controlling every hop of its network path and avoiding exposure to the public internet.</a:t>
            </a:r>
          </a:p>
          <a:p>
            <a:r>
              <a:rPr lang="en-US" sz="1800" dirty="0" smtClean="0"/>
              <a:t/>
            </a:r>
          </a:p>
          <a:p>
            <a:r>
              <a:rPr lang="en-US" sz="1800" dirty="0" smtClean="0"/>
              <a:t>Secure</a:t>
            </a:r>
          </a:p>
          <a:p>
            <a:r>
              <a:rPr lang="en-US" sz="1800" dirty="0" smtClean="0"/>
              <a:t>Protect your sensitive, business-critical data by controlling every hop of its network path and avoiding exposure to the public internet.</a:t>
            </a:r>
          </a:p>
          <a:p>
            <a:r>
              <a:rPr lang="en-US" sz="1800" dirty="0" smtClean="0"/>
              <a:t/>
            </a:r>
          </a:p>
          <a:p>
            <a:r>
              <a:rPr lang="en-US" sz="1800" dirty="0" smtClean="0"/>
              <a:t>Reliable</a:t>
            </a:r>
          </a:p>
          <a:p>
            <a:r>
              <a:rPr lang="en-US" sz="1800" dirty="0" smtClean="0"/>
              <a:t>Designed for customers that need more consistent, higher-throughput connectivity between a remote network and their IBM Cloud environments.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https://cloud.ibm.com/catalog/services/directlink.dedicated</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92</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Direct Link Dedicated Hosting on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Establish unparalleled network performance to and from your IBM Cloud platform resources, with customized support for your secure, dedicated workloads that require predictable latency.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can arrange the acquisition of colocation space that fits your needs. As with all Direct Link products, you can add global routing that enables private network traffic to all IBM Cloud locations.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https://cloud.ibm.com/catalog/infrastructure/DIRECT_LINK_COLOCATION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93</a:t>
            </a: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Direct Link Dedicated on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Connect directly to IBM Cloud through a single-tenant connection, using a dedicated circuit or cross-connect, for unparalleled network performance to and from your IBM Cloud platform resources.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Direct Link Dedicated is a single-tenant product. It offers a dedicated port that is perfect for banks, insurance companies or anyone with strict compliance policies. Create a fiber cross-connection through a network service provider (NSP) in an IBM Cloud network point of presence (PoP). Our engineers facilitate end-to-end connectivity with your selected NSP, and you have access to your cloud infrastructure in the local IBM Cloud data center. The NSP runs last-mile links directly between a router on your network and an IBM Cloud router. As with all of the Direct Link products, you can add global routing that enables private network traffic to all IBM Cloud locations.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https://cloud.ibm.com/catalog/infrastructure/direct-link-network-service-provider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94</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Direct Link Exchange on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IBM Cloud Direct Link Exchange offers multi-tenant connections to your IBM Cloud infrastructure, through your local IBM Cloud data center, perfect for creating multi-cloud connectivity in a single environment.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Direct Link Exchange offers multi-tenant connections to your IBM Cloud infrastructure, through your local IBM Cloud data center. This option is perfect for creating multi-cloud connectivity in a single environment. We connect customers to the IBM Cloud private network, using a shared bandwidth topology. You can aggregate your MPLS, VPLS, or EVPN into the IBM Cloud network over VLANs, using one of our global network and exchange providers. As with all Direct Link products, you can add global routing that enables private network traffic to all IBM Cloud locations.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https://cloud.ibm.com/catalog/infrastructure/direct-link-cloud-exchange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95</a:t>
            </a: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Dizzion Cloud 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Deliver modern, secure, and scalable cloud desktops with Dizzion Cloud PC, a fully managed solution on IBM Cloud infrastructure.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With Dizzion Cloud PC on IBM Cloud, organizations can streamline their virtual desktop delivery by combining the power of the Dizzion cloud platform with the global scale and security of IBM Cloud. This fully managed Desktop as a Service (DaaS) solution enables persistent, personal Windows 11 desktop experiences, built for hybrid work and maximum productivity. We offer two complementary tiers - Core and Complete - to fit every operational model.</a:t>
            </a:r>
          </a:p>
          <a:p>
            <a:r>
              <a:rPr lang="en-US" sz="1800" dirty="0" smtClean="0"/>
              <a:t/>
            </a:r>
          </a:p>
          <a:p>
            <a:r>
              <a:rPr lang="en-US" sz="1800" dirty="0" smtClean="0"/>
              <a:t/>
            </a:r>
          </a:p>
          <a:p>
            <a:r>
              <a:rPr lang="en-US" sz="1800" dirty="0" smtClean="0"/>
              <a:t>The Core Tier is ideal for organizations that already have in-house IT operations, identity services, and endpoint management tools in place. If your team can handle monitoring, patching, and support with existing staff and systems, Core lets you spin up Cloud PCs in minutes - without overhauling your workflows. Companies with 25 or more users can choose from five performance-tuned configurations, plug into your existing AD or run as standalone, and deploy directly over the internet or via private networking.</a:t>
            </a:r>
          </a:p>
          <a:p>
            <a:r>
              <a:rPr lang="en-US" sz="1800" dirty="0" smtClean="0"/>
              <a:t/>
            </a:r>
          </a:p>
          <a:p>
            <a:r>
              <a:rPr lang="en-US" sz="1800" dirty="0" smtClean="0"/>
              <a:t/>
            </a:r>
          </a:p>
          <a:p>
            <a:r>
              <a:rPr lang="en-US" sz="1800" dirty="0" smtClean="0"/>
              <a:t>The Complete Tier builds on the flexibility of Core with enterprise-grade management, security, and unlimited scalability for 50+ desktops, and requires Private Network Access per region. With Dizzion-managed services - Overwatch real-time observability &amp; analytics, automated OS and Application patching, and self-service software deployment for up to two administrators - you get a truly hands-off Cloud PC experience. Tailored for organizations requiring centralized identity, granular performance controls, and seamless global expansion, the Complete Tier also offers a rich add-on catalog - from vulnerability monitoring to advanced firewalling - delivering a turnkey solution that scales with your business. The only elements you manage are end-user support and application deployment.</a:t>
            </a:r>
          </a:p>
          <a:p>
            <a:r>
              <a:rPr lang="en-US" sz="1800" dirty="0" smtClean="0"/>
              <a:t/>
            </a:r>
          </a:p>
          <a:p>
            <a:r>
              <a:rPr lang="en-US" sz="1800" dirty="0" smtClean="0"/>
              <a:t/>
            </a:r>
          </a:p>
          <a:p>
            <a:r>
              <a:rPr lang="en-US" sz="1800" dirty="0" smtClean="0"/>
              <a:t>Whether you are migrating from on-premises VDI or looking to modernize legacy PC deployments, Dizzion Cloud PC provides a seamless path forward with predictable pricing, great user experience, fast provisioning, simplified management, and deployment.</a:t>
            </a:r>
          </a:p>
          <a:p>
            <a:r>
              <a:rPr lang="en-US" sz="1800" dirty="0" smtClean="0"/>
              <a:t/>
            </a:r>
          </a:p>
          <a:p>
            <a:r>
              <a:rPr lang="en-US" sz="1800" dirty="0" smtClean="0"/>
              <a:t/>
            </a:r>
          </a:p>
          <a:p>
            <a:r>
              <a:rPr lang="en-US" sz="1800" dirty="0" smtClean="0"/>
              <a:t>For sales support, reach out to Dizzion directly at sales@dizzion.com.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Dizzion,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https://cloud.ibm.com/catalog/services/dizzion-cloud-pc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96</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Dizzion Desktop as a Service (DaaS)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Simply and intuitively deploy and manage virtual desktops and apps on IBM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Dizzion DaaS enables clients to simply and intuitively deploy and manage their virtual desktop and app workloads on IBM Cloud, leveraging Dizzion's cloud platform. Users securely access the apps, data, and resources they need to be productive from the comfort of their favorite web browser - no clients or plug-ins required. Admins can deploy thousands of digital workspaces across the globe in minutes and enjoy powerful enterprise features all managed from a single pane-of-glass web console. With Dizzion DaaS on IBM Cloud, organizations are well-prepared to address the challenges (and reap the benefits) of the modern workplace and workforce by significantly improving the agility, security, and capabilities of their end-user computing strategy.</a:t>
            </a:r>
          </a:p>
          <a:p>
            <a:r>
              <a:rPr lang="en-US" sz="1800" dirty="0" smtClean="0"/>
              <a:t/>
            </a:r>
          </a:p>
          <a:p>
            <a:r>
              <a:rPr lang="en-US" sz="1800" dirty="0" smtClean="0"/>
              <a:t>For sales support, reach out to Dizzion directly at sales@dizzion.com.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Dizzion,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Integration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https://cloud.ibm.com/catalog/services/dizzion-daas-new</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97</a:t>
            </a: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DNS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Use DNS Services on VPC Private Networks to manage hostnames and IP addresses while limiting access to the DNS records from permitted networks only.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DNS Services provides a reliable, secure mechanism to manage DNS records, and resolve domain names from a VPC without adding a custom DNS solution. With DNS Services, you can </a:t>
            </a:r>
          </a:p>
          <a:p>
            <a:r>
              <a:rPr lang="en-US" sz="1800" dirty="0" smtClean="0"/>
              <a:t>- Create private DNS zones which can only be resolved from IBM Cloud's private network.</a:t>
            </a:r>
          </a:p>
          <a:p>
            <a:r>
              <a:rPr lang="en-US" sz="1800" dirty="0" smtClean="0"/>
              <a:t>- Perform forward and reverse DNS lookup.</a:t>
            </a:r>
          </a:p>
          <a:p>
            <a:r>
              <a:rPr lang="en-US" sz="1800" dirty="0" smtClean="0"/>
              <a:t>- Configure zone names with a split-horizon view, which allows a private and a public DNS zone to share the name.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https://cloud.ibm.com/catalog/services/dns-svcs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98</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Draup for Sales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AI-powered sales intelligence platform that finds high-value prospects,reveals buyer priorities,and personalizes outreach to Scale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Draup for Sales is a Global Sales Intelligence platform that transforms how enterprise sales and account teams identify opportunities, plan pursuits, and win complex deals. </a:t>
            </a:r>
          </a:p>
          <a:p>
            <a:r>
              <a:rPr lang="en-US" sz="1800" dirty="0" smtClean="0"/>
              <a:t/>
            </a:r>
          </a:p>
          <a:p>
            <a:r>
              <a:rPr lang="en-US" sz="1800" dirty="0" smtClean="0"/>
              <a:t>Built on rich, proprietary market and labor data ecosystems, Draup delivers contextual, comprehensive, and real-time intelligence across every stage of the enterprise sales lifecycle. </a:t>
            </a:r>
          </a:p>
          <a:p>
            <a:r>
              <a:rPr lang="en-US" sz="1800" dirty="0" smtClean="0"/>
              <a:t/>
            </a:r>
          </a:p>
          <a:p>
            <a:r>
              <a:rPr lang="en-US" sz="1800" dirty="0" smtClean="0"/>
              <a:t>Unlike traditional databases that just list contacts, Draup maps industries, accounts, and buyers into a single explainable interface, showing who to target, why now, and what to say. </a:t>
            </a:r>
          </a:p>
          <a:p>
            <a:r>
              <a:rPr lang="en-US" sz="1800" dirty="0" smtClean="0"/>
              <a:t/>
            </a:r>
          </a:p>
          <a:p>
            <a:r>
              <a:rPr lang="en-US" sz="1800" dirty="0" smtClean="0"/>
              <a:t>Core Modules </a:t>
            </a:r>
          </a:p>
          <a:p>
            <a:r>
              <a:rPr lang="en-US" sz="1800" dirty="0" smtClean="0"/>
              <a:t/>
            </a:r>
          </a:p>
          <a:p>
            <a:r>
              <a:rPr lang="en-US" sz="1800" dirty="0" smtClean="0"/>
              <a:t>·       Industry Intelligence: Explore emerging use cases, market drivers, and investment trends across 33 industries. Identify fast-moving opportunities with live signals from 70K+ data sources. </a:t>
            </a:r>
          </a:p>
          <a:p>
            <a:r>
              <a:rPr lang="en-US" sz="1800" dirty="0" smtClean="0"/>
              <a:t/>
            </a:r>
          </a:p>
          <a:p>
            <a:r>
              <a:rPr lang="en-US" sz="1800" dirty="0" smtClean="0"/>
              <a:t>·       Account Intelligence: Access 360° company profiles with financials, tech stacks, outsourcing vendors, talent demand, business priorities and geo-level workforce trends. </a:t>
            </a:r>
          </a:p>
          <a:p>
            <a:r>
              <a:rPr lang="en-US" sz="1800" dirty="0" smtClean="0"/>
              <a:t/>
            </a:r>
          </a:p>
          <a:p>
            <a:r>
              <a:rPr lang="en-US" sz="1800" dirty="0" smtClean="0"/>
              <a:t>·       Buyer Intelligence: Discover true decision-making committees, track leadership moves, and tailor outreach using intent and influence data. </a:t>
            </a:r>
          </a:p>
          <a:p>
            <a:r>
              <a:rPr lang="en-US" sz="1800" dirty="0" smtClean="0"/>
              <a:t/>
            </a:r>
          </a:p>
          <a:p>
            <a:r>
              <a:rPr lang="en-US" sz="1800" dirty="0" smtClean="0"/>
              <a:t>·       Braindesk: AI-curated repository for on-demand reports and presentations on market, location, and talent trends  </a:t>
            </a:r>
          </a:p>
          <a:p>
            <a:r>
              <a:rPr lang="en-US" sz="1800" dirty="0" smtClean="0"/>
              <a:t/>
            </a:r>
          </a:p>
          <a:p>
            <a:r>
              <a:rPr lang="en-US" sz="1800" dirty="0" smtClean="0"/>
              <a:t>·       Projects: Dedicated workspace to build and manage account plans, bookmark key orgs, and collaborate across pursuits with saved searches, lists, and live signal tracking. </a:t>
            </a:r>
          </a:p>
          <a:p>
            <a:r>
              <a:rPr lang="en-US" sz="1800" dirty="0" smtClean="0"/>
              <a:t/>
            </a:r>
          </a:p>
          <a:p>
            <a:r>
              <a:rPr lang="en-US" sz="1800" dirty="0" smtClean="0"/>
              <a:t> </a:t>
            </a:r>
          </a:p>
          <a:p>
            <a:r>
              <a:rPr lang="en-US" sz="1800" dirty="0" smtClean="0"/>
              <a:t/>
            </a:r>
          </a:p>
          <a:p>
            <a:r>
              <a:rPr lang="en-US" sz="1800" dirty="0" smtClean="0"/>
              <a:t>Why It Matters </a:t>
            </a:r>
          </a:p>
          <a:p>
            <a:r>
              <a:rPr lang="en-US" sz="1800" dirty="0" smtClean="0"/>
              <a:t/>
            </a:r>
          </a:p>
          <a:p>
            <a:r>
              <a:rPr lang="en-US" sz="1800" dirty="0" smtClean="0"/>
              <a:t>·       For Account Executives: Build sharper, faster pursuit plans aligned to each buyer’s priorities. </a:t>
            </a:r>
          </a:p>
          <a:p>
            <a:r>
              <a:rPr lang="en-US" sz="1800" dirty="0" smtClean="0"/>
              <a:t/>
            </a:r>
          </a:p>
          <a:p>
            <a:r>
              <a:rPr lang="en-US" sz="1800" dirty="0" smtClean="0"/>
              <a:t>·       For ABM &amp; Marketing Teams: Target the right industries and accounts at the right moment. </a:t>
            </a:r>
          </a:p>
          <a:p>
            <a:r>
              <a:rPr lang="en-US" sz="1800" dirty="0" smtClean="0"/>
              <a:t/>
            </a:r>
          </a:p>
          <a:p>
            <a:r>
              <a:rPr lang="en-US" sz="1800" dirty="0" smtClean="0"/>
              <a:t>·       For Partner Sales &amp; Alliances: Identify where partnerships can accelerate growth and attach motions. </a:t>
            </a:r>
          </a:p>
          <a:p>
            <a:r>
              <a:rPr lang="en-US" sz="1800" dirty="0" smtClean="0"/>
              <a:t/>
            </a:r>
          </a:p>
          <a:p>
            <a:r>
              <a:rPr lang="en-US" sz="1800" dirty="0" smtClean="0"/>
              <a:t>·       For Sales Leadership: De-risk forecasts with verified real-time signals that show deal readiness and timing.  </a:t>
            </a:r>
          </a:p>
          <a:p>
            <a:r>
              <a:rPr lang="en-US" sz="1800" dirty="0" smtClean="0"/>
              <a:t/>
            </a:r>
          </a:p>
          <a:p>
            <a:r>
              <a:rPr lang="en-US" sz="1800" dirty="0" smtClean="0"/>
              <a:t>Core Use Cases: </a:t>
            </a:r>
          </a:p>
          <a:p>
            <a:r>
              <a:rPr lang="en-US" sz="1800" dirty="0" smtClean="0"/>
              <a:t/>
            </a:r>
          </a:p>
          <a:p>
            <a:r>
              <a:rPr lang="en-US" sz="1800" dirty="0" smtClean="0"/>
              <a:t>·       Account Prioritization &amp; Whitespace Discovery </a:t>
            </a:r>
          </a:p>
          <a:p>
            <a:r>
              <a:rPr lang="en-US" sz="1800" dirty="0" smtClean="0"/>
              <a:t>Identify and rank high-potential accounts using verified intent, fit, and timing signals to focus on where revenue is most likely to convert. </a:t>
            </a:r>
          </a:p>
          <a:p>
            <a:r>
              <a:rPr lang="en-US" sz="1800" dirty="0" smtClean="0"/>
              <a:t/>
            </a:r>
          </a:p>
          <a:p>
            <a:r>
              <a:rPr lang="en-US" sz="1800" dirty="0" smtClean="0"/>
              <a:t>·       Buyer Committee Mapping &amp; Persona Targeting </a:t>
            </a:r>
          </a:p>
          <a:p>
            <a:r>
              <a:rPr lang="en-US" sz="1800" dirty="0" smtClean="0"/>
              <a:t>Uncover true decision-making committees, map influencers and stakeholders, and tailor outreach with persona-level insights and context. </a:t>
            </a:r>
          </a:p>
          <a:p>
            <a:r>
              <a:rPr lang="en-US" sz="1800" dirty="0" smtClean="0"/>
              <a:t/>
            </a:r>
          </a:p>
          <a:p>
            <a:r>
              <a:rPr lang="en-US" sz="1800" dirty="0" smtClean="0"/>
              <a:t>·       Account Planning &amp; Management </a:t>
            </a:r>
          </a:p>
          <a:p>
            <a:r>
              <a:rPr lang="en-US" sz="1800" dirty="0" smtClean="0"/>
              <a:t>Build dynamic, data-backed account plans that track business intentions, tech stacks, partnerships, and executive movements - all in one view. </a:t>
            </a:r>
          </a:p>
          <a:p>
            <a:r>
              <a:rPr lang="en-US" sz="1800" dirty="0" smtClean="0"/>
              <a:t/>
            </a:r>
          </a:p>
          <a:p>
            <a:r>
              <a:rPr lang="en-US" sz="1800" dirty="0" smtClean="0"/>
              <a:t>·       Partner &amp; Channel Sales Enablement </a:t>
            </a:r>
          </a:p>
          <a:p>
            <a:r>
              <a:rPr lang="en-US" sz="1800" dirty="0" smtClean="0"/>
              <a:t>Align sales motions with partner strengths, uncover co-sell opportunities, and accelerate joint wins through verified ecosystem and workload data. </a:t>
            </a:r>
          </a:p>
          <a:p>
            <a:r>
              <a:rPr lang="en-US" sz="1800" dirty="0" smtClean="0"/>
              <a:t/>
            </a:r>
          </a:p>
          <a:p>
            <a:r>
              <a:rPr lang="en-US" sz="1800" dirty="0" smtClean="0"/>
              <a:t>·       Signal-Driven Prospecting (Fit, Intent, and Timing) </a:t>
            </a:r>
          </a:p>
          <a:p>
            <a:r>
              <a:rPr lang="en-US" sz="1800" dirty="0" smtClean="0"/>
              <a:t>Convert millions of live market signals into prioritized prospect lists, targeting the right accounts at the right moment with the right message.  </a:t>
            </a:r>
          </a:p>
          <a:p>
            <a:r>
              <a:rPr lang="en-US" sz="1800" dirty="0" smtClean="0"/>
              <a:t/>
            </a:r>
          </a:p>
          <a:p>
            <a:r>
              <a:rPr lang="en-US" sz="1800" dirty="0" smtClean="0"/>
              <a:t>Key Outcomes: </a:t>
            </a:r>
          </a:p>
          <a:p>
            <a:r>
              <a:rPr lang="en-US" sz="1800" dirty="0" smtClean="0"/>
              <a:t>↑ Win rate &amp; ACV ↓ Sales cycle &amp; research time ↑ Meeting→Opportunity conversion ↓ Forecast slips &amp; cost-to-sell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Draup,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https://cloud.ibm.com/catalog/services/draup-sales-agent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99</a:t>
            </a: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Dynamiq AI Legal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comprehensive legal research agent supporting legal professionals, law students, and individuals requiring legal information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Dynamiq Legal Agent is a comprehensive legal research assistant that supports legal professionals, law students, and individuals requiring legal information through a structured three-phase approach:</a:t>
            </a:r>
          </a:p>
          <a:p>
            <a:r>
              <a:rPr lang="en-US" sz="1800" dirty="0" smtClean="0"/>
              <a:t>1.	Client intake and case analysis</a:t>
            </a:r>
          </a:p>
          <a:p>
            <a:r>
              <a:rPr lang="en-US" sz="1800" dirty="0" smtClean="0"/>
              <a:t>2.	Iterative legal research using EXA search capabilities</a:t>
            </a:r>
          </a:p>
          <a:p>
            <a:r>
              <a:rPr lang="en-US" sz="1800" dirty="0" smtClean="0"/>
              <a:t>3.	Professional legal document structuring and synthesis</a:t>
            </a:r>
          </a:p>
          <a:p>
            <a:r>
              <a:rPr lang="en-US" sz="1800" dirty="0" smtClean="0"/>
              <a:t>The agent operates as a multi-functional tool combining paralegal intake procedures, systematic legal research methodology, and professional document drafting, powered by xAI Grok 4 for advanced reasoning and EXA for precise legal information retrieval.</a:t>
            </a:r>
          </a:p>
          <a:p>
            <a:r>
              <a:rPr lang="en-US" sz="1800" dirty="0" smtClean="0"/>
              <a:t/>
            </a:r>
          </a:p>
          <a:p>
            <a:r>
              <a:rPr lang="en-US" sz="1800" dirty="0" smtClean="0"/>
              <a:t>It is an API-only service designed for IBM watsonx Orchestrate.</a:t>
            </a:r>
          </a:p>
          <a:p>
            <a:r>
              <a:rPr lang="en-US" sz="1800" dirty="0" smtClean="0"/>
              <a:t>Important Disclaimer: This agent is not providing legal advice; this is research synthesis only.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Dynamiq Technologies,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https://cloud.ibm.com/catalog/services/dynamiq-ai-agent-legal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100</a:t>
            </a: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Dynamiq AI Medical Researcher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This is Medical Researcher AI Agent that supports clinicians, patients, and caregivers.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This agent is a medical researcher and assistant  that supports clinicians, patients, and caregivers by providing recommendations and guidance across a wide range of medical conditions. </a:t>
            </a:r>
          </a:p>
          <a:p>
            <a:r>
              <a:rPr lang="en-US" sz="1800" dirty="0" smtClean="0"/>
              <a:t>It can recommend clinical treatment for a patient (decisions belong to the doctor), help with interpretation of diagnostic results, and answer general questions such as guidelines, common practices or research findings.</a:t>
            </a:r>
          </a:p>
          <a:p>
            <a:r>
              <a:rPr lang="en-US" sz="1800" dirty="0" smtClean="0"/>
              <a:t>It is an API-only service designed for IBM watsonx Orchestrate.</a:t>
            </a:r>
          </a:p>
          <a:p>
            <a:r>
              <a:rPr lang="en-US" sz="1800" dirty="0" smtClean="0"/>
              <a:t/>
            </a:r>
          </a:p>
          <a:p>
            <a:r>
              <a:rPr lang="en-US" sz="1800" dirty="0" smtClean="0"/>
              <a:t>⚠️ IMPORTANT MEDICAL DISCLAIMER AND LIMITATION OF LIABILITY</a:t>
            </a:r>
          </a:p>
          <a:p>
            <a:r>
              <a:rPr lang="en-US" sz="1800" dirty="0" smtClean="0"/>
              <a:t>The agent does not replace professional medical judgment or legal requirements.</a:t>
            </a:r>
          </a:p>
          <a:p>
            <a:r>
              <a:rPr lang="en-US" sz="1800" dirty="0" smtClean="0"/>
              <a:t>This AI system is designed **solely for research, educational, and informational purposes and is not intended for clinical decision-making, diagnosis, treatment, or patient care**. </a:t>
            </a:r>
          </a:p>
          <a:p>
            <a:r>
              <a:rPr lang="en-US" sz="1800" dirty="0" smtClean="0"/>
              <a:t>This system does **not provide medical advice, diagnosis, treatment recommendations, or professional healthcare guidance**.</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Dynamiq Technologies,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https://cloud.ibm.com/catalog/services/dynamiq-ai-agent-001</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101</a:t>
            </a:r>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Elastio - Advanced Ransomware Protection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Elastio adds advanced ransomware protection to IBM Cloud Object Storage by proactively validating data is clean and uncompromised.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Before getting started, ensure you have an IBM Cloud Object storage instance. You can create one here: https://cloud.ibm.com/objectstorage</a:t>
            </a:r>
          </a:p>
          <a:p>
            <a:r>
              <a:rPr lang="en-US" sz="1800" dirty="0" smtClean="0"/>
              <a:t/>
            </a:r>
          </a:p>
          <a:p>
            <a:r>
              <a:rPr lang="en-US" sz="1800" dirty="0" smtClean="0"/>
              <a:t>As ransomware increasingly bypasses endpoint and network defenses, customers now expect storage itself to become an active layer of cyber defense - a model analysts define as cyberstorage. In this approach, stored data is no longer passive infrastructure, but a control point where attacks are detected, scoped, and recovery decisions are made. </a:t>
            </a:r>
          </a:p>
          <a:p>
            <a:r>
              <a:rPr lang="en-US" sz="1800" dirty="0" smtClean="0"/>
              <a:t/>
            </a:r>
          </a:p>
          <a:p>
            <a:r>
              <a:rPr lang="en-US" sz="1800" dirty="0" smtClean="0"/>
              <a:t>Elastio enhances IBM Cloud Object Storage (COS) by adding a data integrity layer that detects ransomware, malware, and corruption directly within stored cloud object data. Using advanced machine learning built on over a decade of ransomware research, Elastio identifies known and zero-day encryption techniques, including stealthy, fileless attacks that evade traditional security tools.</a:t>
            </a:r>
          </a:p>
          <a:p>
            <a:r>
              <a:rPr lang="en-US" sz="1800" dirty="0" smtClean="0"/>
              <a:t/>
            </a:r>
          </a:p>
          <a:p>
            <a:r>
              <a:rPr lang="en-US" sz="1800" dirty="0" smtClean="0"/>
              <a:t>By scanning data outside of production systems, Elastio provides early visibility into ransomware impact and enables recovery assurance from pre-validated data. This transforms IBM Cloud Object Storage from durable storage into cyberstorage: strengthening cyber resilience, supporting compliance requirements, and giving customers confidence that the data they store in IBM COS is trustworthy.</a:t>
            </a:r>
          </a:p>
          <a:p>
            <a:r>
              <a:rPr lang="en-US" sz="1800" dirty="0" smtClean="0"/>
              <a:t/>
            </a:r>
          </a:p>
          <a:p>
            <a:r>
              <a:rPr lang="en-US" sz="1800" dirty="0" smtClean="0"/>
              <a:t>Any questions? Reach out to ibm@elastio.com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Elastio Software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https://cloud.ibm.com/catalog/services/elastio</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102</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Email Delivery, powered by Sendgrid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Integrate and Deliver via SMTP or API in 5 Minutes or Less</a:t>
            </a:r>
          </a:p>
          <a:p>
            <a:r>
              <a:rPr lang="en-US" sz="2000" dirty="0" smtClean="0">
                <a:solidFill>
                  <a:srgbClr val="808080"/>
                </a:solidFill>
              </a:rPr>
              <a:t/>
            </a:r>
          </a:p>
          <a:p>
            <a:r>
              <a:rPr lang="en-US" sz="2000" dirty="0" smtClean="0">
                <a:solidFill>
                  <a:srgbClr val="808080"/>
                </a:solidFill>
              </a:rPr>
              <a:t>Our SMTP relay setup and flexible Web and SMTP APIs provide a customizable integration approach for your transactional email.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Your business relies on getting email to the inbox. Your email delivery rate—the rate at which your emails actually make it to the inbox—is the most important metric for your email program's success. While no one can guarantee email deliverability, with SendGrid you can be confident that you’ll have the tools and the expertise you need to optimize your inbox delivery rate.</a:t>
            </a:r>
          </a:p>
          <a:p>
            <a:r>
              <a:rPr lang="en-US" sz="1800" dirty="0" smtClean="0"/>
              <a:t/>
            </a:r>
          </a:p>
          <a:p>
            <a:r>
              <a:rPr lang="en-US" sz="1800" dirty="0" smtClean="0"/>
              <a:t>As a SendGrid customer, your sending is enhanced with artificial intelligence that continually adapts to changing ISP rules. Businesses large and small can increase their delivery rates with ACE, our Adaptive Communication Engine. The SendGrid team's collective knowledge of email best practices is becoming an encoded AI across our platform, further heightening your deliverability and throughput.</a:t>
            </a:r>
          </a:p>
          <a:p>
            <a:r>
              <a:rPr lang="en-US" sz="1800" dirty="0" smtClean="0"/>
              <a:t/>
            </a:r>
          </a:p>
          <a:p>
            <a:r>
              <a:rPr lang="en-US" sz="1800" dirty="0" smtClean="0"/>
              <a:t>We partner with the ISP, compliance, and delivery communities to fight spam and keep email safe for all. We are trusted to work with only the best senders, and use our whitehat position in the industry to advocate for our customers.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SendGrid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https://cloud.ibm.com/catalog/infrastructure/email-delivery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103</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etiCloud secure digital agile workplace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etiCloud Secure Digital Agile Workplace - Secure Desktop-as-a-Service delivered as a private business environment.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Agile Digital Workplace:</a:t>
            </a:r>
          </a:p>
          <a:p>
            <a:r>
              <a:rPr lang="en-US" sz="1800" dirty="0" smtClean="0"/>
              <a:t>Access documents, files, emails and relevant applications quickly and securely, anytime, anywhere – enabling a truly agile digital workplace to improve cost and time efficiencies.</a:t>
            </a:r>
          </a:p>
          <a:p>
            <a:r>
              <a:rPr lang="en-US" sz="1800" dirty="0" smtClean="0"/>
              <a:t/>
            </a:r>
          </a:p>
          <a:p>
            <a:r>
              <a:rPr lang="en-US" sz="1800" dirty="0" smtClean="0"/>
              <a:t>Computing in the modern workplace:</a:t>
            </a:r>
          </a:p>
          <a:p>
            <a:r>
              <a:rPr lang="en-US" sz="1800" dirty="0" smtClean="0"/>
              <a:t>When it comes to the computing experience in your business, how easy is it for you to access the system and relevant applications? Chances are you’re rolling your eyes because it’s probably a little hit and miss. Right?</a:t>
            </a:r>
          </a:p>
          <a:p>
            <a:r>
              <a:rPr lang="en-US" sz="1800" dirty="0" smtClean="0"/>
              <a:t/>
            </a:r>
          </a:p>
          <a:p>
            <a:r>
              <a:rPr lang="en-US" sz="1800" dirty="0" smtClean="0"/>
              <a:t>If you’re office-based, do you find yourself turning on your laptop and heading to the kitchen to make coffee while the system loads? When you’re travelling on a train, do you have to wait ages to open a single file? And if you’re working from home, do you get frustrated with how long it takes to send an email? Have you simply got used to circumventing the workflow to allow for inefficiencies in the existing IT system?</a:t>
            </a:r>
          </a:p>
          <a:p>
            <a:r>
              <a:rPr lang="en-US" sz="1800" dirty="0" smtClean="0"/>
              <a:t/>
            </a:r>
          </a:p>
          <a:p>
            <a:r>
              <a:rPr lang="en-US" sz="1800" dirty="0" smtClean="0"/>
              <a:t>Many UK companies and organisations employ a range of functionality to deliver IT. A mix of Cloud, on-premise and legacy systems in place, all evolving over time, can lead to an inefficient and cumbersome platform that is simply not fit for purpose. This poses challenges for everyone from end users to IT teams:</a:t>
            </a:r>
          </a:p>
          <a:p>
            <a:r>
              <a:rPr lang="en-US" sz="1800" dirty="0" smtClean="0"/>
              <a:t/>
            </a:r>
          </a:p>
          <a:p>
            <a:r>
              <a:rPr lang="en-US" sz="1800" dirty="0" smtClean="0"/>
              <a:t>Difficulty in accessing information quickly and reliably, irrespective of whether you’re in the office or on the move</a:t>
            </a:r>
          </a:p>
          <a:p>
            <a:r>
              <a:rPr lang="en-US" sz="1800" dirty="0" smtClean="0"/>
              <a:t>Different passwords for different systems</a:t>
            </a:r>
          </a:p>
          <a:p>
            <a:r>
              <a:rPr lang="en-US" sz="1800" dirty="0" smtClean="0"/>
              <a:t>Inadequate cybersecurity protocols for remote working access</a:t>
            </a:r>
          </a:p>
          <a:p>
            <a:r>
              <a:rPr lang="en-US" sz="1800" dirty="0" smtClean="0"/>
              <a:t>Having uniform, fast, secure and reliable ‘round-the-clock’ access to every piece of information you need to do your job efficiently and effectively is imperative for commercial success. Irrespective of your location, whether you’re office-based or on the move, you need data, documents, files, spreadsheets, emails and everything in between instantly at your fingertips. Not possible? Think again. With etiCloud Agile Digital Workplace you can have all of this, and more, in one single place.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etiCloud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https://cloud.ibm.com/catalog/services/eticloud-secure-digital-agile-workplace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104</a:t>
            </a: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Event Notifications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Transactional email via SMTP relay, plus event-driven automation and alerting across webhooks, Code Engine, SMS, Slack, and more. One centralized service. Rapid, no-code routing.</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Event Notifications is a fully managed, cloud-native communication and notification service that helps organizations respond to events and communicate important information at scale. It supports two core use cases: event-driven operational alerting and automation, and outbound transactional business communication. With this one service, organizations can route operational events to service management ecosystem tools like Slack, MS Teams, and ServiceNow, trigger automations with webhooks or Code Engine integrations, and deliver transactional business messages to customers and users through channels such as email, SMS, and push notifications.</a:t>
            </a:r>
          </a:p>
          <a:p>
            <a:r>
              <a:rPr lang="en-US" sz="1800" dirty="0" smtClean="0"/>
              <a:t/>
            </a:r>
          </a:p>
          <a:p>
            <a:r>
              <a:rPr lang="en-US" sz="1800" dirty="0" smtClean="0"/>
              <a:t/>
            </a:r>
          </a:p>
          <a:p>
            <a:r>
              <a:rPr lang="en-US" sz="1800" dirty="0" smtClean="0"/>
              <a:t>**Operational Use Cases**</a:t>
            </a:r>
          </a:p>
          <a:p>
            <a:r>
              <a:rPr lang="en-US" sz="1800" dirty="0" smtClean="0"/>
              <a:t/>
            </a:r>
          </a:p>
          <a:p>
            <a:r>
              <a:rPr lang="en-US" sz="1800" dirty="0" smtClean="0"/>
              <a:t>* **Monitoring:** Alerts, threshold breaches, uptime notifications, and escalations.</a:t>
            </a:r>
          </a:p>
          <a:p>
            <a:r>
              <a:rPr lang="en-US" sz="1800" dirty="0" smtClean="0"/>
              <a:t>* **Jobs:** Batch/ETL results, backups, scheduled reports, and export-ready notifications.</a:t>
            </a:r>
          </a:p>
          <a:p>
            <a:r>
              <a:rPr lang="en-US" sz="1800" dirty="0" smtClean="0"/>
              <a:t>* **CI/CD:** Build failures, deployment confirmations, and test results.</a:t>
            </a:r>
          </a:p>
          <a:p>
            <a:r>
              <a:rPr lang="en-US" sz="1800" dirty="0" smtClean="0"/>
              <a:t>* **Infrastructure:** Certificate expiry, quota warnings, and capacity alerts.</a:t>
            </a:r>
          </a:p>
          <a:p>
            <a:r>
              <a:rPr lang="en-US" sz="1800" dirty="0" smtClean="0"/>
              <a:t>* **Audit:** Configuration changes, permission grants, and administrative actions.</a:t>
            </a:r>
          </a:p>
          <a:p>
            <a:r>
              <a:rPr lang="en-US" sz="1800" dirty="0" smtClean="0"/>
              <a:t/>
            </a:r>
          </a:p>
          <a:p>
            <a:r>
              <a:rPr lang="en-US" sz="1800" dirty="0" smtClean="0"/>
              <a:t>**Outbound Business Communication Use Cases**</a:t>
            </a:r>
          </a:p>
          <a:p>
            <a:r>
              <a:rPr lang="en-US" sz="1800" dirty="0" smtClean="0"/>
              <a:t/>
            </a:r>
          </a:p>
          <a:p>
            <a:r>
              <a:rPr lang="en-US" sz="1800" dirty="0" smtClean="0"/>
              <a:t>* **Account:** Verification, password reset, OTP &amp; MFA, and security alerts.</a:t>
            </a:r>
          </a:p>
          <a:p>
            <a:r>
              <a:rPr lang="en-US" sz="1800" dirty="0" smtClean="0"/>
              <a:t>* **Commerce:** Order confirmations, receipts, shipping, and tracking notifications.</a:t>
            </a:r>
          </a:p>
          <a:p>
            <a:r>
              <a:rPr lang="en-US" sz="1800" dirty="0" smtClean="0"/>
              <a:t>* **Billing:** Invoices, payment confirmations, dunning, and renewal notifications.</a:t>
            </a:r>
          </a:p>
          <a:p>
            <a:r>
              <a:rPr lang="en-US" sz="1800" dirty="0" smtClean="0"/>
              <a:t>* **Product:** Mentions, assignments, approvals, and sharing invitations.</a:t>
            </a:r>
          </a:p>
          <a:p>
            <a:r>
              <a:rPr lang="en-US" sz="1800" dirty="0" smtClean="0"/>
              <a:t>* **Support:** Ticket updates and appointment reminders.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https://cloud.ibm.com/catalog/services/event-notifications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105</a:t>
            </a: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Event Streams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Leverage our fully managed Kafka service to help you build intelligent applications that react to events in real time.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Event Streams on IBM Cloud is a fully managed, high-throughput message bus built on Apache Kafka that enables applications and services to communicate. It is optimized for event ingestion into IBM Cloud and event distribution between your services and applications. Event Streams on IBM Cloud allows you to deploy production ready Apache Kafka and build cloud native apps in a secure and highly available environment.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Integration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https://cloud.ibm.com/catalog/services/messagehub</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106</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F5 BIG-IP</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Optimize performance and ensure availability and security for applications with the F5 BIG-IP suite.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Optimize performance and ensure availability and security for applications with the F5 BIG-IP suite.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https://cloud.ibm.com/catalog/services/bigip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107</a:t>
            </a:r>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Facility Handover Compliance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Know whether your handover package is complete enough to sign off, with the gaps and the evidence, per event.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Confirm a handover package is complete enough to sign off before an asset enters operations. You get a completeness score per package, a gap-by-gap remediation list, and document-level evidence for every criterion. Each package is checked against the seven ISO 19650-4 Clause 7 criteria, mapped to the CFIHOS V2.0 reference, and compared against the ISO 19650-3 Asset Information Model for build-to-operate continuity. No system connection is needed. Connect IBM Maximo when you want it to read your live handover packages, asset records, and document status. Built for information managers driving sign-off, BIM coordinators verifying conformance, asset operators receiving the package, and project teams populating the AIM, in regulated infrastructure.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Vistergy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https://cloud.ibm.com/catalog/services/vistergy-ltd-facility-handover-compliance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108</a:t>
            </a: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FalconStor Habanero</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Provides fully managed IBM Power offsite data storage.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FalconStor Habanero is a fully managed storage service designed to simplify secure offsite data storage for IBM Power, especially IBM i on-premises environments, delivering ransomware resilient retention, disaster recovery, compliance, and long term archiving at a cost model comparable to object storage and requiring no changes to existing backup infrastructures.</a:t>
            </a:r>
          </a:p>
          <a:p>
            <a:r>
              <a:rPr lang="en-US" sz="1800" dirty="0" smtClean="0"/>
              <a:t/>
            </a:r>
          </a:p>
          <a:p>
            <a:r>
              <a:rPr lang="en-US" sz="1800" dirty="0" smtClean="0"/>
              <a:t>Habanero integrates directly with existing IBM Power backup applications and processes delivering simplified secure offsite data protection for on-premises IBM Power systems including IBM i, AIX, and Linux workloads.</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FalconStor Software</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https://cloud.ibm.com/catalog/services/falconstor-software-habanero-service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109</a:t>
            </a:r>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FalconStor StorSafe for Power On-Premises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Decrease your on-premise backup storage capacity by up to 90%, while improving your existing backup solution performance.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FalconStor StorSafe is a software solution that optimizes backup and restore, to improve performance and significantly reduce backup storage costs, all without requiring changes to the existing backup solution currently being used. With its integrated deduplication, the solution removes redundant copies of data, thereby reducing capacity requirements, decreasing storage costs, and minimizing replication and restore times. StorSafe can be used with all leading backup solutions, and enables both hybrid and native-cloud backup, as well as both workload and tape migration to the cloud, including IBM PowerVS.</a:t>
            </a:r>
          </a:p>
          <a:p>
            <a:r>
              <a:rPr lang="en-US" sz="1800" dirty="0" smtClean="0"/>
              <a:t>This solution is applicable to hybrid cloud deployments where you can have a backup of data on your on-premises deployment in the cloud. You can also use this solution for your on-premises workload migration to the cloud.</a:t>
            </a:r>
          </a:p>
          <a:p>
            <a:r>
              <a:rPr lang="en-US" sz="1800" dirty="0" smtClean="0"/>
              <a:t> </a:t>
            </a:r>
          </a:p>
          <a:p>
            <a:r>
              <a:rPr lang="en-US" sz="1800" dirty="0" smtClean="0"/>
              <a:t>For a free assessment, contact a solution expert at ibmsales@falconstor.com.</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FalconStor Software</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https://cloud.ibm.com/catalog/services/falconstor-software-storsafe-vtl-for-power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110</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File Storage for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Fast and flexible NFS-based file storage with capacity options from 20GB to 12TB.</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Add fast and flexible NFS-based file storage to your IBM Cloud portfolio. Get total control and help minimize costs with flash-backed architecture. Create file shares from 20GB to 12TB—and provision it all with a variety of flexible and power-based options. </a:t>
            </a:r>
          </a:p>
          <a:p>
            <a:r>
              <a:rPr lang="en-US" sz="1800" dirty="0" smtClean="0"/>
              <a:t/>
            </a:r>
          </a:p>
          <a:p>
            <a:r>
              <a:rPr lang="en-US" sz="1800" dirty="0" smtClean="0"/>
              <a:t>Choose Endurance tiers for simple, predefined, per-GB pricing—ideal for workloads without well defined performance requirements. </a:t>
            </a:r>
          </a:p>
          <a:p>
            <a:r>
              <a:rPr lang="en-US" sz="1800" dirty="0" smtClean="0"/>
              <a:t>Or, build a fine-tuned environment with allocated IOPS with Performance options—ideal for well-understood workload requirements that fall outside of the available Endurance tiers.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Madrid (eu-es)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https://cloud.ibm.com/catalog/infrastructure/file-storage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111</a:t>
            </a: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File Storage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Create a shared storage that you can share across multiple Virtual Servers within your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IBM Cloud® File Storage for VPC service provides secure, persistent, NSFv4.1 protocol-based file storage. IBM Cloud® File Storage for VPC is backed by All-Flash architecture. You can create file shares with capacity that ranges from 10 GB to 32 TB with flexible options. You can mount the file share on multiple IBM Cloud Virtual Servers for file sharing and collaboration. You have total control over your data as you manage access to the file shares with IAM profiles, security groups, and context-based restrictions. You can also bring your own root keys to add another layer of encryption. You can manage your cost by provisioning only what you need. You can increase the share capacity later when you need more storage, and you can adjust the IOPS to increase or decrease performance anytime.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https://cloud.ibm.com/catalog/services/is.share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112</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Flacron AR AI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agent that analyzes property inspection photos for damage, generates repair scopes, and produces cost estimates.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Flacron AR Agent automates the repetitive part of property inspection follow up. Feed it an inspection photo and it identifies visible damage type, location, severity, and a recommended action. From there, it turns those findings into a structured repair scope of work, and prices that scope into a full cost estimate with labor, material, and total line items.</a:t>
            </a:r>
          </a:p>
          <a:p>
            <a:r>
              <a:rPr lang="en-US" sz="1800" dirty="0" smtClean="0"/>
              <a:t>Each action is a discrete, callable tool with a defined input and output, so it fits directly into an automated workflow: trigger damage analysis on a new photo, generate the scope from the findings, generate the estimate from the scope. Authentication is a company-scoped API key, so every call is tied to the right account and project.</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Flacron Enterprises LLC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https://cloud.ibm.com/catalog/services/flacron-ar-ai-agent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113</a:t>
            </a:r>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Floating IP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Reserve a Floating IP that gives your virtual servers access to the Internet.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Reserve a Floating IP to use with virtual server instances (VSI) in a virtual private cloud (VPC). Each Floating IP gives your VSIs access to the public Internet, and vice versa</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https://cloud.ibm.com/catalog/services/is.floating-ip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114</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Flow Logs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Enables the capture of information about the Internet Protocol (IP) traffic going to and from networks of your Virtual Private Clouds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Flow Logs for VPC is an add-on feature to IBM Cloud VPC Gen2, enabling the collection of information about the IP traffic going to and from network interfaces in your VPC. Flow logs can help with a number of tasks; for example, to troubleshoot why specific traffic is not reaching an instance, which in turn helps to diagnose security group rules. You can also use flow log output as a source for applications that analyze traffic that is reaching your resources. Flow logs is a critical tool for determine the overall health of network monitoring and root cause analysis.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https://cloud.ibm.com/catalog/services/is.flow-log-collector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115</a:t>
            </a:r>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FNTS Cloud Migration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Migrate IBM i, AIX, Linux or Windows VMs from on premises, private or hybrid cloud to IBM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Migrate IBM i, AIX, Linux and Windows workloads to IBM Cloud. Contact FNTS at https://www.fnts.com/contact-us to schedule an initial planning meeting to discuss the scope of the project. FNTS will work with you to build a migration plan and estimate the service credits required to deliver the project and ongoing services.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First National Technology Solutions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https://cloud.ibm.com/catalog/services/fnts-cloud-migration-services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116</a:t>
            </a:r>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FNTS Managed Services for PowerVS Cloud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Managed services for PowerVS instances which includes monitoring, configuration, patching, and capacity management.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FNTS will provide managed services for PowerVS instances (LPARs) running IBM i or AIX. Services include OS troubleshooting support, system monitoring, alerting, fix management, configuration and capacity management.  If your environment includes multiple data centers, FNTS can support several options for data replication to PowerVS based on your business continuity requirements, but it is outside the scope of this service.</a:t>
            </a:r>
          </a:p>
          <a:p>
            <a:r>
              <a:rPr lang="en-US" sz="1800" dirty="0" smtClean="0"/>
              <a:t/>
            </a:r>
          </a:p>
          <a:p>
            <a:r>
              <a:rPr lang="en-US" sz="1800" dirty="0" smtClean="0"/>
              <a:t/>
            </a:r>
          </a:p>
          <a:p>
            <a:r>
              <a:rPr lang="en-US" sz="1800" dirty="0" smtClean="0"/>
              <a:t>FNTS complies with PCI and Soc 2 Type II standards and will support you in your efforts to meet HIPAA and GDPR compliance requirements.</a:t>
            </a:r>
          </a:p>
          <a:p>
            <a:r>
              <a:rPr lang="en-US" sz="1800" dirty="0" smtClean="0"/>
              <a:t/>
            </a:r>
          </a:p>
          <a:p>
            <a:r>
              <a:rPr lang="en-US" sz="1800" dirty="0" smtClean="0"/>
              <a:t/>
            </a:r>
          </a:p>
          <a:p>
            <a:r>
              <a:rPr lang="en-US" sz="1800" dirty="0" smtClean="0"/>
              <a:t>This service is designed for the management of new or existing PowerVS environments. Additional services are available from FNTS for migrating Power LPARs to PowerVS, and performing backup and DR replication services. Contact FNTS at https://www.fnts.com/contact-us for an initial consultation. </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First National Technology Solutions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https://cloud.ibm.com/catalog/services/fnts-managed-services-for-powervs-cloud</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117</a:t>
            </a:r>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FortiGate Security Appliance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Order and provision an HA-pair of FortiGate Security Appliance devices through IBM Cloud to protect your network.</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Order and provision an HA-pair of FortiGate Security Appliance devices through IBM Cloud to protect your network.</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https://cloud.ibm.com/catalog/services/fortigate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118</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FortiGate Security Appliance 10Gbps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Single-tenant, high throughput firewall protects multiple VLANs on both public and private networks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This high throughput, single-tenant firewall can be configured to protect traffic on multiple VLANs for both public and private networks. To order, navigate to Security &gt; Network Security &gt; Firewalls, then click on the Order Multi VLAN Firewall link in the top right corner.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Madrid (eu-es)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https://cloud.ibm.com/catalog/infrastructure/fortigate-security-appliance-10gb</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119</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FortiGate Virtual Appliance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Optimize performance and ensure availability and security for applications with the Fortinet FortiGate-VM suite.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Optimize performance and ensure availability and security for applications with the Fortinet FortiGate-VM suite.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https://cloud.ibm.com/catalog/services/fortigatevm</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120</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Fortinet Virtual FortiGate Security Appliance (vFSA)</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The Fortinet vFSA offers the same functionality as the  FortiGate Security Appliance (FSA).  It is a single tenant (dedicated), self-managed firewall, offered in two speeds 1Gbps and 10Gbps.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Protect your cloud infrastructure and optimize its performance with a gateway appliance.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Madrid (eu-es)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https://cloud.ibm.com/catalog/infrastructure/network-gateway-fortinet-vfsa</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121</a:t>
            </a: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Fresche KTLO Application Management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Fresche KTLO offers OS and application management with onboarding, 24x7 support, proactive monitoring, and modern tools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"Fresche IBMi KTLO (Keep The Lights On) provides 24x7 comprehensive managed services for OS/400 and selected applications - delivered by onshore US citizens for your IBM i LPARs running in PowerVS.</a:t>
            </a:r>
          </a:p>
          <a:p>
            <a:r>
              <a:rPr lang="en-US" sz="1800" dirty="0" smtClean="0"/>
              <a:t> </a:t>
            </a:r>
          </a:p>
          <a:p>
            <a:r>
              <a:rPr lang="en-US" sz="1800" dirty="0" smtClean="0"/>
              <a:t>Our engineering team and disciplined approach provides robust system administration, including management and maintenance of OS/400, capacity planning, performance and backup monitoring, and disaster recovery support.</a:t>
            </a:r>
          </a:p>
          <a:p>
            <a:r>
              <a:rPr lang="en-US" sz="1800" dirty="0" smtClean="0"/>
              <a:t> </a:t>
            </a:r>
          </a:p>
          <a:p>
            <a:r>
              <a:rPr lang="en-US" sz="1800" dirty="0" smtClean="0"/>
              <a:t>Our application teams provide on-going support and management for selected applications, including profile management, application message responses, batch job management, application patching and upgrades, report creation,</a:t>
            </a:r>
          </a:p>
          <a:p>
            <a:r>
              <a:rPr lang="en-US" sz="1800" dirty="0" smtClean="0"/>
              <a:t> </a:t>
            </a:r>
          </a:p>
          <a:p>
            <a:r>
              <a:rPr lang="en-US" sz="1800" dirty="0" smtClean="0"/>
              <a:t>Fresche includes our full Security Suite as part of this solution – including auditing, alerting, remediation tools, and encryption capabilities. Remediation work is offered as an additional service.</a:t>
            </a:r>
          </a:p>
          <a:p>
            <a:r>
              <a:rPr lang="en-US" sz="1800" dirty="0" smtClean="0"/>
              <a:t> </a:t>
            </a:r>
          </a:p>
          <a:p>
            <a:r>
              <a:rPr lang="en-US" sz="1800" dirty="0" smtClean="0"/>
              <a:t>Fresche KTLO enables your team to focus on innovation while we handle the operations."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Fresche Solutions USA Corporation</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https://cloud.ibm.com/catalog/services/freschetotalops360</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122</a:t>
            </a:r>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Fresche LPAR Operations Management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Fresche provides operating system management for your IBMi, including on-boarding, monitoring, robust management, 24x7 support.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"Fresche IBMi Managed Services provides 24x7 managed services delivered by onshore US citizens for your IBM i LPARs running in PowerVS.</a:t>
            </a:r>
          </a:p>
          <a:p>
            <a:r>
              <a:rPr lang="en-US" sz="1800" dirty="0" smtClean="0"/>
              <a:t> </a:t>
            </a:r>
          </a:p>
          <a:p>
            <a:r>
              <a:rPr lang="en-US" sz="1800" dirty="0" smtClean="0"/>
              <a:t>Our engineering team and disciplined approach provides robust system administration, including management and maintenance of OS/400, capacity planning, performance monitoring, backup and recovery, and disaster recovery (if contracted).</a:t>
            </a:r>
          </a:p>
          <a:p>
            <a:r>
              <a:rPr lang="en-US" sz="1800" dirty="0" smtClean="0"/>
              <a:t> </a:t>
            </a:r>
          </a:p>
          <a:p>
            <a:r>
              <a:rPr lang="en-US" sz="1800" dirty="0" smtClean="0"/>
              <a:t>Fresche includes our Security Audit tool at no additional charge as part of this solution.</a:t>
            </a:r>
          </a:p>
          <a:p>
            <a:r>
              <a:rPr lang="en-US" sz="1800" dirty="0" smtClean="0"/>
              <a:t> </a:t>
            </a:r>
          </a:p>
          <a:p>
            <a:r>
              <a:rPr lang="en-US" sz="1800" dirty="0" smtClean="0"/>
              <a:t>Our services enable your team to focus on innovation while we handle the technical operations."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Fresche Solutions USA Corporation</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https://cloud.ibm.com/catalog/services/fresche-managed-services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123</a:t>
            </a:r>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Fresche Presto</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Presto instantly transforms IBM i green screens into modern web and mobile interfaces without changing source code.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Presto is a comprehensive IBM i green screen modernization solution that transforms traditional 5250 interfaces into modern, responsive web and mobile applications without modifying your underlying RPG or COBOL source code.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Fresche Solutions USA Corporation</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2" name="Object 12"/>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3" name="Object 13"/>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4" name="Object 14"/>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5" name="Object 15"/>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6" name="Object 16"/>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7" name="Object 17"/>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https://cloud.ibm.com/catalog/services/fresche-presto</a:t>
            </a:r>
            <a:endParaRPr lang="en-US" sz="1400" dirty="0"/>
          </a:p>
        </p:txBody>
      </p:sp>
      <p:sp>
        <p:nvSpPr>
          <p:cNvPr id="18" name="Object 18"/>
          <p:cNvSpPr txBox="1"/>
          <p:nvPr/>
        </p:nvSpPr>
        <p:spPr>
          <a:xfrm>
            <a:off x="11500000" y="6300000"/>
            <a:ext cx="1000000" cy="200000"/>
          </a:xfrm>
          <a:prstGeom prst="rect">
            <a:avLst/>
          </a:prstGeom>
          <a:noFill/>
        </p:spPr>
        <p:txBody>
          <a:bodyPr wrap="square" rtlCol="0"/>
          <a:lstStyle/>
          <a:p>
            <a:r>
              <a:rPr lang="en-US" dirty="0" smtClean="0">
                <a:solidFill>
                  <a:srgbClr val="808080"/>
                </a:solidFill>
              </a:rPr>
              <a:t>124</a:t>
            </a:r>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Fresche Security Suite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Security, auditing, compliance, data encryption, and intrusion detection software solutions for IBM i systems.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IBM i Security Suite by Fresche Solutions offers a comprehensive approach to safeguarding your critical business data. This suite addresses key areas of vulnerability, including unauthorized remote access through third-party applications, ODBC connections, file shares, and web servers. It also protects against Integrated File System (IFS) exposures and allows continuous monitoring to ensure system integrity is retained and ransomware attacks are minimized. This solution also monitors real-time system access and escalates critical security events to a Security Information and Event Management (SIEM) system or email server. The suite not only enhances security but also simplifies compliance with industry standards such as PCI and HIPAA through built-in content.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Fresche Solutions USA Corporation</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https://cloud.ibm.com/catalog/services/fresche-security-suite-v2</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125</a:t>
            </a:r>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Fresche X-Analysis Suite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Powered Application Discovery and Understanding tool for managing and modernizing applications that run on IBM i.</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X-Analysis is an AI Powered Application Discovery and Understanding tool that is used to understand and manage applications that run on IBM i.  X-Analyis extracts metadata from application objects and the source code used to create those objects in order to provide a detailed, comprehensive view of how an application interacts with the objects/components that are part of the application.  The tool automates the generation of documentation, performs impact analysis, extracts business rules, maps applications, visualizes data models, and assesses code quality. These features collectively empower development teams to gain a profound understanding of existing applications, thereby accelerating informed decision-making during modernization initiatives.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Fresche Solutions USA Corporation</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https://cloud.ibm.com/catalog/services/x-analysis-suite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126</a:t>
            </a:r>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GBG Reach - Address Email and Phone Verification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Verify, standardise and cleanse address, email and phone data using GBG Loqate, with policy-aware decisions.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GBG Reach is a data quality agent for IBM watsonx Orchestrate that verifies, validates, and cleanses key elements of your customer data - postal addresses, email addresses, and phone numbers - using GBG Loqate's trusted global reference data.</a:t>
            </a:r>
          </a:p>
          <a:p>
            <a:r>
              <a:rPr lang="en-US" sz="1800" dirty="0" smtClean="0"/>
              <a:t/>
            </a:r>
          </a:p>
          <a:p>
            <a:r>
              <a:rPr lang="en-US" sz="1800" dirty="0" smtClean="0"/>
              <a:t>Hand Reach a single value, several records, a block of free-form text, or an uploaded CSV, and it automatically detects every address, email, and phone number present, then returns a clear, policy-aware recommendation for each: accept, review, or reject, complete with a confidence score and clean, standardized output. Your agent gets a decision it can act on - without any custom parsing logic.</a:t>
            </a:r>
          </a:p>
          <a:p>
            <a:r>
              <a:rPr lang="en-US" sz="1800" dirty="0" smtClean="0"/>
              <a:t/>
            </a:r>
          </a:p>
          <a:p>
            <a:r>
              <a:rPr lang="en-US" sz="1800" dirty="0" smtClean="0"/>
              <a:t>Use Reach the way that suits your workflow:</a:t>
            </a:r>
          </a:p>
          <a:p>
            <a:r>
              <a:rPr lang="en-US" sz="1800" dirty="0" smtClean="0"/>
              <a:t>- Chat with it directly for quick, ad-hoc verification.</a:t>
            </a:r>
          </a:p>
          <a:p>
            <a:r>
              <a:rPr lang="en-US" sz="1800" dirty="0" smtClean="0"/>
              <a:t>- Add it as a collaborator to your own agent so it cleans data mid-conversation, for example validating a customer's address during onboarding before you save it.</a:t>
            </a:r>
          </a:p>
          <a:p>
            <a:r>
              <a:rPr lang="en-US" sz="1800" dirty="0" smtClean="0"/>
              <a:t>- Build it into an automated workflow to verify and standardize records at scale.</a:t>
            </a:r>
          </a:p>
          <a:p>
            <a:r>
              <a:rPr lang="en-US" sz="1800" dirty="0" smtClean="0"/>
              <a:t/>
            </a:r>
          </a:p>
          <a:p>
            <a:r>
              <a:rPr lang="en-US" sz="1800" dirty="0" smtClean="0"/>
              <a:t>Because every decision is policy-aware, you control how strict verification is for each scenario, from light-touch marketing list hygiene to strict KYC and onboarding checks. Teams use Reach to improve email deliverability, reduce failed deliveries and shipping costs, cut fraud and returns, clean up CRM and marketing data, and keep customer records accurate and up to date. Every decision can be logged for auditability, giving you a record for compliance review or reporting.</a:t>
            </a:r>
          </a:p>
          <a:p>
            <a:r>
              <a:rPr lang="en-US" sz="1800" dirty="0" smtClean="0"/>
              <a:t/>
            </a:r>
          </a:p>
          <a:p>
            <a:r>
              <a:rPr lang="en-US" sz="1800" dirty="0" smtClean="0"/>
              <a:t>Powered by GBG Loqate's global address verification, email verification, and phone validation, Reach stops bad data at the source so you can act on information you trust - backed by the engine enterprises rely on, verifying data across 245 countries and 3 billion times a year.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Loqate Inc </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https://cloud.ibm.com/catalog/services/gbg-reach</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127</a:t>
            </a:r>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Generate by Iterate.ai</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Secure, private agentic platform with advanced document and database search capabilities for analyzing large-scale data.</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Generate is a private, secure agentic AI platform built for multiple industries. </a:t>
            </a:r>
          </a:p>
          <a:p>
            <a:r>
              <a:rPr lang="en-US" sz="1800" dirty="0" smtClean="0"/>
              <a:t>The Healthcare Edition helps hospitals uncover and recover leaked revenue from unpaid and underpaid claims by unifying claims, remits, denials, contracts, and payer policies into a single, action-driven workflow. It highlights recovery opportunities, filing deadlines, root-cause patterns, and ROI impact so teams can collect more while working less.</a:t>
            </a:r>
          </a:p>
          <a:p>
            <a:r>
              <a:rPr lang="en-US" sz="1800" dirty="0" smtClean="0"/>
              <a:t/>
            </a:r>
          </a:p>
          <a:p>
            <a:r>
              <a:rPr lang="en-US" sz="1800" dirty="0" smtClean="0"/>
              <a:t>Hospitals lose revenue every day through underpayments, avoidable denials, missed appeal windows, and documentation gaps. Because billing teams rarely have the capacity to pursue every claim Generate addresses this by turning fragmented data (EHR exports, clearinghouse files, payer remits, contracts, medical policies, SOPs, spreadsheets, emails) into a prioritized recovery pipeline that teams can act on immediately.</a:t>
            </a:r>
          </a:p>
          <a:p>
            <a:r>
              <a:rPr lang="en-US" sz="1800" dirty="0" smtClean="0"/>
              <a:t/>
            </a:r>
          </a:p>
          <a:p>
            <a:r>
              <a:rPr lang="en-US" sz="1800" dirty="0" smtClean="0"/>
              <a:t>Generate can help uncover 4–12% of net patient revenue in underpaid claims by making recovery work systematic and scalable. With data connectors, your team can “connect and forget” the sources you already use. Then Agentic Cards surface what matters most:</a:t>
            </a:r>
          </a:p>
          <a:p>
            <a:r>
              <a:rPr lang="en-US" sz="1800" dirty="0" smtClean="0"/>
              <a:t/>
            </a:r>
          </a:p>
          <a:p>
            <a:r>
              <a:rPr lang="en-US" sz="1800" dirty="0" smtClean="0"/>
              <a:t>1. Claims with recovery potential (underpaid, denied, pending)</a:t>
            </a:r>
          </a:p>
          <a:p>
            <a:r>
              <a:rPr lang="en-US" sz="1800" dirty="0" smtClean="0"/>
              <a:t/>
            </a:r>
          </a:p>
          <a:p>
            <a:r>
              <a:rPr lang="en-US" sz="1800" dirty="0" smtClean="0"/>
              <a:t>2. Estimated dollars at risk and expected recoverable value</a:t>
            </a:r>
          </a:p>
          <a:p>
            <a:r>
              <a:rPr lang="en-US" sz="1800" dirty="0" smtClean="0"/>
              <a:t/>
            </a:r>
          </a:p>
          <a:p>
            <a:r>
              <a:rPr lang="en-US" sz="1800" dirty="0" smtClean="0"/>
              <a:t>3. Deadlines (timely filing, appeals, reconsiderations)</a:t>
            </a:r>
          </a:p>
          <a:p>
            <a:r>
              <a:rPr lang="en-US" sz="1800" dirty="0" smtClean="0"/>
              <a:t/>
            </a:r>
          </a:p>
          <a:p>
            <a:r>
              <a:rPr lang="en-US" sz="1800" dirty="0" smtClean="0"/>
              <a:t>4. Next-best actions with supporting evidence</a:t>
            </a:r>
          </a:p>
          <a:p>
            <a:r>
              <a:rPr lang="en-US" sz="1800" dirty="0" smtClean="0"/>
              <a:t/>
            </a:r>
          </a:p>
          <a:p>
            <a:r>
              <a:rPr lang="en-US" sz="1800" dirty="0" smtClean="0"/>
              <a:t>5. Recurring error patterns that improve first-pass claim accuracy</a:t>
            </a:r>
          </a:p>
          <a:p>
            <a:r>
              <a:rPr lang="en-US" sz="1800" dirty="0" smtClean="0"/>
              <a:t/>
            </a:r>
          </a:p>
          <a:p>
            <a:r>
              <a:rPr lang="en-US" sz="1800" dirty="0" smtClean="0"/>
              <a:t>Generate runs privately within IBM Cloud to support healthcare-grade security and privacy requirements.</a:t>
            </a:r>
          </a:p>
          <a:p>
            <a:r>
              <a:rPr lang="en-US" sz="1800" dirty="0" smtClean="0"/>
              <a:t/>
            </a:r>
          </a:p>
          <a:p>
            <a:r>
              <a:rPr lang="en-US" sz="1800" dirty="0" smtClean="0"/>
              <a:t>Beyond healthcare, Generate is a versatile horizontal platform that enables agentic workflows and analytics across both structured and unstructured data, supporting use cases in finance, legal, public sector, and more.</a:t>
            </a:r>
          </a:p>
          <a:p>
            <a:r>
              <a:rPr lang="en-US" sz="1800" dirty="0" smtClean="0"/>
              <a:t/>
            </a:r>
          </a:p>
          <a:p>
            <a:r>
              <a:rPr lang="en-US" sz="1800" dirty="0" smtClean="0"/>
              <a:t>Customer Quotes</a:t>
            </a:r>
          </a:p>
          <a:p>
            <a:r>
              <a:rPr lang="en-US" sz="1800" dirty="0" smtClean="0"/>
              <a:t>“The data and dashboards have been invaluable… We now understand our true financial picture, can hold vendors accountable, respond to audits, and recover underpaid claims.” — Robin Cetti, Director of Decision Support &amp; Revenue Integrity, Hutchinson Regional Health System</a:t>
            </a:r>
          </a:p>
          <a:p>
            <a:r>
              <a:rPr lang="en-US" sz="1800" dirty="0" smtClean="0"/>
              <a:t/>
            </a:r>
          </a:p>
          <a:p>
            <a:r>
              <a:rPr lang="en-US" sz="1800" dirty="0" smtClean="0"/>
              <a:t>“A playground of answers to all the questions healthcare leaders are asking.” — Dr. F.X. Campion, MIT Research &amp; Engineering</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Iterate.ai</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https://cloud.ibm.com/catalog/services/iterate-ai-generate-enterprise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128</a:t>
            </a:r>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GovPulse.io</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GovPulse delivers AI-powered government contracting intelligence, providing daily executive briefings, SAM.gov opportunity trackin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GovPulse is an AI-powered government intelligence platform that delivers real-time insights from federal, state, and local government sources. Integrated with IBM Watson Orchestrate, GovPulse transforms complex government data into actionable intelligence for businesses, consultants, and policy professionals. Access comprehensive briefings, track regulatory changes, and stay ahead of government decisions that impact your industry.</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Avid Solutions Intl</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https://cloud.ibm.com/catalog/services/avid-solutions-intl-govpulse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129</a:t>
            </a:r>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HA and DR Automation for IBM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IBM Power Virtual Server DR Automation® simplifies disaster recovery by automating the recovery of virtual machines, leveraging IBM Cloud infrastructure to offer a flexible, scalable, and efficient DR process. Use DR Automation to ensure the continuity of operations with minimal manual intervention.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Provides simplified DR for PowerVS VMs.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https://cloud.ibm.com/catalog/services/power-dr-automation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130</a:t>
            </a:r>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Hardware Firewall</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Secure your IBM IaaS environment (and all the information stored there) as well as preventing malicious activity from ever reaching your servers or end users.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Firewalls are an important step in securing your IBM IaaS environment (and all the information stored there) as well as preventing malicious activity from ever reaching your servers or end users. When added to your security strategy, hardware and software firewall options will help ensure uptime, protect your servers and network, and give you greater control of your infrastructure’s protection settings. To add a firewall to a server, click on the link Devices &gt; Device List &gt; Click the desired server &gt; Configuration &gt; Bottom of the page: Order Hardware Firewall in the customer portal. This will begin the order process for an appropriate firewall based on the uplink speed of the selected server.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Madrid (eu-es)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https://cloud.ibm.com/catalog/infrastructure/hardware-firewall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131</a:t>
            </a:r>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HCX</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Extend the networks of your on-premises data centers into IBM Cloud, and migrate your VMs to or from IBM Cloud without any change.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Extend the networks of your on-premises data centers into IBM Cloud, and migrate your VMs to or from IBM Cloud without any change.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https://cloud.ibm.com/catalog/services/hcx</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132</a:t>
            </a:r>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heimr.co - Cloud Professional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We can manage and migrate your IBM Cloud environment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Heimr can manage and support your IBM Cloud environment.</a:t>
            </a:r>
          </a:p>
          <a:p>
            <a:r>
              <a:rPr lang="en-US" sz="1800" dirty="0" smtClean="0"/>
              <a:t>Our team is ready to build with our partners taylor made solution.</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HEIMR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https://cloud.ibm.com/catalog/services/heimr-cps01</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133</a:t>
            </a:r>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Horizon 7</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seamlessly integrated hybrid cloud for virtual desktops and applications based on VMware Horizon® 7.</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 seamlessly integrated hybrid cloud for virtual desktops and applications based on VMware Horizon® 7.</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https://cloud.ibm.com/catalog/services/horizon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134</a:t>
            </a:r>
            <a:endParaRPr 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Hybrid Cloud Infrastructure as a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Customers need best of breed, multi-cloud, including hybrid cloud offerings. This infrastructure as a service offering provides compute, storage, network as a service for US Government Customers.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In particular, this offering is focused on US Federal Government Customers. IBM Consulting and VSO will provide Hybrid Cloud Infrastructure as a Service (HCIaaS) offering with a Cost-per-Unit model on the C2E vehicle.  Offering Specifications: 4 nodes in 2RU chassis, each node containing 16 cores (2x Intel Xeon-Silver 4309Y processor - 2.8 GHz / 8-core / 105W, Ice Lake), 512GB of RAM, 2x 8TB hard drives, and 1x 2 TB solid state drive.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Integration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https://cloud.ibm.com/catalog/infrastructure/ibm-consulting-hybrid-cloud-iaas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135</a:t>
            </a:r>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Hyper Protect Crypto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Keep Your Own Key for cloud data encryption with a dedicated key management service built on FIPS 140-2 Level 4 certified HSM.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 dedicated key management service and Hardware Security Module (HSM) provides you with the Keep Your Own Key capability for cloud data encryption. Built on FIPS 140-2 Level 4 certified hardware, Hyper Protect Crypto Services provides you with exclusive control of your encryption keys. With Unified Key Orchestrator, you can connect your service instance to keystores in IBM Cloud and third-party cloud providers, back up and manage keys using a unified system, and orchestrate keys across multiple clouds.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https://cloud.ibm.com/catalog/services/hs-crypto</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136</a:t>
            </a:r>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HyTrust CloudControl</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Provide automated protection and compliance support, enabling better visibility and control over your cloud environment and administrators.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Provide automated protection and compliance support, enabling better visibility and control over your cloud environment and administrators.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https://cloud.ibm.com/catalog/services/hytrustcc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137</a:t>
            </a:r>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HyTrust DataControl</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Protect your data with powerful encryption and scalable key management to secure your workloads throughout their lifecycles.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Protect your data with powerful encryption and scalable key management to secure your workloads throughout their lifecycles.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https://cloud.ibm.com/catalog/services/hytrustdc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138</a:t>
            </a:r>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HyTrust KeyControl</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Provide scalable and highly available key management for your data security needs.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Provide scalable and highly available key management for your data security needs.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https://cloud.ibm.com/catalog/services/hytrustkc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139</a:t>
            </a:r>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Image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Mumbai - Airtel (in-mum) Frankfurt (eu-de)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https://cloud.ibm.com/catalog/services/power-iaas.image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140</a:t>
            </a:r>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Image Service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Image Service for VPC provides capabilities for customers to bring their own images or create images for rapid deployment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Custom images are used to create new virtual server instances with your own settings and configurations.  You can create a custom image on IBM Cloud in two ways: </a:t>
            </a:r>
          </a:p>
          <a:p>
            <a:r>
              <a:rPr lang="en-US" sz="1800" dirty="0" smtClean="0"/>
              <a:t>1. You can create a custom image on premises and import it to your IBM Cloud Virtual Private Cloud infrastructure from IBM Cloud Object Storage. </a:t>
            </a:r>
          </a:p>
          <a:p>
            <a:r>
              <a:rPr lang="en-US" sz="1800" dirty="0" smtClean="0"/>
              <a:t>2. You can create a custom image of a boot volume that is attached to a virtual server instance at import time. For more information, see [about creating an image](/docs/vpc?topic=vpc-image-from-volume-vpc).</a:t>
            </a:r>
          </a:p>
          <a:p>
            <a:r>
              <a:rPr lang="en-US" sz="1800" dirty="0" smtClean="0"/>
              <a:t>Images are private to the account that they're imported to. New virtual server instance deployments are limited to the region where the image is imported. For more information about importing custom images, see [importing custom images](/docs/vpc?topic=vpc-importing-custom-images-vpc). For more information about managing custom images, see [Managing custom images](/docs/vpc?topic=vpc-managing-custom-images).</a:t>
            </a:r>
          </a:p>
          <a:p>
            <a:r>
              <a:rPr lang="en-US" sz="1800" dirty="0" smtClean="0"/>
              <a:t/>
            </a:r>
          </a:p>
          <a:p>
            <a:r>
              <a:rPr lang="en-US" sz="1800" dirty="0" smtClean="0"/>
              <a:t>You have many considerations when you create a custom image, such as operating systems, image requirements, and whether you want to share your custom image to a private catalog. For more information about planning for custom images, see [planning for custom images](/docs/vpc?topic=vpc-planning-custom-images).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https://cloud.ibm.com/catalog/services/is.image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141</a:t>
            </a:r>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Instance Metadata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Access metadata for VPC resources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Repository for metadata for VPC resources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https://cloud.ibm.com/catalog/services/is.metadata</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142</a:t>
            </a:r>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Internet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Using Cloudflare, Cloud Internet Services (CIS) provides Domain Name Service (DNS), Global Load Balancer (GLB), DDoS protection, Web Application Firewall (WAF), Transport Layer Security (TLS), Rate Limiting, Smart Routing, and Caching.</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Cloud Internet Services (CIS) is an FS Validated service (see terms: https://www.ibm.com/support/customer/csol/terms/?id=i126-8065). It provides reliability, performance, and security for Internet facing applications, websites, and services using Cloudflare's 300+ Global Points of Presence (PoPs). It includes Domain Name Service (DNS), Global Load Balancer (GLB), Distributed Denial of Service (DDoS) protection, Web Application Firewall (WAF), Transport Layer Security (TLS), and Caching.</a:t>
            </a:r>
          </a:p>
          <a:p>
            <a:r>
              <a:rPr lang="en-US" sz="1800" dirty="0" smtClean="0"/>
              <a:t/>
            </a:r>
          </a:p>
          <a:p>
            <a:r>
              <a:rPr lang="en-US" sz="1800" dirty="0" smtClean="0"/>
              <a:t>### Pricing API reference</a:t>
            </a:r>
          </a:p>
          <a:p>
            <a:r>
              <a:rPr lang="en-US" sz="1800" dirty="0" smtClean="0"/>
              <a:t>**Service ID:** internet-svcs</a:t>
            </a:r>
          </a:p>
          <a:p>
            <a:r>
              <a:rPr lang="en-US" sz="1800" dirty="0" smtClean="0"/>
              <a:t/>
            </a:r>
          </a:p>
          <a:p>
            <a:r>
              <a:rPr lang="en-US" sz="1800" dirty="0" smtClean="0"/>
              <a:t>For more information about pricing, use the Global Catalog API. [Learn more](https://cloud.ibm.com/docs/billing-usage?topic=billing-usage-getting-pricing-api). The **_included_quantities_** for each metric provide the free included quantities for that metric and should be taken into consideration when determining the price estimate.</a:t>
            </a:r>
          </a:p>
          <a:p>
            <a:r>
              <a:rPr lang="en-US" sz="1800" dirty="0" smtClean="0"/>
              <a:t/>
            </a:r>
          </a:p>
          <a:p>
            <a:r>
              <a:rPr lang="en-US" sz="1800" dirty="0" smtClean="0"/>
              <a:t>### Plan IDs</a:t>
            </a:r>
          </a:p>
          <a:p>
            <a:r>
              <a:rPr lang="en-US" sz="1800" dirty="0" smtClean="0"/>
              <a:t>| Plan name | ID |</a:t>
            </a:r>
          </a:p>
          <a:p>
            <a:r>
              <a:rPr lang="en-US" sz="1800" dirty="0" smtClean="0"/>
              <a:t>| - | - |</a:t>
            </a:r>
          </a:p>
          <a:p>
            <a:r>
              <a:rPr lang="en-US" sz="1800" dirty="0" smtClean="0"/>
              <a:t>| Standard Next| `58d7216c-af92-4e7d-baec-ce13a4dd61c0` |</a:t>
            </a:r>
          </a:p>
          <a:p>
            <a:r>
              <a:rPr lang="en-US" sz="1800" dirty="0" smtClean="0"/>
              <a:t>| Enterprise Essential |  `6c8777ee-c73f-4860-8451-cc48e0af6f12` |</a:t>
            </a:r>
          </a:p>
          <a:p>
            <a:r>
              <a:rPr lang="en-US" sz="1800" dirty="0" smtClean="0"/>
              <a:t>| Enterprise Advanced | `224b9979-fd81-42a4-99a1-5172948a8c6b` |</a:t>
            </a:r>
          </a:p>
          <a:p>
            <a:r>
              <a:rPr lang="en-US" sz="1800" dirty="0" smtClean="0"/>
              <a:t>| Enterprise Premier | `87a3e981-1b6d-4819-96ae-6bf253249f38` |</a:t>
            </a:r>
          </a:p>
          <a:p>
            <a:r>
              <a:rPr lang="en-US" sz="1800" dirty="0" smtClean="0"/>
              <a:t>| Enterprise Usage | `f0fe7fbb-a516-412d-bdbb-e8cecb1b85a1`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https://cloud.ibm.com/catalog/services/internet-svcs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143</a:t>
            </a:r>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Intics.ai - Agentic Document Intelligence </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AI-powered platform for automated document processing and data extraction.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Intics.ai Agentic Document Intelligence is an AI-powered platform that streamlines document processing for healthcare and pharmaceutical organizations. Our solution automatically extracts, classifies, and organizes data from a wide range of documents including forms, clinical records, and reports. By leveraging advanced machine learning and natural language processing, Intics.ai significantly reduces manual effort, improves data accuracy, and accelerates workflow efficiency. The platform supports integration with existing systems, ensures compliance with industry regulations, and maintains robust data privacy and security. With customizable automation and user-friendly dashboards, Intics.ai empowers teams to make better decisions quickly, cut operational costs, and focus resources on value-added tasks. Unlock the full potential of your organization’s information assets with intelligent automation and real-time insights for smarter business processes.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Intics.ai</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https://cloud.ibm.com/catalog/services/intics-ai-agentic-document-intelligence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144</a:t>
            </a:r>
            <a:endParaRPr 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Juniper vSRX</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The Juniper vSRX is a powerful Router, Firewall, and Security device packaged in a virtual appliance with the same features as the hardware-based Juniper SRX appliance.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Protect your cloud infrastructure and optimize its performance with a gateway appliance.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Madrid (eu-es)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https://cloud.ibm.com/catalog/infrastructure/network-gateway-juniper-vsrx</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145</a:t>
            </a:r>
            <a:endParaRPr 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Key Protect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Create or manage cryptographic keys in the cloud to protect data at rest.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Key Protect is a cloud-based security service that provides life cycle management for encryption keys that are used in IBM Cloud services or customer-built applications. Key Protect provides roots of trust (RoT), backed by a hardware security module (HSM).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https://cloud.ibm.com/catalog/services/kms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146</a:t>
            </a:r>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KMIP for VMware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Cloud-based security service that provides life cycle management for encryption keys that are used in IBM Cloud services or customer-built applications.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Cloud-based security service that provides life cycle management for encryption keys that are used in IBM Cloud services or customer-built applications.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https://cloud.ibm.com/catalog/services/kmipadapter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147</a:t>
            </a:r>
            <a:endParaRPr 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Komprise Elastic Data Migration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Analytics driven file and object data migration. 27x faster, cost-effective, scale-out SaaS. Know first, move smart, save more.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For sales support, please reach out to Komprise directly at IBM@komprise.com</a:t>
            </a:r>
          </a:p>
          <a:p>
            <a:r>
              <a:rPr lang="en-US" sz="1800" dirty="0" smtClean="0"/>
              <a:t/>
            </a:r>
          </a:p>
          <a:p>
            <a:r>
              <a:rPr lang="en-US" sz="1800" dirty="0" smtClean="0"/>
              <a:t>Whether migrating to the cloud, cloud NAS or to a NAS in your data center, with Komprise Elastic Data Migration you get the fastest, most predictable and cost-efficient data migration for file and object data. </a:t>
            </a:r>
          </a:p>
          <a:p>
            <a:r>
              <a:rPr lang="en-US" sz="1800" dirty="0" smtClean="0"/>
              <a:t/>
            </a:r>
          </a:p>
          <a:p>
            <a:r>
              <a:rPr lang="en-US" sz="1800" dirty="0" smtClean="0"/>
              <a:t/>
            </a:r>
          </a:p>
          <a:p>
            <a:r>
              <a:rPr lang="en-US" sz="1800" dirty="0" smtClean="0"/>
              <a:t>Smart, fast, proven file and object data migration. Komprise runs data migrations 27 times faster with an elastic architecture and reliably migrates petabytes of data. </a:t>
            </a:r>
          </a:p>
          <a:p>
            <a:r>
              <a:rPr lang="en-US" sz="1800" dirty="0" smtClean="0"/>
              <a:t/>
            </a:r>
          </a:p>
          <a:p>
            <a:r>
              <a:rPr lang="en-US" sz="1800" dirty="0" smtClean="0"/>
              <a:t>Komprise Elastic Data Migration includes Komprise Analysis and is included in the Komprise Intelligent Data Management suite or is available standalone. Don’t just lift and shift – learn more about analytics-first smart data migration from Komprise today.</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Komprise</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https://cloud.ibm.com/catalog/services/komprise-elastic-data-migration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148</a:t>
            </a:r>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Komprise Intelligent Data Management Suite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Analyze, migrate, tier, archive, manage file and object data at scale simply and reliably. Optimize costs, deliver data value.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For sales support, please reach out to Komprise directly at IBM@komprise.com</a:t>
            </a:r>
          </a:p>
          <a:p>
            <a:r>
              <a:rPr lang="en-US" sz="1800" dirty="0" smtClean="0"/>
              <a:t/>
            </a:r>
          </a:p>
          <a:p>
            <a:r>
              <a:rPr lang="en-US" sz="1800" dirty="0" smtClean="0"/>
              <a:t>Komprise enables organizations to handle the two most pressing issues with unstructured data: managing its rampant growth across multi-vendor storage and unlocking data value. Komprise is a data management service that connects easily via open standards to any file storage to provide much-needed analytics and visibility across all storage silos.</a:t>
            </a:r>
          </a:p>
          <a:p>
            <a:r>
              <a:rPr lang="en-US" sz="1800" dirty="0" smtClean="0"/>
              <a:t/>
            </a:r>
          </a:p>
          <a:p>
            <a:r>
              <a:rPr lang="en-US" sz="1800" dirty="0" smtClean="0"/>
              <a:t>Key benefits for customers include optimizing the management of petabytes of unstructured data to accelerate cloud migrations while dramatically cutting costs. Komprise automatically migrates or tiers unstructured/file data to secondary storage according to the plans which users create so that data always lives in the right place at the right time according to its age, usage or other parameters such as security.</a:t>
            </a:r>
          </a:p>
          <a:p>
            <a:r>
              <a:rPr lang="en-US" sz="1800" dirty="0" smtClean="0"/>
              <a:t/>
            </a:r>
          </a:p>
          <a:p>
            <a:r>
              <a:rPr lang="en-US" sz="1800" dirty="0" smtClean="0"/>
              <a:t>This adds up to significant storage savings (up to 70%) from migrating and archiving data. Komprise’s elastic grid architecture and patented TMT (transparent move technology) ensures that once data is moved from NAS and cloud file services, users can always access files from the original location, in their original form, without getting in the hot data path and enabling native access in the destination storage.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Komprise</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https://cloud.ibm.com/catalog/services/komprise-intelligent-data-management-suite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149</a:t>
            </a:r>
            <a:endParaRPr 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Kubernetes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Deploy secure, highly available apps in a native Kubernetes experience. IBM Cloud Kubernetes Service creates a cluster of compute hosts and deploys highly available containers.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Kubernetes Service creates a cluster of compute hosts and deploys highly available containers. A Kubernetes cluster lets you securely manage the resources that you need to quickly deploy, update and scale applications.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Containers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https://cloud.ibm.com/catalog/services/containers-kubernetes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150</a:t>
            </a:r>
            <a:endParaRPr 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Lantrasoft HPC Managed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Lantrasoft Professional Svcs to implement, support new or existing HPC environment for hybrid environments (On-Prem, IBM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At Lantrasoft, we provide tailored solutions for your digital transformation utilizing Hybrid/IBM Cloud and IBM Spectrum LSF, Scale. We ensure seamless integration with your existing systems and empower your business with scalable resources through flexible architectures and intelligent workload management.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Lantrasoft,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2" name="Object 12"/>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3" name="Object 13"/>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4" name="Object 14"/>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5" name="Object 15"/>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6" name="Object 16"/>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7" name="Object 17"/>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https://cloud.ibm.com/catalog/services/lantrasoft-hpc-managed-services</a:t>
            </a:r>
            <a:endParaRPr lang="en-US" sz="1400" dirty="0"/>
          </a:p>
        </p:txBody>
      </p:sp>
      <p:sp>
        <p:nvSpPr>
          <p:cNvPr id="18" name="Object 18"/>
          <p:cNvSpPr txBox="1"/>
          <p:nvPr/>
        </p:nvSpPr>
        <p:spPr>
          <a:xfrm>
            <a:off x="11500000" y="6300000"/>
            <a:ext cx="1000000" cy="200000"/>
          </a:xfrm>
          <a:prstGeom prst="rect">
            <a:avLst/>
          </a:prstGeom>
          <a:noFill/>
        </p:spPr>
        <p:txBody>
          <a:bodyPr wrap="square" rtlCol="0"/>
          <a:lstStyle/>
          <a:p>
            <a:r>
              <a:rPr lang="en-US" dirty="0" smtClean="0">
                <a:solidFill>
                  <a:srgbClr val="808080"/>
                </a:solidFill>
              </a:rPr>
              <a:t>151</a:t>
            </a:r>
            <a:endParaRPr 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Lantrasoft Maximo MAS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Lantrasoft Professional Svcs to implement, upgrade, or migrate new or existing Maximo Application to Containerized MAS platform.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1. This selection of services aims to assist Maximo customers seeking to upgrade to a MAS v8+ option.</a:t>
            </a:r>
          </a:p>
          <a:p>
            <a:r>
              <a:rPr lang="en-US" sz="1800" dirty="0" smtClean="0"/>
              <a:t>2. Lantrasoft performs the assessment and provides recommendations to support your desired option through advisory services and optionally the implementation efforts to accomplish these modernizing on-prem to hybrid-cloud-enabled projects.</a:t>
            </a:r>
          </a:p>
          <a:p>
            <a:r>
              <a:rPr lang="en-US" sz="1800" dirty="0" smtClean="0"/>
              <a:t>3. The services are designed to suit your specific upgrade or migration requirements and objectives. Builds out a unique project plan, scope, costs and timeline.</a:t>
            </a:r>
          </a:p>
          <a:p>
            <a:r>
              <a:rPr lang="en-US" sz="1800" dirty="0" smtClean="0"/>
              <a:t>4. All projects, irrespective of the category and customization, require a current state assessment or discovery coupled with a solid understanding of the customer goals and associated target environment.</a:t>
            </a:r>
          </a:p>
          <a:p>
            <a:r>
              <a:rPr lang="en-US" sz="1800" dirty="0" smtClean="0"/>
              <a:t>5. Once well-comprehended, an accurate statement of work (SOW) and associated price quote is generated in support of the project.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Lantrasoft,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https://cloud.ibm.com/catalog/services/lantrasoft-maximo-mas-services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152</a:t>
            </a:r>
            <a:endParaRPr 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Legislative Compliance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agent that reviews industrial operations documentation against current legislation, regulations and standards to identify compl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Heavy industrial operations must comply with legislation, regulations and standards set by government departments. Compliance requirements change continuously, yet most organisations check against these requirements only when an audit is due — a reactive approach that exposes them to fines, stop-work orders and reputational damage.</a:t>
            </a:r>
          </a:p>
          <a:p>
            <a:r>
              <a:rPr lang="en-US" sz="1800" dirty="0" smtClean="0"/>
              <a:t/>
            </a:r>
          </a:p>
          <a:p>
            <a:r>
              <a:rPr lang="en-US" sz="1800" dirty="0" smtClean="0"/>
              <a:t>Libero AI's Legislative Compliance Agent uses Retrieval-Augmented Generation (RAG) to compare an organisation's policies, processes and procedures against current legislative and regulatory requirements. It surfaces prioritised compliance gaps so teams can act early — not at audit time.</a:t>
            </a:r>
          </a:p>
          <a:p>
            <a:r>
              <a:rPr lang="en-US" sz="1800" dirty="0" smtClean="0"/>
              <a:t/>
            </a:r>
          </a:p>
          <a:p>
            <a:r>
              <a:rPr lang="en-US" sz="1800" dirty="0" smtClean="0"/>
              <a:t>What the agent does:</a:t>
            </a:r>
          </a:p>
          <a:p>
            <a:r>
              <a:rPr lang="en-US" sz="1800" dirty="0" smtClean="0"/>
              <a:t/>
            </a:r>
          </a:p>
          <a:p>
            <a:r>
              <a:rPr lang="en-US" sz="1800" dirty="0" smtClean="0"/>
              <a:t>- Ingests procedure documents and relevant legislation or registered standards via secure PDF upload</a:t>
            </a:r>
          </a:p>
          <a:p>
            <a:r>
              <a:rPr lang="en-US" sz="1800" dirty="0" smtClean="0"/>
              <a:t>- Compares requirements against existing internal policies and procedures using purpose/scope, document dates, and detailed section-by-section analysis</a:t>
            </a:r>
          </a:p>
          <a:p>
            <a:r>
              <a:rPr lang="en-US" sz="1800" dirty="0" smtClean="0"/>
              <a:t>- Identifies and prioritises compliance gaps, classifying each section as fully compliant, partially compliant, or non-compliant with specific issues and required actions</a:t>
            </a:r>
          </a:p>
          <a:p>
            <a:r>
              <a:rPr lang="en-US" sz="1800" dirty="0" smtClean="0"/>
              <a:t>- Provides actionable recommendations prioritised by risk level (High, Medium, or Low) to guide remediation efforts</a:t>
            </a:r>
          </a:p>
          <a:p>
            <a:r>
              <a:rPr lang="en-US" sz="1800" dirty="0" smtClean="0"/>
              <a:t>- Generates a downloadable Word document report summarising all compliance findings and recommendations for distribution to stakeholders</a:t>
            </a:r>
          </a:p>
          <a:p>
            <a:r>
              <a:rPr lang="en-US" sz="1800" dirty="0" smtClean="0"/>
              <a:t/>
            </a:r>
          </a:p>
          <a:p>
            <a:r>
              <a:rPr lang="en-US" sz="1800" dirty="0" smtClean="0"/>
              <a:t>Proven in industry:</a:t>
            </a:r>
          </a:p>
          <a:p>
            <a:r>
              <a:rPr lang="en-US" sz="1800" dirty="0" smtClean="0"/>
              <a:t/>
            </a:r>
          </a:p>
          <a:p>
            <a:r>
              <a:rPr lang="en-US" sz="1800" dirty="0" smtClean="0"/>
              <a:t>Deployed in a co-creation engagement with IBM Client Engineering for a major mining operation, the agent interrogated compliance records against QGN 34, RS14, RS15 and RS20. Three previously undetected non-conformances were identified before the next regulatory audit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Libero AI Pty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https://cloud.ibm.com/catalog/services/libero-ai-pty-ltd-legislative-compliance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153</a:t>
            </a:r>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Lenses DevX</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Developer experience and control plane for platform teams to manage Kafka and securely provide access &amp; tooling for app teams.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Lenses is a developer experience and governance layer for Apache Kafka. It gives application and data teams secure self-service access to streaming data, while platform teams keep control of who sees what.</a:t>
            </a:r>
          </a:p>
          <a:p>
            <a:r>
              <a:rPr lang="en-US" sz="1800" dirty="0" smtClean="0"/>
              <a:t/>
            </a:r>
          </a:p>
          <a:p>
            <a:r>
              <a:rPr lang="en-US" sz="1800" dirty="0" smtClean="0"/>
              <a:t>Developers explore topics, schemas, Kafka Connect and consumer groups from one console, and query live streams with SQL to troubleshoot without writing consumer code or copying data out. Topology and lineage show every producer, consumer and dependency, so teams see the blast radius before they change anything.</a:t>
            </a:r>
          </a:p>
          <a:p>
            <a:r>
              <a:rPr lang="en-US" sz="1800" dirty="0" smtClean="0"/>
              <a:t/>
            </a:r>
          </a:p>
          <a:p>
            <a:r>
              <a:rPr lang="en-US" sz="1800" dirty="0" smtClean="0"/>
              <a:t>Platform teams get scoped RBAC, namespace isolation, data masking and a full audit trail across every cluster, with SSO and SAML through your existing identity provider. Consumer lag, quota and broker health metrics feed your monitoring stack via JMX and Prometheus.</a:t>
            </a:r>
          </a:p>
          <a:p>
            <a:r>
              <a:rPr lang="en-US" sz="1800" dirty="0" smtClean="0"/>
              <a:t/>
            </a:r>
          </a:p>
          <a:p>
            <a:r>
              <a:rPr lang="en-US" sz="1800" dirty="0" smtClean="0"/>
              <a:t>Lenses works with IBM Event Streams, Apache Kafka, Amazon MSK, Confluent, Azure Event Hubs and any Kafka-compatible service. Deploy it in your own Kubernetes or Red Hat OpenShift cluster, on IBM Cloud, on premises or hybrid. Your data stays in your environment.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Lenses.io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https://cloud.ibm.com/catalog/services/lenses-hq</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154</a:t>
            </a:r>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Live Expert Hand-off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Trigger video or audio consultations with your experts over live video/audio, based on your hand-off rules and team availability.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Live Expert Hand-off Agent brings real-time human support into automated workflows by triggering live video or audio consultations whenever your defined hand-off criteria are met. This agent connects IBM Orchestrate flows to your sales or service experts, ensuring customers receive human guidance at moments where expert involvement improves clarity, trust, or conversion. When a workflow reaches a handoff-ready step, the agent launches a live Uptok session with an available expert and transfers the relevant context to streamline the interaction.</a:t>
            </a:r>
          </a:p>
          <a:p>
            <a:r>
              <a:rPr lang="en-US" sz="1800" dirty="0" smtClean="0"/>
              <a:t/>
            </a:r>
          </a:p>
          <a:p>
            <a:r>
              <a:rPr lang="en-US" sz="1800" dirty="0" smtClean="0"/>
              <a:t>Ideal for high-consideration sales, Configure-Price-Quote (CPQ) support, insurance quoting, onboarding, and complex service inquiries, this agent helps your team step in only when human expertise drives measurable impact––while keeping your workflow automation simple and predictable</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Uptok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https://cloud.ibm.com/catalog/services/uptok-live-expert-handoff</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155</a:t>
            </a:r>
            <a:endParaRPr 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Load Balancer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Elastic Load Balancer as a service with core load balancing features and flexible usage-based pricing.</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Deploy IBM Cloud Load balancer for VPC in front of application servers to distribute incoming user traffic, providing protection against failure of an individual application server instance. You can seamlessly scale your applications by adding or removing servers. with minimal to no disruption to existing traffic flows.</a:t>
            </a:r>
          </a:p>
          <a:p>
            <a:r>
              <a:rPr lang="en-US" sz="1800" dirty="0" smtClean="0"/>
              <a:t/>
            </a:r>
          </a:p>
          <a:p>
            <a:r>
              <a:rPr lang="en-US" sz="1800" dirty="0" smtClean="0"/>
              <a:t>##### Application load balancer (ALB)</a:t>
            </a:r>
          </a:p>
          <a:p>
            <a:r>
              <a:rPr lang="en-US" sz="1800" dirty="0" smtClean="0"/>
              <a:t/>
            </a:r>
          </a:p>
          <a:p>
            <a:r>
              <a:rPr lang="en-US" sz="1800" dirty="0" smtClean="0"/>
              <a:t>Both public and private ALBs provide layer-7 and layer-4 load balancing on IBM Cloud, supporting SSL offloading. The incoming and outgoing packets flow through the load balancer, which distributes data traffic based on configured policies and rules. When incoming requests match the rules that are associated with a policy, that policy defines how the load balancer distributes its traffic.</a:t>
            </a:r>
          </a:p>
          <a:p>
            <a:r>
              <a:rPr lang="en-US" sz="1800" dirty="0" smtClean="0"/>
              <a:t/>
            </a:r>
          </a:p>
          <a:p>
            <a:r>
              <a:rPr lang="en-US" sz="1800" dirty="0" smtClean="0"/>
              <a:t>##### Network load balancer (NLB)</a:t>
            </a:r>
          </a:p>
          <a:p>
            <a:r>
              <a:rPr lang="en-US" sz="1800" dirty="0" smtClean="0"/>
              <a:t/>
            </a:r>
          </a:p>
          <a:p>
            <a:r>
              <a:rPr lang="en-US" sz="1800" dirty="0" smtClean="0"/>
              <a:t>An NLB provides only layer-4 load balancing on IBM Cloud, and does not support SSL offloading. The NLB is zonal, which means that the members must be in the same zone as the load balancer. The client sends public network traffic to the NLB, which forwards it to its targets. These targets then respond directly to the client by using Direct Server Return (DSR). The load balancer does not perform a check on the contents of the packet. Since Layer 4 network load balancing only processes ingress traffic, it is ideal for workloads that require high throughput and low latency.</a:t>
            </a:r>
          </a:p>
          <a:p>
            <a:r>
              <a:rPr lang="en-US" sz="1800" dirty="0" smtClean="0"/>
              <a:t/>
            </a:r>
          </a:p>
          <a:p>
            <a:r>
              <a:rPr lang="en-US" sz="1800" dirty="0" smtClean="0"/>
              <a:t>[Compare offerings](/docs/vpc?topic=vpc-nlb-vs-elb)</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https://cloud.ibm.com/catalog/services/is.load-balancer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156</a:t>
            </a:r>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Managed Backup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Deploy a fully-managed backup environment leveraging Veeam and IBM Resiliency Services.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Deploy a fully-managed backup environment leveraging Veeam and IBM Resiliency Services.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https://cloud.ibm.com/catalog/services/managedveeam</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157</a:t>
            </a:r>
            <a:endParaRPr 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Managed Disaster Recovery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Deploy a fully-managed Disaster Recovery environment leveraging Zerto and IBM Resiliency Services.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Deploy a fully-managed Disaster Recovery environment leveraging Zerto and IBM Resiliency Services.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https://cloud.ibm.com/catalog/services/managedzerto</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158</a:t>
            </a:r>
            <a:endParaRPr 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Managed Network Security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Expand your network security operations and management with our Managed Network Security Services that provides management, monitoring, and alerting of security devices in the cloud and on premises including:  Next-Gen Firewalls,  Intrusion Detection and Prevention Systems, Unified Threat Management Stations, and Secure Web Gateways.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Managed Network Security Services provides: </a:t>
            </a:r>
          </a:p>
          <a:p>
            <a:r>
              <a:rPr lang="en-US" sz="1800" dirty="0" smtClean="0"/>
              <a:t/>
            </a:r>
          </a:p>
          <a:p>
            <a:r>
              <a:rPr lang="en-US" sz="1800" dirty="0" smtClean="0"/>
              <a:t>- Near real-time security monitoring, management and analysis of security device alerts and logs</a:t>
            </a:r>
          </a:p>
          <a:p>
            <a:r>
              <a:rPr lang="en-US" sz="1800" dirty="0" smtClean="0"/>
              <a:t>- Expertise in device policy management to help prevent malicious attacks</a:t>
            </a:r>
          </a:p>
          <a:p>
            <a:r>
              <a:rPr lang="en-US" sz="1800" dirty="0" smtClean="0"/>
              <a:t>- Advanced event analysis by intelligent systems and alerts for escalation and investigation</a:t>
            </a:r>
          </a:p>
          <a:p>
            <a:r>
              <a:rPr lang="en-US" sz="1800" dirty="0" smtClean="0"/>
              <a:t>- Detailed reporting for improved decision making</a:t>
            </a:r>
          </a:p>
          <a:p>
            <a:r>
              <a:rPr lang="en-US" sz="1800" dirty="0" smtClean="0"/>
              <a:t>- Access to IBM® X-Force® threat analysis service (security intelligence)</a:t>
            </a:r>
          </a:p>
          <a:p>
            <a:r>
              <a:rPr lang="en-US" sz="1800" dirty="0" smtClean="0"/>
              <a:t/>
            </a:r>
          </a:p>
          <a:p>
            <a:r>
              <a:rPr lang="en-US" sz="1800" dirty="0" smtClean="0"/>
              <a:t>Managed Network Security Services support a matrix of thoroughly tested and best of breed vendor platforms and technologies as hardware devices and virtual software installed in your environment, or in AWS, Azure &amp; IBM cloud including:  Checkpoint, Fortinet, Juniper, Palo Alto, and Cisco to name a few).</a:t>
            </a:r>
          </a:p>
          <a:p>
            <a:r>
              <a:rPr lang="en-US" sz="1800" dirty="0" smtClean="0"/>
              <a:t/>
            </a:r>
          </a:p>
          <a:p>
            <a:r>
              <a:rPr lang="en-US" sz="1800" dirty="0" smtClean="0"/>
              <a:t>Delivered from a network of global IBM Security Operations Centers (SOCs) operating 24 hours/day, 7 days/week 365 days/year.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https://cloud.ibm.com/catalog/infrastructure/mnss-referral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159</a:t>
            </a:r>
            <a:endParaRPr lang="en-US"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Managed VMware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Enable IBM Integrated Managed VMware services to deliver dynamic remote management services for a broad range of cloud infrastructures.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Enable IBM Integrated Managed VMware services to deliver dynamic remote management services for a broad range of cloud infrastructures.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https://cloud.ibm.com/catalog/services/imi</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160</a:t>
            </a:r>
            <a:endParaRPr 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MarvelX AI</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MarvelX helps insurance teams process claims faster with Agentic AI.</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MarvelX Claims Assistant helps insurance teams handle claims faster and with greater accuracy. It combines document understanding, Q&amp;A, and structured claim analysis in one tool.</a:t>
            </a:r>
          </a:p>
          <a:p>
            <a:r>
              <a:rPr lang="en-US" sz="1800" dirty="0" smtClean="0"/>
              <a:t/>
            </a:r>
          </a:p>
          <a:p>
            <a:r>
              <a:rPr lang="en-US" sz="1800" dirty="0" smtClean="0"/>
              <a:t/>
            </a:r>
          </a:p>
          <a:p>
            <a:r>
              <a:rPr lang="en-US" sz="1800" dirty="0" smtClean="0"/>
              <a:t/>
            </a:r>
          </a:p>
          <a:p>
            <a:r>
              <a:rPr lang="en-US" sz="1800" dirty="0" smtClean="0"/>
              <a:t/>
            </a:r>
          </a:p>
          <a:p>
            <a:r>
              <a:rPr lang="en-US" sz="1800" dirty="0" smtClean="0"/>
              <a:t>Upload claim files such as PDFs, scans or emails, and the assistant automatically checks for coverage, red flags, inconsistencies and missing information. Through a simple chat, you can ask questions about claims or policies in plain language and get clear, evidence-backed answers.</a:t>
            </a:r>
          </a:p>
          <a:p>
            <a:r>
              <a:rPr lang="en-US" sz="1800" dirty="0" smtClean="0"/>
              <a:t/>
            </a:r>
          </a:p>
          <a:p>
            <a:r>
              <a:rPr lang="en-US" sz="1800" dirty="0" smtClean="0"/>
              <a:t/>
            </a:r>
          </a:p>
          <a:p>
            <a:r>
              <a:rPr lang="en-US" sz="1800" dirty="0" smtClean="0"/>
              <a:t/>
            </a:r>
          </a:p>
          <a:p>
            <a:r>
              <a:rPr lang="en-US" sz="1800" dirty="0" smtClean="0"/>
              <a:t/>
            </a:r>
          </a:p>
          <a:p>
            <a:r>
              <a:rPr lang="en-US" sz="1800" dirty="0" smtClean="0"/>
              <a:t>Each claim is summarized into a scannable analysis with decisions, reasoning and checks performed. This makes it easier for claim handlers to review outcomes quickly, reduce errors, and improve the consistency of claim decisions.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MarvelXai B.V.</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https://cloud.ibm.com/catalog/services/marvelxai-b-v-marvelx-ai</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161</a:t>
            </a:r>
            <a:endParaRPr 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Master Data Management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Improve trust in AI pipelines by identifying duplicate records and providing reliable data about your customers, suppliers, or partners.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Use IBM Master Data Management to quickly build data pipelines for analytics and other data science use cases using master data.  Start with your IBM MDM Advanced or Standard Edition entities, or with any data assets containing party information from the knowledge catalog and quickly map and model new attributes to your data model for a more complete view of your customers. The AI-powered matching engine speeds configuration using the same statistical methods clients have relied on to produce accurate match results.  Results can be accessed via RESTful APIs, exported to flat files, or viewed online via the entity explorer.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Toronto (ca-tor)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https://cloud.ibm.com/catalog/services/mdm-oc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162</a:t>
            </a:r>
            <a:endParaRPr 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Maven AGI Agent Platform </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Maven AGI is an enterprise Generative AI platform designed to revolutionize customer support.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Maven AGI is an enterprise Generative AI platform designed to revolutionize customer support. It leverages AI agents to autonomously handle a high percentage of customer inquiries (up to 93%), significantly reducing support costs and improving resolution times. Beyond self-service, Maven AGI also provides tools for human agents, such as AI-powered co-pilots, and offers data-driven insights to proactively address customer issues.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Maven AGI,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https://cloud.ibm.com/catalog/services/mavenagi-agent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163</a:t>
            </a:r>
            <a:endParaRPr lang="en-US"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Medical Coding And RCM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agent analyzing clinical data to automate coding, improve accuracy, and optimize revenue cycle workflows and claim outcomes.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Medical Coding &amp; RCM Agent is an AI-powered solution that automates and enhances clinical coding and revenue cycle workflows by transforming structured and unstructured clinical data into accurate, compliant, and billable outputs.</a:t>
            </a:r>
          </a:p>
          <a:p>
            <a:r>
              <a:rPr lang="en-US" sz="1800" dirty="0" smtClean="0"/>
              <a:t>Healthcare organizations often face revenue loss due to incomplete documentation, coding errors, and delayed claim submissions. This agent addresses these challenges by analyzing clinical notes, diagnoses, procedures, and supporting data to generate coding suggestions aligned with ICD and CPT standards.</a:t>
            </a:r>
          </a:p>
          <a:p>
            <a:r>
              <a:rPr lang="en-US" sz="1800" dirty="0" smtClean="0"/>
              <a:t>Integrated directly into clinical workflows, the agent ensures that coding begins early in the care process and continues through discharge. It identifies missing documentation elements, suggests improvements, and supports clean claim submission by aligning clinical data with payer requirements.</a:t>
            </a:r>
          </a:p>
          <a:p>
            <a:r>
              <a:rPr lang="en-US" sz="1800" dirty="0" smtClean="0"/>
              <a:t>The agent also enables proactive denial prevention by flagging inconsistencies, incomplete records, or potential compliance risks before claims are submitted. This improves claim acceptance rates, reduces rework, and accelerates reimbursement cycles.</a:t>
            </a:r>
          </a:p>
          <a:p>
            <a:r>
              <a:rPr lang="en-US" sz="1800" dirty="0" smtClean="0"/>
              <a:t>By combining clinical intelligence with workflow orchestration, the Medical Coding &amp; RCM Agent reduces administrative burden, improves coding accuracy, and delivers measurable financial impact across the revenue cycle.</a:t>
            </a:r>
          </a:p>
          <a:p>
            <a:r>
              <a:rPr lang="en-US" sz="1800" dirty="0" smtClean="0"/>
              <a:t>placeholder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Viclinic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https://cloud.ibm.com/catalog/services/viclinic-inc-medical-coding-agent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164</a:t>
            </a:r>
            <a:endParaRPr 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Messages for RabbitMQ</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RabbitMQ is an open source multi-protocol messaging broker.</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RabbitMQ routes messages between microservices for modern applications. Messages for RabbitMQ makes RabbitMQ even better by managing it for you. Features include high availability, automated backup orchestration, autoscaling, and de-coupled allocation of storage, RAM, and vCPUs. Messages for RabbitMQ pricing is based on underlying disk, RAM, and optional vCPU allocation, as well as backup storage usage. The service is HIPAA-Ready and compliant with PCI-DSS, SOC 1 Type 2, SOC 2 Type 2, ISO 27001, ISO 27017, ISO 27018, ISO 27701, GDPR and HITRUST. You can also learn more by viewing docs, API docs, and terms.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https://cloud.ibm.com/catalog/services/messages-for-rabbitmq</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165</a:t>
            </a:r>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MinIO</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MinIO offers high-performance, S3 compatible object storage. Native to Kubernetes, compatible with every public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MinIO is a high performance, Kubernetes native object storage suite. With an extensive list of enterprise features, it is scalable, secure and resilient while remaining remarkably simple to deploy and operate at scale. Software-defined, MinIO can run on any infrastructure and in any cloud - public, private or edge. MinIO is the world's fastest object storage and can run the broadest set of workloads in the industry. It is widely considered to be the leader in compatibility with Amazon's S3 API.</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MinIO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Osaka (jp-osa) Tokyo (jp-tok) Frankfurt (eu-de)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https://cloud.ibm.com/catalog/services/minio</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166</a:t>
            </a:r>
            <a:endParaRPr 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MQ</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Enterprise-grade messaging hosted in the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MQ provides proven, enterprise-grade messaging capabilities, such as point-to-point and publish/subscribe models, to facilitate the flow of information between applications. This service enables you to use IBM MQ as a managed offering. The IBM Cloud handles upgrades, patches, and many of the operational management tasks on your behalf, so you can focus on integrating MQ with your applications.</a:t>
            </a:r>
          </a:p>
          <a:p>
            <a:r>
              <a:rPr lang="en-US" sz="1800" dirty="0" smtClean="0"/>
              <a:t/>
            </a:r>
          </a:p>
          <a:p>
            <a:r>
              <a:rPr lang="en-US" sz="1800" dirty="0" smtClean="0"/>
              <a:t>This service enables you to use IBM MQ as a managed offering. The IBM Cloud handles upgrades, patches, and many of the operational management tasks on your behalf, so you can focus on integrating MQ with your applications.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MQ</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Integration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https://cloud.ibm.com/catalog/services/mqcloud</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167</a:t>
            </a:r>
            <a:endParaRPr 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Multi Volume Snapshots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Regional Multi Volume Snapshot Service to securely back up block storage data to IBM Cloud Object Storage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Enable customer to capture crash consistent multiple volume snapshots at a time, All these Block Storage Snapshots for VPC are treated individually and service provides a regional, incremental backups of your block storage volumes.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https://cloud.ibm.com/catalog/services/is.snapshot-consistency-group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168</a:t>
            </a:r>
            <a:endParaRPr 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MyLUA Care Recommendation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Analyzes maternal client data and surfaces personalized, evidence-based care recommendations for birthing parents.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Employers, health plans, and care teams struggle to identify which maternal members need support before risks become crises. The MyLÚA Care Recommendation Agent analyzes client documentation including health assessments, intake forms, case notes, lab reports, discharge summaries, and clinical records, then returns structured, evidence-based care recommendations for each member. For every client submitted, the agent surfaces a prioritized needs summary, urgency-classified outreach actions, a step-by-step care pathway sequence, referral and escalation routing, and validated community resources sourced in real time. It supports both individual-level care planning and population-level trend analysis, helping care coordinators act earlier and organizations demonstrate measurable impact across their maternal health programs. Integrating organizations are responsible for implementing appropriate data safeguards before submitting client information to the agent.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MyLUA Health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https://cloud.ibm.com/catalog/services/mylua-health-inc-mylua-care-recommendation-agent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169</a:t>
            </a:r>
            <a:endParaRPr lang="en-US"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NetApp ONTAP Select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Software-defined storage cluster that addresses your needs for a dedicated and highly available storage appliance based on NetApp ONTAP Select.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Software-defined storage cluster that addresses your needs for a dedicated and highly available storage appliance based on NetApp ONTAP Select.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https://cloud.ibm.com/catalog/services/netapp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170</a:t>
            </a:r>
            <a:endParaRPr 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Netezza Performance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high performance petabyte scale fully managed pay-as-you-go cloud data warehouse service running the next generation Netezza database engine delivered through Cloud Pak for Data</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Netezza Performance Server is a fully managed, a true elastic cloud native data warehouse. With advanced in-database analytics capabilities, it enables you to do data science and machine learning with data volumes scaling into the petabytes.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Tokyo (jp-tok) Frankfurt (eu-de) London (eu-gb) Toronto (ca-tor)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https://cloud.ibm.com/catalog/services/data-warehouse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171</a:t>
            </a:r>
            <a:endParaRPr lang="en-US"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Netomi AI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Netomi AI Agent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Netomi is the world’s leading enterprise agentic AI platform for customer experience, trusted in production by Fortune 500 companies across travel, hospitality, retail, insurance, banking, telecom, and media. Its field-proven platform delivers autonomous, goal-driven interactions that go beyond reactive support, anticipating customer needs, acting preemptively, and driving measurable outcomes across every channel and touchpoint. Unlike siloed AI tools, Netomi is architected as a composable and sanctioned agentic system, deeply integrated with enterprise workflows, and pre-built with embedded AI governance, compliance, and security at its core. Through its Agentic Factory and the Agent Development Lifecycle (ADLC), enterprises can rapidly design, govern, and scale specialized AI agents with consistency and resilience at Fortune 500 scale. With the fastest deployment times and consistently proven ROI, Netomi turns customer experience into a strategic advantage for the world’s largest organizations.  For more information, visit www.netomi.com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AI Netomi,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https://cloud.ibm.com/catalog/services/netomi-ai-agent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172</a:t>
            </a:r>
            <a:endParaRPr 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Network ACL</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Network ACL for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Use network access control lists (ACLs) as filters to allow or deny specified incoming or outgoing traffic in an IBM Cloud Virtual Private Cloud (VPC).</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https://cloud.ibm.com/catalog/services/is.network-acl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173</a:t>
            </a:r>
            <a:endParaRPr lang="en-US"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Network Address Group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Mumbai - Airtel (in-mum) Frankfurt (eu-de)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https://cloud.ibm.com/catalog/services/power-iaas.network-address-group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174</a:t>
            </a:r>
            <a:endParaRPr lang="en-US"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Network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workoads on Premises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on Premises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Mumbai - Airtel (in-mum) Frankfurt (eu-de)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https://cloud.ibm.com/catalog/services/power-iaas.network</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175</a:t>
            </a:r>
            <a:endParaRPr lang="en-US"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Network Interface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Mumbai - Airtel (in-mum) Frankfurt (eu-de)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https://cloud.ibm.com/catalog/services/power-iaas.network-interface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176</a:t>
            </a:r>
            <a:endParaRPr lang="en-US"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Network Security Group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Mumbai - Airtel (in-mum) Frankfurt (eu-de)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https://cloud.ibm.com/catalog/services/power-iaas.network-security-group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177</a:t>
            </a:r>
            <a:endParaRPr lang="en-US"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NeuralSeek</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The world's best no-code Agentic platform. From RAG to multi-agent generative AI systems with native Governance.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world's best no-code Agentic platform. From RAG to multi-agent generative AI systems with native Governance.</a:t>
            </a:r>
          </a:p>
          <a:p>
            <a:r>
              <a:rPr lang="en-US" sz="1800" dirty="0" smtClean="0"/>
              <a:t/>
            </a:r>
          </a:p>
          <a:p>
            <a:r>
              <a:rPr lang="en-US" sz="1800" dirty="0" smtClean="0"/>
              <a:t>NeuralSeek completely automates Retrieval Augmented Generation (RAG) usecases, backed by business-friendly no-code agents.</a:t>
            </a:r>
          </a:p>
          <a:p>
            <a:r>
              <a:rPr lang="en-US" sz="1800" dirty="0" smtClean="0"/>
              <a:t/>
            </a:r>
          </a:p>
          <a:p>
            <a:r>
              <a:rPr lang="en-US" sz="1800" dirty="0" smtClean="0"/>
              <a:t>NeuralSeek's mAIstro platform lets business users quickly build complex LLM-backed processes with greater scalability than hardcoding in python, and without knowing any code.</a:t>
            </a:r>
          </a:p>
          <a:p>
            <a:r>
              <a:rPr lang="en-US" sz="1800" dirty="0" smtClean="0"/>
              <a:t/>
            </a:r>
          </a:p>
          <a:p>
            <a:r>
              <a:rPr lang="en-US" sz="1800" dirty="0" smtClean="0"/>
              <a:t>Industry Leading Retrieval Augmented Generation</a:t>
            </a:r>
          </a:p>
          <a:p>
            <a:r>
              <a:rPr lang="en-US" sz="1800" dirty="0" smtClean="0"/>
              <a:t/>
            </a:r>
          </a:p>
          <a:p>
            <a:r>
              <a:rPr lang="en-US" sz="1800" dirty="0" smtClean="0"/>
              <a:t>Strong Corporate Controls, human in the loop.</a:t>
            </a:r>
          </a:p>
          <a:p>
            <a:r>
              <a:rPr lang="en-US" sz="1800" dirty="0" smtClean="0"/>
              <a:t/>
            </a:r>
          </a:p>
          <a:p>
            <a:r>
              <a:rPr lang="en-US" sz="1800" dirty="0" smtClean="0"/>
              <a:t>Automatic Virtual Agent Builder</a:t>
            </a:r>
          </a:p>
          <a:p>
            <a:r>
              <a:rPr lang="en-US" sz="1800" dirty="0" smtClean="0"/>
              <a:t/>
            </a:r>
          </a:p>
          <a:p>
            <a:r>
              <a:rPr lang="en-US" sz="1800" dirty="0" smtClean="0"/>
              <a:t>Automatically create &amp; monitor conversations into leading Virtual Agent platforms.</a:t>
            </a:r>
          </a:p>
          <a:p>
            <a:r>
              <a:rPr lang="en-US" sz="1800" dirty="0" smtClean="0"/>
              <a:t/>
            </a:r>
          </a:p>
          <a:p>
            <a:r>
              <a:rPr lang="en-US" sz="1800" dirty="0" smtClean="0"/>
              <a:t>Protection from Prompt Injection and harmful content</a:t>
            </a:r>
          </a:p>
          <a:p>
            <a:r>
              <a:rPr lang="en-US" sz="1800" dirty="0" smtClean="0"/>
              <a:t/>
            </a:r>
          </a:p>
          <a:p>
            <a:r>
              <a:rPr lang="en-US" sz="1800" dirty="0" smtClean="0"/>
              <a:t>Automatically cleanse and protect against malicious user input</a:t>
            </a:r>
          </a:p>
          <a:p>
            <a:r>
              <a:rPr lang="en-US" sz="1800" dirty="0" smtClean="0"/>
              <a:t/>
            </a:r>
          </a:p>
          <a:p>
            <a:r>
              <a:rPr lang="en-US" sz="1800" dirty="0" smtClean="0"/>
              <a:t>Full RAG Governance - Executive-level and SME dashboards to monitor answer generation, system performance, content insights and configuration churn</a:t>
            </a:r>
          </a:p>
          <a:p>
            <a:r>
              <a:rPr lang="en-US" sz="1800" dirty="0" smtClean="0"/>
              <a:t/>
            </a:r>
          </a:p>
          <a:p>
            <a:r>
              <a:rPr lang="en-US" sz="1800" dirty="0" smtClean="0"/>
              <a:t>Integrated versioning controls</a:t>
            </a:r>
          </a:p>
          <a:p>
            <a:r>
              <a:rPr lang="en-US" sz="1800" dirty="0" smtClean="0"/>
              <a:t/>
            </a:r>
          </a:p>
          <a:p>
            <a:r>
              <a:rPr lang="en-US" sz="1800" dirty="0" smtClean="0"/>
              <a:t>Category and Intent-level control </a:t>
            </a:r>
          </a:p>
          <a:p>
            <a:r>
              <a:rPr lang="en-US" sz="1800" dirty="0" smtClean="0"/>
              <a:t/>
            </a:r>
          </a:p>
          <a:p>
            <a:r>
              <a:rPr lang="en-US" sz="1800" dirty="0" smtClean="0"/>
              <a:t>Set confidence thresholds, custom responses and fallbacks per category.</a:t>
            </a:r>
          </a:p>
          <a:p>
            <a:r>
              <a:rPr lang="en-US" sz="1800" dirty="0" smtClean="0"/>
              <a:t/>
            </a:r>
          </a:p>
          <a:p>
            <a:r>
              <a:rPr lang="en-US" sz="1800" dirty="0" smtClean="0"/>
              <a:t>Automatically prompt-tune LLM’s at the intent level</a:t>
            </a:r>
          </a:p>
          <a:p>
            <a:r>
              <a:rPr lang="en-US" sz="1800" dirty="0" smtClean="0"/>
              <a:t/>
            </a:r>
          </a:p>
          <a:p>
            <a:r>
              <a:rPr lang="en-US" sz="1800" dirty="0" smtClean="0"/>
              <a:t>Automatic Content Cleansing</a:t>
            </a:r>
          </a:p>
          <a:p>
            <a:r>
              <a:rPr lang="en-US" sz="1800" dirty="0" smtClean="0"/>
              <a:t/>
            </a:r>
          </a:p>
          <a:p>
            <a:r>
              <a:rPr lang="en-US" sz="1800" dirty="0" smtClean="0"/>
              <a:t>Preprocess complex embedded tables</a:t>
            </a:r>
          </a:p>
          <a:p>
            <a:r>
              <a:rPr lang="en-US" sz="1800" dirty="0" smtClean="0"/>
              <a:t/>
            </a:r>
          </a:p>
          <a:p>
            <a:r>
              <a:rPr lang="en-US" sz="1800" dirty="0" smtClean="0"/>
              <a:t>Cross-language / automatic Translation</a:t>
            </a:r>
          </a:p>
          <a:p>
            <a:r>
              <a:rPr lang="en-US" sz="1800" dirty="0" smtClean="0"/>
              <a:t/>
            </a:r>
          </a:p>
          <a:p>
            <a:r>
              <a:rPr lang="en-US" sz="1800" dirty="0" smtClean="0"/>
              <a:t>Answer questions in languages other than the documentation</a:t>
            </a:r>
          </a:p>
          <a:p>
            <a:r>
              <a:rPr lang="en-US" sz="1800" dirty="0" smtClean="0"/>
              <a:t/>
            </a:r>
          </a:p>
          <a:p>
            <a:r>
              <a:rPr lang="en-US" sz="1800" dirty="0" smtClean="0"/>
              <a:t>Corporate Logging - Log all actions for corporate audit &amp; compliance.</a:t>
            </a:r>
          </a:p>
          <a:p>
            <a:r>
              <a:rPr lang="en-US" sz="1800" dirty="0" smtClean="0"/>
              <a:t/>
            </a:r>
          </a:p>
          <a:p>
            <a:r>
              <a:rPr lang="en-US" sz="1800" dirty="0" smtClean="0"/>
              <a:t>Answer Provenance &amp; Hallucination detection / removal</a:t>
            </a:r>
          </a:p>
          <a:p>
            <a:r>
              <a:rPr lang="en-US" sz="1800" dirty="0" smtClean="0"/>
              <a:t/>
            </a:r>
          </a:p>
          <a:p>
            <a:r>
              <a:rPr lang="en-US" sz="1800" dirty="0" smtClean="0"/>
              <a:t>Trace answers directly to source documents</a:t>
            </a:r>
          </a:p>
          <a:p>
            <a:r>
              <a:rPr lang="en-US" sz="1800" dirty="0" smtClean="0"/>
              <a:t/>
            </a:r>
          </a:p>
          <a:p>
            <a:r>
              <a:rPr lang="en-US" sz="1800" dirty="0" smtClean="0"/>
              <a:t>Semantic Analysis helps users understand the confidence of answers </a:t>
            </a:r>
          </a:p>
          <a:p>
            <a:r>
              <a:rPr lang="en-US" sz="1800" dirty="0" smtClean="0"/>
              <a:t>and eliminate hallucination</a:t>
            </a:r>
          </a:p>
          <a:p>
            <a:r>
              <a:rPr lang="en-US" sz="1800" dirty="0" smtClean="0"/>
              <a:t/>
            </a:r>
          </a:p>
          <a:p>
            <a:r>
              <a:rPr lang="en-US" sz="1800" dirty="0" smtClean="0"/>
              <a:t>PII Detection / Removal</a:t>
            </a:r>
          </a:p>
          <a:p>
            <a:r>
              <a:rPr lang="en-US" sz="1800" dirty="0" smtClean="0"/>
              <a:t/>
            </a:r>
          </a:p>
          <a:p>
            <a:r>
              <a:rPr lang="en-US" sz="1800" dirty="0" smtClean="0"/>
              <a:t>Flag, Mask, Hide, or Delete PII on user input.</a:t>
            </a:r>
          </a:p>
          <a:p>
            <a:r>
              <a:rPr lang="en-US" sz="1800" dirty="0" smtClean="0"/>
              <a:t/>
            </a:r>
          </a:p>
          <a:p>
            <a:r>
              <a:rPr lang="en-US" sz="1800" dirty="0" smtClean="0"/>
              <a:t>Dynamic Personalization</a:t>
            </a:r>
          </a:p>
          <a:p>
            <a:r>
              <a:rPr lang="en-US" sz="1800" dirty="0" smtClean="0"/>
              <a:t/>
            </a:r>
          </a:p>
          <a:p>
            <a:r>
              <a:rPr lang="en-US" sz="1800" dirty="0" smtClean="0"/>
              <a:t>Leverage SSO or user data to tailor responses specifically to users.</a:t>
            </a:r>
          </a:p>
          <a:p>
            <a:r>
              <a:rPr lang="en-US" sz="1800" dirty="0" smtClean="0"/>
              <a:t/>
            </a:r>
          </a:p>
          <a:p>
            <a:r>
              <a:rPr lang="en-US" sz="1800" dirty="0" smtClean="0"/>
              <a:t>Integrate structured &amp; unstructured data across endless sources. </a:t>
            </a:r>
          </a:p>
          <a:p>
            <a:r>
              <a:rPr lang="en-US" sz="1800" dirty="0" smtClean="0"/>
              <a:t/>
            </a:r>
          </a:p>
          <a:p>
            <a:r>
              <a:rPr lang="en-US" sz="1800" dirty="0" smtClean="0"/>
              <a:t>Create scalable LLM-backed processes in seconds.</a:t>
            </a:r>
          </a:p>
          <a:p>
            <a:r>
              <a:rPr lang="en-US" sz="1800" dirty="0" smtClean="0"/>
              <a:t/>
            </a:r>
          </a:p>
          <a:p>
            <a:r>
              <a:rPr lang="en-US" sz="1800" dirty="0" smtClean="0"/>
              <a:t>Generate files and documents, create synthetic data</a:t>
            </a:r>
          </a:p>
          <a:p>
            <a:r>
              <a:rPr lang="en-US" sz="1800" dirty="0" smtClean="0"/>
              <a:t/>
            </a:r>
          </a:p>
          <a:p>
            <a:r>
              <a:rPr lang="en-US" sz="1800" dirty="0" smtClean="0"/>
              <a:t>Connect to REST endpoints,  automatically send Email</a:t>
            </a:r>
          </a:p>
          <a:p>
            <a:r>
              <a:rPr lang="en-US" sz="1800" dirty="0" smtClean="0"/>
              <a:t/>
            </a:r>
          </a:p>
          <a:p>
            <a:r>
              <a:rPr lang="en-US" sz="1800" dirty="0" smtClean="0"/>
              <a:t>60+ prebuilt functions to snap together in limitless ways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Cerebral Blue LLC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Frankfurt (eu-de)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https://cloud.ibm.com/catalog/services/neuralseek</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178</a:t>
            </a:r>
            <a:endParaRPr lang="en-US"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NeuralSeek Professional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NeuralSeek onboarding, training, and implementation services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At NeuralSeek, we understand that implementing AI-powered solutions requires expert guidance and support to achieve optimal results. Our comprehensive professional services team partners with you throughout your journey, providing end-to-end support for implementation, seamless integration with your existing systems, thorough team training, and ongoing technical assistance. Whether you're just getting started with NeuralSeek or looking to optimize your current deployment, our experienced consultants ensure you maximize the value of your investment while maintaining the highest standards of accuracy and performance. We're committed to helping your organization harness the full potential of AI-driven customer support solutions.</a:t>
            </a:r>
          </a:p>
          <a:p>
            <a:r>
              <a:rPr lang="en-US" sz="1800" dirty="0" smtClean="0"/>
              <a:t/>
            </a:r>
          </a:p>
          <a:p>
            <a:r>
              <a:rPr lang="en-US" sz="1800" dirty="0" smtClean="0"/>
              <a:t/>
            </a:r>
          </a:p>
          <a:p>
            <a:r>
              <a:rPr lang="en-US" sz="1800" dirty="0" smtClean="0"/>
              <a:t>Once you provision an instance of our professional services, you will then be able to pre-purchase blocks of hours which are valid to be consumed for 1 year after purchase.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Cerebral Blue LLC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https://cloud.ibm.com/catalog/services/neuralseekservices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179</a:t>
            </a:r>
            <a:endParaRPr lang="en-US"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Newcode Agentic AI Legal Workflows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well-tested set of Agentic AI Workflows for legal teams to automate complex tasks and enhance their daily operational activities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Newcode.ai helps enterprise legal teams turn AI into measurable business value through secure, scalable, and practical automation. Its Agentic AI Legal Workflows streamline high-impact tasks such as contract analysis and negotiation, document drafting from approved templates, monitoring legal updates, procurement processes, and invoice review. These workflows can be embedded directly into the client’s existing environment and help legal operations achieve faster turnaround times, improve operational accuracy and consistency, and scale legal support across functions while keeping legal professionals responsible for review, judgment, and final decision-making.</a:t>
            </a:r>
          </a:p>
          <a:p>
            <a:r>
              <a:rPr lang="en-US" sz="1800" dirty="0" smtClean="0"/>
              <a:t>Newcode’s AI workflows also complement products such as Nova Web, Nova Cowork, Nova Outlook add-in, Nova Word add-in, and Nova mobile app.</a:t>
            </a:r>
          </a:p>
          <a:p>
            <a:r>
              <a:rPr lang="en-US" sz="1800" dirty="0" smtClean="0"/>
              <a:t/>
            </a:r>
          </a:p>
          <a:p>
            <a:r>
              <a:rPr lang="en-US" sz="1800" dirty="0" smtClean="0"/>
              <a:t>Disclaimer: these AI workflows are designed to support legal work and operational efficiency. They do not provide legal advice, and all outputs should be reviewed by qualified professionals before use.</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Newcode.ai,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https://cloud.ibm.com/catalog/services/newcode-ai-mcp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180</a:t>
            </a:r>
            <a:endParaRPr lang="en-US"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Nomination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Analyzes nominations for quality and impact. Automates review process to reduce bias, save time, and spotlight standout stories.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Nomination Agent is an AI-powered tool that transforms how organizations manage employee recognition through nomination-based programs. Whether it’s for a President’s Award, Innovator of the Year, or any high-impact honor, Nomination Agent helps surface the most meaningful submissions by analyzing nominations for quality, alignment to company values, and overall impact. Using advanced language models and ideal criteria benchmarks, it delivers automated recommendations that reduce manual review time, minimize bias, and improve decision-making. The result is a faster, fairer, and more inspiring recognition process that saves time, lowers costs, and ensures every standout story gets the attention it deserves.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BI WORLDWIDE</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https://cloud.ibm.com/catalog/services/biw-nomination-agent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181</a:t>
            </a:r>
            <a:endParaRPr lang="en-US"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NovaOps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Agentic AI ChatOps for DevOps, SRE, Cloud, and Operations Engineers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qaTT is an enterprise Agentic AI ChatOps platform that helps IBM customers reduce downtime, accelerate incident resolution, and optimize cloud operations across IBM Cloud, hybrid, and multi-cloud environments. By using a multi-agent AI system, qaTT analyzes observability and infrastructure data to identify root causes, guide remediation, and automate approved actions directly within Slack or Microsoft Teams. This enables faster MTTR, lower operational costs, and improved reliability for mission-critical systems. For IBM sellers, qaTT enhances customer value by strengthening operational outcomes, increasing platform adoption, and supporting larger cloud and services engagements, making it easier to expand existing deals and drive measurable business impact.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qaTT Software LTD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https://cloud.ibm.com/catalog/services/qatt-software-ltd-novaops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182</a:t>
            </a:r>
            <a:endParaRPr lang="en-US"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OpenPages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Simplify how you manage risk and regulatory compliance with a unified GRC platform fueled by AI and all your data.</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Run an AI-driven, highly scalable, governance, risk and compliance (GRC) solution on any cloud. Centralize siloed risk management functions within a single environment designed to help you identify, manage, monitor and report on risk and regulatory compliance, especially in today’s changing business landscape.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Frankfurt (eu-de)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https://cloud.ibm.com/catalog/services/openpages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183</a:t>
            </a:r>
            <a:endParaRPr lang="en-US"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Partner with Technology Expert Labs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With deep technical expertise and a proven approach, we help clients adopt and consume IBM Cloud® platform technologies through the implementation of production-ready use cases.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Engage with IBM expert to build a more meaningful application for your users. Get the most out of your IBM Cloud account by working with either of our consulting practices: IBM Cloud Expert Labs or Data and AI Expert Labs &amp; Learning.</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Technology Expert Labs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https://cloud.ibm.com/catalog/services/consult-with-icg-wes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184</a:t>
            </a:r>
            <a:endParaRPr lang="en-US"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patentbutler similarity search </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Integrated IP management and AI-powered patent intelligence to streamline portfolios, accelerate insights, and drive innovation.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1. Similarity Search (Content-Based Patent Discovery)</a:t>
            </a:r>
          </a:p>
          <a:p>
            <a:r>
              <a:rPr lang="en-US" sz="1800" dirty="0" smtClean="0"/>
              <a:t>Instantly uncover the most relevant patents from global databases using natural language, documents, or technical files. Our AI understands context—not just keywords—delivering precise, high-quality matches in seconds. Eliminate missed prior art, reduce risk, and gain a decisive edge in innovation and IP strategy.</a:t>
            </a:r>
          </a:p>
          <a:p>
            <a:r>
              <a:rPr lang="en-US" sz="1800" dirty="0" smtClean="0"/>
              <a:t/>
            </a:r>
          </a:p>
          <a:p>
            <a:r>
              <a:rPr lang="en-US" sz="1800" dirty="0" smtClean="0"/>
              <a:t>2. Chat with Results (Interactive Patent Intelligence)</a:t>
            </a:r>
          </a:p>
          <a:p>
            <a:r>
              <a:rPr lang="en-US" sz="1800" dirty="0" smtClean="0"/>
              <a:t>Turn search results into actionable insights through AI-powered conversation. Ask questions, compare inventions, extract key features, and validate ideas—directly within your results. This transforms static data into dynamic intelligence, enabling faster decisions, deeper understanding, and significantly increased productivity.</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uptoIP GmbH</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https://cloud.ibm.com/catalog/services/uptoip-patentbutler-similarity-search</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185</a:t>
            </a:r>
            <a:endParaRPr lang="en-US"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Patient Facing AI Agent for Healthcare Companies (Hospitals and Clinics)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IBM Watsonx powered Patient AI Agent handles patient inquiries, appointments, and assessments across voice, web, and social media.</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Meet the Intelligent Patient AI Agent, a secure, 99% accurate agentic AI solution built on IBM Watsonx Orchestrate. It's a fully autonomous patient engagement agent that handles incoming inquiries across channels (like web and voice), understands patient intent, and takes action end to end by connecting with EMR - not just a chat assistant, but an agent that gets things done.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Streebo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https://cloud.ibm.com/catalog/services/patient-facing-ai-agent-for-healthcare-companies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186</a:t>
            </a:r>
            <a:endParaRPr lang="en-US"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Placement Group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Mumbai - Airtel (in-mum) Frankfurt (eu-de)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https://cloud.ibm.com/catalog/services/power-iaas.placement-group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187</a:t>
            </a:r>
            <a:endParaRPr lang="en-US"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Placement Groups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Spread VSIs across hosts and/or racks for improved disaster avoidance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Placement Groups with Anti-Affinity placement rules enable customers to specify placement of VPC VSIs for improved disaster / outage avoidance.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https://cloud.ibm.com/catalog/services/is.placement-group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188</a:t>
            </a:r>
            <a:endParaRPr 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Planning Analytics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Streamline planning across your organization and forecast with greater accuracy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Planning Analytics  as a Service is a fully managed,  collaborative, enterprise-scalable budgeting, planning, analytics, profitability, modeling and reporting solution deployed on AWS. These applications are supported by the highly available Planning Analytics in memory engine that provides on-demand analytics of complex multidimensional data in real time.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Analytics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https://cloud.ibm.com/catalog/services/planning-analytics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189</a:t>
            </a:r>
            <a:endParaRPr lang="en-US"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Portworx Enterprise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Cloud-native persistent storage and data management solution for Kubernetes and OpenShift clusters.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Portworx-Enterprise is the most widely-used and reliable cloud-native storage solution for production workloads and provides high-availability, data protection and security for containerized applications.</a:t>
            </a:r>
          </a:p>
          <a:p>
            <a:r>
              <a:rPr lang="en-US" sz="1800" dirty="0" smtClean="0"/>
              <a:t/>
            </a:r>
          </a:p>
          <a:p>
            <a:r>
              <a:rPr lang="en-US" sz="1800" dirty="0" smtClean="0"/>
              <a:t>To learn more about the Portworx Enterprise the data platform for Kubernetes, platform features, please visit our product features page  https://portworx.com/products/features/.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Portworx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https://cloud.ibm.com/catalog/services/portworx</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190</a:t>
            </a:r>
            <a:endParaRPr lang="en-US"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Post-Surgery Recovery Support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agent supporting post-surgery recovery with follow-up, patient guidance, and early risk detection to improve outcomes.</a:t>
            </a:r>
          </a:p>
          <a:p>
            <a:r>
              <a:rPr lang="en-US" sz="2000" dirty="0" smtClean="0">
                <a:solidFill>
                  <a:srgbClr val="808080"/>
                </a:solidFill>
              </a:rPr>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Post-Surgery Recovery Support Agent is an AI-powered solution designed to support patients and care teams after discharge, ensuring safe recovery and continuous follow-up care.</a:t>
            </a:r>
          </a:p>
          <a:p>
            <a:r>
              <a:rPr lang="en-US" sz="1800" dirty="0" smtClean="0"/>
              <a:t>After surgery, many complications and readmissions happen due to gaps in monitoring, unclear instructions, or delayed intervention. This agent addresses those challenges by guiding patients through their recovery, tracking symptoms, and detecting early signs of risk.</a:t>
            </a:r>
          </a:p>
          <a:p>
            <a:r>
              <a:rPr lang="en-US" sz="1800" dirty="0" smtClean="0"/>
              <a:t>Using a conversational interface, the agent checks in with patients, collects recovery data (pain, symptoms, medication adherence, wound status), and provides personalized guidance based on clinical protocols. It continuously monitors patient responses and flags potential complications for timely clinician review.</a:t>
            </a:r>
          </a:p>
          <a:p>
            <a:r>
              <a:rPr lang="en-US" sz="1800" dirty="0" smtClean="0"/>
              <a:t>The agent orchestrates post-discharge workflows by connecting patient follow-up, care coordination, and clinical oversight into a single process. It helps ensure that no critical signals are missed and that patients stay on track with their recovery plan.</a:t>
            </a:r>
          </a:p>
          <a:p>
            <a:r>
              <a:rPr lang="en-US" sz="1800" dirty="0" smtClean="0"/>
              <a:t>For healthcare providers, the agent reduces manual follow-up workload, improves care continuity, and supports early intervention. For patients, it delivers clear guidance, reassurance, and an easy way to stay connected with their care team.</a:t>
            </a:r>
          </a:p>
          <a:p>
            <a:r>
              <a:rPr lang="en-US" sz="1800" dirty="0" smtClean="0"/>
              <a:t>By improving recovery monitoring, enhancing patient engagement, and enabling early risk detection, the Post-Surgery Recovery Support Agent helps reduce complications, lower readmission rates, and improve overall clinical outcomes.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Viclinic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https://cloud.ibm.com/catalog/services/viclinic-inc-post-surgery-recovery-support-agent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191</a:t>
            </a:r>
            <a:endParaRPr lang="en-US"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Power Enterprise Pools Metered Capacity Integration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Integrate on-premises consumption in Power Enterprise Pools with PowerVS and other IBM Cloud services on a single monthly invoice.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Enable IT teams to deploy AIX, IBM i, and Linux applications more affordably and flexibly across a hybrid Power environment by integrating charges for pay-per-use compute resources on systems both on-premises and in the public cloud. Connect a Power Enterprise Pools 2.0 to a Power Virtual Server Enterprise Savings Plan (ESP) to have any charges for consumption of Metered Capacity in an on-premises Power Enterprise Pool invoiced alongside Power Virtual Server and other IBM Cloud services in a single, consolidated invoice from IBM Cloud.  Have on-premises Metered Capacity consumption count toward any committed spend of a PowerVS Cloud ESP.</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Integration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https://cloud.ibm.com/catalog/services/power-enterprise-pools-connector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192</a:t>
            </a:r>
            <a:endParaRPr lang="en-US"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Power i Migrate 23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Ease your Power i migration with BUS4i "System Copy - Migrate 23" Services. Focus on your core tasks while we handle the rest.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BUS4i "SystemCopy - Migrate 23" Professional Services: </a:t>
            </a:r>
          </a:p>
          <a:p>
            <a:r>
              <a:rPr lang="en-US" sz="1800" dirty="0" smtClean="0"/>
              <a:t>Book the corresponding professional service for our Migrate 23 offering here in the catalog.</a:t>
            </a:r>
          </a:p>
          <a:p>
            <a:r>
              <a:rPr lang="en-US" sz="1800" dirty="0" smtClean="0"/>
              <a:t/>
            </a:r>
          </a:p>
          <a:p>
            <a:r>
              <a:rPr lang="en-US" sz="1800" dirty="0" smtClean="0"/>
              <a:t>Hassle-Free IBM i System Migrations </a:t>
            </a:r>
          </a:p>
          <a:p>
            <a:r>
              <a:rPr lang="en-US" sz="1800" dirty="0" smtClean="0"/>
              <a:t/>
            </a:r>
          </a:p>
          <a:p>
            <a:r>
              <a:rPr lang="en-US" sz="1800" dirty="0" smtClean="0"/>
              <a:t>Overview:</a:t>
            </a:r>
          </a:p>
          <a:p>
            <a:r>
              <a:rPr lang="en-US" sz="1800" dirty="0" smtClean="0"/>
              <a:t>For businesses seeking expert assistance with migrating their IBM i systems, BUS4i "SystemCopy - Migrate 23" Professional Services offers a comprehensive, hands-on solution. Whether you're moving to a new IBM i server or transitioning to the PowerVS cloud, our professional services team takes care of the entire migration process from start to finish. </a:t>
            </a:r>
          </a:p>
          <a:p>
            <a:r>
              <a:rPr lang="en-US" sz="1800" dirty="0" smtClean="0"/>
              <a:t/>
            </a:r>
          </a:p>
          <a:p>
            <a:r>
              <a:rPr lang="en-US" sz="1800" dirty="0" smtClean="0"/>
              <a:t>Why Choose Our Professional Services?</a:t>
            </a:r>
          </a:p>
          <a:p>
            <a:r>
              <a:rPr lang="en-US" sz="1800" dirty="0" smtClean="0"/>
              <a:t>- Expert-Led Migration: Let our team of seasoned professionals handle the complexities of your IBM i system migration. With years of experience, we ensure a seamless and efficient transition.</a:t>
            </a:r>
          </a:p>
          <a:p>
            <a:r>
              <a:rPr lang="en-US" sz="1800" dirty="0" smtClean="0"/>
              <a:t>- Turnkey Solution: We manage the entire migration process for you, from initial planning and data capture to final system setup, ensuring your new environment is an exact replica of your original system.</a:t>
            </a:r>
          </a:p>
          <a:p>
            <a:r>
              <a:rPr lang="en-US" sz="1800" dirty="0" smtClean="0"/>
              <a:t>- Tailored to Your Needs: Every business is unique, and so are its migration needs. We customize our approach to fit your specific requirements, ensuring a smooth and hassle-free migration experience.</a:t>
            </a:r>
          </a:p>
          <a:p>
            <a:r>
              <a:rPr lang="en-US" sz="1800" dirty="0" smtClean="0"/>
              <a:t/>
            </a:r>
          </a:p>
          <a:p>
            <a:r>
              <a:rPr lang="en-US" sz="1800" dirty="0" smtClean="0"/>
              <a:t>Key Benefits:</a:t>
            </a:r>
          </a:p>
          <a:p>
            <a:r>
              <a:rPr lang="en-US" sz="1800" dirty="0" smtClean="0"/>
              <a:t/>
            </a:r>
          </a:p>
          <a:p>
            <a:r>
              <a:rPr lang="en-US" sz="1800" dirty="0" smtClean="0"/>
              <a:t>- Reduced Downtime: Our experts work efficiently to minimize downtime, ensuring that your business operations experience as little disruption as possible during the migration.</a:t>
            </a:r>
          </a:p>
          <a:p>
            <a:r>
              <a:rPr lang="en-US" sz="1800" dirty="0" smtClean="0"/>
              <a:t>- Minimized Risk: By entrusting your migration to our experienced team, you reduce the risk of errors and issues, guaranteeing a successful transition.</a:t>
            </a:r>
          </a:p>
          <a:p>
            <a:r>
              <a:rPr lang="en-US" sz="1800" dirty="0" smtClean="0"/>
              <a:t>- Resource Savings: Avoid the challenges and time-consuming tasks associated with system migrations. Our professional services team takes care of everything, allowing your team to focus on core business activities.</a:t>
            </a:r>
          </a:p>
          <a:p>
            <a:r>
              <a:rPr lang="en-US" sz="1800" dirty="0" smtClean="0"/>
              <a:t>- Ongoing Support: Beyond the migration, we provide ongoing support to ensure that your new system operates smoothly, with minimal issues post-migration.</a:t>
            </a:r>
          </a:p>
          <a:p>
            <a:r>
              <a:rPr lang="en-US" sz="1800" dirty="0" smtClean="0"/>
              <a:t/>
            </a:r>
          </a:p>
          <a:p>
            <a:r>
              <a:rPr lang="en-US" sz="1800" dirty="0" smtClean="0"/>
              <a:t>How It Works:</a:t>
            </a:r>
          </a:p>
          <a:p>
            <a:r>
              <a:rPr lang="en-US" sz="1800" dirty="0" smtClean="0"/>
              <a:t/>
            </a:r>
          </a:p>
          <a:p>
            <a:r>
              <a:rPr lang="en-US" sz="1800" dirty="0" smtClean="0"/>
              <a:t>Our BUS4i "SystemCopy - Migrate 23" Professional Services team employs the same advanced technology behind our software, coupled with expert oversight and tailored support. We begin with a comprehensive assessment of your existing IBM i system, followed by a meticulous migration plan designed to meet your specific business needs. The process involves capturing your system’s data and configurations, which are then securely transferred and restored onto your new environment. Our team ensures that every detail is handled with precision, from the initial setup to post-migration testing and support.</a:t>
            </a:r>
          </a:p>
          <a:p>
            <a:r>
              <a:rPr lang="en-US" sz="1800" dirty="0" smtClean="0"/>
              <a:t/>
            </a:r>
          </a:p>
          <a:p>
            <a:r>
              <a:rPr lang="en-US" sz="1800" dirty="0" smtClean="0"/>
              <a:t>Benefits for Your Business:</a:t>
            </a:r>
          </a:p>
          <a:p>
            <a:r>
              <a:rPr lang="en-US" sz="1800" dirty="0" smtClean="0"/>
              <a:t>- Stress-Free Migration: With our professionals handling the migration, you can rest easy knowing that your IBM i system is in expert hands.</a:t>
            </a:r>
          </a:p>
          <a:p>
            <a:r>
              <a:rPr lang="en-US" sz="1800" dirty="0" smtClean="0"/>
              <a:t>- Cost-Effective: By avoiding potential pitfalls and reducing downtime, our services help you save on costs associated with prolonged migrations or system issues.</a:t>
            </a:r>
          </a:p>
          <a:p>
            <a:r>
              <a:rPr lang="en-US" sz="1800" dirty="0" smtClean="0"/>
              <a:t/>
            </a:r>
          </a:p>
          <a:p>
            <a:r>
              <a:rPr lang="en-US" sz="1800" dirty="0" smtClean="0"/>
              <a:t/>
            </a:r>
          </a:p>
          <a:p>
            <a:r>
              <a:rPr lang="en-US" sz="1800" dirty="0" smtClean="0"/>
              <a:t>Considering a Migration?</a:t>
            </a:r>
          </a:p>
          <a:p>
            <a:r>
              <a:rPr lang="en-US" sz="1800" dirty="0" smtClean="0"/>
              <a:t>If you’re planning to migrate your IBM i system and prefer expert assistance, BUS4i "SystemCopy - Migrate 23" Professional Services is the ideal solution. Let our experienced team manage the migration process for you, ensuring a smooth, efficient, and worry-free transition. Focus on running your business while we take care of the technical complexities.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T.S.P. - Gesellschaft fuer Informationssysteme mbH</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https://cloud.ibm.com/catalog/services/bus4i-system-copy-migrate-23-services-for-power-i</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193</a:t>
            </a:r>
            <a:endParaRPr lang="en-US"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Power i Migrate While Active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Ease your live Power i migration with BUS4i "Migrate While Active" Services. Focus on your core tasks while we handle the rest.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BUS4i "Migrate While Active" Professional Services can ensure a smooth and efficient migration of your Power i system to a PowerVM in PowerVS or any other Power i system anywhere in the world without disruption to your daily operations.</a:t>
            </a:r>
          </a:p>
          <a:p>
            <a:r>
              <a:rPr lang="en-US" sz="1800" dirty="0" smtClean="0"/>
              <a:t/>
            </a:r>
          </a:p>
          <a:p>
            <a:r>
              <a:rPr lang="en-US" sz="1800" dirty="0" smtClean="0"/>
              <a:t>Imagine this: you need to move your entire business infrastructure from your current Power i system to a PowerVM environment in PowerVS. This process can be daunting, especially if you're concerned about downtime and its impact on your business.  Here's where BUS4i "Migrate While Active" Professional Services comes in. We specialize in performing these migrations seamlessly,  with zero downtime during your regular office hours. This means:</a:t>
            </a:r>
          </a:p>
          <a:p>
            <a:r>
              <a:rPr lang="en-US" sz="1800" dirty="0" smtClean="0"/>
              <a:t/>
            </a:r>
          </a:p>
          <a:p>
            <a:r>
              <a:rPr lang="en-US" sz="1800" dirty="0" smtClean="0"/>
              <a:t>- No interruption to your workday: Your employees can continue using your critical business applications throughout the migration process. There won't be any unexpected system shutdowns or periods of inaccessibility.</a:t>
            </a:r>
          </a:p>
          <a:p>
            <a:r>
              <a:rPr lang="en-US" sz="1800" dirty="0" smtClean="0"/>
              <a:t>- Minimal impact on productivity: By eliminating downtime, we ensure your team can maintain their productivity levels throughout the entire migration. No need to worry about lost work hours due to system outages.</a:t>
            </a:r>
          </a:p>
          <a:p>
            <a:r>
              <a:rPr lang="en-US" sz="1800" dirty="0" smtClean="0"/>
              <a:t>- Reduced risk and stress: Our experienced team will handle the entire migration process, minimizing the risk of errors and ensuring a smooth transition. You can focus on your core business activities with complete peace of mind.</a:t>
            </a:r>
          </a:p>
          <a:p>
            <a:r>
              <a:rPr lang="en-US" sz="1800" dirty="0" smtClean="0"/>
              <a:t/>
            </a:r>
          </a:p>
          <a:p>
            <a:r>
              <a:rPr lang="en-US" sz="1800" dirty="0" smtClean="0"/>
              <a:t>So, how exactly do we achieve this? BUS4i "Migrate While Active" Professional Services utilizes a proven methodology that combines advanced tools and expertise to migrate your Power i system to PowerVM in a non-disruptive manner. Here's a simplified breakdown of the process:</a:t>
            </a:r>
          </a:p>
          <a:p>
            <a:r>
              <a:rPr lang="en-US" sz="1800" dirty="0" smtClean="0"/>
              <a:t/>
            </a:r>
          </a:p>
          <a:p>
            <a:r>
              <a:rPr lang="en-US" sz="1800" dirty="0" smtClean="0"/>
              <a:t>1. Planning and Assessment: We'll work closely with you to understand your specific requirements and develop a customized migration plan. This plan will account for your system configuration, applications, and workload to ensure a seamless transition.</a:t>
            </a:r>
          </a:p>
          <a:p>
            <a:r>
              <a:rPr lang="en-US" sz="1800" dirty="0" smtClean="0"/>
              <a:t>2. Data and Application Migration: Using specialized tools and techniques, we'll migrate your data and applications from your Power i system to the new PowerVM environment. This process is designed to minimize disruption and ensure data integrity.</a:t>
            </a:r>
          </a:p>
          <a:p>
            <a:r>
              <a:rPr lang="en-US" sz="1800" dirty="0" smtClean="0"/>
              <a:t>3. Testing and Validation: Once the migration is complete, we'll perform rigorous testing of the synchronicity in the new environment. This ensures a smooth transition for your end-users.</a:t>
            </a:r>
          </a:p>
          <a:p>
            <a:r>
              <a:rPr lang="en-US" sz="1800" dirty="0" smtClean="0"/>
              <a:t>4. Cutover and Go-Live: With everything in place and thoroughly tested, we'll perform a final cutover to switch your operations to the new PowerVM environment. This process will be conducted during a pre-defined maintenance window to minimize any potential impact.</a:t>
            </a:r>
          </a:p>
          <a:p>
            <a:r>
              <a:rPr lang="en-US" sz="1800" dirty="0" smtClean="0"/>
              <a:t/>
            </a:r>
          </a:p>
          <a:p>
            <a:r>
              <a:rPr lang="en-US" sz="1800" dirty="0" smtClean="0"/>
              <a:t>Throughout the entire migration process, our team of experts will be available to answer your questions and address any concerns you may have. We understand the importance of clear communication, and we'll keep you informed every step of the way.</a:t>
            </a:r>
          </a:p>
          <a:p>
            <a:r>
              <a:rPr lang="en-US" sz="1800" dirty="0" smtClean="0"/>
              <a:t/>
            </a:r>
          </a:p>
          <a:p>
            <a:r>
              <a:rPr lang="en-US" sz="1800" dirty="0" smtClean="0"/>
              <a:t>By choosing BUS4i "Migrate While Active" Professional Services, you can ensure a stress-free and efficient migration of your Power i system to PowerVM in PowerVS, without any disruption to your business operations.  Focus on what you do best, while we handle the technical complexities of the migration.</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T.S.P. - Gesellschaft fuer Informationssysteme mbH</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https://cloud.ibm.com/catalog/services/bus4i-system-copy-migrate-while-active-for-power-i</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194</a:t>
            </a:r>
            <a:endParaRPr lang="en-US"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Mumbai - Airtel (in-mum) Frankfurt (eu-de)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https://cloud.ibm.com/catalog/services/power-iaas.workspace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195</a:t>
            </a:r>
            <a:endParaRPr lang="en-US"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PowerVS Migration as a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Wanclouds' Managed PowerVS Migration as a Service offering for IBM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Wanclouds proudly presents IBM PowerVS Migration as a Service, designed to facilitate effortless migration of your workloads to IBM PowerVS cloud infrastructure. Our comprehensive service offering ensures a smooth transition, empowering your business to leverage the agility, scalability, and reliability of IBM PowerVS.</a:t>
            </a:r>
          </a:p>
          <a:p>
            <a:r>
              <a:rPr lang="en-US" sz="1800" dirty="0" smtClean="0"/>
              <a:t/>
            </a:r>
          </a:p>
          <a:p>
            <a:r>
              <a:rPr lang="en-US" sz="1800" dirty="0" smtClean="0"/>
              <a:t/>
            </a:r>
          </a:p>
          <a:p>
            <a:r>
              <a:rPr lang="en-US" sz="1800" dirty="0" smtClean="0"/>
              <a:t>Benefits:</a:t>
            </a:r>
          </a:p>
          <a:p>
            <a:r>
              <a:rPr lang="en-US" sz="1800" dirty="0" smtClean="0"/>
              <a:t/>
            </a:r>
          </a:p>
          <a:p>
            <a:r>
              <a:rPr lang="en-US" sz="1800" dirty="0" smtClean="0"/>
              <a:t>Seamless Migration Experience:</a:t>
            </a:r>
          </a:p>
          <a:p>
            <a:r>
              <a:rPr lang="en-US" sz="1800" dirty="0" smtClean="0"/>
              <a:t>Experience a hassle-free migration process with minimal downtime and disruption to your business operations.</a:t>
            </a:r>
          </a:p>
          <a:p>
            <a:r>
              <a:rPr lang="en-US" sz="1800" dirty="0" smtClean="0"/>
              <a:t/>
            </a:r>
          </a:p>
          <a:p>
            <a:r>
              <a:rPr lang="en-US" sz="1800" dirty="0" smtClean="0"/>
              <a:t>Enhanced Performance and Scalability:</a:t>
            </a:r>
          </a:p>
          <a:p>
            <a:r>
              <a:rPr lang="en-US" sz="1800" dirty="0" smtClean="0"/>
              <a:t>Leverage the power of IBM PowerVS to achieve enhanced performance, scalability, and agility for your workloads.</a:t>
            </a:r>
          </a:p>
          <a:p>
            <a:r>
              <a:rPr lang="en-US" sz="1800" dirty="0" smtClean="0"/>
              <a:t/>
            </a:r>
          </a:p>
          <a:p>
            <a:r>
              <a:rPr lang="en-US" sz="1800" dirty="0" smtClean="0"/>
              <a:t>Cost-Efficiency:</a:t>
            </a:r>
          </a:p>
          <a:p>
            <a:r>
              <a:rPr lang="en-US" sz="1800" dirty="0" smtClean="0"/>
              <a:t>Optimize costs and achieve better ROI by leveraging Wanclouds' expertise to efficiently migrate to IBM PowerVS.</a:t>
            </a:r>
          </a:p>
          <a:p>
            <a:r>
              <a:rPr lang="en-US" sz="1800" dirty="0" smtClean="0"/>
              <a:t/>
            </a:r>
          </a:p>
          <a:p>
            <a:r>
              <a:rPr lang="en-US" sz="1800" dirty="0" smtClean="0"/>
              <a:t>Focus on Core Business Objectives:</a:t>
            </a:r>
          </a:p>
          <a:p>
            <a:r>
              <a:rPr lang="en-US" sz="1800" dirty="0" smtClean="0"/>
              <a:t>Let Wanclouds handle the complexities of migration while you focus on driving your core business objectives forward.</a:t>
            </a:r>
          </a:p>
          <a:p>
            <a:r>
              <a:rPr lang="en-US" sz="1800" dirty="0" smtClean="0"/>
              <a:t/>
            </a:r>
          </a:p>
          <a:p>
            <a:r>
              <a:rPr lang="en-US" sz="1800" dirty="0" smtClean="0"/>
              <a:t>Future-Proof Infrastructure:</a:t>
            </a:r>
          </a:p>
          <a:p>
            <a:r>
              <a:rPr lang="en-US" sz="1800" dirty="0" smtClean="0"/>
              <a:t>Position your business for future growth and innovation with IBM PowerVS, supported by Wanclouds' expertise and guidance.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Wanclouds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https://cloud.ibm.com/catalog/services/wanclouds-inc-powervs-migration-as-a-service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196</a:t>
            </a:r>
            <a:endParaRPr lang="en-US"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Premium Live General Purpose HSM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Managed service with a minimum of 3 x dedicated physical HSMs (each with 12 cHSMs) deployed across 2 DCs. 99.999% availability.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Utimaco’s General Purpose Hardware Security Module as a Service (GP HSM aaS) provides access to secure, FIPS 140-3 Level 3 certified HSMs that are fully hosted in resilient data centers while remaining under your governance.</a:t>
            </a:r>
          </a:p>
          <a:p>
            <a:r>
              <a:rPr lang="en-US" sz="1800" dirty="0" smtClean="0"/>
              <a:t> </a:t>
            </a:r>
          </a:p>
          <a:p>
            <a:r>
              <a:rPr lang="en-US" sz="1800" dirty="0" smtClean="0"/>
              <a:t>The service includes client-side admin tools which give you full control for your containerised HSMs (cHSMs), and client-side libraries to allow seamless integration with numerous other products and services via standard cryptographic interfaces.</a:t>
            </a:r>
          </a:p>
          <a:p>
            <a:r>
              <a:rPr lang="en-US" sz="1800" dirty="0" smtClean="0"/>
              <a:t> </a:t>
            </a:r>
          </a:p>
          <a:p>
            <a:r>
              <a:rPr lang="en-US" sz="1800" dirty="0" smtClean="0"/>
              <a:t>The Service is ISO27001 and PCI DSS certified and operated under dual control in the same way as our PCI PIN and PCI P2PE certified payment HSM services.</a:t>
            </a:r>
          </a:p>
          <a:p>
            <a:r>
              <a:rPr lang="en-US" sz="1800" dirty="0" smtClean="0"/>
              <a:t> </a:t>
            </a:r>
          </a:p>
          <a:p>
            <a:r>
              <a:rPr lang="en-US" sz="1800" dirty="0" smtClean="0"/>
              <a:t>This Catalog tiles covers subscription to the Premium Live service. In this service the customer has access to their own dedicated physical HSMs (each with 12 cHSMs) in two geographically separate DCs. </a:t>
            </a:r>
          </a:p>
          <a:p>
            <a:r>
              <a:rPr lang="en-US" sz="1800" dirty="0" smtClean="0"/>
              <a:t>For Full details please follow the Doc link and sign up to the Service Portal.</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Utimaco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https://cloud.ibm.com/catalog/services/utimaco-premium-live-general-purpose-hsm-service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197</a:t>
            </a:r>
            <a:endParaRPr lang="en-US"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Premium Live Payment HSM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fully managed service using a group of dedicated HSMs deployed in two data centers with 99.999% availability &amp; low latency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Utimaco’s Payment HSM as a Service provides access to a fully managed PCI-certified Payment HSM service through IBM Cloud, with the highest availability in the industry at 99.999%, and the lowest latency. The Payment HSM as a Service is a true alternative to operating your own Payment HSMs and removes the investments tied to hardware, secure facilities, and management resources while reducing the burden of PCI compliance, audit, and support. Besides reducing total cost of ownership, it provides flexible deployment and scalability and enables very robust security for an organizations’ digital infrastructure. This Catalog tile covers subscription to the Premium Live service. In this service the customer has access to their own dedicated HSMs in geographically separate DCs. For connection to this service, instances of the PHI load balancer should be deployed within your IBM infrastructure, using the PHI Deployable Architecture tile. For full details please follow the Docs link and sign up to the Service Portal.</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Utimaco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https://cloud.ibm.com/catalog/services/utimaco-premium-live-payment-hsm-service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198</a:t>
            </a:r>
            <a:endParaRPr lang="en-US"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PreVisit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Your first AI agent to orchestrate pre-visit workflows, accelerating pre-authorization and improving coding accuracy at discharge.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Pre-Visit AI Intake Agent captures and structures patient symptoms, history, and clinical inputs before the encounter, enabling providers to begin each visit with complete and actionable data.</a:t>
            </a:r>
          </a:p>
          <a:p>
            <a:r>
              <a:rPr lang="en-US" sz="1800" dirty="0" smtClean="0"/>
              <a:t>By guiding patients through a conversational intake process, the agent collects relevant clinical information and converts it into structured, EMR-ready formats. This improves triage, supports clinical decision-making, and reduces repetitive data collection during visits.</a:t>
            </a:r>
          </a:p>
          <a:p>
            <a:r>
              <a:rPr lang="en-US" sz="1800" dirty="0" smtClean="0"/>
              <a:t>The agent also plays a critical role in revenue cycle performance by capturing the data required for pre-authorization and ensuring documentation readiness early in the care process.</a:t>
            </a:r>
          </a:p>
          <a:p>
            <a:r>
              <a:rPr lang="en-US" sz="1800" dirty="0" smtClean="0"/>
              <a:t>This agent is part of the ViClinic agentic healthcare orchestration platform (AHOS), where multiple AI agents work together across clinical workflows—from intake to follow-up—under clinician supervision. By sharing structured data and context, these agents enable end-to-end workflow automation, improved decision-making, and measurable operational and clinical outcomes.</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Viclinic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https://cloud.ibm.com/catalog/services/viclinic-inc-previsit-agent-public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199</a:t>
            </a:r>
            <a:endParaRPr lang="en-US"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Prior Authorization Eligibility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agent streamlining prior authorization and eligibility workflows, accelerating approvals and reducing delays in care delivery.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Prior Authorization &amp; Eligibility Agent is an AI-powered solution designed to streamline payer-related workflows by automating eligibility verification and prior authorization processes.</a:t>
            </a:r>
          </a:p>
          <a:p>
            <a:r>
              <a:rPr lang="en-US" sz="1800" dirty="0" smtClean="0"/>
              <a:t>Delays in prior authorization and incomplete eligibility checks are among the leading causes of care disruption, administrative burden, and revenue loss in healthcare systems. This agent addresses these challenges by capturing, validating, and structuring the clinical and administrative data required for payer review.</a:t>
            </a:r>
          </a:p>
          <a:p>
            <a:r>
              <a:rPr lang="en-US" sz="1800" dirty="0" smtClean="0"/>
              <a:t>Working in coordination with pre-visit and clinical documentation workflows, the agent ensures that all necessary information is prepared before submission. It supports eligibility verification, identifies missing data, and aligns clinical inputs with payer requirements to improve approval rates.</a:t>
            </a:r>
          </a:p>
          <a:p>
            <a:r>
              <a:rPr lang="en-US" sz="1800" dirty="0" smtClean="0"/>
              <a:t>The agent reduces manual back-and-forth between providers and payers by enabling cleaner, more complete submissions and by flagging potential issues early in the process. This results in faster approvals, fewer delays, and improved patient access to care.</a:t>
            </a:r>
          </a:p>
          <a:p>
            <a:r>
              <a:rPr lang="en-US" sz="1800" dirty="0" smtClean="0"/>
              <a:t>By integrating payer workflows into the broader clinical process, the Prior Authorization &amp; Eligibility Agent improves operational efficiency, enhances revenue cycle performance, and supports a more seamless care experience.</a:t>
            </a:r>
          </a:p>
          <a:p>
            <a:r>
              <a:rPr lang="en-US" sz="1800" dirty="0" smtClean="0"/>
              <a:t>This agent is part of the ViClinic agentic healthcare orchestration platform (AHOS), where multiple AI agents work together across clinical workflows—from intake to follow-up—under clinician supervision. By sharing structured data and context, these agents enable end-to-end workflow automation, improved decision-making, and measurable operational and clinical outcomes.</a:t>
            </a:r>
          </a:p>
          <a:p>
            <a:r>
              <a:rPr lang="en-US" sz="1800" dirty="0" smtClean="0"/>
              <a:t/>
            </a:r>
          </a:p>
          <a:p>
            <a:r>
              <a:rPr lang="en-US" sz="1800" dirty="0" smtClean="0"/>
              <a:t/>
            </a:r>
          </a:p>
          <a:p>
            <a:r>
              <a:rPr lang="en-US" sz="1800" dirty="0" smtClean="0"/>
              <a:t>aceholder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Viclinic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https://cloud.ibm.com/catalog/services/viclinic-inc-prior-authorization-eligibility-agent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200</a:t>
            </a:r>
            <a:endParaRPr lang="en-US"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Private Path Service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Enable and manage private connectivity for your hosted service.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Private Path service for VPC allows a provider’s service to connect on the IBM Cloud private  network, providing secure communication between VPCs and supported IBM Cloud and third-party services. The provider first deploys their service on IBM Cloud and creates a Private Path network load  balancer (NLB) to enable their service for private connectivity. Next, the provider creates a Private Path service to expose and control access to their service. After the Private Path service is verified and published, other accounts can then connect to the provider’s service through endpoint gateways.</a:t>
            </a:r>
          </a:p>
          <a:p>
            <a:r>
              <a:rPr lang="en-US" sz="1800" dirty="0" smtClean="0"/>
              <a:t/>
            </a:r>
          </a:p>
          <a:p>
            <a:r>
              <a:rPr lang="en-US" sz="1800" dirty="0" smtClean="0"/>
              <a:t>For consumers to connect to a provider’s service, the provider must relay information to their consumers, such as the cloud resource name (CRN) that maps to the Private Path service and a port, if required. Consumers then privately connect to the service by creating a VPE gateway with the information provided. Next, the consumer's connection request is sent to the service provider for review (the default policy). If there is an account policy for the consumer, that policy takes precedence over the default policy (to review, permit, or deny access).  </a:t>
            </a:r>
          </a:p>
          <a:p>
            <a:r>
              <a:rPr lang="en-US" sz="1800" dirty="0" smtClean="0"/>
              <a:t/>
            </a:r>
          </a:p>
          <a:p>
            <a:r>
              <a:rPr lang="en-US" sz="1800" dirty="0" smtClean="0"/>
              <a:t>The consumer can now access the service privately from their VPC, and the provider can host and manage consumer’ connections from within their own VPCs.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https://cloud.ibm.com/catalog/services/is.private-path-service-gateway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201</a:t>
            </a:r>
            <a:endParaRPr lang="en-US"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Professional Services for Government(only available in US)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Labor categories and rates for cloud services, conversion and implementation support, migration services, security and project management.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Leverage IBM Experts to manage and deliver your Cloud projects. We advise and collaborate with you to advance your cloud initiatives and help modernize your enterprise business and technology platforms.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Integration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https://cloud.ibm.com/catalog/infrastructure/professional-services-for-government-referral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202</a:t>
            </a:r>
            <a:endParaRPr lang="en-US"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PROFI Managed Services for PowerVS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Managed Services for PowerVS incl. Patch Management</a:t>
            </a:r>
          </a:p>
          <a:p>
            <a:r>
              <a:rPr lang="en-US" sz="2000" dirty="0" smtClean="0">
                <a:solidFill>
                  <a:srgbClr val="808080"/>
                </a:solidFill>
              </a:rPr>
              <a:t>OS: AIX, IBM i</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Management of IBM i and AIX PowerVS instances up to the “top edge of the operating system” including patch management</a:t>
            </a:r>
          </a:p>
          <a:p>
            <a:r>
              <a:rPr lang="en-US" sz="1800" dirty="0" smtClean="0"/>
              <a:t/>
            </a:r>
          </a:p>
          <a:p>
            <a:r>
              <a:rPr lang="en-US" sz="1800" dirty="0" smtClean="0"/>
              <a:t>Features and performance characteristics:</a:t>
            </a:r>
          </a:p>
          <a:p>
            <a:r>
              <a:rPr lang="en-US" sz="1800" dirty="0" smtClean="0"/>
              <a:t/>
            </a:r>
          </a:p>
          <a:p>
            <a:r>
              <a:rPr lang="en-US" sz="1800" dirty="0" smtClean="0"/>
              <a:t>- Management of PowerVS Instances by experienced administrators from a german IBM Platinum Partner</a:t>
            </a:r>
          </a:p>
          <a:p>
            <a:r>
              <a:rPr lang="en-US" sz="1800" dirty="0" smtClean="0"/>
              <a:t>- German and english-speaking service desk</a:t>
            </a:r>
          </a:p>
          <a:p>
            <a:r>
              <a:rPr lang="en-US" sz="1800" dirty="0" smtClean="0"/>
              <a:t>- Availability of the service desk during service hours by e-mail and telephone</a:t>
            </a:r>
          </a:p>
          <a:p>
            <a:r>
              <a:rPr lang="en-US" sz="1800" dirty="0" smtClean="0"/>
              <a:t>- Service contingent of 0.5 hours of service (per LPAR and month) for incident management, other inquiries and requests. </a:t>
            </a:r>
          </a:p>
          <a:p>
            <a:r>
              <a:rPr lang="en-US" sz="1800" dirty="0" smtClean="0"/>
              <a:t>- 1/2 annual PTF (IBM i) or technology level (AIX) installation to the recommended level, release changes are not included </a:t>
            </a:r>
          </a:p>
          <a:p>
            <a:r>
              <a:rPr lang="en-US" sz="1800" dirty="0" smtClean="0"/>
              <a:t>- Short-term installation of very critical security fixes</a:t>
            </a:r>
          </a:p>
          <a:p>
            <a:r>
              <a:rPr lang="en-US" sz="1800" dirty="0" smtClean="0"/>
              <a:t>- Access to the service partner's ticket system</a:t>
            </a:r>
          </a:p>
          <a:p>
            <a:r>
              <a:rPr lang="en-US" sz="1800" dirty="0" smtClean="0"/>
              <a:t>- For Service Level see Pricing Plan </a:t>
            </a:r>
          </a:p>
          <a:p>
            <a:r>
              <a:rPr lang="en-US" sz="1800" dirty="0" smtClean="0"/>
              <a:t>- Please contact us before ordering: PROFI_MS_presales@profi-ag.de</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PROFI Engineering Systems AG</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https://cloud.ibm.com/catalog/services/profi-managed-services-for-powervs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203</a:t>
            </a:r>
            <a:endParaRPr lang="en-US"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PROFI PowerVS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PROFI Services for building your environment around PowerVS in IBM Cloud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PROFI Engineering Systems AG offers the PowerVS services to enable a smooth transition from on-prem LPARs to the IBM Cloud, empowering your business to leverage the reliability and scalability of IBM PowerVS.</a:t>
            </a:r>
          </a:p>
          <a:p>
            <a:r>
              <a:rPr lang="en-US" sz="1800" dirty="0" smtClean="0"/>
              <a:t/>
            </a:r>
          </a:p>
          <a:p>
            <a:r>
              <a:rPr lang="en-US" sz="1800" dirty="0" smtClean="0"/>
              <a:t>All services offered are designed to make your transition to the IBM Cloud risk-free and as smooth as possible.</a:t>
            </a:r>
          </a:p>
          <a:p>
            <a:r>
              <a:rPr lang="en-US" sz="1800" dirty="0" smtClean="0"/>
              <a:t/>
            </a:r>
          </a:p>
          <a:p>
            <a:r>
              <a:rPr lang="en-US" sz="1800" dirty="0" smtClean="0"/>
              <a:t>Benefits:</a:t>
            </a:r>
          </a:p>
          <a:p>
            <a:r>
              <a:rPr lang="en-US" sz="1800" dirty="0" smtClean="0"/>
              <a:t>•	Migration Support: </a:t>
            </a:r>
          </a:p>
          <a:p>
            <a:r>
              <a:rPr lang="en-US" sz="1800" dirty="0" smtClean="0"/>
              <a:t>Use the service to easily migrate your environment to the IBM Cloud</a:t>
            </a:r>
          </a:p>
          <a:p>
            <a:r>
              <a:rPr lang="en-US" sz="1800" dirty="0" smtClean="0"/>
              <a:t>•	Enhanced Scalability and Reliability:</a:t>
            </a:r>
          </a:p>
          <a:p>
            <a:r>
              <a:rPr lang="en-US" sz="1800" dirty="0" smtClean="0"/>
              <a:t>Leverage the benefits of IBM PowerVS to achieve enhanced scalability and reliability for your workloads.</a:t>
            </a:r>
          </a:p>
          <a:p>
            <a:r>
              <a:rPr lang="en-US" sz="1800" dirty="0" smtClean="0"/>
              <a:t>•	Future-Proof Infrastructure:</a:t>
            </a:r>
          </a:p>
          <a:p>
            <a:r>
              <a:rPr lang="en-US" sz="1800" dirty="0" smtClean="0"/>
              <a:t>Focus on your business instead of on your IT infrastructure by unsing IBM PowerVS.</a:t>
            </a:r>
          </a:p>
          <a:p>
            <a:r>
              <a:rPr lang="en-US" sz="1800" dirty="0" smtClean="0"/>
              <a:t>•	Cost-Efficiency:</a:t>
            </a:r>
          </a:p>
          <a:p>
            <a:r>
              <a:rPr lang="en-US" sz="1800" dirty="0" smtClean="0"/>
              <a:t>Optimize costs by the advantages of moving your workloads to IBM PowerVS.</a:t>
            </a:r>
          </a:p>
          <a:p>
            <a:r>
              <a:rPr lang="en-US" sz="1800" dirty="0" smtClean="0"/>
              <a:t/>
            </a:r>
          </a:p>
          <a:p>
            <a:r>
              <a:rPr lang="en-US" sz="1800" dirty="0" smtClean="0"/>
              <a:t>All services offered can of course also be called up individually.</a:t>
            </a:r>
          </a:p>
          <a:p>
            <a:r>
              <a:rPr lang="en-US" sz="1800" dirty="0" smtClean="0"/>
              <a:t>Do you need certain services that are not included in this description? Then write to us at PowerVS@profi-ag.de and we will find a solution together.</a:t>
            </a:r>
          </a:p>
          <a:p>
            <a:r>
              <a:rPr lang="en-US" sz="1800" dirty="0" smtClean="0"/>
              <a:t/>
            </a:r>
          </a:p>
          <a:p>
            <a:r>
              <a:rPr lang="en-US" sz="1800" dirty="0" smtClean="0"/>
              <a:t>Please contact us before ordering: PowerVS@profi-ag.de</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PROFI Engineering Systems AG</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https://cloud.ibm.com/catalog/services/profi-powervs-service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204</a:t>
            </a:r>
            <a:endParaRPr lang="en-US"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PROFI VCFcomplete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PROFI Services for building your environment around VCF (VMware by Broadcom) in the IBM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PROFI Engineering Systems AG offers the VCFcomplete services to enable a smooth transition or extension of your onprem </a:t>
            </a:r>
          </a:p>
          <a:p>
            <a:r>
              <a:rPr lang="en-US" sz="1800" dirty="0" smtClean="0"/>
              <a:t>VMware by Broadcom infrastructure to the IBM Cloud, empowering your business to leverage the reliability and scalability </a:t>
            </a:r>
          </a:p>
          <a:p>
            <a:r>
              <a:rPr lang="en-US" sz="1800" dirty="0" smtClean="0"/>
              <a:t>of the different VCF offerings in the IBM Cloud.</a:t>
            </a:r>
          </a:p>
          <a:p>
            <a:r>
              <a:rPr lang="en-US" sz="1800" dirty="0" smtClean="0"/>
              <a:t/>
            </a:r>
          </a:p>
          <a:p>
            <a:r>
              <a:rPr lang="en-US" sz="1800" dirty="0" smtClean="0"/>
              <a:t>All services offered are designed to make your transition or extension to the IBM Cloud risk-free and as smooth as possible.</a:t>
            </a:r>
          </a:p>
          <a:p>
            <a:r>
              <a:rPr lang="en-US" sz="1800" dirty="0" smtClean="0"/>
              <a:t/>
            </a:r>
          </a:p>
          <a:p>
            <a:r>
              <a:rPr lang="en-US" sz="1800" dirty="0" smtClean="0"/>
              <a:t>Benefits:</a:t>
            </a:r>
          </a:p>
          <a:p>
            <a:r>
              <a:rPr lang="en-US" sz="1800" dirty="0" smtClean="0"/>
              <a:t>•	Design and Architecture Support: </a:t>
            </a:r>
          </a:p>
          <a:p>
            <a:r>
              <a:rPr lang="en-US" sz="1800" dirty="0" smtClean="0"/>
              <a:t>Use the service to get a personally designed and architected environment in the IBM Cloud</a:t>
            </a:r>
          </a:p>
          <a:p>
            <a:r>
              <a:rPr lang="en-US" sz="1800" dirty="0" smtClean="0"/>
              <a:t>•	Migration and Extension Support: </a:t>
            </a:r>
          </a:p>
          <a:p>
            <a:r>
              <a:rPr lang="en-US" sz="1800" dirty="0" smtClean="0"/>
              <a:t>Use the service to easily migrate or extend your environment to the IBM Cloud</a:t>
            </a:r>
          </a:p>
          <a:p>
            <a:r>
              <a:rPr lang="en-US" sz="1800" dirty="0" smtClean="0"/>
              <a:t>•	Enhanced Scalability and Reliability:</a:t>
            </a:r>
          </a:p>
          <a:p>
            <a:r>
              <a:rPr lang="en-US" sz="1800" dirty="0" smtClean="0"/>
              <a:t>Leverage the benefits of the different VCF offerings in the IBM Cloud to achieve enhanced scalability and reliability for </a:t>
            </a:r>
          </a:p>
          <a:p>
            <a:r>
              <a:rPr lang="en-US" sz="1800" dirty="0" smtClean="0"/>
              <a:t> your workloads.</a:t>
            </a:r>
          </a:p>
          <a:p>
            <a:r>
              <a:rPr lang="en-US" sz="1800" dirty="0" smtClean="0"/>
              <a:t>•	Future-Proof Infrastructure:</a:t>
            </a:r>
          </a:p>
          <a:p>
            <a:r>
              <a:rPr lang="en-US" sz="1800" dirty="0" smtClean="0"/>
              <a:t>Focus on your business instead of focusing on your IT infrastructure by using IBM VCF offerings.</a:t>
            </a:r>
          </a:p>
          <a:p>
            <a:r>
              <a:rPr lang="en-US" sz="1800" dirty="0" smtClean="0"/>
              <a:t>•	Cost-Efficiency:</a:t>
            </a:r>
          </a:p>
          <a:p>
            <a:r>
              <a:rPr lang="en-US" sz="1800" dirty="0" smtClean="0"/>
              <a:t>Optimize costs by the advantages of moving your workloads to the IBM VCF offerings by reducing permanent overhead and </a:t>
            </a:r>
          </a:p>
          <a:p>
            <a:r>
              <a:rPr lang="en-US" sz="1800" dirty="0" smtClean="0"/>
              <a:t> disaster reservations.</a:t>
            </a:r>
          </a:p>
          <a:p>
            <a:r>
              <a:rPr lang="en-US" sz="1800" dirty="0" smtClean="0"/>
              <a:t/>
            </a:r>
          </a:p>
          <a:p>
            <a:r>
              <a:rPr lang="en-US" sz="1800" dirty="0" smtClean="0"/>
              <a:t>All services offered can of course also be called up individually.</a:t>
            </a:r>
          </a:p>
          <a:p>
            <a:r>
              <a:rPr lang="en-US" sz="1800" dirty="0" smtClean="0"/>
              <a:t>Do you need certain services that are not included in this description? Then write to us at vcfservice@profi-ag.de and </a:t>
            </a:r>
          </a:p>
          <a:p>
            <a:r>
              <a:rPr lang="en-US" sz="1800" dirty="0" smtClean="0"/>
              <a:t>we will find a solution together.</a:t>
            </a:r>
          </a:p>
          <a:p>
            <a:r>
              <a:rPr lang="en-US" sz="1800" dirty="0" smtClean="0"/>
              <a:t/>
            </a:r>
          </a:p>
          <a:p>
            <a:r>
              <a:rPr lang="en-US" sz="1800" dirty="0" smtClean="0"/>
              <a:t>Please contact us before ordering: vcfservice@profi-ag.de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PROFI Engineering Systems AG</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https://cloud.ibm.com/catalog/services/profi-vcfcomplete-service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205</a:t>
            </a:r>
            <a:endParaRPr lang="en-US"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Profound AppDev</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The Complete Application Development Suite for IBM i Futurization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Comprehensive Futurization Made Simple</a:t>
            </a:r>
          </a:p>
          <a:p>
            <a:r>
              <a:rPr lang="en-US" sz="1800" dirty="0" smtClean="0"/>
              <a:t>Profound AppDev combines our most powerful IBM i development tools into one integrated suite, giving you unprecedented control over your futurization journey. Whether you need rapid UI transformation, advanced web development capabilities, or enterprise AI innovation, Profound AppDev has you covered.</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Profound Logic Software,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https://cloud.ibm.com/catalog/services/profound-logic-appdev</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206</a:t>
            </a:r>
            <a:endParaRPr lang="en-US"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ProtectIO DRaaS for IBM i on Power and Power VS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PrimaryIO DRaaS administrates &amp; orchestrates cluster management and resilience for Power IBM i workloads, on-premises or IBM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ProtectIO delivers browser access to manage and protect IBM i LPARs leveraging the core functionality of IBM PowerHA.  Common use case is to create an HA-paired cluster with data being replicated from on-premises LPARs into PowerVS in IBM VPC.  Switchover involving promoting the standby node to primary becomes as simple as clicking a button.  No more need for clRGmove command syntax.</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PrimaryIO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https://cloud.ibm.com/catalog/services/protectio-draas-for-power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207</a:t>
            </a:r>
            <a:endParaRPr lang="en-US"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ProtectIO DRaaS Managed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PrimaryIO’s DRaaS platform replicates and protects a customer’s primary site whether on-prem or IBM cloud-based VMware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ProtectIO is PrimaryIO’s on-demand disaster recovery as a service (“DRaaS”) platform. ProtectIO is delivered as a web-accessible, multi-tenant, IBM Cloud-native Software-as-a-Service and helps customers by providing a robust disaster recovery solution while leveraging the latest cloud economics for an attractive Total Cost of Ownership.</a:t>
            </a:r>
          </a:p>
          <a:p>
            <a:r>
              <a:rPr lang="en-US" sz="1800" dirty="0" smtClean="0"/>
              <a:t/>
            </a:r>
          </a:p>
          <a:p>
            <a:r>
              <a:rPr lang="en-US" sz="1800" dirty="0" smtClean="0"/>
              <a:t>Continuous Data Protection (CDP) is delivered via PrimaryIO’s proprietary VAIO Replication filter and Authenticated Block Stream Protocol that ships the changed I/O blocks to a DR Receiver process in the Target/DR environment and commits to IBM Cloud Object Storage.</a:t>
            </a:r>
          </a:p>
          <a:p>
            <a:r>
              <a:rPr lang="en-US" sz="1800" dirty="0" smtClean="0"/>
              <a:t/>
            </a:r>
          </a:p>
          <a:p>
            <a:r>
              <a:rPr lang="en-US" sz="1800" dirty="0" smtClean="0"/>
              <a:t>At failover time, ProtectIO rehydrates from the Cloud Object Storage buckets into the respective VMDKs and instantiates the VMs that compose the application workload that is being protected. This delivers near zero RPO and an RTO correlated with the amount of data that needs to be rehydrated, which provides a compelling Total Cost of Ownership (TCO) solution for customers.</a:t>
            </a:r>
          </a:p>
          <a:p>
            <a:r>
              <a:rPr lang="en-US" sz="1800" dirty="0" smtClean="0"/>
              <a:t/>
            </a:r>
          </a:p>
          <a:p>
            <a:r>
              <a:rPr lang="en-US" sz="1800" dirty="0" smtClean="0"/>
              <a:t>ProtectIO supports on-premises, IBM Cloud Classic and IBM Cloud VPC as the Primary Site and utilizes IBM Cloud Classic or VPC for the Target/DR Site, depending upon the customer and available VPC capacity. The UI/UX and associated Control Plane, which runs in an IBM Cloud VPC,  has been designed to be extremely intuitive and allow customers to operate without needing assistance from a Managed Service Provider.</a:t>
            </a:r>
          </a:p>
          <a:p>
            <a:r>
              <a:rPr lang="en-US" sz="1800" dirty="0" smtClean="0"/>
              <a:t/>
            </a:r>
          </a:p>
          <a:p>
            <a:r>
              <a:rPr lang="en-US" sz="1800" dirty="0" smtClean="0"/>
              <a:t>Pre-requisites:</a:t>
            </a:r>
          </a:p>
          <a:p>
            <a:r>
              <a:rPr lang="en-US" sz="1800" dirty="0" smtClean="0"/>
              <a:t/>
            </a:r>
          </a:p>
          <a:p>
            <a:r>
              <a:rPr lang="en-US" sz="1800" dirty="0" smtClean="0"/>
              <a:t>	1. Customer needs to have a IBM tenant account</a:t>
            </a:r>
          </a:p>
          <a:p>
            <a:r>
              <a:rPr lang="en-US" sz="1800" dirty="0" smtClean="0"/>
              <a:t>	2. Customer needs to have COS instance</a:t>
            </a:r>
          </a:p>
          <a:p>
            <a:r>
              <a:rPr lang="en-US" sz="1800" dirty="0" smtClean="0"/>
              <a:t>Note: PrimaryIO team will help you setup IBM tenant account and COS instance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PrimaryIO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https://cloud.ibm.com/catalog/services/primaryio-protectio-managed-service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208</a:t>
            </a:r>
            <a:endParaRPr lang="en-US"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Public Address Range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Public Address Range for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Public Address Range allows reserving a contiguous set of IBM-provided Public IPs that can be used in VPC custom routes to route public internet traffic to a Firewall/VNF in VPC.</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https://cloud.ibm.com/catalog/services/is.public-address-range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209</a:t>
            </a:r>
            <a:endParaRPr lang="en-US"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Public Gateway</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Public Gateway for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Public Gateway for VPC</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https://cloud.ibm.com/catalog/services/is.public-gateway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210</a:t>
            </a:r>
            <a:endParaRPr lang="en-US"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PX-Backup for Kubernetes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Portworx Backup and Data Protection for Kubernetes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Portworx PX-Backup</a:t>
            </a:r>
          </a:p>
          <a:p>
            <a:r>
              <a:rPr lang="en-US" sz="1800" dirty="0" smtClean="0"/>
              <a:t/>
            </a:r>
          </a:p>
          <a:p>
            <a:r>
              <a:rPr lang="en-US" sz="1800" dirty="0" smtClean="0"/>
              <a:t>Portworx PX-Backup delivers enterprise-grade point-and-click backup and recovery protection for all applications running on IBM Kubernetes Service and Red Hat OpenShift on IBM Cloud, even if they are stateless. Built exclusively for containerized applications, Portworx PX-Backup protects your applications - data, application configuration, and Kubernetes objects - with a single click at the Kubernetes Pod, Namespace, or Cluster level. </a:t>
            </a:r>
          </a:p>
          <a:p>
            <a:r>
              <a:rPr lang="en-US" sz="1800" dirty="0" smtClean="0"/>
              <a:t/>
            </a:r>
          </a:p>
          <a:p>
            <a:r>
              <a:rPr lang="en-US" sz="1800" dirty="0" smtClean="0"/>
              <a:t>PX-Backup enables: </a:t>
            </a:r>
          </a:p>
          <a:p>
            <a:r>
              <a:rPr lang="en-US" sz="1800" dirty="0" smtClean="0"/>
              <a:t>• Point and click recovery for any stateless or stateful Kubernetes application </a:t>
            </a:r>
          </a:p>
          <a:p>
            <a:r>
              <a:rPr lang="en-US" sz="1800" dirty="0" smtClean="0"/>
              <a:t>• Pod and Namespace granularity for application-centric protection </a:t>
            </a:r>
          </a:p>
          <a:p>
            <a:r>
              <a:rPr lang="en-US" sz="1800" dirty="0" smtClean="0"/>
              <a:t>• Application-aware protection for complex distributed applications </a:t>
            </a:r>
          </a:p>
          <a:p>
            <a:r>
              <a:rPr lang="en-US" sz="1800" dirty="0" smtClean="0"/>
              <a:t>• Role-Based Access Control for secure user access</a:t>
            </a:r>
          </a:p>
          <a:p>
            <a:r>
              <a:rPr lang="en-US" sz="1800" dirty="0" smtClean="0"/>
              <a:t/>
            </a:r>
          </a:p>
          <a:p>
            <a:r>
              <a:rPr lang="en-US" sz="1800" dirty="0" smtClean="0"/>
              <a:t>With PX-Backup, you achieve application-aware automation for data integrity, Role-Based Access Control and audit log for policy compliance, and Pod and Namespace granularity. Portworx PX-Backup includes out-of-the-box integration with many popular services such as Kafka, Elasticsearch, Cassandra, MongoDB, PostgreSQL, MySQL, and many more.</a:t>
            </a:r>
          </a:p>
          <a:p>
            <a:r>
              <a:rPr lang="en-US" sz="1800" dirty="0" smtClean="0"/>
              <a:t/>
            </a:r>
          </a:p>
          <a:p>
            <a:r>
              <a:rPr lang="en-US" sz="1800" dirty="0" smtClean="0"/>
              <a:t>PX-Backup is compatible with any Kubernetes cluster, including managed and cloud deployments. PX-Backup integrates with major block storage providers:</a:t>
            </a:r>
          </a:p>
          <a:p>
            <a:r>
              <a:rPr lang="en-US" sz="1800" dirty="0" smtClean="0"/>
              <a:t>IBM VPC Block</a:t>
            </a:r>
          </a:p>
          <a:p>
            <a:r>
              <a:rPr lang="en-US" sz="1800" dirty="0" smtClean="0"/>
              <a:t>Portworx PX-Store</a:t>
            </a:r>
          </a:p>
          <a:p>
            <a:r>
              <a:rPr lang="en-US" sz="1800" dirty="0" smtClean="0"/>
              <a:t>Amazon EBS</a:t>
            </a:r>
          </a:p>
          <a:p>
            <a:r>
              <a:rPr lang="en-US" sz="1800" dirty="0" smtClean="0"/>
              <a:t>Google Persistent Disk</a:t>
            </a:r>
          </a:p>
          <a:p>
            <a:r>
              <a:rPr lang="en-US" sz="1800" dirty="0" smtClean="0"/>
              <a:t>Azure Managed Disks</a:t>
            </a:r>
          </a:p>
          <a:p>
            <a:r>
              <a:rPr lang="en-US" sz="1800" dirty="0" smtClean="0"/>
              <a:t>CSI Enabled Storage</a:t>
            </a:r>
          </a:p>
          <a:p>
            <a:r>
              <a:rPr lang="en-US" sz="1800" dirty="0" smtClean="0"/>
              <a:t/>
            </a:r>
          </a:p>
          <a:p>
            <a:r>
              <a:rPr lang="en-US" sz="1800" dirty="0" smtClean="0"/>
              <a:t>Release Notes:</a:t>
            </a:r>
          </a:p>
          <a:p>
            <a:r>
              <a:rPr lang="en-US" sz="1800" dirty="0" smtClean="0"/>
              <a:t>https://backup.docs.portworx.com/release-notes/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Portworx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https://cloud.ibm.com/catalog/services/px-backup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211</a:t>
            </a:r>
            <a:endParaRPr lang="en-US"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Quant AI</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Quant agentic workers are primarily used as Digital Contact Center Agents and have the ability to contain 70+% of inbound calls.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Our core offering a a quantitative digital expert that seamlessly integrates into your organization, providing unparalleled  support across various functions. Whether it's Customer Service, IT Management, or Decision-making, Quant's solutions empoower your teams to delivery exceptional outcomes, consistently. Quant's agentic agents are capable of handlling, or taking action on ~70% of contact center requests for various industries. Unlike traditional, or Generative AI solutions, Quant is an Agentic AI solution with reasoning, 100+ languages, omin-channel and action-oriented.</a:t>
            </a:r>
          </a:p>
          <a:p>
            <a:r>
              <a:rPr lang="en-US" sz="1800" dirty="0" smtClean="0"/>
              <a:t>Quant offerings include:</a:t>
            </a:r>
          </a:p>
          <a:p>
            <a:r>
              <a:rPr lang="en-US" sz="1800" dirty="0" smtClean="0"/>
              <a:t>1) Intelligent Digital Employee</a:t>
            </a:r>
          </a:p>
          <a:p>
            <a:r>
              <a:rPr lang="en-US" sz="1800" dirty="0" smtClean="0"/>
              <a:t>A versatile AI-powered agentic agent that handles customer interactions with a deep understanding of industry-specific nuances, providing efficient and personalize service. Integrates with all leading CCaaS provider technologies.</a:t>
            </a:r>
          </a:p>
          <a:p>
            <a:r>
              <a:rPr lang="en-US" sz="1800" dirty="0" smtClean="0"/>
              <a:t>2) Contact Center as a Service</a:t>
            </a:r>
          </a:p>
          <a:p>
            <a:r>
              <a:rPr lang="en-US" sz="1800" dirty="0" smtClean="0"/>
              <a:t>A comprehensive, cloud-based contact center solution that leverages AI to manage customer interactions seamlessly across multiple channels, improving both response times and customer satisfaction.</a:t>
            </a:r>
          </a:p>
          <a:p>
            <a:r>
              <a:rPr lang="en-US" sz="1800" dirty="0" smtClean="0"/>
              <a:t>3) Decision AI Expert</a:t>
            </a:r>
          </a:p>
          <a:p>
            <a:r>
              <a:rPr lang="en-US" sz="1800" dirty="0" smtClean="0"/>
              <a:t>A powerful AI tool designed to assist in complex decision-making processes by analyzing vast amouunts of data and providing actionable insights, helping organizations to make informed, strategic decisions.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Quant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https://cloud.ibm.com/catalog/services/quant-inc-quant-ai</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212</a:t>
            </a:r>
            <a:endParaRPr lang="en-US"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Quantum Compute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Run and manage quantum workloads on IBM Quantum computers as part of IBM Quantum Platform.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IBM Quantum Compute Service provides access to the world’s largest and most performant fleet of quantum computers. Get access to the service plus a full suite of research and development tools on IBM Quantum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Beta</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Frankfurt (eu-de)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https://cloud.ibm.com/catalog/services/quantum-computing</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213</a:t>
            </a:r>
            <a:endParaRPr lang="en-US"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RackWare - Disaster Recovery Subscription ( Annual )</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Protect any-source environment (physical, virtual, cloud) to IBM Cloud VPC using RMM Disaster Recovery As A Service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RackWare RMM enables a modern DR architecture by non-disruptly replicating workloads from any source environment into IBM Cloud VPC, maintaining a synchronized DR environment in the cloud, enabling failover into IBM Cloud VPC without source environment dependencies, supporting fallback to source environment during transition periods, and extending DR to additional public clouds for redundancy. </a:t>
            </a:r>
          </a:p>
          <a:p>
            <a:r>
              <a:rPr lang="en-US" sz="1800" dirty="0" smtClean="0"/>
              <a:t/>
            </a:r>
          </a:p>
          <a:p>
            <a:r>
              <a:rPr lang="en-US" sz="1800" dirty="0" smtClean="0"/>
              <a:t>This allows IBM Cloud VPC to serve as both a disaster recovery landing zone and a strategic approach for setting up a DR environment for production environment# License Information:</a:t>
            </a:r>
          </a:p>
          <a:p>
            <a:r>
              <a:rPr lang="en-US" sz="1800" dirty="0" smtClean="0"/>
              <a:t/>
            </a:r>
          </a:p>
          <a:p>
            <a:r>
              <a:rPr lang="en-US" sz="1800" dirty="0" smtClean="0"/>
              <a:t># Description - RackWare DR &amp; DRaaS for IBM Cloud </a:t>
            </a:r>
          </a:p>
          <a:p>
            <a:r>
              <a:rPr lang="en-US" sz="1800" dirty="0" smtClean="0"/>
              <a:t/>
            </a:r>
          </a:p>
          <a:p>
            <a:r>
              <a:rPr lang="en-US" sz="1800" dirty="0" smtClean="0"/>
              <a:t># RackWare DR for IBM Cloud </a:t>
            </a:r>
          </a:p>
          <a:p>
            <a:r>
              <a:rPr lang="en-US" sz="1800" dirty="0" smtClean="0"/>
              <a:t/>
            </a:r>
          </a:p>
          <a:p>
            <a:r>
              <a:rPr lang="en-US" sz="1800" dirty="0" smtClean="0"/>
              <a:t>RackWare DR provides workload-level disaster recovery to IBM Cloud VPC through flexible, per-VM licensing. This solution includes the RackWare DR software and standard support. Each license protects one source server or virtual machine that is replicated and managed through the RackWare Management Module (RMM).</a:t>
            </a:r>
          </a:p>
          <a:p>
            <a:r>
              <a:rPr lang="en-US" sz="1800" dirty="0" smtClean="0"/>
              <a:t/>
            </a:r>
          </a:p>
          <a:p>
            <a:r>
              <a:rPr lang="en-US" sz="1800" dirty="0" smtClean="0"/>
              <a:t>Pricing: $192 per protected VM per year </a:t>
            </a:r>
          </a:p>
          <a:p>
            <a:r>
              <a:rPr lang="en-US" sz="1800" dirty="0" smtClean="0"/>
              <a:t/>
            </a:r>
          </a:p>
          <a:p>
            <a:r>
              <a:rPr lang="en-US" sz="1800" dirty="0" smtClean="0"/>
              <a:t>Licensing and sizing are based solely on the number of source servers or virtual machines included within the RMM scope. </a:t>
            </a:r>
          </a:p>
          <a:p>
            <a:r>
              <a:rPr lang="en-US" sz="1800" dirty="0" smtClean="0"/>
              <a:t/>
            </a:r>
          </a:p>
          <a:p>
            <a:r>
              <a:rPr lang="en-US" sz="1800" dirty="0" smtClean="0"/>
              <a:t> </a:t>
            </a:r>
          </a:p>
          <a:p>
            <a:r>
              <a:rPr lang="en-US" sz="1800" dirty="0" smtClean="0"/>
              <a:t># RackWare DRaaS for IBM Cloud </a:t>
            </a:r>
          </a:p>
          <a:p>
            <a:r>
              <a:rPr lang="en-US" sz="1800" dirty="0" smtClean="0"/>
              <a:t/>
            </a:r>
          </a:p>
          <a:p>
            <a:r>
              <a:rPr lang="en-US" sz="1800" dirty="0" smtClean="0"/>
              <a:t>RackWare DRaaS provides workload-level disaster recovery to IBM Cloud VPC through flexible, per-VM licensing. This fully managed solution includes the RackWare DR software, standard support, DRaaS operations, and one non-disruptive disaster recovery drill per protected VM each year. </a:t>
            </a:r>
          </a:p>
          <a:p>
            <a:r>
              <a:rPr lang="en-US" sz="1800" dirty="0" smtClean="0"/>
              <a:t>The service includes daily monitoring and maintenance, daily operational reports, automated alerts to RackWare, problem diagnosis and resolution (including triage of warnings and errors), issue resolution within the defined support scope, coordination with external teams for issues outside the service scope, and the application of patches, bug fixes, and support release upgrades. </a:t>
            </a:r>
          </a:p>
          <a:p>
            <a:r>
              <a:rPr lang="en-US" sz="1800" dirty="0" smtClean="0"/>
              <a:t>Each RackWare DRaaS license protects one source server or virtual machine that is replicated and managed through the RackWare Management Module (RMM). </a:t>
            </a:r>
          </a:p>
          <a:p>
            <a:r>
              <a:rPr lang="en-US" sz="1800" dirty="0" smtClean="0"/>
              <a:t/>
            </a:r>
          </a:p>
          <a:p>
            <a:r>
              <a:rPr lang="en-US" sz="1800" dirty="0" smtClean="0"/>
              <a:t>Pricing: $495 per protected VM per year </a:t>
            </a:r>
          </a:p>
          <a:p>
            <a:r>
              <a:rPr lang="en-US" sz="1800" dirty="0" smtClean="0"/>
              <a:t/>
            </a:r>
          </a:p>
          <a:p>
            <a:r>
              <a:rPr lang="en-US" sz="1800" dirty="0" smtClean="0"/>
              <a:t>Licensing and sizing are based solely on the number of source servers or virtual machines included within the RMM scope. </a:t>
            </a:r>
          </a:p>
          <a:p>
            <a:r>
              <a:rPr lang="en-US" sz="1800" dirty="0" smtClean="0"/>
              <a:t/>
            </a:r>
          </a:p>
          <a:p>
            <a:r>
              <a:rPr lang="en-US" sz="1800" dirty="0" smtClean="0"/>
              <a:t> </a:t>
            </a:r>
          </a:p>
          <a:p>
            <a:r>
              <a:rPr lang="en-US" sz="1800" dirty="0" smtClean="0"/>
              <a:t># Architecture Flexibility</a:t>
            </a:r>
          </a:p>
          <a:p>
            <a:r>
              <a:rPr lang="en-US" sz="1800" dirty="0" smtClean="0"/>
              <a:t/>
            </a:r>
          </a:p>
          <a:p>
            <a:r>
              <a:rPr lang="en-US" sz="1800" dirty="0" smtClean="0"/>
              <a:t>1) RackWare DR can be deployed as a single instance or scaled across multiple RackWare DR RMM instances to meet performance, isolation, and design requirements.</a:t>
            </a:r>
          </a:p>
          <a:p>
            <a:r>
              <a:rPr lang="en-US" sz="1800" dirty="0" smtClean="0"/>
              <a:t> </a:t>
            </a:r>
          </a:p>
          <a:p>
            <a:r>
              <a:rPr lang="en-US" sz="1800" dirty="0" smtClean="0"/>
              <a:t>2) For example, 100 VMs (20 vCPUs) can be distributed across multiple instances (e.g., 5 RMM instances, each supporting 20 VMs/servers).</a:t>
            </a:r>
          </a:p>
          <a:p>
            <a:r>
              <a:rPr lang="en-US" sz="1800" dirty="0" smtClean="0"/>
              <a:t> </a:t>
            </a:r>
          </a:p>
          <a:p>
            <a:r>
              <a:rPr lang="en-US" sz="1800" dirty="0" smtClean="0"/>
              <a:t># Licensing Example (e.g. 100 VMs)</a:t>
            </a:r>
          </a:p>
          <a:p>
            <a:r>
              <a:rPr lang="en-US" sz="1800" dirty="0" smtClean="0"/>
              <a:t/>
            </a:r>
          </a:p>
          <a:p>
            <a:r>
              <a:rPr lang="en-US" sz="1800" dirty="0" smtClean="0"/>
              <a:t>1) 1 vCPU supports 5 VMs</a:t>
            </a:r>
          </a:p>
          <a:p>
            <a:r>
              <a:rPr lang="en-US" sz="1800" dirty="0" smtClean="0"/>
              <a:t>2) 100 VMs require 20 vCPUs</a:t>
            </a:r>
          </a:p>
          <a:p>
            <a:r>
              <a:rPr lang="en-US" sz="1800" dirty="0" smtClean="0"/>
              <a:t>3) A single RMM instance with 4 vCPU and 32 GB RAM can cover 20 VMs.</a:t>
            </a:r>
          </a:p>
          <a:p>
            <a:r>
              <a:rPr lang="en-US" sz="1800" dirty="0" smtClean="0"/>
              <a:t>4) 4 RMM instances should cover 100 VMs to be protected in DR</a:t>
            </a:r>
          </a:p>
          <a:p>
            <a:r>
              <a:rPr lang="en-US" sz="1800" dirty="0" smtClean="0"/>
              <a:t>5) For DR 1 VM is billed at $192, 100 VMs x $192 = $19200 / Year</a:t>
            </a:r>
          </a:p>
          <a:p>
            <a:r>
              <a:rPr lang="en-US" sz="1800" dirty="0" smtClean="0"/>
              <a:t>6) For DRaaS 1 VM is billed at $495, 100 VMs x $495 = $49500 / Year</a:t>
            </a:r>
          </a:p>
          <a:p>
            <a:r>
              <a:rPr lang="en-US" sz="1800" dirty="0" smtClean="0"/>
              <a:t> </a:t>
            </a:r>
          </a:p>
          <a:p>
            <a:r>
              <a:rPr lang="en-US" sz="1800" dirty="0" smtClean="0"/>
              <a:t>Note: RackWare DR software pricing does not include IBM Cloud compute, storage.</a:t>
            </a:r>
          </a:p>
          <a:p>
            <a:r>
              <a:rPr lang="en-US" sz="1800" dirty="0" smtClean="0"/>
              <a:t/>
            </a:r>
          </a:p>
          <a:p>
            <a:r>
              <a:rPr lang="en-US" sz="1800" dirty="0" smtClean="0"/>
              <a:t/>
            </a:r>
          </a:p>
          <a:p>
            <a:r>
              <a:rPr lang="en-US" sz="1800" dirty="0" smtClean="0"/>
              <a:t>RackWare's RMM Disaster Recovery ( DR ) are an automated, easy, and convenient process to protect existing workloads from your current location to IBM Cloud VPC. RMM creates an exact duplicate of a running image without the burden of rebuilding or recreating template images and applications. It decouples the application stack from the underlying platform, allowing it to be ported to the IBM Cloud infrastructure with ease. RMM simplifies protection of large, complex environments through a simple interface and reduces the time required from weeks to days, reducing capital and operating expenses. RackWare RMM includes discovery, analysis, automation features like DR policy engine, dynamic provisioning allowing all processes to be fast, easy, and error-free.</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RackWare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https://cloud.ibm.com/catalog/services/rackware-rmm-draas-per-unit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214</a:t>
            </a:r>
            <a:endParaRPr lang="en-US"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RackWare - Migration Subscription ( Per Unit )</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Migrate any-source environment (physical, virtual, cloud) to IBM Cloud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RackWare Management Module (RMM) Migration is an automated process to migrate as well as protect your bare metal and virtual workloads from IBM Cloud or any other source environment to Virtual Server Instances on IBM Cloud VPC.</a:t>
            </a:r>
          </a:p>
          <a:p>
            <a:r>
              <a:rPr lang="en-US" sz="1800" dirty="0" smtClean="0"/>
              <a:t/>
            </a:r>
          </a:p>
          <a:p>
            <a:r>
              <a:rPr lang="en-US" sz="1800" dirty="0" smtClean="0"/>
              <a:t>RMM creates an exact duplicate of a running image without the burden of rebuilding or recreating template images and applications. It decouples the application stack from the underlying platform, allowing it to be ported to the IBM Cloud infrastructure with ease.</a:t>
            </a:r>
          </a:p>
          <a:p>
            <a:r>
              <a:rPr lang="en-US" sz="1800" dirty="0" smtClean="0"/>
              <a:t/>
            </a:r>
          </a:p>
          <a:p>
            <a:r>
              <a:rPr lang="en-US" sz="1800" dirty="0" smtClean="0"/>
              <a:t>RMM simplifies migration of large, complex environments through a simple interface and reduces the time required from weeks to days, reducing capital and operating expenses. RMM includes discovery, analysis, and automation features, allowing all processes to be fast, easy, and error-free.RackWare's RMM Server Migration solution provides an easy, automated, and simplified process to migrate existing workloads from your current location to IBM Cloud. </a:t>
            </a:r>
          </a:p>
          <a:p>
            <a:r>
              <a:rPr lang="en-US" sz="1800" dirty="0" smtClean="0"/>
              <a:t/>
            </a:r>
          </a:p>
          <a:p>
            <a:r>
              <a:rPr lang="en-US" sz="1800" dirty="0" smtClean="0"/>
              <a:t># License Information</a:t>
            </a:r>
          </a:p>
          <a:p>
            <a:r>
              <a:rPr lang="en-US" sz="1800" dirty="0" smtClean="0"/>
              <a:t/>
            </a:r>
          </a:p>
          <a:p>
            <a:r>
              <a:rPr lang="en-US" sz="1800" dirty="0" smtClean="0"/>
              <a:t># Description – RackWare Migration for IBM Cloud</a:t>
            </a:r>
          </a:p>
          <a:p>
            <a:r>
              <a:rPr lang="en-US" sz="1800" dirty="0" smtClean="0"/>
              <a:t/>
            </a:r>
          </a:p>
          <a:p>
            <a:r>
              <a:rPr lang="en-US" sz="1800" dirty="0" smtClean="0"/>
              <a:t>RackWare Migration enables fast, automated workload migration to IBM Cloud VPC with flexible, infrastructure-based hourly licensing.</a:t>
            </a:r>
          </a:p>
          <a:p>
            <a:r>
              <a:rPr lang="en-US" sz="1800" dirty="0" smtClean="0"/>
              <a:t/>
            </a:r>
          </a:p>
          <a:p>
            <a:r>
              <a:rPr lang="en-US" sz="1800" dirty="0" smtClean="0"/>
              <a:t># Licensing Model</a:t>
            </a:r>
          </a:p>
          <a:p>
            <a:r>
              <a:rPr lang="en-US" sz="1800" dirty="0" smtClean="0"/>
              <a:t>RackWare Migration is fixed cost based on the number of source VMs in scope.</a:t>
            </a:r>
          </a:p>
          <a:p>
            <a:r>
              <a:rPr lang="en-US" sz="1800" dirty="0" smtClean="0"/>
              <a:t/>
            </a:r>
          </a:p>
          <a:p>
            <a:r>
              <a:rPr lang="en-US" sz="1800" dirty="0" smtClean="0"/>
              <a:t>1 VM is billed at $110</a:t>
            </a:r>
          </a:p>
          <a:p>
            <a:r>
              <a:rPr lang="en-US" sz="1800" dirty="0" smtClean="0"/>
              <a:t>8 vCPU supports up to 50 source VMs</a:t>
            </a:r>
          </a:p>
          <a:p>
            <a:r>
              <a:rPr lang="en-US" sz="1800" dirty="0" smtClean="0"/>
              <a:t/>
            </a:r>
          </a:p>
          <a:p>
            <a:r>
              <a:rPr lang="en-US" sz="1800" dirty="0" smtClean="0"/>
              <a:t># Sizing Guidance</a:t>
            </a:r>
          </a:p>
          <a:p>
            <a:r>
              <a:rPr lang="en-US" sz="1800" dirty="0" smtClean="0"/>
              <a:t>RackWare provides a simple, linear scaling model based on VM count:</a:t>
            </a:r>
          </a:p>
          <a:p>
            <a:r>
              <a:rPr lang="en-US" sz="1800" dirty="0" smtClean="0"/>
              <a:t/>
            </a:r>
          </a:p>
          <a:p>
            <a:r>
              <a:rPr lang="en-US" sz="1800" dirty="0" smtClean="0"/>
              <a:t>50 VMs → A single RMM with 8 vCPUs and 64 GB RAM</a:t>
            </a:r>
          </a:p>
          <a:p>
            <a:r>
              <a:rPr lang="en-US" sz="1800" dirty="0" smtClean="0"/>
              <a:t>100 VMs → 2 RMMs with 8 vCPUs and 64 GB RAM</a:t>
            </a:r>
          </a:p>
          <a:p>
            <a:r>
              <a:rPr lang="en-US" sz="1800" dirty="0" smtClean="0"/>
              <a:t>1,000 VMs → 20 RMMs with 8 vCPUs and 64 GB RAM</a:t>
            </a:r>
          </a:p>
          <a:p>
            <a:r>
              <a:rPr lang="en-US" sz="1800" dirty="0" smtClean="0"/>
              <a:t>10,000 VMs → 200 RMMs with 8 vCPUs and 64 GB RAM</a:t>
            </a:r>
          </a:p>
          <a:p>
            <a:r>
              <a:rPr lang="en-US" sz="1800" dirty="0" smtClean="0"/>
              <a:t/>
            </a:r>
          </a:p>
          <a:p>
            <a:r>
              <a:rPr lang="en-US" sz="1800" dirty="0" smtClean="0"/>
              <a:t>This model scales linearly beyond these examples, allowing customers to support environments of any size by continuing the same 5 VMs per vCPU ratio. Capacity can be increased incrementally to align with migration waves, timelines, and performance requirements.</a:t>
            </a:r>
          </a:p>
          <a:p>
            <a:r>
              <a:rPr lang="en-US" sz="1800" dirty="0" smtClean="0"/>
              <a:t/>
            </a:r>
          </a:p>
          <a:p>
            <a:r>
              <a:rPr lang="en-US" sz="1800" dirty="0" smtClean="0"/>
              <a:t># Architecture Flexibility</a:t>
            </a:r>
          </a:p>
          <a:p>
            <a:r>
              <a:rPr lang="en-US" sz="1800" dirty="0" smtClean="0"/>
              <a:t>RackWare Migration can be deployed as a single instance or distributed across multiple RMM instances depending on performance, isolation, or design requirements.</a:t>
            </a:r>
          </a:p>
          <a:p>
            <a:r>
              <a:rPr lang="en-US" sz="1800" dirty="0" smtClean="0"/>
              <a:t/>
            </a:r>
          </a:p>
          <a:p>
            <a:r>
              <a:rPr lang="en-US" sz="1800" dirty="0" smtClean="0"/>
              <a:t>For example, a customer migrating 100 VMs would require 2 RMMs:</a:t>
            </a:r>
          </a:p>
          <a:p>
            <a:r>
              <a:rPr lang="en-US" sz="1800" dirty="0" smtClean="0"/>
              <a:t/>
            </a:r>
          </a:p>
          <a:p>
            <a:r>
              <a:rPr lang="en-US" sz="1800" dirty="0" smtClean="0"/>
              <a:t>100 VMs × $110/VM = $11,000</a:t>
            </a:r>
          </a:p>
          <a:p>
            <a:r>
              <a:rPr lang="en-US" sz="1800" dirty="0" smtClean="0"/>
              <a:t/>
            </a:r>
          </a:p>
          <a:p>
            <a:r>
              <a:rPr lang="en-US" sz="1800" dirty="0" smtClean="0"/>
              <a:t>This can be deployed as:</a:t>
            </a:r>
          </a:p>
          <a:p>
            <a:r>
              <a:rPr lang="en-US" sz="1800" dirty="0" smtClean="0"/>
              <a:t/>
            </a:r>
          </a:p>
          <a:p>
            <a:r>
              <a:rPr lang="en-US" sz="1800" dirty="0" smtClean="0"/>
              <a:t>A single RMM with 4 vCPU and 32 GB RAM supporting 50 VMs in parallel for migration , or</a:t>
            </a:r>
          </a:p>
          <a:p>
            <a:r>
              <a:rPr lang="en-US" sz="1800" dirty="0" smtClean="0"/>
              <a:t>Multiple RMM instances based on the migration VMs count (e.g., 4 vCPUs supporting 50 VMs each) aligned to migration waves or application groupings</a:t>
            </a:r>
          </a:p>
          <a:p>
            <a:r>
              <a:rPr lang="en-US" sz="1800" dirty="0" smtClean="0"/>
              <a:t/>
            </a:r>
          </a:p>
          <a:p>
            <a:r>
              <a:rPr lang="en-US" sz="1800" dirty="0" smtClean="0"/>
              <a:t>This flexible architecture enables parallel migrations, better control over cutover groups, and alignment to enterprise design requirements.</a:t>
            </a:r>
          </a:p>
          <a:p>
            <a:r>
              <a:rPr lang="en-US" sz="1800" dirty="0" smtClean="0"/>
              <a:t/>
            </a:r>
          </a:p>
          <a:p>
            <a:r>
              <a:rPr lang="en-US" sz="1800" dirty="0" smtClean="0"/>
              <a:t># The supported use cases are</a:t>
            </a:r>
          </a:p>
          <a:p>
            <a:r>
              <a:rPr lang="en-US" sz="1800" dirty="0" smtClean="0"/>
              <a:t/>
            </a:r>
          </a:p>
          <a:p>
            <a:r>
              <a:rPr lang="en-US" sz="1800" dirty="0" smtClean="0"/>
              <a:t>1. VMware virtual machine (On-premises) to IBM Cloud VPC virtual servers</a:t>
            </a:r>
          </a:p>
          <a:p>
            <a:r>
              <a:rPr lang="en-US" sz="1800" dirty="0" smtClean="0"/>
              <a:t>2. VMware virtual machine (IBM Cloud classic) to IBM Cloud VPC virtual servers</a:t>
            </a:r>
          </a:p>
          <a:p>
            <a:r>
              <a:rPr lang="en-US" sz="1800" dirty="0" smtClean="0"/>
              <a:t>3. Hyper-V virtual machine (On-premises, IBM Cloud Classic) to IBM Cloud VPC virtual servers</a:t>
            </a:r>
          </a:p>
          <a:p>
            <a:r>
              <a:rPr lang="en-US" sz="1800" dirty="0" smtClean="0"/>
              <a:t>4. On-premises physical machines to IBM Cloud VPC virtual servers</a:t>
            </a:r>
          </a:p>
          <a:p>
            <a:r>
              <a:rPr lang="en-US" sz="1800" dirty="0" smtClean="0"/>
              <a:t>5. GCP, AWS, Azure, virtual machines and OCI Baremetal to IBM Cloud VPC virtual servers</a:t>
            </a:r>
          </a:p>
          <a:p>
            <a:r>
              <a:rPr lang="en-US" sz="1800" dirty="0" smtClean="0"/>
              <a:t>6. IBM Cloud classic bare metal to IBM Cloud classic bare metal</a:t>
            </a:r>
          </a:p>
          <a:p>
            <a:r>
              <a:rPr lang="en-US" sz="1800" dirty="0" smtClean="0"/>
              <a:t>7. IBM Cloud classic bare metal to IBM Cloud VPC bare metal</a:t>
            </a:r>
          </a:p>
          <a:p>
            <a:r>
              <a:rPr lang="en-US" sz="1800" dirty="0" smtClean="0"/>
              <a:t>8. Migration of popular databases (e.g., MSSQL, MySQL, PostgreSQL etc. Oracle RAC and ASM disk-based databases are not supported. Also, AWS RDS like databases are not supported)</a:t>
            </a:r>
          </a:p>
          <a:p>
            <a:r>
              <a:rPr lang="en-US" sz="1800" dirty="0" smtClean="0"/>
              <a:t/>
            </a:r>
          </a:p>
          <a:p>
            <a:r>
              <a:rPr lang="en-US" sz="1800" dirty="0" smtClean="0"/>
              <a:t>## Product Overview</a:t>
            </a:r>
          </a:p>
          <a:p>
            <a:r>
              <a:rPr lang="en-US" sz="1800" dirty="0" smtClean="0"/>
              <a:t>RackWare's RMM migrations are an automated, easy, and convenient process to migrate existing workloads from your current location to IBM Cloud. RMM creates an exact duplicate of a running image without the burden of rebuilding or recreating template images and applications. It decouples the application stack from the underlying platform, allowing it to be ported to the IBM Cloud infrastructure with ease. RMM simplifies migration of large, complex environments through a simple interface and reduces the time required from weeks to days, reducing capital and operating expenses. RackWare RMM includes discovery, analysis, and automation features, allowing all processes to be fast, easy, and error-free.</a:t>
            </a:r>
          </a:p>
          <a:p>
            <a:r>
              <a:rPr lang="en-US" sz="1800" dirty="0" smtClean="0"/>
              <a:t/>
            </a:r>
          </a:p>
          <a:p>
            <a:r>
              <a:rPr lang="en-US" sz="1800" dirty="0" smtClean="0"/>
              <a:t># Key Benefits</a:t>
            </a:r>
          </a:p>
          <a:p>
            <a:r>
              <a:rPr lang="en-US" sz="1800" dirty="0" smtClean="0"/>
              <a:t/>
            </a:r>
          </a:p>
          <a:p>
            <a:r>
              <a:rPr lang="en-US" sz="1800" dirty="0" smtClean="0"/>
              <a:t>- Live and Non-Disruptive Migrations</a:t>
            </a:r>
          </a:p>
          <a:p>
            <a:r>
              <a:rPr lang="en-US" sz="1800" dirty="0" smtClean="0"/>
              <a:t>- Highly secure and efficient data transfer</a:t>
            </a:r>
          </a:p>
          <a:p>
            <a:r>
              <a:rPr lang="en-US" sz="1800" dirty="0" smtClean="0"/>
              <a:t>- Auto provision of target Virtual Server Instance</a:t>
            </a:r>
          </a:p>
          <a:p>
            <a:r>
              <a:rPr lang="en-US" sz="1800" dirty="0" smtClean="0"/>
              <a:t>- Include / Exclude Lists: Capture and sync only specific files and directories rather than entire systems</a:t>
            </a:r>
          </a:p>
          <a:p>
            <a:r>
              <a:rPr lang="en-US" sz="1800" dirty="0" smtClean="0"/>
              <a:t>- Delta Sync: Sync only the changed parts of files during the final data sync, drastically lowering cutover times</a:t>
            </a:r>
          </a:p>
          <a:p>
            <a:r>
              <a:rPr lang="en-US" sz="1800" dirty="0" smtClean="0"/>
              <a:t>- Network optimization: bandwidth usage limitations, compression and check point restart for all sync operations</a:t>
            </a:r>
          </a:p>
          <a:p>
            <a:r>
              <a:rPr lang="en-US" sz="1800" dirty="0" smtClean="0"/>
              <a:t/>
            </a:r>
          </a:p>
          <a:p>
            <a:r>
              <a:rPr lang="en-US" sz="1800" dirty="0" smtClean="0"/>
              <a:t>- For more information, visit https://www.rackwareinc.com/cloud-migration</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RackWare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https://cloud.ibm.com/catalog/services/rackware-rmm-migration-per-unit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215</a:t>
            </a:r>
            <a:endParaRPr lang="en-US"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RCS for Business Messaging Suite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All-in-one RCS, MMS, and SMS messaging agent for creating rich, interactive campaigns that capture attention and drive engagement.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RCS for Business Messaging Suite helps businesses turn ordinary text messaging into rich, interactive experiences that keep customers engaged and connected. With branded visuals, buttons, videos, and guided responses, you can deliver conversations that feel more like an app—directly inside your customer’s messaging inbox. After a simple integration with your existing tech stack, this channel gives you a powerful, fully trackable way to reach customers with smarter campaigns and measurable outcomes.</a:t>
            </a:r>
          </a:p>
          <a:p>
            <a:r>
              <a:rPr lang="en-US" sz="1800" dirty="0" smtClean="0"/>
              <a:t/>
            </a:r>
          </a:p>
          <a:p>
            <a:r>
              <a:rPr lang="en-US" sz="1800" dirty="0" smtClean="0"/>
              <a:t>Use the RCS for Business Messaging Suite to:</a:t>
            </a:r>
          </a:p>
          <a:p>
            <a:r>
              <a:rPr lang="en-US" sz="1800" dirty="0" smtClean="0"/>
              <a:t/>
            </a:r>
          </a:p>
          <a:p>
            <a:r>
              <a:rPr lang="en-US" sz="1800" dirty="0" smtClean="0"/>
              <a:t>- Launch marketing campaigns with video, carousels, and high-quality images</a:t>
            </a:r>
          </a:p>
          <a:p>
            <a:r>
              <a:rPr lang="en-US" sz="1800" dirty="0" smtClean="0"/>
              <a:t>- Enable one-tap purchasing and seamless retail checkout</a:t>
            </a:r>
          </a:p>
          <a:p>
            <a:r>
              <a:rPr lang="en-US" sz="1800" dirty="0" smtClean="0"/>
              <a:t>- Offer easy scheduling and appointment management</a:t>
            </a:r>
          </a:p>
          <a:p>
            <a:r>
              <a:rPr lang="en-US" sz="1800" dirty="0" smtClean="0"/>
              <a:t>- Reduce call center costs with 24/7 conversational AI handling customer inquiries</a:t>
            </a:r>
          </a:p>
          <a:p>
            <a:r>
              <a:rPr lang="en-US" sz="1800" dirty="0" smtClean="0"/>
              <a:t>- Send surveys and collect real-time customer feedback</a:t>
            </a:r>
          </a:p>
          <a:p>
            <a:r>
              <a:rPr lang="en-US" sz="1800" dirty="0" smtClean="0"/>
              <a:t>- Use built-in analytics to understand user behavior, measure journeys, and make data-driven decisions</a:t>
            </a:r>
          </a:p>
          <a:p>
            <a:r>
              <a:rPr lang="en-US" sz="1800" dirty="0" smtClean="0"/>
              <a:t/>
            </a:r>
          </a:p>
          <a:p>
            <a:r>
              <a:rPr lang="en-US" sz="1800" dirty="0" smtClean="0"/>
              <a:t>This is the next generation of trackable, interactive business messaging—designed to boost engagement, improve conversions, and deliver better customer experiences.</a:t>
            </a:r>
          </a:p>
          <a:p>
            <a:r>
              <a:rPr lang="en-US" sz="1800" dirty="0" smtClean="0"/>
              <a:t/>
            </a:r>
          </a:p>
          <a:p>
            <a:r>
              <a:rPr lang="en-US" sz="1800" dirty="0" smtClean="0"/>
              <a:t/>
            </a:r>
          </a:p>
          <a:p>
            <a:r>
              <a:rPr lang="en-US" sz="1800" dirty="0" smtClean="0"/>
              <a:t/>
            </a:r>
          </a:p>
          <a:p>
            <a:r>
              <a:rPr lang="en-US" sz="1800" dirty="0" smtClean="0"/>
              <a:t>PER COUNTRY MESSAGE PRICING</a:t>
            </a:r>
          </a:p>
          <a:p>
            <a:r>
              <a:rPr lang="en-US" sz="1800" dirty="0" smtClean="0"/>
              <a:t/>
            </a:r>
          </a:p>
          <a:p>
            <a:r>
              <a:rPr lang="en-US" sz="1800" dirty="0" smtClean="0"/>
              <a:t>Messages are billed on a per-credit basis, and the credit cost varies by message type and by country.</a:t>
            </a:r>
          </a:p>
          <a:p>
            <a:r>
              <a:rPr lang="en-US" sz="1800" dirty="0" smtClean="0"/>
              <a:t/>
            </a:r>
          </a:p>
          <a:p>
            <a:r>
              <a:rPr lang="en-US" sz="1800" dirty="0" smtClean="0"/>
              <a:t>Message Types are listed in this order:</a:t>
            </a:r>
          </a:p>
          <a:p>
            <a:r>
              <a:rPr lang="en-US" sz="1800" dirty="0" smtClean="0"/>
              <a:t>RCS Basic (SMS), RCS Single (MMS), RCS 24 Hour Conversation</a:t>
            </a:r>
          </a:p>
          <a:p>
            <a:r>
              <a:rPr lang="en-US" sz="1800" dirty="0" smtClean="0"/>
              <a:t/>
            </a:r>
          </a:p>
          <a:p>
            <a:r>
              <a:rPr lang="en-US" sz="1800" dirty="0" smtClean="0"/>
              <a:t>United States</a:t>
            </a:r>
          </a:p>
          <a:p>
            <a:r>
              <a:rPr lang="en-US" sz="1800" dirty="0" smtClean="0"/>
              <a:t>Basic: 2 credits, Single: 6 credits</a:t>
            </a:r>
          </a:p>
          <a:p>
            <a:r>
              <a:rPr lang="en-US" sz="1800" dirty="0" smtClean="0"/>
              <a:t/>
            </a:r>
          </a:p>
          <a:p>
            <a:r>
              <a:rPr lang="en-US" sz="1800" dirty="0" smtClean="0"/>
              <a:t>Canada</a:t>
            </a:r>
          </a:p>
          <a:p>
            <a:r>
              <a:rPr lang="en-US" sz="1800" dirty="0" smtClean="0"/>
              <a:t>Basic: 2 credits, Single: 4 credits, Conversational: 6 credits</a:t>
            </a:r>
          </a:p>
          <a:p>
            <a:r>
              <a:rPr lang="en-US" sz="1800" dirty="0" smtClean="0"/>
              <a:t/>
            </a:r>
          </a:p>
          <a:p>
            <a:r>
              <a:rPr lang="en-US" sz="1800" dirty="0" smtClean="0"/>
              <a:t>Mexico</a:t>
            </a:r>
          </a:p>
          <a:p>
            <a:r>
              <a:rPr lang="en-US" sz="1800" dirty="0" smtClean="0"/>
              <a:t>Basic: 2 credits, Single: 4 credits, Conversational: 6 credits</a:t>
            </a:r>
          </a:p>
          <a:p>
            <a:r>
              <a:rPr lang="en-US" sz="1800" dirty="0" smtClean="0"/>
              <a:t/>
            </a:r>
          </a:p>
          <a:p>
            <a:r>
              <a:rPr lang="en-US" sz="1800" dirty="0" smtClean="0"/>
              <a:t>Austria</a:t>
            </a:r>
          </a:p>
          <a:p>
            <a:r>
              <a:rPr lang="en-US" sz="1800" dirty="0" smtClean="0"/>
              <a:t>Basic: 6 credits, Single: 8 credits, Conversational: 12 credits</a:t>
            </a:r>
          </a:p>
          <a:p>
            <a:r>
              <a:rPr lang="en-US" sz="1800" dirty="0" smtClean="0"/>
              <a:t/>
            </a:r>
          </a:p>
          <a:p>
            <a:r>
              <a:rPr lang="en-US" sz="1800" dirty="0" smtClean="0"/>
              <a:t>France</a:t>
            </a:r>
          </a:p>
          <a:p>
            <a:r>
              <a:rPr lang="en-US" sz="1800" dirty="0" smtClean="0"/>
              <a:t>Basic: 10 credits, Single: 12 credits, Conversational: 23 credits</a:t>
            </a:r>
          </a:p>
          <a:p>
            <a:r>
              <a:rPr lang="en-US" sz="1800" dirty="0" smtClean="0"/>
              <a:t/>
            </a:r>
          </a:p>
          <a:p>
            <a:r>
              <a:rPr lang="en-US" sz="1800" dirty="0" smtClean="0"/>
              <a:t>Germany</a:t>
            </a:r>
          </a:p>
          <a:p>
            <a:r>
              <a:rPr lang="en-US" sz="1800" dirty="0" smtClean="0"/>
              <a:t>Basic: 12 credits, Single: 14 credits, Conversational: 18 credits</a:t>
            </a:r>
          </a:p>
          <a:p>
            <a:r>
              <a:rPr lang="en-US" sz="1800" dirty="0" smtClean="0"/>
              <a:t/>
            </a:r>
          </a:p>
          <a:p>
            <a:r>
              <a:rPr lang="en-US" sz="1800" dirty="0" smtClean="0"/>
              <a:t>Italy</a:t>
            </a:r>
          </a:p>
          <a:p>
            <a:r>
              <a:rPr lang="en-US" sz="1800" dirty="0" smtClean="0"/>
              <a:t>Basic: 6 credits, Single: 8 credits, Conversational: 12 credits</a:t>
            </a:r>
          </a:p>
          <a:p>
            <a:r>
              <a:rPr lang="en-US" sz="1800" dirty="0" smtClean="0"/>
              <a:t/>
            </a:r>
          </a:p>
          <a:p>
            <a:r>
              <a:rPr lang="en-US" sz="1800" dirty="0" smtClean="0"/>
              <a:t>Poland</a:t>
            </a:r>
          </a:p>
          <a:p>
            <a:r>
              <a:rPr lang="en-US" sz="1800" dirty="0" smtClean="0"/>
              <a:t>Basic: 5 credit, Single: 7 credits, Conversational: 9 credits</a:t>
            </a:r>
          </a:p>
          <a:p>
            <a:r>
              <a:rPr lang="en-US" sz="1800" dirty="0" smtClean="0"/>
              <a:t/>
            </a:r>
          </a:p>
          <a:p>
            <a:r>
              <a:rPr lang="en-US" sz="1800" dirty="0" smtClean="0"/>
              <a:t>Spain</a:t>
            </a:r>
          </a:p>
          <a:p>
            <a:r>
              <a:rPr lang="en-US" sz="1800" dirty="0" smtClean="0"/>
              <a:t>Basic: 6 credits, Single: 12 credits, Conversational: 14 credits</a:t>
            </a:r>
          </a:p>
          <a:p>
            <a:r>
              <a:rPr lang="en-US" sz="1800" dirty="0" smtClean="0"/>
              <a:t/>
            </a:r>
          </a:p>
          <a:p>
            <a:r>
              <a:rPr lang="en-US" sz="1800" dirty="0" smtClean="0"/>
              <a:t>Sweden</a:t>
            </a:r>
          </a:p>
          <a:p>
            <a:r>
              <a:rPr lang="en-US" sz="1800" dirty="0" smtClean="0"/>
              <a:t>Basic: 6 credit, Single: 10 credits, Conversational: 17 credits</a:t>
            </a:r>
          </a:p>
          <a:p>
            <a:r>
              <a:rPr lang="en-US" sz="1800" dirty="0" smtClean="0"/>
              <a:t/>
            </a:r>
          </a:p>
          <a:p>
            <a:r>
              <a:rPr lang="en-US" sz="1800" dirty="0" smtClean="0"/>
              <a:t>United Kingdom</a:t>
            </a:r>
          </a:p>
          <a:p>
            <a:r>
              <a:rPr lang="en-US" sz="1800" dirty="0" smtClean="0"/>
              <a:t>Basic: 9 credit, Single: 14 credits, Conversational: 27 credits</a:t>
            </a:r>
          </a:p>
          <a:p>
            <a:r>
              <a:rPr lang="en-US" sz="1800" dirty="0" smtClean="0"/>
              <a:t/>
            </a:r>
          </a:p>
          <a:p>
            <a:r>
              <a:rPr lang="en-US" sz="1800" dirty="0" smtClean="0"/>
              <a:t>Brazil</a:t>
            </a:r>
          </a:p>
          <a:p>
            <a:r>
              <a:rPr lang="en-US" sz="1800" dirty="0" smtClean="0"/>
              <a:t>Basic: 2 credit, Single: 4 credits, Conversational: 8 credits</a:t>
            </a:r>
          </a:p>
          <a:p>
            <a:r>
              <a:rPr lang="en-US" sz="1800" dirty="0" smtClean="0"/>
              <a:t/>
            </a:r>
          </a:p>
          <a:p>
            <a:r>
              <a:rPr lang="en-US" sz="1800" dirty="0" smtClean="0"/>
              <a:t>India</a:t>
            </a:r>
          </a:p>
          <a:p>
            <a:r>
              <a:rPr lang="en-US" sz="1800" dirty="0" smtClean="0"/>
              <a:t>Basic: 1 credit, Single: 2 credits, Conversational: 3 credits</a:t>
            </a:r>
          </a:p>
          <a:p>
            <a:r>
              <a:rPr lang="en-US" sz="1800" dirty="0" smtClean="0"/>
              <a:t/>
            </a:r>
          </a:p>
          <a:p>
            <a:r>
              <a:rPr lang="en-US" sz="1800" dirty="0" smtClean="0"/>
              <a:t>Singapore</a:t>
            </a:r>
          </a:p>
          <a:p>
            <a:r>
              <a:rPr lang="en-US" sz="1800" dirty="0" smtClean="0"/>
              <a:t>Basic: 7 credits, Single: 13 credits, Conversational: 16 credits</a:t>
            </a:r>
          </a:p>
          <a:p>
            <a:r>
              <a:rPr lang="en-US" sz="1800" dirty="0" smtClean="0"/>
              <a:t/>
            </a:r>
          </a:p>
          <a:p>
            <a:r>
              <a:rPr lang="en-US" sz="1800" dirty="0" smtClean="0"/>
              <a:t>Nigeria</a:t>
            </a:r>
          </a:p>
          <a:p>
            <a:r>
              <a:rPr lang="en-US" sz="1800" dirty="0" smtClean="0"/>
              <a:t>Basic: 1 credits, Single: 2 credits, Conversational: 3 credits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nativeMsg,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https://cloud.ibm.com/catalog/services/nativemsg-rcs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216</a:t>
            </a:r>
            <a:endParaRPr lang="en-US"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Red Hat AI Inference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Use production‑ready AI models with no operational overhead and built‑in enterprise security, compliance, and cost control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Red Hat AI Inference on IBM Cloud provides production‑ready AI models with no operational overhead and built‑in enterprise security, compliance, and cost control. The model alignment capability (InstructLab) enables organizations to fine-tune highly accurate and efficient models while retaining ownership of their data.</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https://cloud.ibm.com/catalog/services/instructlab</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217</a:t>
            </a:r>
            <a:endParaRPr lang="en-US"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Red Hat OpenShift on IBM Cloud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Deploy and secure enterprise workloads on native OpenShift with developer focused tools to run highly available apps. OpenShift clusters build on Kubernetes container orchestration that offers consistency and flexibility in operations.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With Red Hat OpenShift on IBM Cloud, OpenShift developers have a fast and secure way to containerize and deploy enterprise workloads in Kubernetes clusters. OpenShift clusters build on Kubernetes container orchestration that offers consistency and flexibility in operations. Because IBM manages OpenShift Container Platform (OCP), you'll have more time to focus on your core tasks.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Containers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Osaka (jp-osa) 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https://cloud.ibm.com/catalog/services/openshift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218</a:t>
            </a:r>
            <a:endParaRPr lang="en-US"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Red Hat OpenShift Virtualization Service on IBM Cloud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Run enterprise VMs on Red Hat OpenShift Virtualization Service on IBM Cloud with a modern, Kubernetes-based platform.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Deploy and manage enterprise virtual machine workloads on native OpenShift with virtualization-focused tools to run highly available Virtual Machines.</a:t>
            </a:r>
          </a:p>
          <a:p>
            <a:r>
              <a:rPr lang="en-US" sz="1800" dirty="0" smtClean="0"/>
              <a:t>OpenShift Virtualization Engine on IBM Cloud provides a modern Kubernetes-based platform that delivers operational consistency and flexibility for virtualization environments.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https://cloud.ibm.com/catalog/services/openshift-vs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219</a:t>
            </a:r>
            <a:endParaRPr lang="en-US"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RESUME SCORING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smart, unbiased resume evaluation assistant that helps recruiters and hiring teams score and summarize candidate resume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Overview</a:t>
            </a:r>
          </a:p>
          <a:p>
            <a:r>
              <a:rPr lang="en-US" sz="1800" dirty="0" smtClean="0"/>
              <a:t/>
            </a:r>
          </a:p>
          <a:p>
            <a:r>
              <a:rPr lang="en-US" sz="1800" dirty="0" smtClean="0"/>
              <a:t>The HR Resume Scoring Agent is an AI-powered assistant designed to support recruiters, hiring managers, and HR teams in evaluating candidate resumes against a specific job description. The agent analyzes resumes using a transparent, job-related scoring rubric and produces structured, human-readable summaries that help HR teams make consistent and informed shortlisting decisions.</a:t>
            </a:r>
          </a:p>
          <a:p>
            <a:r>
              <a:rPr lang="en-US" sz="1800" dirty="0" smtClean="0"/>
              <a:t/>
            </a:r>
          </a:p>
          <a:p>
            <a:r>
              <a:rPr lang="en-US" sz="1800" dirty="0" smtClean="0"/>
              <a:t>The agent operates as a decision-support tool rather than a decision-maker. It is designed to work across industries, roles, and seniority levels, making it suitable for both technical and non-technical hiring scenarios. By standardizing resume evaluation, the agent helps reduce subjectivity and improve consistency across hiring processes.</a:t>
            </a:r>
          </a:p>
          <a:p>
            <a:r>
              <a:rPr lang="en-US" sz="1800" dirty="0" smtClean="0"/>
              <a:t/>
            </a:r>
          </a:p>
          <a:p>
            <a:r>
              <a:rPr lang="en-US" sz="1800" dirty="0" smtClean="0"/>
              <a:t/>
            </a:r>
          </a:p>
          <a:p>
            <a:r>
              <a:rPr lang="en-US" sz="1800" dirty="0" smtClean="0"/>
              <a:t/>
            </a:r>
          </a:p>
          <a:p>
            <a:r>
              <a:rPr lang="en-US" sz="1800" dirty="0" smtClean="0"/>
              <a:t>Purpose and Value</a:t>
            </a:r>
          </a:p>
          <a:p>
            <a:r>
              <a:rPr lang="en-US" sz="1800" dirty="0" smtClean="0"/>
              <a:t/>
            </a:r>
          </a:p>
          <a:p>
            <a:r>
              <a:rPr lang="en-US" sz="1800" dirty="0" smtClean="0"/>
              <a:t>The primary purpose of the HR Resume Scoring Agent is to streamline resume screening while improving fairness, transparency, and auditability. Resume reviews are often time-consuming and inconsistent across reviewers; this agent addresses those challenges by applying a consistent, clearly defined evaluation framework.</a:t>
            </a:r>
          </a:p>
          <a:p>
            <a:r>
              <a:rPr lang="en-US" sz="1800" dirty="0" smtClean="0"/>
              <a:t/>
            </a:r>
          </a:p>
          <a:p>
            <a:r>
              <a:rPr lang="en-US" sz="1800" dirty="0" smtClean="0"/>
              <a:t>The agent provides clear visibility into why a candidate scores a certain way by grounding each assessment in job-related evidence from the resume. This improves trust in the screening process and enables HR teams to justify shortlisting decisions during internal reviews or audits.</a:t>
            </a:r>
          </a:p>
          <a:p>
            <a:r>
              <a:rPr lang="en-US" sz="1800" dirty="0" smtClean="0"/>
              <a:t/>
            </a:r>
          </a:p>
          <a:p>
            <a:r>
              <a:rPr lang="en-US" sz="1800" dirty="0" smtClean="0"/>
              <a:t/>
            </a:r>
          </a:p>
          <a:p>
            <a:r>
              <a:rPr lang="en-US" sz="1800" dirty="0" smtClean="0"/>
              <a:t/>
            </a:r>
          </a:p>
          <a:p>
            <a:r>
              <a:rPr lang="en-US" sz="1800" dirty="0" smtClean="0"/>
              <a:t>Core Capabilities</a:t>
            </a:r>
          </a:p>
          <a:p>
            <a:r>
              <a:rPr lang="en-US" sz="1800" dirty="0" smtClean="0"/>
              <a:t/>
            </a:r>
          </a:p>
          <a:p>
            <a:r>
              <a:rPr lang="en-US" sz="1800" dirty="0" smtClean="0"/>
              <a:t>The HR Resume Scoring Agent evaluates resumes strictly against a job description provided by the user. It parses the job description to identify must-have and nice-to-have requirements and analyzes resumes to extract relevant experience, skills, education, certifications, achievements, and domain exposure.</a:t>
            </a:r>
          </a:p>
          <a:p>
            <a:r>
              <a:rPr lang="en-US" sz="1800" dirty="0" smtClean="0"/>
              <a:t/>
            </a:r>
          </a:p>
          <a:p>
            <a:r>
              <a:rPr lang="en-US" sz="1800" dirty="0" smtClean="0"/>
              <a:t>The agent supports both single-candidate and multi-candidate evaluations. When multiple resumes are provided, it generates individual scorecards for each candidate and produces a comparison view that highlights relative strengths, gaps, and overall ranking. This enables recruiters to compare candidates efficiently and consistently.</a:t>
            </a:r>
          </a:p>
          <a:p>
            <a:r>
              <a:rPr lang="en-US" sz="1800" dirty="0" smtClean="0"/>
              <a:t/>
            </a:r>
          </a:p>
          <a:p>
            <a:r>
              <a:rPr lang="en-US" sz="1800" dirty="0" smtClean="0"/>
              <a:t/>
            </a:r>
          </a:p>
          <a:p>
            <a:r>
              <a:rPr lang="en-US" sz="1800" dirty="0" smtClean="0"/>
              <a:t/>
            </a:r>
          </a:p>
          <a:p>
            <a:r>
              <a:rPr lang="en-US" sz="1800" dirty="0" smtClean="0"/>
              <a:t>Scoring and Evaluation Approach</a:t>
            </a:r>
          </a:p>
          <a:p>
            <a:r>
              <a:rPr lang="en-US" sz="1800" dirty="0" smtClean="0"/>
              <a:t/>
            </a:r>
          </a:p>
          <a:p>
            <a:r>
              <a:rPr lang="en-US" sz="1800" dirty="0" smtClean="0"/>
              <a:t>The agent uses a transparent scoring rubric that assesses candidates across multiple job-related dimensions, such as skills match, relevance of experience, measurable achievements, education or certifications, and clarity of resume content. Default weights are applied unless the user specifies a custom rubric.</a:t>
            </a:r>
          </a:p>
          <a:p>
            <a:r>
              <a:rPr lang="en-US" sz="1800" dirty="0" smtClean="0"/>
              <a:t/>
            </a:r>
          </a:p>
          <a:p>
            <a:r>
              <a:rPr lang="en-US" sz="1800" dirty="0" smtClean="0"/>
              <a:t>In addition to numeric scores, the agent identifies risk indicators such as missing mandatory requirements, unclear timelines, unexplained gaps, or vague impact statements. These risk indicators are reported separately to ensure clarity and to avoid conflating concerns with overall scoring.</a:t>
            </a:r>
          </a:p>
          <a:p>
            <a:r>
              <a:rPr lang="en-US" sz="1800" dirty="0" smtClean="0"/>
              <a:t/>
            </a:r>
          </a:p>
          <a:p>
            <a:r>
              <a:rPr lang="en-US" sz="1800" dirty="0" smtClean="0"/>
              <a:t/>
            </a:r>
          </a:p>
          <a:p>
            <a:r>
              <a:rPr lang="en-US" sz="1800" dirty="0" smtClean="0"/>
              <a:t/>
            </a:r>
          </a:p>
          <a:p>
            <a:r>
              <a:rPr lang="en-US" sz="1800" dirty="0" smtClean="0"/>
              <a:t>Explainability and Auditability</a:t>
            </a:r>
          </a:p>
          <a:p>
            <a:r>
              <a:rPr lang="en-US" sz="1800" dirty="0" smtClean="0"/>
              <a:t/>
            </a:r>
          </a:p>
          <a:p>
            <a:r>
              <a:rPr lang="en-US" sz="1800" dirty="0" smtClean="0"/>
              <a:t>A key strength of the HR Resume Scoring Agent is explainability. Every non-trivial evaluation point is supported by short evidence snippets from the resume or explicitly marked as unclear when information is missing. This ensures that outputs are easy to review, validate, and defend.</a:t>
            </a:r>
          </a:p>
          <a:p>
            <a:r>
              <a:rPr lang="en-US" sz="1800" dirty="0" smtClean="0"/>
              <a:t/>
            </a:r>
          </a:p>
          <a:p>
            <a:r>
              <a:rPr lang="en-US" sz="1800" dirty="0" smtClean="0"/>
              <a:t>The agent produces structured summaries that include overall scores, strengths, gaps, must-have alignment, interview focus areas, and suggested follow-up questions. This structured output makes the agent’s assessments suitable for internal HR documentation </a:t>
            </a:r>
          </a:p>
          <a:p>
            <a:r>
              <a:rPr lang="en-US" sz="1800" dirty="0" smtClean="0"/>
              <a:t/>
            </a:r>
          </a:p>
          <a:p>
            <a:r>
              <a:rPr lang="en-US" sz="1800" dirty="0" smtClean="0"/>
              <a:t>Responsible and Bias-Aware Screening</a:t>
            </a:r>
          </a:p>
          <a:p>
            <a:r>
              <a:rPr lang="en-US" sz="1800" dirty="0" smtClean="0"/>
              <a:t/>
            </a:r>
          </a:p>
          <a:p>
            <a:r>
              <a:rPr lang="en-US" sz="1800" dirty="0" smtClean="0"/>
              <a:t>The HR Resume Scoring Agent is designed to support responsible and inclusive hiring practices. It does not use protected or sensitive personal characteristics such as age, gender, race, religion, caste, disability, marital status, nationality, or political views in scoring or reasoning.</a:t>
            </a:r>
          </a:p>
          <a:p>
            <a:r>
              <a:rPr lang="en-US" sz="1800" dirty="0" smtClean="0"/>
              <a:t/>
            </a:r>
          </a:p>
          <a:p>
            <a:r>
              <a:rPr lang="en-US" sz="1800" dirty="0" smtClean="0"/>
              <a:t>If such information appears in a resume, it is ignored entirely and not referenced in the output. All evaluations are based strictly on job-related criteria, helping reduce bias and ensure fair treatment of candidates across different backgrounds.</a:t>
            </a:r>
          </a:p>
          <a:p>
            <a:r>
              <a:rPr lang="en-US" sz="1800" dirty="0" smtClean="0"/>
              <a:t/>
            </a:r>
          </a:p>
          <a:p>
            <a:r>
              <a:rPr lang="en-US" sz="1800" dirty="0" smtClean="0"/>
              <a:t/>
            </a:r>
          </a:p>
          <a:p>
            <a:r>
              <a:rPr lang="en-US" sz="1800" dirty="0" smtClean="0"/>
              <a:t/>
            </a:r>
          </a:p>
          <a:p>
            <a:r>
              <a:rPr lang="en-US" sz="1800" dirty="0" smtClean="0"/>
              <a:t>Privacy and Data Handling</a:t>
            </a:r>
          </a:p>
          <a:p>
            <a:r>
              <a:rPr lang="en-US" sz="1800" dirty="0" smtClean="0"/>
              <a:t/>
            </a:r>
          </a:p>
          <a:p>
            <a:r>
              <a:rPr lang="en-US" sz="1800" dirty="0" smtClean="0"/>
              <a:t>The agent operates only on text explicitly provided by the user in the conversation. It does not access external systems, databases, or proprietary company information. Personal identifiers such as contact details, if present in resumes, are not repeated in the output.</a:t>
            </a:r>
          </a:p>
          <a:p>
            <a:r>
              <a:rPr lang="en-US" sz="1800" dirty="0" smtClean="0"/>
              <a:t/>
            </a:r>
          </a:p>
          <a:p>
            <a:r>
              <a:rPr lang="en-US" sz="1800" dirty="0" smtClean="0"/>
              <a:t>This approach ensures privacy, transparency, and suitability for use in enterprise and regulated HR environments.</a:t>
            </a:r>
          </a:p>
          <a:p>
            <a:r>
              <a:rPr lang="en-US" sz="1800" dirty="0" smtClean="0"/>
              <a:t/>
            </a:r>
          </a:p>
          <a:p>
            <a:r>
              <a:rPr lang="en-US" sz="1800" dirty="0" smtClean="0"/>
              <a:t/>
            </a:r>
          </a:p>
          <a:p>
            <a:r>
              <a:rPr lang="en-US" sz="1800" dirty="0" smtClean="0"/>
              <a:t/>
            </a:r>
          </a:p>
          <a:p>
            <a:r>
              <a:rPr lang="en-US" sz="1800" dirty="0" smtClean="0"/>
              <a:t>Practical Output and Usage</a:t>
            </a:r>
          </a:p>
          <a:p>
            <a:r>
              <a:rPr lang="en-US" sz="1800" dirty="0" smtClean="0"/>
              <a:t/>
            </a:r>
          </a:p>
          <a:p>
            <a:r>
              <a:rPr lang="en-US" sz="1800" dirty="0" smtClean="0"/>
              <a:t>The output produced by the HR Resume Scoring Agent is designed to be immediately usable by HR professionals. Summaries are clearly structured, concise, and focused on decision-relevant information. Interviewers and recruiters can use the output to guide shortlisting, prepare targeted interview questions, and align hiring discussions across teams.</a:t>
            </a:r>
          </a:p>
          <a:p>
            <a:r>
              <a:rPr lang="en-US" sz="1800" dirty="0" smtClean="0"/>
              <a:t/>
            </a:r>
          </a:p>
          <a:p>
            <a:r>
              <a:rPr lang="en-US" sz="1800" dirty="0" smtClean="0"/>
              <a:t>By combining structured scoring, explainability, and bias-aware evaluation, the HR Resume Scoring Agent helps organizations improve efficiency, consistency, and confidence in resume screening.</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Netsmartz LLC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https://cloud.ibm.com/catalog/services/netsmartz-llc-resume-scoring-agent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220</a:t>
            </a:r>
            <a:endParaRPr lang="en-US"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Route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Mumbai - Airtel (in-mum) Frankfurt (eu-de)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https://cloud.ibm.com/catalog/services/power-iaas.route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221</a:t>
            </a:r>
            <a:endParaRPr lang="en-US"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Satellite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Run IBM Cloud services on your own infrastructure to consistently deploy, manage, and control your application workloads anywhere.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Satellite allows IBM Cloud services delivered anywhere a client needs them, managed from a single pane of glass, with as-a-service operations, secure connectivity, application lifecycle management.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Osaka (jp-osa) 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https://cloud.ibm.com/catalog/services/satellite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222</a:t>
            </a:r>
            <a:endParaRPr lang="en-US"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Sauce Labs Real Device Cloud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Sauce Labs Real Device Cloud Agent transforms your private device cloud on Sauce Labs into a conversational AI interface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Sauce Labs Real Device Cloud brings real device testing directly into your watsonx Orchestrate workflow — no testing pipelines, no specialized consoles, no engineers required.</a:t>
            </a:r>
          </a:p>
          <a:p>
            <a:r>
              <a:rPr lang="en-US" sz="1800" dirty="0" smtClean="0"/>
              <a:t/>
            </a:r>
          </a:p>
          <a:p>
            <a:r>
              <a:rPr lang="en-US" sz="1800" dirty="0" smtClean="0"/>
              <a:t>Powered by the Sauce Labs Real Device Cloud, this agent allows technical and non-technical teams to trigger live device testing and receive instant quality reports through a simple, conversational interface. Whether you're validating a production release or verifying a critical user journey, Sauce Labs Real Device Cloud delivers the confidence to release — without the complexity of traditional testing infrastructure.</a:t>
            </a:r>
          </a:p>
          <a:p>
            <a:r>
              <a:rPr lang="en-US" sz="1800" dirty="0" smtClean="0"/>
              <a:t/>
            </a:r>
          </a:p>
          <a:p>
            <a:r>
              <a:rPr lang="en-US" sz="1800" dirty="0" smtClean="0"/>
              <a:t>By embedding quality directly into orchestration workflows, Sauce Labs makes testing accessible to every team — turning what was once a specialized, technical process into an automated step anyone can trigger and understand.</a:t>
            </a:r>
          </a:p>
          <a:p>
            <a:r>
              <a:rPr lang="en-US" sz="1800" dirty="0" smtClean="0"/>
              <a:t/>
            </a:r>
          </a:p>
          <a:p>
            <a:r>
              <a:rPr lang="en-US" sz="1800" dirty="0" smtClean="0"/>
              <a:t>Note: An active Real Device subscription and API License Key is required to use the Sauce Real Device Cloud.</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Sauce Labs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https://cloud.ibm.com/catalog/services/sauce-labs-rdc-agent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223</a:t>
            </a:r>
            <a:endParaRPr lang="en-US"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Scalestack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Scalestack's AI agents act as invisible GTM analysts that understand your ICP, coordinate across systems, and evolve with your GTM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This AI-powered agent automatically searches, pulls, and verifies data from multiple providers and web sources. It cross-references information in real time to deliver comprehensive, validated answers—autonomously. No manual research, no data silos, no inconsistent quality. Just clean insights across every source, so your teams can focus on decisions, not data gathering.</a:t>
            </a:r>
          </a:p>
          <a:p>
            <a:r>
              <a:rPr lang="en-US" sz="1800" dirty="0" smtClean="0"/>
              <a:t>Perfect for enterprise teams looking to scale research capabilities, automate data enrichment, and ensure information accuracy without adding headcount.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Scalestack</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https://cloud.ibm.com/catalog/services/scalestack-scalestack-agent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224</a:t>
            </a:r>
            <a:endParaRPr lang="en-US"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Schematics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Enable Infrastructure as Code and automate the management of IBM Cloud service and Terraform.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Schematics Infrastructure as Code automation</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 Cloud Schematics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Frankfurt (eu-de) London (eu-gb) Montreal (ca-mon) Toronto (ca-tor)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https://cloud.ibm.com/catalog/services/schematics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225</a:t>
            </a:r>
            <a:endParaRPr lang="en-US"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Secondary Subnets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Secondary subnets provide additional IP addresses for your compute resources, and are well suited for use as external application or service addresses.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 Secondary subnets provide additional, independent IP addresses for your application.</a:t>
            </a:r>
          </a:p>
          <a:p>
            <a:r>
              <a:rPr lang="en-US" sz="1800" dirty="0" smtClean="0"/>
              <a:t/>
            </a:r>
          </a:p>
          <a:p>
            <a:r>
              <a:rPr lang="en-US" sz="1800" dirty="0" smtClean="0"/>
              <a:t>- Required for use as external application or service addresses managed independent of other infrastructure resources.</a:t>
            </a:r>
          </a:p>
          <a:p>
            <a:r>
              <a:rPr lang="en-US" sz="1800" dirty="0" smtClean="0"/>
              <a:t/>
            </a:r>
          </a:p>
          <a:p>
            <a:r>
              <a:rPr lang="en-US" sz="1800" dirty="0" smtClean="0"/>
              <a:t>- Available with either portable, static, or global routing capabilities.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Madrid (eu-es)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https://cloud.ibm.com/catalog/infrastructure/subnet-ip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226</a:t>
            </a:r>
            <a:endParaRPr lang="en-US"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Secrets Manager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Create, lease, and centrally manage secrets that are used in your apps and services.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Secrets Manager provides two plans for securely managing secrets and credentials: **Standard** and **Vault Dedicated**.</a:t>
            </a:r>
          </a:p>
          <a:p>
            <a:r>
              <a:rPr lang="en-US" sz="1800" dirty="0" smtClean="0"/>
              <a:t/>
            </a:r>
          </a:p>
          <a:p>
            <a:r>
              <a:rPr lang="en-US" sz="1800" dirty="0" smtClean="0"/>
              <a:t>With the **Standard plan**, you can create, lease, and centrally manage secrets that are used in IBM Cloud services or your custom-built applications. Secrets are stored in a dedicated instance of Secrets Manager, built on open source HashiCorp Vault.</a:t>
            </a:r>
          </a:p>
          <a:p>
            <a:r>
              <a:rPr lang="en-US" sz="1800" dirty="0" smtClean="0"/>
              <a:t/>
            </a:r>
          </a:p>
          <a:p>
            <a:r>
              <a:rPr lang="en-US" sz="1800" dirty="0" smtClean="0"/>
              <a:t>**Vault Dedicated** provides a dedicated HashiCorp Vault environment for organizations that want to use Vault capabilities and workflows while running Vault as a managed service on IBM Cloud.</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https://cloud.ibm.com/catalog/services/secrets-manager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227</a:t>
            </a:r>
            <a:endParaRPr lang="en-US"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Secure Automated Backup with Compass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Simple, secure, automated backup and restore to protect IBM Cloud data powered by IBM Storage Protect.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Powered by Cobalt Iron Compass®</a:t>
            </a:r>
          </a:p>
          <a:p>
            <a:r>
              <a:rPr lang="en-US" sz="1800" dirty="0" smtClean="0"/>
              <a:t>A single, unified, SaaS-based offering to backup and restore IBM Cloud workloads and more!</a:t>
            </a:r>
          </a:p>
          <a:p>
            <a:r>
              <a:rPr lang="en-US" sz="1800" dirty="0" smtClean="0"/>
              <a:t/>
            </a:r>
          </a:p>
          <a:p>
            <a:r>
              <a:rPr lang="en-US" sz="1800" dirty="0" smtClean="0"/>
              <a:t>With IBM Storage Protect, Compass protects a variety of IBM Cloud platforms, applications, and data classes including:</a:t>
            </a:r>
          </a:p>
          <a:p>
            <a:r>
              <a:rPr lang="en-US" sz="1800" dirty="0" smtClean="0"/>
              <a:t>1.	AIX</a:t>
            </a:r>
          </a:p>
          <a:p>
            <a:r>
              <a:rPr lang="en-US" sz="1800" dirty="0" smtClean="0"/>
              <a:t>2.	Linux</a:t>
            </a:r>
          </a:p>
          <a:p>
            <a:r>
              <a:rPr lang="en-US" sz="1800" dirty="0" smtClean="0"/>
              <a:t>3.	Oracle on AIX</a:t>
            </a:r>
          </a:p>
          <a:p>
            <a:r>
              <a:rPr lang="en-US" sz="1800" dirty="0" smtClean="0"/>
              <a:t>4.	Db2 on AIX</a:t>
            </a:r>
          </a:p>
          <a:p>
            <a:r>
              <a:rPr lang="en-US" sz="1800" dirty="0" smtClean="0"/>
              <a:t>5.	SAP HANA on Linux</a:t>
            </a:r>
          </a:p>
          <a:p>
            <a:r>
              <a:rPr lang="en-US" sz="1800" dirty="0" smtClean="0"/>
              <a:t>6.	Windows</a:t>
            </a:r>
          </a:p>
          <a:p>
            <a:r>
              <a:rPr lang="en-US" sz="1800" dirty="0" smtClean="0"/>
              <a:t>7.	ZSeries</a:t>
            </a:r>
          </a:p>
          <a:p>
            <a:r>
              <a:rPr lang="en-US" sz="1800" dirty="0" smtClean="0"/>
              <a:t>8.	IBM i</a:t>
            </a:r>
          </a:p>
          <a:p>
            <a:r>
              <a:rPr lang="en-US" sz="1800" dirty="0" smtClean="0"/>
              <a:t/>
            </a:r>
          </a:p>
          <a:p>
            <a:r>
              <a:rPr lang="en-US" sz="1800" dirty="0" smtClean="0"/>
              <a:t>Compass delivers a variety of differentiated features and functionality: </a:t>
            </a:r>
          </a:p>
          <a:p>
            <a:r>
              <a:rPr lang="en-US" sz="1800" dirty="0" smtClean="0"/>
              <a:t>1.	Simple, automated, instant-on</a:t>
            </a:r>
          </a:p>
          <a:p>
            <a:r>
              <a:rPr lang="en-US" sz="1800" dirty="0" smtClean="0"/>
              <a:t>2.	Cloud backup service</a:t>
            </a:r>
          </a:p>
          <a:p>
            <a:r>
              <a:rPr lang="en-US" sz="1800" dirty="0" smtClean="0"/>
              <a:t>3.	Resilient and compliant</a:t>
            </a:r>
          </a:p>
          <a:p>
            <a:r>
              <a:rPr lang="en-US" sz="1800" dirty="0" smtClean="0"/>
              <a:t>4.	Usage-based pricing</a:t>
            </a:r>
          </a:p>
          <a:p>
            <a:r>
              <a:rPr lang="en-US" sz="1800" dirty="0" smtClean="0"/>
              <a:t>5.	Native application integrations </a:t>
            </a:r>
          </a:p>
          <a:p>
            <a:r>
              <a:rPr lang="en-US" sz="1800" dirty="0" smtClean="0"/>
              <a:t/>
            </a:r>
          </a:p>
          <a:p>
            <a:r>
              <a:rPr lang="en-US" sz="1800" dirty="0" smtClean="0"/>
              <a:t>The Compass offering provides a variety of integrated security and operational features including:</a:t>
            </a:r>
          </a:p>
          <a:p>
            <a:r>
              <a:rPr lang="en-US" sz="1800" dirty="0" smtClean="0"/>
              <a:t/>
            </a:r>
          </a:p>
          <a:p>
            <a:r>
              <a:rPr lang="en-US" sz="1800" dirty="0" smtClean="0"/>
              <a:t>1.	Alerting, notifications, and ticketing features and integration</a:t>
            </a:r>
          </a:p>
          <a:p>
            <a:r>
              <a:rPr lang="en-US" sz="1800" dirty="0" smtClean="0"/>
              <a:t>2.	Automated auditing and validation of backup server landscape</a:t>
            </a:r>
          </a:p>
          <a:p>
            <a:r>
              <a:rPr lang="en-US" sz="1800" dirty="0" smtClean="0"/>
              <a:t>3.	Backup server automation – hands-free automation of all backup server tasks</a:t>
            </a:r>
          </a:p>
          <a:p>
            <a:r>
              <a:rPr lang="en-US" sz="1800" dirty="0" smtClean="0"/>
              <a:t>4.	Centralized policy management</a:t>
            </a:r>
          </a:p>
          <a:p>
            <a:r>
              <a:rPr lang="en-US" sz="1800" dirty="0" smtClean="0"/>
              <a:t>5.	Complete governance</a:t>
            </a:r>
          </a:p>
          <a:p>
            <a:r>
              <a:rPr lang="en-US" sz="1800" dirty="0" smtClean="0"/>
              <a:t>6.	Customer data is encrypted in all phases from in-transit, to-storage, and at-rest</a:t>
            </a:r>
          </a:p>
          <a:p>
            <a:r>
              <a:rPr lang="en-US" sz="1800" dirty="0" smtClean="0"/>
              <a:t>7.	Multitenancy and unlimited sub-organizations</a:t>
            </a:r>
          </a:p>
          <a:p>
            <a:r>
              <a:rPr lang="en-US" sz="1800" dirty="0" smtClean="0"/>
              <a:t>8.	Role-based access control management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Cobalt Iron</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Osaka (jp-osa) Tokyo (jp-tok) Frankfurt (eu-de) Madrid (eu-es) London (eu-gb)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https://cloud.ibm.com/catalog/services/compass-vpc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228</a:t>
            </a:r>
            <a:endParaRPr lang="en-US"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Secure Automated Backup with Compass for Power VS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Simple, secure, automated backup and restore to protect IBM PowerVS data powered by IBM Storage Protect.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Powered by Cobalt Iron Compass®</a:t>
            </a:r>
          </a:p>
          <a:p>
            <a:r>
              <a:rPr lang="en-US" sz="1800" dirty="0" smtClean="0"/>
              <a:t>A single, unified, SaaS-based offering to backup and restore IBM PowerVS workloads and more!</a:t>
            </a:r>
          </a:p>
          <a:p>
            <a:r>
              <a:rPr lang="en-US" sz="1800" dirty="0" smtClean="0"/>
              <a:t/>
            </a:r>
          </a:p>
          <a:p>
            <a:r>
              <a:rPr lang="en-US" sz="1800" dirty="0" smtClean="0"/>
              <a:t>With IBM Storage Protect, Compass protects a variety of PowerVS platforms, applications, and data classes including:</a:t>
            </a:r>
          </a:p>
          <a:p>
            <a:r>
              <a:rPr lang="en-US" sz="1800" dirty="0" smtClean="0"/>
              <a:t>1.	AIX</a:t>
            </a:r>
          </a:p>
          <a:p>
            <a:r>
              <a:rPr lang="en-US" sz="1800" dirty="0" smtClean="0"/>
              <a:t>2.	Linux</a:t>
            </a:r>
          </a:p>
          <a:p>
            <a:r>
              <a:rPr lang="en-US" sz="1800" dirty="0" smtClean="0"/>
              <a:t>3.	Oracle on AIX</a:t>
            </a:r>
          </a:p>
          <a:p>
            <a:r>
              <a:rPr lang="en-US" sz="1800" dirty="0" smtClean="0"/>
              <a:t>4.	Db2 on AIX</a:t>
            </a:r>
          </a:p>
          <a:p>
            <a:r>
              <a:rPr lang="en-US" sz="1800" dirty="0" smtClean="0"/>
              <a:t>5.	SAP HANA on Linux</a:t>
            </a:r>
          </a:p>
          <a:p>
            <a:r>
              <a:rPr lang="en-US" sz="1800" dirty="0" smtClean="0"/>
              <a:t>6.  IBM i</a:t>
            </a:r>
          </a:p>
          <a:p>
            <a:r>
              <a:rPr lang="en-US" sz="1800" dirty="0" smtClean="0"/>
              <a:t/>
            </a:r>
          </a:p>
          <a:p>
            <a:r>
              <a:rPr lang="en-US" sz="1800" dirty="0" smtClean="0"/>
              <a:t>Compass delivers a variety of differentiated features and functionality: </a:t>
            </a:r>
          </a:p>
          <a:p>
            <a:r>
              <a:rPr lang="en-US" sz="1800" dirty="0" smtClean="0"/>
              <a:t>1.	Simple, automated, instant-on</a:t>
            </a:r>
          </a:p>
          <a:p>
            <a:r>
              <a:rPr lang="en-US" sz="1800" dirty="0" smtClean="0"/>
              <a:t>2.	Cloud backup service</a:t>
            </a:r>
          </a:p>
          <a:p>
            <a:r>
              <a:rPr lang="en-US" sz="1800" dirty="0" smtClean="0"/>
              <a:t>3.	Resilient and compliant</a:t>
            </a:r>
          </a:p>
          <a:p>
            <a:r>
              <a:rPr lang="en-US" sz="1800" dirty="0" smtClean="0"/>
              <a:t>4.	Usage-based pricing</a:t>
            </a:r>
          </a:p>
          <a:p>
            <a:r>
              <a:rPr lang="en-US" sz="1800" dirty="0" smtClean="0"/>
              <a:t>5.	Native application integrations </a:t>
            </a:r>
          </a:p>
          <a:p>
            <a:r>
              <a:rPr lang="en-US" sz="1800" dirty="0" smtClean="0"/>
              <a:t/>
            </a:r>
          </a:p>
          <a:p>
            <a:r>
              <a:rPr lang="en-US" sz="1800" dirty="0" smtClean="0"/>
              <a:t>The Compass offering provides a variety of integrated security and operational features including:</a:t>
            </a:r>
          </a:p>
          <a:p>
            <a:r>
              <a:rPr lang="en-US" sz="1800" dirty="0" smtClean="0"/>
              <a:t/>
            </a:r>
          </a:p>
          <a:p>
            <a:r>
              <a:rPr lang="en-US" sz="1800" dirty="0" smtClean="0"/>
              <a:t>1.	Alerting, notifications, and ticketing features and integration</a:t>
            </a:r>
          </a:p>
          <a:p>
            <a:r>
              <a:rPr lang="en-US" sz="1800" dirty="0" smtClean="0"/>
              <a:t>2.	Automated auditing and validation of backup server landscape</a:t>
            </a:r>
          </a:p>
          <a:p>
            <a:r>
              <a:rPr lang="en-US" sz="1800" dirty="0" smtClean="0"/>
              <a:t>3.	Backup server automation – hands-free automation of all backup server tasks</a:t>
            </a:r>
          </a:p>
          <a:p>
            <a:r>
              <a:rPr lang="en-US" sz="1800" dirty="0" smtClean="0"/>
              <a:t>4.	Centralized policy management</a:t>
            </a:r>
          </a:p>
          <a:p>
            <a:r>
              <a:rPr lang="en-US" sz="1800" dirty="0" smtClean="0"/>
              <a:t>5.	Complete governance</a:t>
            </a:r>
          </a:p>
          <a:p>
            <a:r>
              <a:rPr lang="en-US" sz="1800" dirty="0" smtClean="0"/>
              <a:t>6.	Customer data is encrypted in all phases from in-transit, to-storage, and at-rest</a:t>
            </a:r>
          </a:p>
          <a:p>
            <a:r>
              <a:rPr lang="en-US" sz="1800" dirty="0" smtClean="0"/>
              <a:t>7.	Multitenancy and unlimited sub-organizations</a:t>
            </a:r>
          </a:p>
          <a:p>
            <a:r>
              <a:rPr lang="en-US" sz="1800" dirty="0" smtClean="0"/>
              <a:t>8.	Role-based access control management</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Cobalt Iron</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Osaka (jp-osa) Tokyo (jp-tok) Frankfurt (eu-de) Madrid (eu-es) London (eu-gb)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https://cloud.ibm.com/catalog/services/compass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229</a:t>
            </a:r>
            <a:endParaRPr lang="en-US"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Security and Compliance Center Workload Protection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Cloud-Native Application Protection Platform solution to manage your security and compliance posture, allowing you to monitor misconfigurations and detect and respond to vulnerabilities and threats in real-time.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Security and Compliance Center Workload Protection helps you accelerate your Kubernetes and cloud adoption by addressing security and regulatory compliance. Easily identify vulnerabilities, check compliance, block threats and respond faster at every stage of the container and Kubernetes lifecycle.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Sysdig</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https://cloud.ibm.com/catalog/services/sysdig-secure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230</a:t>
            </a:r>
            <a:endParaRPr lang="en-US"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Security Group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Security Group for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Security groups give you a convenient way to apply security rules that establish filtering to each network interface of a virtual server instance, based on its IP address. When you create a security group, you configure it to create the network traffic patterns you want. By default, a security group denies all traffic. As rules are added to a security group, it defines the traffic that the security group permits.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https://cloud.ibm.com/catalog/services/is.security-group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231</a:t>
            </a:r>
            <a:endParaRPr lang="en-US"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Shared Processor Pool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https://cloud.ibm.com/catalog/services/power-iaas.shared-processor-pool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232</a:t>
            </a:r>
            <a:endParaRPr lang="en-US"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Shared Processor Pool Placement Group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Beta</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Mumbai - Airtel (in-mum) Frankfurt (eu-de)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https://cloud.ibm.com/catalog/services/power-iaas.spp-placement-group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233</a:t>
            </a:r>
            <a:endParaRPr lang="en-US"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Single-node Trial for Data Protection and Disaster Recovery</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Test drive IBM Cloud's end-to-end data protection and disaster recovery solution by lifting, shifting, and transforming applications in this 90-day trial.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Test drive IBM Cloud's end-to-end data protection and disaster recovery solution by lifting, shifting, and transforming applications in this 90-day trial.</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https://cloud.ibm.com/catalog/services/vcstrial_dr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234</a:t>
            </a:r>
            <a:endParaRPr lang="en-US"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Single-node Trial for Migration and App Modernization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Test drive IBM Cloud's end-to-end application modernization solution by lifting, shifting, and transforming applications in this 90-day trial.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Test drive IBM Cloud's end-to-end application modernization solution by lifting, shifting, and transforming applications in this 90-day trial.</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https://cloud.ibm.com/catalog/services/vcstrial</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235</a:t>
            </a:r>
            <a:endParaRPr lang="en-US"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Snapshot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https://cloud.ibm.com/catalog/services/power-iaas.snapshot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236</a:t>
            </a:r>
            <a:endParaRPr lang="en-US"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Spark Compass AI News Agent Orchestra</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AI-powered intelligent news platform.</a:t>
            </a:r>
          </a:p>
          <a:p>
            <a:r>
              <a:rPr lang="en-US" sz="2000" dirty="0" smtClean="0">
                <a:solidFill>
                  <a:srgbClr val="808080"/>
                </a:solidFill>
              </a:rPr>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Spark Compass AI News Agent Orchestra is an AI-powered platform that automates news aggregation, analysis, and reporting. It collects data from multiple sources, processes thousands of articles per month using advanced natural language models, and delivers concise, insightful summaries with sentiment and trend analysis.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Total Communicator Solutions,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https://cloud.ibm.com/catalog/services/total-communicator-inc-spark-ai-news-agent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237</a:t>
            </a:r>
            <a:endParaRPr lang="en-US"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Spectrum Protect Plus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Simplify data protection, availability, and access for your VMware environment.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Simplify data protection, availability, and access for your VMware environment.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https://cloud.ibm.com/catalog/services/spplus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238</a:t>
            </a:r>
            <a:endParaRPr lang="en-US"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Speech to Text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Low-latency, streaming transcription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Speech to Text service converts the human voice into the written word. The service uses deep-learning AI to apply knowledge of grammar, language structure, and the composition of audio and voice signals to accurately transcribe human speech. It can be used in applications such as voice-automated chatbots, analytic tools for customer-service call centers, and multi-media transcription, among many others.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https://cloud.ibm.com/catalog/services/speech-to-text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239</a:t>
            </a:r>
            <a:endParaRPr lang="en-US"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SpeedShotX-SAAS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Browser-based AI Visual Activation for sports, brands &amp; venues—engaging fans via voice &amp; text in any language.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SpeedShotX, developed by Fiducia AI, is an AI Visual Engagement platform that personalizes Sports, Media, and Entertainment experiences while strengthening brand engagement. Through web or mobile, fans can capture live or broadcasted moments that are analyzed in real time by IBM watsonx.ai to reveal player stats, match insights, and sponsor activations. The results are presented through a conversational interface that supports both speech and text in any language, making every fan interaction immersive and inclusive. By merging computer vision, generative AI, and contextual understanding, SpeedShotX connects fans, athletes, and brands through intelligent real-time engagement.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Fiducia AI,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https://cloud.ibm.com/catalog/services/fiducia-ai-inc-speedshotx-saas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240</a:t>
            </a:r>
            <a:endParaRPr lang="en-US"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SpeedSize AI CDN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SpeedSize® a patented neuroscience-based AI infrastructure for media optimization &amp; delivry, outperforming other CDNs. Book a demo</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SpeedSize® is the only AI-CDN built for the visual internet, trusted by leading global brands. The internet is entering a new era where AI is creating billions of images, videos, and digital experiences, but the infrastructure was never built for this scale. SpeedSize changes that. Powered by patented PVCI (Psycho-Visual Compression Index) and edge adaptive AI-CDN technology, SpeedSize eliminates the decades-old tradeoff between visual quality and performance, making content up to 99% smaller while keeping the same human visual experience. The result: faster websites, richer shopping experiences, lower CO2 emissions, and higher conversions at global scale. Simple no-code integration, usage-based pricing, and free testing make adoption effortless.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SpeedSize</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https://cloud.ibm.com/catalog/services/speedsize-ai-cdn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241</a:t>
            </a:r>
            <a:endParaRPr lang="en-US"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SSH Key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SSH Key for use with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SSH Key for use with VPC</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https://cloud.ibm.com/catalog/services/is.key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242</a:t>
            </a:r>
            <a:endParaRPr lang="en-US"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SSL Certificates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Secure Socket Layer (SSL) certificates provide a secure, encrypted connection between your site or application and your end user.</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Get peace of mind by securing your website against unauthorized interception of data. Secure Socket Layer (SSL) certificates provide a secure, encrypted connection between your site or application and your end user. Whether a customer is providing their contact information or credit card information into a form, an SSL Certificate lets them know they can trust that their data will end up in your hands alone.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https://cloud.ibm.com/catalog/infrastructure/ssl-certificate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243</a:t>
            </a:r>
            <a:endParaRPr lang="en-US"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Standard Live General Purpose HSM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Managed service with 3 containerized HSMs (cHSM), each in a separate physical HSM deployed across 2 DCs. 99.999% availability.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Utimaco’s General Purpose Hardware Security Module as a Service (GP HSM aaS) provides access to secure, FIPS 140-3 Level 3 certified HSMs that are fully hosted in resilient data centers while remaining under your governance. </a:t>
            </a:r>
          </a:p>
          <a:p>
            <a:r>
              <a:rPr lang="en-US" sz="1800" dirty="0" smtClean="0"/>
              <a:t/>
            </a:r>
          </a:p>
          <a:p>
            <a:r>
              <a:rPr lang="en-US" sz="1800" dirty="0" smtClean="0"/>
              <a:t>The service includes client-side admin tools which give you full control for your containerised HSMs (cHSMs), and client-side libraries to allow seamless integration with numerous other products and services via standard cryptographic interfaces.</a:t>
            </a:r>
          </a:p>
          <a:p>
            <a:r>
              <a:rPr lang="en-US" sz="1800" dirty="0" smtClean="0"/>
              <a:t/>
            </a:r>
          </a:p>
          <a:p>
            <a:r>
              <a:rPr lang="en-US" sz="1800" dirty="0" smtClean="0"/>
              <a:t>The Service is ISO27001 and PCI DSS certified and operated under dual control in the same way as our PCI PIN and PCI P2PE certified payment HSM service.</a:t>
            </a:r>
          </a:p>
          <a:p>
            <a:r>
              <a:rPr lang="en-US" sz="1800" dirty="0" smtClean="0"/>
              <a:t> </a:t>
            </a:r>
          </a:p>
          <a:p>
            <a:r>
              <a:rPr lang="en-US" sz="1800" dirty="0" smtClean="0"/>
              <a:t>This catalog tile covers subscription to the Standard Live service. In this service the customer has access to three dedicated cHSMs each in a different physical HSM in two geographically separate DCs.</a:t>
            </a:r>
          </a:p>
          <a:p>
            <a:r>
              <a:rPr lang="en-US" sz="1800" dirty="0" smtClean="0"/>
              <a:t> </a:t>
            </a:r>
          </a:p>
          <a:p>
            <a:r>
              <a:rPr lang="en-US" sz="1800" dirty="0" smtClean="0"/>
              <a:t>For Full details please follow the Doc link and sign up to the Service Portal.</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Utimaco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https://cloud.ibm.com/catalog/services/utimaco-standard-live-general-purpose-hsm-service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244</a:t>
            </a:r>
            <a:endParaRPr lang="en-US"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Standard Live Payment HSM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fully managed service using a group of 3 x HSMs deployed in two separate datacenters with 99.999% availability &amp; low latency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Utimaco’s Payment HSM as a Service provides access to a fully managed PCI-certified Payment HSM service through IBM Cloud, with the highest availability in the industry at 99.999%, and the lowest latency.</a:t>
            </a:r>
          </a:p>
          <a:p>
            <a:r>
              <a:rPr lang="en-US" sz="1800" dirty="0" smtClean="0"/>
              <a:t/>
            </a:r>
          </a:p>
          <a:p>
            <a:r>
              <a:rPr lang="en-US" sz="1800" dirty="0" smtClean="0"/>
              <a:t>The Payment HSM as a Service is a true alternative to operating your own Payment HSMs and removes the investments tied to hardware, secure facilities, and management resources while reducing the burden of PCI compliance, audit, and support.</a:t>
            </a:r>
          </a:p>
          <a:p>
            <a:r>
              <a:rPr lang="en-US" sz="1800" dirty="0" smtClean="0"/>
              <a:t/>
            </a:r>
          </a:p>
          <a:p>
            <a:r>
              <a:rPr lang="en-US" sz="1800" dirty="0" smtClean="0"/>
              <a:t>Besides reducing total cost of ownership, it provides flexible deployment and scalability and enables most robust security for organizations’ digital infrastructure.</a:t>
            </a:r>
          </a:p>
          <a:p>
            <a:r>
              <a:rPr lang="en-US" sz="1800" dirty="0" smtClean="0"/>
              <a:t/>
            </a:r>
          </a:p>
          <a:p>
            <a:r>
              <a:rPr lang="en-US" sz="1800" dirty="0" smtClean="0"/>
              <a:t>This Catalog tile covers subscription to the Live service. For connection to the service, instances of the PHI load balancer should be deployed within your IBM infrastructure, using the PHI Deployable Architecture tile.</a:t>
            </a:r>
          </a:p>
          <a:p>
            <a:r>
              <a:rPr lang="en-US" sz="1800" dirty="0" smtClean="0"/>
              <a:t/>
            </a:r>
          </a:p>
          <a:p>
            <a:r>
              <a:rPr lang="en-US" sz="1800" dirty="0" smtClean="0"/>
              <a:t>For full details please follow the Docs link and sign up to the Service Portal.</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Utimaco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https://cloud.ibm.com/catalog/services/standard-live-payment-hsm-service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245</a:t>
            </a:r>
            <a:endParaRPr lang="en-US"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Standard Test General Purpose HSM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Managed service using test keys for a group of 2 x HSMs with the same settings &amp; firmware as the Standard Live service.</a:t>
            </a:r>
          </a:p>
          <a:p>
            <a:r>
              <a:rPr lang="en-US" sz="2000" dirty="0" smtClean="0">
                <a:solidFill>
                  <a:srgbClr val="808080"/>
                </a:solidFill>
              </a:rPr>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Utimaco’s General Purpose Hardware Security Module as a Service (GP HSM aaS) provides access to secure, FIPS 140-3 Level 3 certified HSMs that are fully hosted in resilient data centers while remaining under your governance.</a:t>
            </a:r>
          </a:p>
          <a:p>
            <a:r>
              <a:rPr lang="en-US" sz="1800" dirty="0" smtClean="0"/>
              <a:t/>
            </a:r>
          </a:p>
          <a:p>
            <a:r>
              <a:rPr lang="en-US" sz="1800" dirty="0" smtClean="0"/>
              <a:t>The service includes client-side admin tools which give you full control for your containerised HSMs (cHSMs), and client-side libraries to allow seamless integration with numerous other products and services via standard cryptographic interfaces.</a:t>
            </a:r>
          </a:p>
          <a:p>
            <a:r>
              <a:rPr lang="en-US" sz="1800" dirty="0" smtClean="0"/>
              <a:t/>
            </a:r>
          </a:p>
          <a:p>
            <a:r>
              <a:rPr lang="en-US" sz="1800" dirty="0" smtClean="0"/>
              <a:t>The Service is ISO27001 and PCI DSS certified and operated under dual control in the same way as our PCI PIN and PCI P2PE certified payment HSM service.</a:t>
            </a:r>
          </a:p>
          <a:p>
            <a:r>
              <a:rPr lang="en-US" sz="1800" dirty="0" smtClean="0"/>
              <a:t/>
            </a:r>
          </a:p>
          <a:p>
            <a:r>
              <a:rPr lang="en-US" sz="1800" dirty="0" smtClean="0"/>
              <a:t>This catalog tile covers subscription to the Standard Test Service. This is similar to the Standard Live Service except that test keys are used to make setup and development easier.</a:t>
            </a:r>
          </a:p>
          <a:p>
            <a:r>
              <a:rPr lang="en-US" sz="1800" dirty="0" smtClean="0"/>
              <a:t/>
            </a:r>
          </a:p>
          <a:p>
            <a:r>
              <a:rPr lang="en-US" sz="1800" dirty="0" smtClean="0"/>
              <a:t>For Full details please follow the Doc link and sign up to the Service Portal.</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Utimaco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https://cloud.ibm.com/catalog/services/standard-test-general-purpose-hsm-service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246</a:t>
            </a:r>
            <a:endParaRPr lang="en-US"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Standard Test Payment HSM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 fully managed service using test keys for a group of 2 x HSMs with the same settings &amp; firmware as the Standard Live service.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Utimaco’s Standard Test Payment HSM Service provides access to a fully managed PCI-certified Payment HSM service through IBM Cloud, with  high availability and the low latency.</a:t>
            </a:r>
          </a:p>
          <a:p>
            <a:r>
              <a:rPr lang="en-US" sz="1800" dirty="0" smtClean="0"/>
              <a:t/>
            </a:r>
          </a:p>
          <a:p>
            <a:r>
              <a:rPr lang="en-US" sz="1800" dirty="0" smtClean="0"/>
              <a:t>The Payment HSM as a Service is a true alternative to operating your own Payment HSMs and removes the investments tied to hardware, secure facilities, and management resources while reducing the burden of PCI compliance, audit, and support.</a:t>
            </a:r>
          </a:p>
          <a:p>
            <a:r>
              <a:rPr lang="en-US" sz="1800" dirty="0" smtClean="0"/>
              <a:t/>
            </a:r>
          </a:p>
          <a:p>
            <a:r>
              <a:rPr lang="en-US" sz="1800" dirty="0" smtClean="0"/>
              <a:t>Besides reducing total cost of ownership, it provides flexible deployment and scalability and enables most robust security for organizations’ digital infrastructure.</a:t>
            </a:r>
          </a:p>
          <a:p>
            <a:r>
              <a:rPr lang="en-US" sz="1800" dirty="0" smtClean="0"/>
              <a:t/>
            </a:r>
          </a:p>
          <a:p>
            <a:r>
              <a:rPr lang="en-US" sz="1800" dirty="0" smtClean="0"/>
              <a:t>This Catalog tile covers subscription to the Test service. For connection to the service, instances of the PHI load balancer should be deployed within your IBM infrastructure, using the PHI Deployable Architecture tile.</a:t>
            </a:r>
          </a:p>
          <a:p>
            <a:r>
              <a:rPr lang="en-US" sz="1800" dirty="0" smtClean="0"/>
              <a:t/>
            </a:r>
          </a:p>
          <a:p>
            <a:r>
              <a:rPr lang="en-US" sz="1800" dirty="0" smtClean="0"/>
              <a:t>For full details please follow the Docs link and sign up to the Service Portal.</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Utimaco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https://cloud.ibm.com/catalog/services/standard-test-payment-hsm-service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247</a:t>
            </a:r>
            <a:endParaRPr lang="en-US"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Storage Ceph as a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Experience cloud-like enterprise storage on-premises with the convenience of a pay-as-you-go model.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Experience cloud-like enterprise storage on-premises with the convenience of a pay-as-you-go model.</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https://cloud.ibm.com/catalog/services/software-defined-storage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248</a:t>
            </a:r>
            <a:endParaRPr lang="en-US"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Straker AI Dubbing </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Create multilingual, lip-synced video directly from IBM watsonx Orchestrate while preserving speaker’s voice, emotion, and intent.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Designed for training, marketing, product education, customer communications, and internal content, arbitr AI Dubbing helps teams produce localized video without leaving their existing agent workflow. It preserves the speaker’s voice, emotion, and intent and supports 30 documented target languages across core, additional, and lip-sync coverage. Conversations with the agent are in English, while the dubbing language is selected independently for each job.</a:t>
            </a:r>
          </a:p>
          <a:p>
            <a:r>
              <a:rPr lang="en-US" sz="1800" dirty="0" smtClean="0"/>
              <a:t/>
            </a:r>
          </a:p>
          <a:p>
            <a:r>
              <a:rPr lang="en-US" sz="1800" dirty="0" smtClean="0"/>
              <a:t>arbitr AI Dubbing is delivered as an external collaborator. A watsonx Orchestrate administrator adds it to a native agent before end users can invoke it.</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Straker Japan K.K.</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https://cloud.ibm.com/catalog/services/straker-japan-kk-straker-ai-dubbing</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249</a:t>
            </a:r>
            <a:endParaRPr lang="en-US"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Streaming Analytics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Leverage IBM Streams to ingest, analyze, monitor, and correlate data as it arrives from real-time data sources. View information and events as they unfold.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Leverage IBM Streams to ingest, analyze, monitor, and correlate data as it arrives from real-time data sources. View information and events as they unfold.</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 Streams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Analytics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Frankfurt (eu-de) London (eu-gb)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https://cloud.ibm.com/catalog/services/streaming-analytics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250</a:t>
            </a:r>
            <a:endParaRPr lang="en-US"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Structured Clinical Documentation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agent converting free-text clinical notes into structured, clinic-defined forms to improve documentation, coding, and workflows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Structured Clinical Documentation Agent is an AI-powered solution that converts free-text clinical notes into structured, standardized documentation aligned with clinic-specific templates and specialty requirements.</a:t>
            </a:r>
          </a:p>
          <a:p>
            <a:r>
              <a:rPr lang="en-US" sz="1800" dirty="0" smtClean="0"/>
              <a:t>In many healthcare settings, clinicians document freely, while systems require structured formats such as SOAP notes or specialty-specific forms. This gap creates inefficiencies, inconsistent records, and challenges in coding and workflow execution.</a:t>
            </a:r>
          </a:p>
          <a:p>
            <a:r>
              <a:rPr lang="en-US" sz="1800" dirty="0" smtClean="0"/>
              <a:t>This agent bridges that gap by transforming unstructured clinical notes—including physician input or AI scribe output—into predefined, structured formats configured by each clinic or specialty. Organizations can define their own documentation templates, forms, and requirements, and the agent ensures that all notes are structured accordingly.</a:t>
            </a:r>
          </a:p>
          <a:p>
            <a:r>
              <a:rPr lang="en-US" sz="1800" dirty="0" smtClean="0"/>
              <a:t>By aligning documentation with clinic-specific workflows, the agent improves consistency, completeness, and usability of clinical data across care teams. It also enhances downstream processes such as coding, billing, reporting, and clinical decision support.</a:t>
            </a:r>
          </a:p>
          <a:p>
            <a:r>
              <a:rPr lang="en-US" sz="1800" dirty="0" smtClean="0"/>
              <a:t>This agent is part of the ViClinic agentic healthcare orchestration platform (AHOS), where multiple AI agents work together across clinical workflows—from intake to follow-up—under clinician supervision. By sharing structured data and context, these agents enable end-to-end workflow automation, improved decision-making, and measurable operational and clinical outcomes</a:t>
            </a:r>
          </a:p>
          <a:p>
            <a:r>
              <a:rPr lang="en-US" sz="1800" dirty="0" smtClean="0"/>
              <a:t>placeholder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Viclinic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https://cloud.ibm.com/catalog/services/viclinic-inc-structured-clinical-documentation-agent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251</a:t>
            </a:r>
            <a:endParaRPr lang="en-US"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Subnet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Subnet for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Subnets are created from VPC address prefixes and are bound to a single zone in one region; customers can have multiple subnets per address prefix. </a:t>
            </a:r>
          </a:p>
          <a:p>
            <a:r>
              <a:rPr lang="en-US" sz="1800" dirty="0" smtClean="0"/>
              <a:t/>
            </a:r>
          </a:p>
          <a:p>
            <a:r>
              <a:rPr lang="en-US" sz="1800" dirty="0" smtClean="0"/>
              <a:t>Each subnet in a VPC can reach other subnets through private layer 3 routing through the implicit router. The implicit router is the inherent network connectivity between all the subnets that are created within a VPC. A VPC, like a subnet, is also deployed and bound to only one region. Within that region, a VPC can span multiple zones, however, subnets are bound to a single zone and do not span multiple zones.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https://cloud.ibm.com/catalog/services/is.subnet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252</a:t>
            </a:r>
            <a:endParaRPr lang="en-US"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Succinctly Enterprise Intelligence and Help Desk Automation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Succinctly's uses AI to instantly respond to employee requests, find information across the enterprise, and route complex issues.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Succinctly — AI Help Desk Automation, Enterprise Search, and Business Intelligence in One Assistant</a:t>
            </a:r>
          </a:p>
          <a:p>
            <a:r>
              <a:rPr lang="en-US" sz="1800" dirty="0" smtClean="0"/>
              <a:t/>
            </a:r>
          </a:p>
          <a:p>
            <a:r>
              <a:rPr lang="en-US" sz="1800" dirty="0" smtClean="0"/>
              <a:t>Succinctly is your company's AI-powered work assistant. Employees ask questions in plain English — through chat or email — and get instant, accurate answers drawn from your own company data. No tickets, no waiting, no digging through file shares.</a:t>
            </a:r>
          </a:p>
          <a:p>
            <a:r>
              <a:rPr lang="en-US" sz="1800" dirty="0" smtClean="0"/>
              <a:t/>
            </a:r>
          </a:p>
          <a:p>
            <a:r>
              <a:rPr lang="en-US" sz="1800" dirty="0" smtClean="0"/>
              <a:t>Succinctly resolves up to 95% of help desk requests automatically. It answers common IT and HR questions, handles routine tasks like password resets and PTO logging, and intelligently routes complex issues to the right team. Response times drop 10x while your support staff focuses on work that actually needs a human.</a:t>
            </a:r>
          </a:p>
          <a:p>
            <a:r>
              <a:rPr lang="en-US" sz="1800" dirty="0" smtClean="0"/>
              <a:t/>
            </a:r>
          </a:p>
          <a:p>
            <a:r>
              <a:rPr lang="en-US" sz="1800" dirty="0" smtClean="0"/>
              <a:t>Beyond the help desk, Succinctly acts as an enterprise search engine and virtual analyst. Ask business intelligence questions in natural language and get answers in seconds — as text or charts — pulled from your databases, documents, file shares, and any system with an API. It can even review and compare contracts.</a:t>
            </a:r>
          </a:p>
          <a:p>
            <a:r>
              <a:rPr lang="en-US" sz="1800" dirty="0" smtClean="0"/>
              <a:t/>
            </a:r>
          </a:p>
          <a:p>
            <a:r>
              <a:rPr lang="en-US" sz="1800" dirty="0" smtClean="0"/>
              <a:t>Built for the enterprise: Succinctly runs in the cloud, on-premises, or hosted, integrates with your SSO and permission schemes, and connects to platforms like Zendesk, Zoho, ServiceNow, and Salesforce. Access it via chat, API, or MCP. With no license fees for up to 1,000 users, it delivers value SaaS-only tools can't match.</a:t>
            </a:r>
          </a:p>
          <a:p>
            <a:r>
              <a:rPr lang="en-US" sz="1800" dirty="0" smtClean="0"/>
              <a:t/>
            </a:r>
          </a:p>
          <a:p>
            <a:r>
              <a:rPr lang="en-US" sz="1800" dirty="0" smtClean="0"/>
              <a:t>Stop drowning in tickets. Start getting answers — succinctly.</a:t>
            </a:r>
          </a:p>
          <a:p>
            <a:r>
              <a:rPr lang="en-US" sz="1800" dirty="0" smtClean="0"/>
              <a:t/>
            </a:r>
          </a:p>
          <a:p>
            <a:r>
              <a:rPr lang="en-US" sz="1800" dirty="0" smtClean="0"/>
              <a:t>Keywords: AI help desk automation, IT ticket deflection, enterprise search, AI chatbot for employees, business intelligence assistant, natural language BI, internal support automation, knowledge management, ITSM integration, on-premises AI.</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Austin Artificial Intelligence</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https://cloud.ibm.com/catalog/services/austin-artificial-intelligence-succinctly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253</a:t>
            </a:r>
            <a:endParaRPr lang="en-US"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symplistic.ContentIQ</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Turn websites, document repositories, helpdesks and workspaces into an intelligent conversational AI Agent using advanced, AI powered RAG in minutes.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ContentIQ transforms your existing content, web pages, documents, helpdesks, and internal knowledge bases, into a powerful AI assistant that delivers accurate, conversational answers in real time. Powered by Retrieval-Augmented Generation (RAG), ContentIQ connects to platforms like SharePoint, Google Drive, Box, Notion, etc, to ingest, process, and intelligently search your information so your team or customers can simply ask a question and get instant, source-cited results.</a:t>
            </a:r>
          </a:p>
          <a:p>
            <a:r>
              <a:rPr lang="en-US" sz="1800" dirty="0" smtClean="0"/>
              <a:t/>
            </a:r>
          </a:p>
          <a:p>
            <a:r>
              <a:rPr lang="en-US" sz="1800" dirty="0" smtClean="0"/>
              <a:t>Setup takes just minutes with no heavy development required. Built for enterprise needs, ContentIQ includes full access control, real-time sync, usage analytics, and seamless integration into your workflows. It helps reduce search time, automate internal support, and unlock the full value of your knowledge, all through secure, explainable AI.</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symplistic.ai</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https://cloud.ibm.com/catalog/services/symplistic-contentiq</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254</a:t>
            </a:r>
            <a:endParaRPr lang="en-US"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symplistic.TestIQ</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TestIQ helps teams ship trustworthy Agents by benchmarking decision quality, task success, latency, accuracy and performance.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TestIQ helps organizations ship trustworthy AI agents by auto-generating realistic scenarios and full test suites that mirror real user conversations and tasks. It runs end-to-end agent evaluations including tool use, permission checks, and safety. Also it benchmarks decision quality, task success, accuracy, latency, and performance. Results come with replayable traces, failure clustering, and clear pass/fail gates. TestIQ plugs into CI/CD to enforce evaluation thresholds and block regressions as your agents evolve.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symplistic.ai</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https://cloud.ibm.com/catalog/services/symplistic-testiq</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255</a:t>
            </a:r>
            <a:endParaRPr lang="en-US"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SysTrack AI</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Resolve IT support incidents 2X faster and deflect tickets with AI-driven troubleshooting and automated fixes.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From the data leader in digital employee experience (DEX) tools, SysTrack AI helps IT organizations deflect tickets, resolve incidents 2X faster, and improve service desk efficiency. With real-time insight into device issues and AI-driven diagnostics, SysTrack AI pinpoints the root cause of problems and provides step-by-step guidance for fast, accurate resolutions. It’s your “easy button” for effective L1 support.</a:t>
            </a:r>
          </a:p>
          <a:p>
            <a:r>
              <a:rPr lang="en-US" sz="1800" dirty="0" smtClean="0"/>
              <a:t/>
            </a:r>
          </a:p>
          <a:p>
            <a:r>
              <a:rPr lang="en-US" sz="1800" dirty="0" smtClean="0"/>
              <a:t> </a:t>
            </a:r>
          </a:p>
          <a:p>
            <a:r>
              <a:rPr lang="en-US" sz="1800" dirty="0" smtClean="0"/>
              <a:t/>
            </a:r>
          </a:p>
          <a:p>
            <a:r>
              <a:rPr lang="en-US" sz="1800" dirty="0" smtClean="0"/>
              <a:t>IT service desk leaders use SysTrack AI to:</a:t>
            </a:r>
          </a:p>
          <a:p>
            <a:r>
              <a:rPr lang="en-US" sz="1800" dirty="0" smtClean="0"/>
              <a:t/>
            </a:r>
          </a:p>
          <a:p>
            <a:r>
              <a:rPr lang="en-US" sz="1800" dirty="0" smtClean="0"/>
              <a:t>Cut mean-time-to-resolution (MTTR) by 50%</a:t>
            </a:r>
          </a:p>
          <a:p>
            <a:r>
              <a:rPr lang="en-US" sz="1800" dirty="0" smtClean="0"/>
              <a:t>Shift left and resolve more issues at lower support tiers</a:t>
            </a:r>
          </a:p>
          <a:p>
            <a:r>
              <a:rPr lang="en-US" sz="1800" dirty="0" smtClean="0"/>
              <a:t>Deflect tickets with user-friendly self-service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Lakeside Software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https://cloud.ibm.com/catalog/services/lakeside-software-llc-systrack-ai</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256</a:t>
            </a:r>
            <a:endParaRPr lang="en-US"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TapestryX</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Enterprise software licensing for TapestryX - Networked Accounting Ledger (NAL)™ technology deployed across B2B networks and multi</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L4S Corp. provides commercial software licensing for Networked Accounting Ledger (NAL)™ technology and the TapestryX platform. Our software licensing services grant enterprises and institutional consortia the right to deploy, operate, and integrate a real-time, high-capacity, secure, and scalable decentralized double-entry transaction synchronization and accounting protocol.</a:t>
            </a:r>
          </a:p>
          <a:p>
            <a:r>
              <a:rPr lang="en-US" sz="1800" dirty="0" smtClean="0"/>
              <a:t/>
            </a:r>
          </a:p>
          <a:p>
            <a:r>
              <a:rPr lang="en-US" sz="1800" dirty="0" smtClean="0"/>
              <a:t>• Software Licensing Scope: Commercial node licensing and enterprise deployment rights for Networked Accounting Ledger (NAL)™ software across single-tenant or multi-tenant environments.</a:t>
            </a:r>
          </a:p>
          <a:p>
            <a:r>
              <a:rPr lang="en-US" sz="1800" dirty="0" smtClean="0"/>
              <a:t/>
            </a:r>
          </a:p>
          <a:p>
            <a:r>
              <a:rPr lang="en-US" sz="1800" dirty="0" smtClean="0"/>
              <a:t>• Decentralized Ledger Node Control: Each licensed node (representing an institutional participant) controls its segment of the interlinked platform ledger.</a:t>
            </a:r>
          </a:p>
          <a:p>
            <a:r>
              <a:rPr lang="en-US" sz="1800" dirty="0" smtClean="0"/>
              <a:t/>
            </a:r>
          </a:p>
          <a:p>
            <a:r>
              <a:rPr lang="en-US" sz="1800" dirty="0" smtClean="0"/>
              <a:t>• Self-Synchronizing Protocol: Event-driven, real-time synchronization derived entirely from transaction data without consensus voting, mining, or third-party validator overhead (U.S. Pat. No. 11,631,063 B2).</a:t>
            </a:r>
          </a:p>
          <a:p>
            <a:r>
              <a:rPr lang="en-US" sz="1800" dirty="0" smtClean="0"/>
              <a:t/>
            </a:r>
          </a:p>
          <a:p>
            <a:r>
              <a:rPr lang="en-US" sz="1800" dirty="0" smtClean="0"/>
              <a:t>• Immutable Double-Entry Records: Nodes record both asset transfers and future-dated obligations directly into immutable ledgers.</a:t>
            </a:r>
          </a:p>
          <a:p>
            <a:r>
              <a:rPr lang="en-US" sz="1800" dirty="0" smtClean="0"/>
              <a:t/>
            </a:r>
          </a:p>
          <a:p>
            <a:r>
              <a:rPr lang="en-US" sz="1800" dirty="0" smtClean="0"/>
              <a:t>• Accounting Periods &amp; Active Optimization: Native transacting periods support automated period archiving and active memory optimization.</a:t>
            </a:r>
          </a:p>
          <a:p>
            <a:r>
              <a:rPr lang="en-US" sz="1800" dirty="0" smtClean="0"/>
              <a:t/>
            </a:r>
          </a:p>
          <a:p>
            <a:r>
              <a:rPr lang="en-US" sz="1800" dirty="0" smtClean="0"/>
              <a:t>• Deterministic Scripting: Asset-agnostic and transaction-lifecycle-agnostic building blocks.</a:t>
            </a:r>
          </a:p>
          <a:p>
            <a:r>
              <a:rPr lang="en-US" sz="1800" dirty="0" smtClean="0"/>
              <a:t/>
            </a:r>
          </a:p>
          <a:p>
            <a:r>
              <a:rPr lang="en-US" sz="1800" dirty="0" smtClean="0"/>
              <a:t>• Legacy ERP &amp; Core Banking Interoperability: Secure data integration via built-in Airlock bridge technology.</a:t>
            </a:r>
          </a:p>
          <a:p>
            <a:r>
              <a:rPr lang="en-US" sz="1800" dirty="0" smtClean="0"/>
              <a:t/>
            </a:r>
          </a:p>
          <a:p>
            <a:r>
              <a:rPr lang="en-US" sz="1800" dirty="0" smtClean="0"/>
              <a:t>• Enterprise Reporting &amp; Compliance: Configurable for GAAP and IFRS financial accounting and reporting standards.</a:t>
            </a:r>
          </a:p>
          <a:p>
            <a:r>
              <a:rPr lang="en-US" sz="1800" dirty="0" smtClean="0"/>
              <a:t/>
            </a:r>
          </a:p>
          <a:p>
            <a:r>
              <a:rPr lang="en-US" sz="1800" dirty="0" smtClean="0"/>
              <a:t>• Resilient, High-Throughput Architecture: High performance (~100,000 TPS) with decentralized initiation, validation, and fault-tolerant zero-single-point-of-failure design.</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L4S Corp.</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Blockchain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https://cloud.ibm.com/catalog/services/l4s-corp-tapestryx</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257</a:t>
            </a:r>
            <a:endParaRPr lang="en-US"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Tavily Research Agent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Tavily is a search engine for AI agents, tailored for RAG, delivering realtime, reliable info from trusted sources.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Web Infrastructure for AI Agents A purpose-built web API for real-time search, scraping, crawling, and structured data retrieval. AI-native enterprises trust Tavily for data enrichment, research, RAG pipelines, and autonomous AI systems-ensuring fresh, accurate, and scalable intelligence.</a:t>
            </a:r>
          </a:p>
          <a:p>
            <a:r>
              <a:rPr lang="en-US" sz="1800" dirty="0" smtClean="0"/>
              <a:t/>
            </a:r>
          </a:p>
          <a:p>
            <a:r>
              <a:rPr lang="en-US" sz="1800" dirty="0" smtClean="0"/>
              <a:t/>
            </a:r>
          </a:p>
          <a:p>
            <a:r>
              <a:rPr lang="en-US" sz="1800" dirty="0" smtClean="0"/>
              <a:t>Why Tavily?</a:t>
            </a:r>
          </a:p>
          <a:p>
            <a:r>
              <a:rPr lang="en-US" sz="1800" dirty="0" smtClean="0"/>
              <a:t/>
            </a:r>
          </a:p>
          <a:p>
            <a:r>
              <a:rPr lang="en-US" sz="1800" dirty="0" smtClean="0"/>
              <a:t>Built for AI Agents : Unlike traditional web APIs, Tavily delivers structured, customizable data retrieval with full control over search depth, domain targeting, and content extraction via a single API call.</a:t>
            </a:r>
          </a:p>
          <a:p>
            <a:r>
              <a:rPr lang="en-US" sz="1800" dirty="0" smtClean="0"/>
              <a:t/>
            </a:r>
          </a:p>
          <a:p>
            <a:r>
              <a:rPr lang="en-US" sz="1800" dirty="0" smtClean="0"/>
              <a:t>Enterprise-Grade Security : SOC 2 certified with zero data retention and an AI security layer to prevent prompt injection and data leakage.</a:t>
            </a:r>
          </a:p>
          <a:p>
            <a:r>
              <a:rPr lang="en-US" sz="1800" dirty="0" smtClean="0"/>
              <a:t/>
            </a:r>
          </a:p>
          <a:p>
            <a:r>
              <a:rPr lang="en-US" sz="1800" dirty="0" smtClean="0"/>
              <a:t>Scalable &amp; Reliable : Custom API throughput, guaranteed uptime, and enterprise SLAs support high-volume AI workloads.</a:t>
            </a:r>
          </a:p>
          <a:p>
            <a:r>
              <a:rPr lang="en-US" sz="1800" dirty="0" smtClean="0"/>
              <a:t/>
            </a:r>
          </a:p>
          <a:p>
            <a:r>
              <a:rPr lang="en-US" sz="1800" dirty="0" smtClean="0"/>
              <a:t>Seamless AI Integration : Deploy with one line of code. Tavily natively supports LangChain, LlamaIndex, and leading AI frameworks with developer-friendly APIs and via the Model Context Protocol (MCP) .</a:t>
            </a:r>
          </a:p>
          <a:p>
            <a:r>
              <a:rPr lang="en-US" sz="1800" dirty="0" smtClean="0"/>
              <a:t/>
            </a:r>
          </a:p>
          <a:p>
            <a:r>
              <a:rPr lang="en-US" sz="1800" dirty="0" smtClean="0"/>
              <a:t>Enterprise-Ready : Designed for scalability, security, and high availability, ensuring fast, reliable data access.</a:t>
            </a:r>
          </a:p>
          <a:p>
            <a:r>
              <a:rPr lang="en-US" sz="1800" dirty="0" smtClean="0"/>
              <a:t/>
            </a:r>
          </a:p>
          <a:p>
            <a:r>
              <a:rPr lang="en-US" sz="1800" dirty="0" smtClean="0"/>
              <a:t>Trusted by 800,000+ developers and AI leaders, Tavily is the go-to solution for real-time, structured web access.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Tavily</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https://cloud.ibm.com/catalog/services/tavily-tavily-web-access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258</a:t>
            </a:r>
            <a:endParaRPr lang="en-US"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TechD Professional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TechD consulting, onboarding, implementation, training, and managed services for IBM Data &amp; AI products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TechD stands at the forefront of data and artificial intelligence solutions, serving as IBM's premier strategic partner for over 14 years. With a proven track record of excellence and innovation, we have established ourselves as the trusted leader in implementing and optimizing IBM's comprehensive suite of technologies. Our deep expertise spans the entire IBM ecosystem, including Watson's AI capabilities, Cognos analytics, Information Server's data integration platform, Master Data Management (MDM) solutions, and the latest CloudPak offerings. By combining our technical prowess with a thorough understanding of business challenges, TechD helps organizations transform their data into actionable insights, enabling them to make smarter decisions and drive digital transformation in an increasingly complex technological landscape.</a:t>
            </a:r>
          </a:p>
          <a:p>
            <a:r>
              <a:rPr lang="en-US" sz="1800" dirty="0" smtClean="0"/>
              <a:t/>
            </a:r>
          </a:p>
          <a:p>
            <a:r>
              <a:rPr lang="en-US" sz="1800" dirty="0" smtClean="0"/>
              <a:t/>
            </a:r>
          </a:p>
          <a:p>
            <a:r>
              <a:rPr lang="en-US" sz="1800" dirty="0" smtClean="0"/>
              <a:t>Once you provision an instance of our professional services, you will then be able to pre-purchase blocks of hours which are valid to be consumed for 1 year after purchase.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Cerebral Blue LLC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https://cloud.ibm.com/catalog/services/techdservices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259</a:t>
            </a:r>
            <a:endParaRPr lang="en-US"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Text to Speech</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Synthesizes natural-sounding speech from text.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Text to Speech service converts written text to natural-sounding speech. The service streams the synthesized audio back with minimal delay. The audio uses appropriate cadence and intonation for its language and dialect to provide voices that are smooth and natural. The service can be used in applications such as voice-automated chatbots, as well as a variety of voice-driven and screenless applications, such as tools for the disabled or visually impaired, video narration and voice over, and educational and home-automation solutions.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https://cloud.ibm.com/catalog/services/text-to-speech</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260</a:t>
            </a:r>
            <a:endParaRPr lang="en-US"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Toolchain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Integrate tools to build, test, and deploy applications by using DevOps best practices.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Use Continuous Delivery to automate builds, unit tests, deployments, and more. Push code using Git Repos and Issue Tracking. Identify vulnerabilities in source code. Create toolchains to enable tool integrations that support your development, deployment, and operation tasks.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Tokyo (jp-tok) Frankfurt (eu-de) London (eu-gb) Dallas (us-south)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https://cloud.ibm.com/catalog/services/toolchain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261</a:t>
            </a:r>
            <a:endParaRPr lang="en-US"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TradeScreen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Trademo TradeScreen is an AI-based real-time trade transaction validation tool powered by  Knowledge graph of over 10 billion+data</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Trademo TradeScreen is an advanced AI-powered platform that revolutionizes how key stakeholders in global trade, i.e., Trade Finance, Insurance, Logistics, Ports, and Customs authorities, manage trade transaction processing, operations, compliance, and risk. </a:t>
            </a:r>
          </a:p>
          <a:p>
            <a:r>
              <a:rPr lang="en-US" sz="1800" dirty="0" smtClean="0"/>
              <a:t/>
            </a:r>
          </a:p>
          <a:p>
            <a:r>
              <a:rPr lang="en-US" sz="1800" dirty="0" smtClean="0"/>
              <a:t>By leveraging Trademo's proprietary fine-tuned vision models and global supply chain knowledge graph (TrademoKG) powered by open-source intelligence from thousands of authoritative data sources and billions of data points, TradeScreen provides real-time trade digitization, compliance automation, and risk management capabilities.</a:t>
            </a:r>
          </a:p>
          <a:p>
            <a:r>
              <a:rPr lang="en-US" sz="1800" dirty="0" smtClean="0"/>
              <a:t/>
            </a:r>
          </a:p>
          <a:p>
            <a:r>
              <a:rPr lang="en-US" sz="1800" dirty="0" smtClean="0"/>
              <a:t>Key Features</a:t>
            </a:r>
          </a:p>
          <a:p>
            <a:r>
              <a:rPr lang="en-US" sz="1800" dirty="0" smtClean="0"/>
              <a:t/>
            </a:r>
          </a:p>
          <a:p>
            <a:r>
              <a:rPr lang="en-US" sz="1800" dirty="0" smtClean="0"/>
              <a:t>Document Digitization &amp; Classification</a:t>
            </a:r>
          </a:p>
          <a:p>
            <a:r>
              <a:rPr lang="en-US" sz="1800" dirty="0" smtClean="0"/>
              <a:t/>
            </a:r>
          </a:p>
          <a:p>
            <a:r>
              <a:rPr lang="en-US" sz="1800" dirty="0" smtClean="0"/>
              <a:t>Our system uses advanced machine learning algorithms to automatically classify trade documents into specific categories, completely eliminating the need for manual sorting. Whether it's a Bill of Lading (BoL), Letter of Credit (LC), Commercial Invoice, Packing List, Certificate of Origin, or any other trade document, our intelligent classification engine instantly recognizes and organizes them into the correct buckets. This not only speeds up processing times but also enhances accuracy and reduces operational overhead.</a:t>
            </a:r>
          </a:p>
          <a:p>
            <a:r>
              <a:rPr lang="en-US" sz="1800" dirty="0" smtClean="0"/>
              <a:t/>
            </a:r>
          </a:p>
          <a:p>
            <a:r>
              <a:rPr lang="en-US" sz="1800" dirty="0" smtClean="0"/>
              <a:t>Document Extraction</a:t>
            </a:r>
          </a:p>
          <a:p>
            <a:r>
              <a:rPr lang="en-US" sz="1800" dirty="0" smtClean="0"/>
              <a:t/>
            </a:r>
          </a:p>
          <a:p>
            <a:r>
              <a:rPr lang="en-US" sz="1800" dirty="0" smtClean="0"/>
              <a:t>Powered by an advanced vision model combined with Optical Character Recognition (OCR), our system precisely extracts all the key attributes from your trade documents regardless of inconsistent formats and data structures. From shipment details and payment terms to product specifications and consignee information, the platform automates data extraction at scale, removing hours of manual effort and reducing the risk of human error. The result is faster workflows, more accurate data, and a significant boost in operational efficiency.</a:t>
            </a:r>
          </a:p>
          <a:p>
            <a:r>
              <a:rPr lang="en-US" sz="1800" dirty="0" smtClean="0"/>
              <a:t/>
            </a:r>
          </a:p>
          <a:p>
            <a:r>
              <a:rPr lang="en-US" sz="1800" dirty="0" smtClean="0"/>
              <a:t>Maritime</a:t>
            </a:r>
          </a:p>
          <a:p>
            <a:r>
              <a:rPr lang="en-US" sz="1800" dirty="0" smtClean="0"/>
              <a:t/>
            </a:r>
          </a:p>
          <a:p>
            <a:r>
              <a:rPr lang="en-US" sz="1800" dirty="0" smtClean="0"/>
              <a:t>Validate master bill of lading data and get details on transhipment ports, vessel location, and previous port calls of the vessel with the right information from shipping lines. Identify and mitigate risk by screening vessels and shipping entities flagged for maritime sanctions violations.</a:t>
            </a:r>
          </a:p>
          <a:p>
            <a:r>
              <a:rPr lang="en-US" sz="1800" dirty="0" smtClean="0"/>
              <a:t/>
            </a:r>
          </a:p>
          <a:p>
            <a:r>
              <a:rPr lang="en-US" sz="1800" dirty="0" smtClean="0"/>
              <a:t>Compliance &amp; Risk Checks</a:t>
            </a:r>
          </a:p>
          <a:p>
            <a:r>
              <a:rPr lang="en-US" sz="1800" dirty="0" smtClean="0"/>
              <a:t/>
            </a:r>
          </a:p>
          <a:p>
            <a:r>
              <a:rPr lang="en-US" sz="1800" dirty="0" smtClean="0"/>
              <a:t>TBML (Trade-Based Money Laundering) Checks</a:t>
            </a:r>
          </a:p>
          <a:p>
            <a:r>
              <a:rPr lang="en-US" sz="1800" dirty="0" smtClean="0"/>
              <a:t/>
            </a:r>
          </a:p>
          <a:p>
            <a:r>
              <a:rPr lang="en-US" sz="1800" dirty="0" smtClean="0"/>
              <a:t>Leverage real-time trade transactional data to identify risk from supply chain networks, such as limited trade partners, new product trade, multiple addresses, and more. Identify patterns in trade data that could indicate fraudulent activity, such as huge shipments, frequent changes in trading partners, unusual payment patterns, or inconsistent documentation.</a:t>
            </a:r>
          </a:p>
          <a:p>
            <a:r>
              <a:rPr lang="en-US" sz="1800" dirty="0" smtClean="0"/>
              <a:t/>
            </a:r>
          </a:p>
          <a:p>
            <a:r>
              <a:rPr lang="en-US" sz="1800" dirty="0" smtClean="0"/>
              <a:t>Goods Screening</a:t>
            </a:r>
          </a:p>
          <a:p>
            <a:r>
              <a:rPr lang="en-US" sz="1800" dirty="0" smtClean="0"/>
              <a:t/>
            </a:r>
          </a:p>
          <a:p>
            <a:r>
              <a:rPr lang="en-US" sz="1800" dirty="0" smtClean="0"/>
              <a:t>Ensure compliant financing by thoroughly screening for dual-use, hazardous, restricted/prohibited goods across different trade lanes. Trademo empowers trade finance institutions by offering real-time insights into country-specific trade restrictions, OGA/PGA regulations, and controls to mitigate risks, accelerate due diligence, and facilitate secure, compliant cross-border transactions.</a:t>
            </a:r>
          </a:p>
          <a:p>
            <a:r>
              <a:rPr lang="en-US" sz="1800" dirty="0" smtClean="0"/>
              <a:t/>
            </a:r>
          </a:p>
          <a:p>
            <a:r>
              <a:rPr lang="en-US" sz="1800" dirty="0" smtClean="0"/>
              <a:t>Sanctions &amp; AML Screening</a:t>
            </a:r>
          </a:p>
          <a:p>
            <a:r>
              <a:rPr lang="en-US" sz="1800" dirty="0" smtClean="0"/>
              <a:t/>
            </a:r>
          </a:p>
          <a:p>
            <a:r>
              <a:rPr lang="en-US" sz="1800" dirty="0" smtClean="0"/>
              <a:t>Conduct enhanced due diligence on parties with links to sanctioned countries, entities, individuals, politically exposed persons, and forced labor entities.</a:t>
            </a:r>
          </a:p>
          <a:p>
            <a:r>
              <a:rPr lang="en-US" sz="1800" dirty="0" smtClean="0"/>
              <a:t/>
            </a:r>
          </a:p>
          <a:p>
            <a:r>
              <a:rPr lang="en-US" sz="1800" dirty="0" smtClean="0"/>
              <a:t>UCP 600 Checks</a:t>
            </a:r>
          </a:p>
          <a:p>
            <a:r>
              <a:rPr lang="en-US" sz="1800" dirty="0" smtClean="0"/>
              <a:t/>
            </a:r>
          </a:p>
          <a:p>
            <a:r>
              <a:rPr lang="en-US" sz="1800" dirty="0" smtClean="0"/>
              <a:t>Ensure trade documents meet the standards outlined under UCP 600 rules for seamless processing.</a:t>
            </a:r>
          </a:p>
          <a:p>
            <a:r>
              <a:rPr lang="en-US" sz="1800" dirty="0" smtClean="0"/>
              <a:t/>
            </a:r>
          </a:p>
          <a:p>
            <a:r>
              <a:rPr lang="en-US" sz="1800" dirty="0" smtClean="0"/>
              <a:t>Entity Resolution</a:t>
            </a:r>
          </a:p>
          <a:p>
            <a:r>
              <a:rPr lang="en-US" sz="1800" dirty="0" smtClean="0"/>
              <a:t/>
            </a:r>
          </a:p>
          <a:p>
            <a:r>
              <a:rPr lang="en-US" sz="1800" dirty="0" smtClean="0"/>
              <a:t>Trademo’s Entity Resolution helps trade finance institutions uncover hidden risks by mapping ownership structures, identifying linked entities, and automatically screening them against global sanctions and watchlists. This end-to-end visibility strengthens due diligence, enhances compliance, and ensures safer financing decisions.</a:t>
            </a:r>
          </a:p>
          <a:p>
            <a:r>
              <a:rPr lang="en-US" sz="1800" dirty="0" smtClean="0"/>
              <a:t/>
            </a:r>
          </a:p>
          <a:p>
            <a:r>
              <a:rPr lang="en-US" sz="1800" dirty="0" smtClean="0"/>
              <a:t>Document Verification as per ICC Rules (UCP, ISBP, URC)</a:t>
            </a:r>
          </a:p>
          <a:p>
            <a:r>
              <a:rPr lang="en-US" sz="1800" dirty="0" smtClean="0"/>
              <a:t/>
            </a:r>
          </a:p>
          <a:p>
            <a:r>
              <a:rPr lang="en-US" sz="1800" dirty="0" smtClean="0"/>
              <a:t>Trademo’s Document Check automates verification against UCP, URDG, URC, and ISBP rules as applicable, helping trade finance institutions quickly validate trade documents for compliance and accuracy. By reducing manual errors and speeding up document review, it ensures smoother letter of credit processing, lowers operational risk, and accelerates transaction approval.</a:t>
            </a:r>
          </a:p>
          <a:p>
            <a:r>
              <a:rPr lang="en-US" sz="1800" dirty="0" smtClean="0"/>
              <a:t/>
            </a:r>
          </a:p>
          <a:p>
            <a:r>
              <a:rPr lang="en-US" sz="1800" dirty="0" smtClean="0"/>
              <a:t>Benefits:</a:t>
            </a:r>
          </a:p>
          <a:p>
            <a:r>
              <a:rPr lang="en-US" sz="1800" dirty="0" smtClean="0"/>
              <a:t/>
            </a:r>
          </a:p>
          <a:p>
            <a:r>
              <a:rPr lang="en-US" sz="1800" dirty="0" smtClean="0"/>
              <a:t>Cost Efficiency Through Automation</a:t>
            </a:r>
          </a:p>
          <a:p>
            <a:r>
              <a:rPr lang="en-US" sz="1800" dirty="0" smtClean="0"/>
              <a:t/>
            </a:r>
          </a:p>
          <a:p>
            <a:r>
              <a:rPr lang="en-US" sz="1800" dirty="0" smtClean="0"/>
              <a:t>By reducing manual tasks by up to 75%, TradeScreen lowers the cost of transaction processing and fraud detection. This reduction leads to decreased overhead for organizations as they streamline their operations.</a:t>
            </a:r>
          </a:p>
          <a:p>
            <a:r>
              <a:rPr lang="en-US" sz="1800" dirty="0" smtClean="0"/>
              <a:t/>
            </a:r>
          </a:p>
          <a:p>
            <a:r>
              <a:rPr lang="en-US" sz="1800" dirty="0" smtClean="0"/>
              <a:t>Fraud Prevention</a:t>
            </a:r>
          </a:p>
          <a:p>
            <a:r>
              <a:rPr lang="en-US" sz="1800" dirty="0" smtClean="0"/>
              <a:t/>
            </a:r>
          </a:p>
          <a:p>
            <a:r>
              <a:rPr lang="en-US" sz="1800" dirty="0" smtClean="0"/>
              <a:t>TradeScreen uses AI models to identify suspicious patterns before transactions are processed, enabling early intervention. This helps mitigate losses and prevent financial fraud, which is projected to cost the industry billions by 2027.</a:t>
            </a:r>
          </a:p>
          <a:p>
            <a:r>
              <a:rPr lang="en-US" sz="1800" dirty="0" smtClean="0"/>
              <a:t/>
            </a:r>
          </a:p>
          <a:p>
            <a:r>
              <a:rPr lang="en-US" sz="1800" dirty="0" smtClean="0"/>
              <a:t>Improved Accuracy &amp; Fewer False Positives</a:t>
            </a:r>
          </a:p>
          <a:p>
            <a:r>
              <a:rPr lang="en-US" sz="1800" dirty="0" smtClean="0"/>
              <a:t/>
            </a:r>
          </a:p>
          <a:p>
            <a:r>
              <a:rPr lang="en-US" sz="1800" dirty="0" smtClean="0"/>
              <a:t>By reducing false positives by up to 40%, TradeScreen ensures compliance teams spend less time investigating non-issues and more time focusing on actual risks, making institutions more efficient and productive.</a:t>
            </a:r>
          </a:p>
          <a:p>
            <a:r>
              <a:rPr lang="en-US" sz="1800" dirty="0" smtClean="0"/>
              <a:t/>
            </a:r>
          </a:p>
          <a:p>
            <a:r>
              <a:rPr lang="en-US" sz="1800" dirty="0" smtClean="0"/>
              <a:t>Enhanced Regulatory Compliance</a:t>
            </a:r>
          </a:p>
          <a:p>
            <a:r>
              <a:rPr lang="en-US" sz="1800" dirty="0" smtClean="0"/>
              <a:t/>
            </a:r>
          </a:p>
          <a:p>
            <a:r>
              <a:rPr lang="en-US" sz="1800" dirty="0" smtClean="0"/>
              <a:t>With integrated tools for sanctions screening, goods checks, and supply chain transparency, TradeScreen helps financial institutions comply with AML, CTF, and sanctions laws, reducing the risk of regulatory penalties.</a:t>
            </a:r>
          </a:p>
          <a:p>
            <a:r>
              <a:rPr lang="en-US" sz="1800" dirty="0" smtClean="0"/>
              <a:t/>
            </a:r>
          </a:p>
          <a:p>
            <a:r>
              <a:rPr lang="en-US" sz="1800" dirty="0" smtClean="0"/>
              <a:t>Increased Visibility Across Ecosystems</a:t>
            </a:r>
          </a:p>
          <a:p>
            <a:r>
              <a:rPr lang="en-US" sz="1800" dirty="0" smtClean="0"/>
              <a:t/>
            </a:r>
          </a:p>
          <a:p>
            <a:r>
              <a:rPr lang="en-US" sz="1800" dirty="0" smtClean="0"/>
              <a:t>TradeScreen merges data from multiple sources to provide a transparent view of the entire trade and financial ecosystem. This visibility helps institutions better understand their clients, suppliers, and third-party risks.</a:t>
            </a:r>
          </a:p>
          <a:p>
            <a:r>
              <a:rPr lang="en-US" sz="1800" dirty="0" smtClean="0"/>
              <a:t/>
            </a:r>
          </a:p>
          <a:p>
            <a:r>
              <a:rPr lang="en-US" sz="1800" dirty="0" smtClean="0"/>
              <a:t>Seamless Integration With Existing Infrastructure</a:t>
            </a:r>
          </a:p>
          <a:p>
            <a:r>
              <a:rPr lang="en-US" sz="1800" dirty="0" smtClean="0"/>
              <a:t/>
            </a:r>
          </a:p>
          <a:p>
            <a:r>
              <a:rPr lang="en-US" sz="1800" dirty="0" smtClean="0"/>
              <a:t>TradeScreen is an open, scalable platform that easily integrates with existing banking infrastructure, enabling institutions to leverage its capabilities without extensive system overhauls.'</a:t>
            </a:r>
          </a:p>
          <a:p>
            <a:r>
              <a:rPr lang="en-US" sz="1800" dirty="0" smtClean="0"/>
              <a:t/>
            </a:r>
          </a:p>
          <a:p>
            <a:r>
              <a:rPr lang="en-US" sz="1800" dirty="0" smtClean="0"/>
              <a:t>Enhanced Decision-Making</a:t>
            </a:r>
          </a:p>
          <a:p>
            <a:r>
              <a:rPr lang="en-US" sz="1800" dirty="0" smtClean="0"/>
              <a:t/>
            </a:r>
          </a:p>
          <a:p>
            <a:r>
              <a:rPr lang="en-US" sz="1800" dirty="0" smtClean="0"/>
              <a:t>The platform delivers actionable insights and transparency into the participants in each transaction, empowering financial institutions to make informed decisions about trade transactions and client relationships.</a:t>
            </a:r>
          </a:p>
          <a:p>
            <a:r>
              <a:rPr lang="en-US" sz="1800" dirty="0" smtClean="0"/>
              <a:t/>
            </a:r>
          </a:p>
          <a:p>
            <a:r>
              <a:rPr lang="en-US" sz="1800" dirty="0" smtClean="0"/>
              <a:t/>
            </a:r>
          </a:p>
          <a:p>
            <a:r>
              <a:rPr lang="en-US" sz="1800" dirty="0" smtClean="0"/>
              <a:t>Capabilities</a:t>
            </a:r>
          </a:p>
          <a:p>
            <a:r>
              <a:rPr lang="en-US" sz="1800" dirty="0" smtClean="0"/>
              <a:t/>
            </a:r>
          </a:p>
          <a:p>
            <a:r>
              <a:rPr lang="en-US" sz="1800" dirty="0" smtClean="0"/>
              <a:t>Global Trade Risk Mitigation</a:t>
            </a:r>
          </a:p>
          <a:p>
            <a:r>
              <a:rPr lang="en-US" sz="1800" dirty="0" smtClean="0"/>
              <a:t/>
            </a:r>
          </a:p>
          <a:p>
            <a:r>
              <a:rPr lang="en-US" sz="1800" dirty="0" smtClean="0"/>
              <a:t>Detects and prevents risks in trade transactions using a comprehensive database of international regulations and risk checks.</a:t>
            </a:r>
          </a:p>
          <a:p>
            <a:r>
              <a:rPr lang="en-US" sz="1800" dirty="0" smtClean="0"/>
              <a:t/>
            </a:r>
          </a:p>
          <a:p>
            <a:r>
              <a:rPr lang="en-US" sz="1800" dirty="0" smtClean="0"/>
              <a:t>500+ Real-Time Compliance Checks</a:t>
            </a:r>
          </a:p>
          <a:p>
            <a:r>
              <a:rPr lang="en-US" sz="1800" dirty="0" smtClean="0"/>
              <a:t/>
            </a:r>
          </a:p>
          <a:p>
            <a:r>
              <a:rPr lang="en-US" sz="1800" dirty="0" smtClean="0"/>
              <a:t>Perform 500+ real-time checks to ensure trade transactions comply with global regulations, reducing risks and non-compliance.</a:t>
            </a:r>
          </a:p>
          <a:p>
            <a:r>
              <a:rPr lang="en-US" sz="1800" dirty="0" smtClean="0"/>
              <a:t/>
            </a:r>
          </a:p>
          <a:p>
            <a:r>
              <a:rPr lang="en-US" sz="1800" dirty="0" smtClean="0"/>
              <a:t>AI-Driven Knowledge Graph</a:t>
            </a:r>
          </a:p>
          <a:p>
            <a:r>
              <a:rPr lang="en-US" sz="1800" dirty="0" smtClean="0"/>
              <a:t/>
            </a:r>
          </a:p>
          <a:p>
            <a:r>
              <a:rPr lang="en-US" sz="1800" dirty="0" smtClean="0"/>
              <a:t>Unlock insights with an AI-powered graph integrating billions of data points on trade, supply chains, risks, and ownership.</a:t>
            </a:r>
          </a:p>
          <a:p>
            <a:r>
              <a:rPr lang="en-US" sz="1800" dirty="0" smtClean="0"/>
              <a:t/>
            </a:r>
          </a:p>
          <a:p>
            <a:r>
              <a:rPr lang="en-US" sz="1800" dirty="0" smtClean="0"/>
              <a:t>End-to-End Transaction Validation</a:t>
            </a:r>
          </a:p>
          <a:p>
            <a:r>
              <a:rPr lang="en-US" sz="1800" dirty="0" smtClean="0"/>
              <a:t/>
            </a:r>
          </a:p>
          <a:p>
            <a:r>
              <a:rPr lang="en-US" sz="1800" dirty="0" smtClean="0"/>
              <a:t>Validate every aspect of trade transactions, ensuring full transparency and compliance from start to finish.</a:t>
            </a:r>
          </a:p>
          <a:p>
            <a:r>
              <a:rPr lang="en-US" sz="1800" dirty="0" smtClean="0"/>
              <a:t/>
            </a:r>
          </a:p>
          <a:p>
            <a:r>
              <a:rPr lang="en-US" sz="1800" dirty="0" smtClean="0"/>
              <a:t>Continuous Risk Updates</a:t>
            </a:r>
          </a:p>
          <a:p>
            <a:r>
              <a:rPr lang="en-US" sz="1800" dirty="0" smtClean="0"/>
              <a:t/>
            </a:r>
          </a:p>
          <a:p>
            <a:r>
              <a:rPr lang="en-US" sz="1800" dirty="0" smtClean="0"/>
              <a:t>Stay compliant with evolving regulations, as TradeScreen continuously updates its risk assessment framework in real time.</a:t>
            </a:r>
          </a:p>
          <a:p>
            <a:r>
              <a:rPr lang="en-US" sz="1800" dirty="0" smtClean="0"/>
              <a:t/>
            </a:r>
          </a:p>
          <a:p>
            <a:r>
              <a:rPr lang="en-US" sz="1800" dirty="0" smtClean="0"/>
              <a:t>User Management Capabilities</a:t>
            </a:r>
          </a:p>
          <a:p>
            <a:r>
              <a:rPr lang="en-US" sz="1800" dirty="0" smtClean="0"/>
              <a:t/>
            </a:r>
          </a:p>
          <a:p>
            <a:r>
              <a:rPr lang="en-US" sz="1800" dirty="0" smtClean="0"/>
              <a:t>Enable role-based access controls to tailor access and permissions across your teams, ensuring data security and governance compliance across workflows.</a:t>
            </a:r>
          </a:p>
          <a:p>
            <a:r>
              <a:rPr lang="en-US" sz="1800" dirty="0" smtClean="0"/>
              <a:t/>
            </a:r>
          </a:p>
          <a:p>
            <a:r>
              <a:rPr lang="en-US" sz="1800" dirty="0" smtClean="0"/>
              <a:t/>
            </a:r>
          </a:p>
          <a:p>
            <a:r>
              <a:rPr lang="en-US" sz="1800" dirty="0" smtClean="0"/>
              <a:t>Workflow Capabilities</a:t>
            </a:r>
          </a:p>
          <a:p>
            <a:r>
              <a:rPr lang="en-US" sz="1800" dirty="0" smtClean="0"/>
              <a:t/>
            </a:r>
          </a:p>
          <a:p>
            <a:r>
              <a:rPr lang="en-US" sz="1800" dirty="0" smtClean="0"/>
              <a:t>Support for maker-checker workflows, allowing teams to create, review, and approve trade transactions collaboratively. These workflows increase accountability and auditability across departments.</a:t>
            </a:r>
          </a:p>
          <a:p>
            <a:r>
              <a:rPr lang="en-US" sz="1800" dirty="0" smtClean="0"/>
              <a:t/>
            </a:r>
          </a:p>
          <a:p>
            <a:r>
              <a:rPr lang="en-US" sz="1800" dirty="0" smtClean="0"/>
              <a:t>Configuration &amp; Integration</a:t>
            </a:r>
          </a:p>
          <a:p>
            <a:r>
              <a:rPr lang="en-US" sz="1800" dirty="0" smtClean="0"/>
              <a:t/>
            </a:r>
          </a:p>
          <a:p>
            <a:r>
              <a:rPr lang="en-US" sz="1800" dirty="0" smtClean="0"/>
              <a:t>Flexible Configuration</a:t>
            </a:r>
          </a:p>
          <a:p>
            <a:r>
              <a:rPr lang="en-US" sz="1800" dirty="0" smtClean="0"/>
              <a:t/>
            </a:r>
          </a:p>
          <a:p>
            <a:r>
              <a:rPr lang="en-US" sz="1800" dirty="0" smtClean="0"/>
              <a:t>Customize workflows, compliance checks, and validation logic based on your internal policies and risk appetite.</a:t>
            </a:r>
          </a:p>
          <a:p>
            <a:r>
              <a:rPr lang="en-US" sz="1800" dirty="0" smtClean="0"/>
              <a:t/>
            </a:r>
          </a:p>
          <a:p>
            <a:r>
              <a:rPr lang="en-US" sz="1800" dirty="0" smtClean="0"/>
              <a:t/>
            </a:r>
          </a:p>
          <a:p>
            <a:r>
              <a:rPr lang="en-US" sz="1800" dirty="0" smtClean="0"/>
              <a:t>Available via API</a:t>
            </a:r>
          </a:p>
          <a:p>
            <a:r>
              <a:rPr lang="en-US" sz="1800" dirty="0" smtClean="0"/>
              <a:t/>
            </a:r>
          </a:p>
          <a:p>
            <a:r>
              <a:rPr lang="en-US" sz="1800" dirty="0" smtClean="0"/>
              <a:t>All core TradeScreen features are available through well-documented APIs, enabling seamless integration into existing banking, logistics, or compliance systems.</a:t>
            </a:r>
          </a:p>
          <a:p>
            <a:r>
              <a:rPr lang="en-US" sz="1800" dirty="0" smtClean="0"/>
              <a:t/>
            </a:r>
          </a:p>
          <a:p>
            <a:r>
              <a:rPr lang="en-US" sz="1800" dirty="0" smtClean="0"/>
              <a:t/>
            </a:r>
          </a:p>
          <a:p>
            <a:r>
              <a:rPr lang="en-US" sz="1800" dirty="0" smtClean="0"/>
              <a:t>Workflow Capabilities</a:t>
            </a:r>
          </a:p>
          <a:p>
            <a:r>
              <a:rPr lang="en-US" sz="1800" dirty="0" smtClean="0"/>
              <a:t/>
            </a:r>
          </a:p>
          <a:p>
            <a:r>
              <a:rPr lang="en-US" sz="1800" dirty="0" smtClean="0"/>
              <a:t>The platform supports maker-checker workflows, allowing multiple teams to collaborate, review, and approve documents efficiently. This enhances accountability and strengthens the overall due diligence process.</a:t>
            </a:r>
          </a:p>
          <a:p>
            <a:r>
              <a:rPr lang="en-US" sz="1800" dirty="0" smtClean="0"/>
              <a:t/>
            </a:r>
          </a:p>
          <a:p>
            <a:r>
              <a:rPr lang="en-US" sz="1800" dirty="0" smtClean="0"/>
              <a:t>Pricing Plan:</a:t>
            </a:r>
          </a:p>
          <a:p>
            <a:r>
              <a:rPr lang="en-US" sz="1800" dirty="0" smtClean="0"/>
              <a:t/>
            </a:r>
          </a:p>
          <a:p>
            <a:r>
              <a:rPr lang="en-US" sz="1800" dirty="0" smtClean="0"/>
              <a:t>Pricing Model: Platform Subscription (Base) + Optionals </a:t>
            </a:r>
          </a:p>
          <a:p>
            <a:r>
              <a:rPr lang="en-US" sz="1800" dirty="0" smtClean="0"/>
              <a:t/>
            </a:r>
          </a:p>
          <a:p>
            <a:r>
              <a:rPr lang="en-US" sz="1800" dirty="0" smtClean="0"/>
              <a:t>1. Base Platform Subscription Fee Annually: 20000 USD </a:t>
            </a:r>
          </a:p>
          <a:p>
            <a:r>
              <a:rPr lang="en-US" sz="1800" dirty="0" smtClean="0"/>
              <a:t>2. Optionals (at an extra cost in USD): per transaction checks </a:t>
            </a:r>
          </a:p>
          <a:p>
            <a:r>
              <a:rPr lang="en-US" sz="1800" dirty="0" smtClean="0"/>
              <a:t/>
            </a:r>
          </a:p>
          <a:p>
            <a:r>
              <a:rPr lang="en-US" sz="1800" dirty="0" smtClean="0"/>
              <a:t>Document Extraction &amp; Classification Module</a:t>
            </a:r>
          </a:p>
          <a:p>
            <a:r>
              <a:rPr lang="en-US" sz="1800" dirty="0" smtClean="0"/>
              <a:t>TBML Checks Module</a:t>
            </a:r>
          </a:p>
          <a:p>
            <a:r>
              <a:rPr lang="en-US" sz="1800" dirty="0" smtClean="0"/>
              <a:t>Goods Screening Checks Module</a:t>
            </a:r>
          </a:p>
          <a:p>
            <a:r>
              <a:rPr lang="en-US" sz="1800" dirty="0" smtClean="0"/>
              <a:t>Sanctions &amp; AML Checks Module</a:t>
            </a:r>
          </a:p>
          <a:p>
            <a:r>
              <a:rPr lang="en-US" sz="1800" dirty="0" smtClean="0"/>
              <a:t>Documentary Checks Module</a:t>
            </a:r>
          </a:p>
          <a:p>
            <a:r>
              <a:rPr lang="en-US" sz="1800" dirty="0" smtClean="0"/>
              <a:t>Maritime Checks Module</a:t>
            </a:r>
          </a:p>
          <a:p>
            <a:r>
              <a:rPr lang="en-US" sz="1800" dirty="0" smtClean="0"/>
              <a:t/>
            </a:r>
          </a:p>
          <a:p>
            <a:r>
              <a:rPr lang="en-US" sz="1800" dirty="0" smtClean="0"/>
              <a:t>Kindly get in touch with this email ID to understand more about the plan: akshit.gupta@trademo.com</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Trademo Technologies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2" name="Object 12"/>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3" name="Object 13"/>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4" name="Object 14"/>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5" name="Object 15"/>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6" name="Object 16"/>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7" name="Object 17"/>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https://cloud.ibm.com/catalog/services/trademo-technologies-inc-finscreener</a:t>
            </a:r>
            <a:endParaRPr lang="en-US" sz="1400" dirty="0"/>
          </a:p>
        </p:txBody>
      </p:sp>
      <p:sp>
        <p:nvSpPr>
          <p:cNvPr id="18" name="Object 18"/>
          <p:cNvSpPr txBox="1"/>
          <p:nvPr/>
        </p:nvSpPr>
        <p:spPr>
          <a:xfrm>
            <a:off x="11500000" y="6300000"/>
            <a:ext cx="1000000" cy="200000"/>
          </a:xfrm>
          <a:prstGeom prst="rect">
            <a:avLst/>
          </a:prstGeom>
          <a:noFill/>
        </p:spPr>
        <p:txBody>
          <a:bodyPr wrap="square" rtlCol="0"/>
          <a:lstStyle/>
          <a:p>
            <a:r>
              <a:rPr lang="en-US" dirty="0" smtClean="0">
                <a:solidFill>
                  <a:srgbClr val="808080"/>
                </a:solidFill>
              </a:rPr>
              <a:t>262</a:t>
            </a:r>
            <a:endParaRPr lang="en-US"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Transit Gateway</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Creates secure connectivity between your networks within IBM Cloud.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Cloud Transit Gateway helps ensure the security of sensitive data to and from different locations with the IBM Cloud.</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https://cloud.ibm.com/catalog/services/transit.gateway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263</a:t>
            </a:r>
            <a:endParaRPr lang="en-US"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Upsun Fixed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Upsun is the cloud application platform that humans and robots love. Applications can be frustrating; Upsun makes it simple.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Code without limits and deploy without worry.</a:t>
            </a:r>
          </a:p>
          <a:p>
            <a:r>
              <a:rPr lang="en-US" sz="1800" dirty="0" smtClean="0"/>
              <a:t/>
            </a:r>
          </a:p>
          <a:p>
            <a:r>
              <a:rPr lang="en-US" sz="1800" dirty="0" smtClean="0"/>
              <a:t/>
            </a:r>
          </a:p>
          <a:p>
            <a:r>
              <a:rPr lang="en-US" sz="1800" dirty="0" smtClean="0"/>
              <a:t>Upsun helps developers launch faster and more reliably by removing the complexities of cloud infrastructure management. Platform.sh simplifies collaboration, streamlines deployments, and provides resources to guarantee performance and compliance. </a:t>
            </a:r>
          </a:p>
          <a:p>
            <a:r>
              <a:rPr lang="en-US" sz="1800" dirty="0" smtClean="0"/>
              <a:t/>
            </a:r>
          </a:p>
          <a:p>
            <a:r>
              <a:rPr lang="en-US" sz="1800" dirty="0" smtClean="0"/>
              <a:t/>
            </a:r>
          </a:p>
          <a:p>
            <a:r>
              <a:rPr lang="en-US" sz="1800" dirty="0" smtClean="0"/>
              <a:t/>
            </a:r>
          </a:p>
          <a:p>
            <a:r>
              <a:rPr lang="en-US" sz="1800" dirty="0" smtClean="0"/>
              <a:t/>
            </a:r>
          </a:p>
          <a:p>
            <a:r>
              <a:rPr lang="en-US" sz="1800" dirty="0" smtClean="0"/>
              <a:t>Upsun supports a wide array of runtimes, including Node.js, Python, Ruby, PHP, Go, Rust, and Java, and offers fully managed services such as PostgreSQL, MariaDB, Redis, MongoDB, and Elasticsearch, both with out-of-the-box optimizations and automated updates.</a:t>
            </a:r>
          </a:p>
          <a:p>
            <a:r>
              <a:rPr lang="en-US" sz="1800" dirty="0" smtClean="0"/>
              <a:t/>
            </a:r>
          </a:p>
          <a:p>
            <a:r>
              <a:rPr lang="en-US" sz="1800" dirty="0" smtClean="0"/>
              <a:t/>
            </a:r>
          </a:p>
          <a:p>
            <a:r>
              <a:rPr lang="en-US" sz="1800" dirty="0" smtClean="0"/>
              <a:t/>
            </a:r>
          </a:p>
          <a:p>
            <a:r>
              <a:rPr lang="en-US" sz="1800" dirty="0" smtClean="0"/>
              <a:t/>
            </a:r>
          </a:p>
          <a:p>
            <a:r>
              <a:rPr lang="en-US" sz="1800" dirty="0" smtClean="0"/>
              <a:t>Its git-based workflows and full-stack cloning feature allows teams to replicate entire environments-including code, data, and services- for testing and iteration without disrupting production. Whether you're developing new applications or optimizing existing ones, Upsun offers a reliable, scalable solution for all your cloud needs.</a:t>
            </a:r>
          </a:p>
          <a:p>
            <a:r>
              <a:rPr lang="en-US" sz="1800" dirty="0" smtClean="0"/>
              <a:t/>
            </a:r>
          </a:p>
          <a:p>
            <a:r>
              <a:rPr lang="en-US" sz="1800" dirty="0" smtClean="0"/>
              <a:t/>
            </a:r>
          </a:p>
          <a:p>
            <a:r>
              <a:rPr lang="en-US" sz="1800" dirty="0" smtClean="0"/>
              <a:t/>
            </a:r>
          </a:p>
          <a:p>
            <a:r>
              <a:rPr lang="en-US" sz="1800" dirty="0" smtClean="0"/>
              <a:t/>
            </a:r>
          </a:p>
          <a:p>
            <a:r>
              <a:rPr lang="en-US" sz="1800" dirty="0" smtClean="0"/>
              <a:t>For organizations transitioning to the cloud or modernizing legacy applications, Upsun provides the flexibility to do so with minimal effort. This is why we are the trusted partner to enterprises and agencies worldwide.</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Platform.sh SAS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Developer Tools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https://cloud.ibm.com/catalog/services/upsun-fixed-products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264</a:t>
            </a:r>
            <a:endParaRPr lang="en-US"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VCF as a Service - Cloud Director Site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Deploy a comprehensive portfolio of automated and on-demand services for VMware workloads to the cloud, faster than ever before.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Deploy a comprehensive portfolio of automated and on-demand services for VMware workloads to the cloud, faster than ever before.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https://cloud.ibm.com/catalog/services/vmware.directorsite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265</a:t>
            </a:r>
            <a:endParaRPr lang="en-US"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VCF as a Service - Usage Meter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VMware Usage Meter</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VMware Usage Meter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2" name="Object 12"/>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3" name="Object 13"/>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4" name="Object 14"/>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5" name="Object 15"/>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6" name="Object 16"/>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7" name="Object 17"/>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https://cloud.ibm.com/catalog/services/vmware.usage-meter</a:t>
            </a:r>
            <a:endParaRPr lang="en-US" sz="1400" dirty="0"/>
          </a:p>
        </p:txBody>
      </p:sp>
      <p:sp>
        <p:nvSpPr>
          <p:cNvPr id="18" name="Object 18"/>
          <p:cNvSpPr txBox="1"/>
          <p:nvPr/>
        </p:nvSpPr>
        <p:spPr>
          <a:xfrm>
            <a:off x="11500000" y="6300000"/>
            <a:ext cx="1000000" cy="200000"/>
          </a:xfrm>
          <a:prstGeom prst="rect">
            <a:avLst/>
          </a:prstGeom>
          <a:noFill/>
        </p:spPr>
        <p:txBody>
          <a:bodyPr wrap="square" rtlCol="0"/>
          <a:lstStyle/>
          <a:p>
            <a:r>
              <a:rPr lang="en-US" dirty="0" smtClean="0">
                <a:solidFill>
                  <a:srgbClr val="808080"/>
                </a:solidFill>
              </a:rPr>
              <a:t>266</a:t>
            </a:r>
            <a:endParaRPr lang="en-US"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VCF as a Service - Virtual Data Center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Deploy a comprehensive portfolio of automated and on-demand services for VMware workloads to the cloud, faster than ever before.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Deploy a comprehensive portfolio of automated and on-demand services for VMware workloads to the cloud, faster than ever before.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https://cloud.ibm.com/catalog/services/vmware.vdc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267</a:t>
            </a:r>
            <a:endParaRPr lang="en-US"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Veeam</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Enable the Always-On Enterprise by providing data centers with high-speed recovery and data loss avoidance.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Enable the Always-On Enterprise by providing data centers with high-speed recovery and data loss avoidance.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https://cloud.ibm.com/catalog/services/veeam</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268</a:t>
            </a:r>
            <a:endParaRPr lang="en-US"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Veridion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Ask questions about any company, get structured answers powered by Veridion company data.</a:t>
            </a:r>
          </a:p>
          <a:p>
            <a:r>
              <a:rPr lang="en-US" sz="2000" dirty="0" smtClean="0">
                <a:solidFill>
                  <a:srgbClr val="808080"/>
                </a:solidFill>
              </a:rPr>
              <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Veridion Company Data enables natural language Q&amp;A over company profiles in watsonx Orchestrate.</a:t>
            </a:r>
          </a:p>
          <a:p>
            <a:r>
              <a:rPr lang="en-US" sz="1800" dirty="0" smtClean="0"/>
              <a:t/>
            </a:r>
          </a:p>
          <a:p>
            <a:r>
              <a:rPr lang="en-US" sz="1800" dirty="0" smtClean="0"/>
              <a:t/>
            </a:r>
          </a:p>
          <a:p>
            <a:r>
              <a:rPr lang="en-US" sz="1800" dirty="0" smtClean="0"/>
              <a:t/>
            </a:r>
          </a:p>
          <a:p>
            <a:r>
              <a:rPr lang="en-US" sz="1800" dirty="0" smtClean="0"/>
              <a:t/>
            </a:r>
          </a:p>
          <a:p>
            <a:r>
              <a:rPr lang="en-US" sz="1800" dirty="0" smtClean="0"/>
              <a:t>Ask questions about any company, and the agent retrieves structured company data from Veridion to produce a clear, actionable answer.</a:t>
            </a:r>
          </a:p>
          <a:p>
            <a:r>
              <a:rPr lang="en-US" sz="1800" dirty="0" smtClean="0"/>
              <a:t/>
            </a:r>
          </a:p>
          <a:p>
            <a:r>
              <a:rPr lang="en-US" sz="1800" dirty="0" smtClean="0"/>
              <a:t/>
            </a:r>
          </a:p>
          <a:p>
            <a:r>
              <a:rPr lang="en-US" sz="1800" dirty="0" smtClean="0"/>
              <a:t/>
            </a:r>
          </a:p>
          <a:p>
            <a:r>
              <a:rPr lang="en-US" sz="1800" dirty="0" smtClean="0"/>
              <a:t/>
            </a:r>
          </a:p>
          <a:p>
            <a:r>
              <a:rPr lang="en-US" sz="1800" dirty="0" smtClean="0"/>
              <a:t>Behind the scenes, the agent uses an IBM tool integration to call Veridion’s Match &amp; Enrich API directly.</a:t>
            </a:r>
          </a:p>
          <a:p>
            <a:r>
              <a:rPr lang="en-US" sz="1800" dirty="0" smtClean="0"/>
              <a:t/>
            </a:r>
          </a:p>
          <a:p>
            <a:r>
              <a:rPr lang="en-US" sz="1800" dirty="0" smtClean="0"/>
              <a:t/>
            </a:r>
          </a:p>
          <a:p>
            <a:r>
              <a:rPr lang="en-US" sz="1800" dirty="0" smtClean="0"/>
              <a:t/>
            </a:r>
          </a:p>
          <a:p>
            <a:r>
              <a:rPr lang="en-US" sz="1800" dirty="0" smtClean="0"/>
              <a:t/>
            </a:r>
          </a:p>
          <a:p>
            <a:r>
              <a:rPr lang="en-US" sz="1800" dirty="0" smtClean="0"/>
              <a:t>It resolves the correct company entity from inputs like company name, website, and country, then retrieves enriched firmographic and profile data.</a:t>
            </a:r>
          </a:p>
          <a:p>
            <a:r>
              <a:rPr lang="en-US" sz="1800" dirty="0" smtClean="0"/>
              <a:t/>
            </a:r>
          </a:p>
          <a:p>
            <a:r>
              <a:rPr lang="en-US" sz="1800" dirty="0" smtClean="0"/>
              <a:t/>
            </a:r>
          </a:p>
          <a:p>
            <a:r>
              <a:rPr lang="en-US" sz="1800" dirty="0" smtClean="0"/>
              <a:t/>
            </a:r>
          </a:p>
          <a:p>
            <a:r>
              <a:rPr lang="en-US" sz="1800" dirty="0" smtClean="0"/>
              <a:t/>
            </a:r>
          </a:p>
          <a:p>
            <a:r>
              <a:rPr lang="en-US" sz="1800" dirty="0" smtClean="0"/>
              <a:t>The agent uses this enriched data to answer the user’s questions.</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Dataworks Research SRL</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https://cloud.ibm.com/catalog/services/dataworks-research-srl-veridion-agent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269</a:t>
            </a:r>
            <a:endParaRPr lang="en-US"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Verify</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IBM Verify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Verify provides Single Sign-On (SSO), multi-factor authentication (MFA), identity governance, and identity lifecycle controls for internal (workforce) and external (consumer) user types.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Security</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https://cloud.ibm.com/catalog/services/security-verify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270</a:t>
            </a:r>
            <a:endParaRPr lang="en-US"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ViClinic agentic healthcare orchestration platform  </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AI platform orchestrating healthcare workflows with multiple agents, improving efficiency, outcomes, and revenue performance.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The ViClinic Agentic Healthcare Orchestration Platform (AHOS) is a SaaS solution designed to coordinate multiple AI agents across clinical and administrative workflows, enabling healthcare organizations to automate processes, improve decision-making, and achieve measurable operational and financial outcomes.</a:t>
            </a:r>
          </a:p>
          <a:p>
            <a:r>
              <a:rPr lang="en-US" sz="1800" dirty="0" smtClean="0"/>
              <a:t>Unlike standalone AI tools, ViClinic AHOS embeds intelligent agents directly into the care delivery process—from patient intake and triage to documentation, coding, discharge, and follow-up. These agents work together within a unified system, sharing structured clinical context and operating under clinician supervision.</a:t>
            </a:r>
          </a:p>
          <a:p>
            <a:r>
              <a:rPr lang="en-US" sz="1800" dirty="0" smtClean="0"/>
              <a:t>The platform transforms fragmented workflows into a coordinated, end-to-end process. By connecting clinical data, patient interactions, and administrative tasks, it ensures that each step of care is supported by accurate, timely, and actionable information.</a:t>
            </a:r>
          </a:p>
          <a:p>
            <a:r>
              <a:rPr lang="en-US" sz="1800" dirty="0" smtClean="0"/>
              <a:t>ViClinic AHOS integrates with existing EMR/EHR systems and supports interoperability through standardized data structures. It enables healthcare providers to enhance efficiency without replacing their current systems, acting as an execution layer that brings AI into real-world clinical operations.</a:t>
            </a:r>
          </a:p>
          <a:p>
            <a:r>
              <a:rPr lang="en-US" sz="1800" dirty="0" smtClean="0"/>
              <a:t>By combining workflow orchestration, shared clinical context, and human-in-the-loop governance, the platform reduces administrative burden, improves care quality, accelerates revenue cycle processes, and enhances patient engagement.</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Viclinic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https://cloud.ibm.com/catalog/services/viclinic-agentic-orchestration-platform</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271</a:t>
            </a:r>
            <a:endParaRPr lang="en-US"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Virtual Machine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https://cloud.ibm.com/catalog/services/power-iaas.pvm-instance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272</a:t>
            </a:r>
            <a:endParaRPr lang="en-US"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Virtual Network Interface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Virtual Network Interface for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Virtual Network Interfaces provide a way to configure network IPs with security groups and they provide a consistent network binding handle for various resources.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https://cloud.ibm.com/catalog/services/is.virtual-network-interface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273</a:t>
            </a:r>
            <a:endParaRPr lang="en-US"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Virtual Persistent Memory Volume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a:t>
            </a:r>
          </a:p>
          <a:p>
            <a:r>
              <a:rPr lang="en-US" sz="1800" dirty="0" smtClean="0"/>
              <a:t>for Power Systems workloads. Integrated with the IBM Cloud platform for </a:t>
            </a:r>
          </a:p>
          <a:p>
            <a:r>
              <a:rPr lang="en-US" sz="1800" dirty="0" smtClean="0"/>
              <a:t>on-demand provisioning, this offering provides a secure and scalable </a:t>
            </a:r>
          </a:p>
          <a:p>
            <a:r>
              <a:rPr lang="en-US" sz="1800" dirty="0" smtClean="0"/>
              <a:t>server virtualization environment built upon the advanced RAS features </a:t>
            </a:r>
          </a:p>
          <a:p>
            <a:r>
              <a:rPr lang="en-US" sz="1800" dirty="0" smtClean="0"/>
              <a:t>and leading performance of the Power Systems™ platform.</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https://cloud.ibm.com/catalog/services/power-iaas.vpmem-volume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274</a:t>
            </a:r>
            <a:endParaRPr lang="en-US"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Virtual Private Cloud</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Fully customizable, software-defined virtual network with superior isolation.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Create a fully customizable, software-defined virtual network with superior isolation. IBM Cloud Virtual Private Cloud provides custom network topologies, flexible subnet sizes, and enhanced security.</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https://cloud.ibm.com/catalog/services/is.vpc</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275</a:t>
            </a:r>
            <a:endParaRPr lang="en-US"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Virtual Private Endpoint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Delivers private connectivity through Endpoint Gateways to IBM Cloud Services utilizing client assigned IP addresses from within the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Connectivity to IaaS and PaaS services on the IBM Cloud private backbone utilizing client assigned IP addresses native to the VPC. Integrated with IBM Cloud Platform services like Identity and Access Management (IAM), Resource Groups, and the Usage Dashboard, you can manage your Endpoint Gateways and Virtual Private Endpoint IPs in the same place as the rest of your IBM Cloud services. With the ability to map VPC IP addresses, it provides a seamless connectivity experience and a greater level of control of the network domain.</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https://cloud.ibm.com/catalog/services/is.endpoint-gateway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276</a:t>
            </a:r>
            <a:endParaRPr lang="en-US"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Virtual Router Appliance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The Virtual Router Appliance (VRA) provides the latest Vyatta Network Operating System for x86 bare metal servers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Protect your cloud infrastructure and optimize its performance with a gateway appliance.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Madrid (eu-es)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https://cloud.ibm.com/catalog/infrastructure/virtual-router-appliance-copy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277</a:t>
            </a:r>
            <a:endParaRPr lang="en-US"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Virtual Server for Classic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Our previous generation of virtual machines on x86 available in all IBM Cloud locations worldwide.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We offer virtual servers worldwide with up to 64 vCPU and 512 GB RAM to fit any workload need. Select hourly postpaid billing for flexibility or monthly prepaid for a discount on full monthly usage.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https://cloud.ibm.com/catalog/infrastructure/virtual-server-group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278</a:t>
            </a:r>
            <a:endParaRPr lang="en-US"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Virtual Server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Our latest generations of virtual machines with faster provisioning, higher performance, and enhanced isolation.</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In your own private space in the IBM Cloud, IBM Cloud VPC combines the security of a private cloud with the scalability of a public cloud. Use Virtual Private Cloud to isolate and provision network segments on the IBM Cloud, where you can deploy and manage compute resources, storage and networking cloud resources.</a:t>
            </a:r>
          </a:p>
          <a:p>
            <a:r>
              <a:rPr lang="en-US" sz="1800" dirty="0" smtClean="0"/>
              <a:t/>
            </a:r>
          </a:p>
          <a:p>
            <a:r>
              <a:rPr lang="en-US" sz="1800" dirty="0" smtClean="0"/>
              <a:t>With Virtual Server for VPC, you can quickly provision instances with high network performance. When you provision an instance, you select a profile that matches the amount of memory and compute power that you need for the application that you plan to run on the instance. Instances are available on the x86 and s390x architectures. After you provision an instance, you control and manage those infrastructure resources.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https://cloud.ibm.com/catalog/services/is.instance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279</a:t>
            </a:r>
            <a:endParaRPr lang="en-US"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VLAN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VLANs isolate broadcast traffic on all IBM Cloud public and private networks. If you need a more complex network topology, additional VLANs can be purchased to isolate traffic between additional groups of devices.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 Virtual Local Area Network (VLAN) is a network construct that makes it possible to create broadcast domains at the OSI Model layer-2 level. IBM Cloud uses VLANs to isolate broadcast traffic, to provide packet identification, and to let multiple workloads coexist on the same physical equipment. Depending on your situation, you may never need to interact with VLANs directly, because they are managed automatically. Optionally, you can order additional VLANs based on your unique network isolation requirements.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softlayer</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https://cloud.ibm.com/catalog/infrastructure/VLAN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280</a:t>
            </a:r>
            <a:endParaRPr lang="en-US"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VLP</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Hands-on virtual labs accessible worldwide on any device at cloud scale, eliminating expensive lab environments and infrastructure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VMware Lab Platform (VLP)</a:t>
            </a:r>
          </a:p>
          <a:p>
            <a:r>
              <a:rPr lang="en-US" sz="1800" dirty="0" smtClean="0"/>
              <a:t/>
            </a:r>
          </a:p>
          <a:p>
            <a:r>
              <a:rPr lang="en-US" sz="1800" dirty="0" smtClean="0"/>
              <a:t>-------------------------------------------------------------------</a:t>
            </a:r>
          </a:p>
          <a:p>
            <a:r>
              <a:rPr lang="en-US" sz="1800" dirty="0" smtClean="0"/>
              <a:t> is a SaaS platform that gives organizations the ability to deliver their own customized hands-on virtual training labs to anyone on the planet at cloud scale.  </a:t>
            </a:r>
          </a:p>
          <a:p>
            <a:r>
              <a:rPr lang="en-US" sz="1800" dirty="0" smtClean="0"/>
              <a:t/>
            </a:r>
          </a:p>
          <a:p>
            <a:r>
              <a:rPr lang="en-US" sz="1800" dirty="0" smtClean="0"/>
              <a:t>-------------------------------------------------------------------</a:t>
            </a:r>
          </a:p>
          <a:p>
            <a:r>
              <a:rPr lang="en-US" sz="1800" dirty="0" smtClean="0"/>
              <a:t/>
            </a:r>
          </a:p>
          <a:p>
            <a:r>
              <a:rPr lang="en-US" sz="1800" dirty="0" smtClean="0"/>
              <a:t>Instructor Led Training: Training platform that allows students to have their own individual lab environment while allowing the instructor to proctor, shadow, assist and interact with students virtually from anywhere.</a:t>
            </a:r>
          </a:p>
          <a:p>
            <a:r>
              <a:rPr lang="en-US" sz="1800" dirty="0" smtClean="0"/>
              <a:t/>
            </a:r>
          </a:p>
          <a:p>
            <a:r>
              <a:rPr lang="en-US" sz="1800" dirty="0" smtClean="0"/>
              <a:t>-------------------------------------------------------------------</a:t>
            </a:r>
          </a:p>
          <a:p>
            <a:r>
              <a:rPr lang="en-US" sz="1800" dirty="0" smtClean="0"/>
              <a:t/>
            </a:r>
          </a:p>
          <a:p>
            <a:r>
              <a:rPr lang="en-US" sz="1800" dirty="0" smtClean="0"/>
              <a:t>Sales Demo: Easily expand your ability to give effect sales demos of your software solutions. Provisioning a known good template with a demo environment pre-staged for you demo allows for a quick and easy demo without any of the pre-configuration or cleanup between customers.</a:t>
            </a:r>
          </a:p>
          <a:p>
            <a:r>
              <a:rPr lang="en-US" sz="1800" dirty="0" smtClean="0"/>
              <a:t/>
            </a:r>
          </a:p>
          <a:p>
            <a:r>
              <a:rPr lang="en-US" sz="1800" dirty="0" smtClean="0"/>
              <a:t>-------------------------------------------------------------------</a:t>
            </a:r>
          </a:p>
          <a:p>
            <a:r>
              <a:rPr lang="en-US" sz="1800" dirty="0" smtClean="0"/>
              <a:t/>
            </a:r>
          </a:p>
          <a:p>
            <a:r>
              <a:rPr lang="en-US" sz="1800" dirty="0" smtClean="0"/>
              <a:t>Customer Proof of Concept: Moving from Sales Demo into Proof of Concept is extremely easy when you can entitle a customer to a time bound copy of their own demo environment.  Provide access to a POC environment for the customer to evaluate your software, and even provide remote assistance and monitor their progress.</a:t>
            </a:r>
          </a:p>
          <a:p>
            <a:r>
              <a:rPr lang="en-US" sz="1800" dirty="0" smtClean="0"/>
              <a:t/>
            </a:r>
          </a:p>
          <a:p>
            <a:r>
              <a:rPr lang="en-US" sz="1800" dirty="0" smtClean="0"/>
              <a:t>-------------------------------------------------------------------</a:t>
            </a:r>
          </a:p>
          <a:p>
            <a:r>
              <a:rPr lang="en-US" sz="1800" dirty="0" smtClean="0"/>
              <a:t/>
            </a:r>
          </a:p>
          <a:p>
            <a:r>
              <a:rPr lang="en-US" sz="1800" dirty="0" smtClean="0"/>
              <a:t>Cyber Security Training:  Security operations training is essential to preparing the cybersecurity workforce of tomorrow, and for keeping current cybersecurity workers up-to-date on skills and evolving threats.  VLP provides a safe environment to develop training scenarios and build their capabilities. </a:t>
            </a:r>
          </a:p>
          <a:p>
            <a:r>
              <a:rPr lang="en-US" sz="1800" dirty="0" smtClean="0"/>
              <a:t/>
            </a:r>
          </a:p>
          <a:p>
            <a:r>
              <a:rPr lang="en-US" sz="1800" dirty="0" smtClean="0"/>
              <a:t>-------------------------------------------------------------------</a:t>
            </a:r>
          </a:p>
          <a:p>
            <a:r>
              <a:rPr lang="en-US" sz="1800" dirty="0" smtClean="0"/>
              <a:t/>
            </a:r>
          </a:p>
          <a:p>
            <a:r>
              <a:rPr lang="en-US" sz="1800" dirty="0" smtClean="0"/>
              <a:t>We are complementary to most leading Learning Management Systems (LMS) and support Learning Tools Interoperability (LTI) allowing you to leverage your existing education platform.</a:t>
            </a:r>
          </a:p>
          <a:p>
            <a:r>
              <a:rPr lang="en-US" sz="1800" dirty="0" smtClean="0"/>
              <a:t/>
            </a:r>
          </a:p>
          <a:p>
            <a:r>
              <a:rPr lang="en-US" sz="1800" dirty="0" smtClean="0"/>
              <a:t/>
            </a:r>
          </a:p>
          <a:p>
            <a:r>
              <a:rPr lang="en-US" sz="1800" dirty="0" smtClean="0"/>
              <a:t>VLP has a rich set of API’s making it easy to create any kind of user experience you can imagine.</a:t>
            </a:r>
          </a:p>
          <a:p>
            <a:r>
              <a:rPr lang="en-US" sz="1800" dirty="0" smtClean="0"/>
              <a:t/>
            </a:r>
          </a:p>
          <a:p>
            <a:r>
              <a:rPr lang="en-US" sz="1800" dirty="0" smtClean="0"/>
              <a:t/>
            </a:r>
          </a:p>
          <a:p>
            <a:r>
              <a:rPr lang="en-US" sz="1800" dirty="0" smtClean="0"/>
              <a:t>Extend your own cloud infrastructure or use a hybrid model to support your most complex lab use cases.</a:t>
            </a:r>
          </a:p>
          <a:p>
            <a:r>
              <a:rPr lang="en-US" sz="1800" dirty="0" smtClean="0"/>
              <a:t/>
            </a:r>
          </a:p>
          <a:p>
            <a:r>
              <a:rPr lang="en-US" sz="1800" dirty="0" smtClean="0"/>
              <a:t/>
            </a:r>
          </a:p>
          <a:p>
            <a:r>
              <a:rPr lang="en-US" sz="1800" dirty="0" smtClean="0"/>
              <a:t>VMware Lab Platform integrates instructional materials, labs, video, social media, and more. It is specifically designed to deliver hands-on lab content to students/clients.  There are a standard set of APIs that allow it to easily integrate with most Learning Management Systems on the market.  It is a SaaS solution that is a cloud-based multi-tenant solution owned, maintained, and updated by Partner STAR Systems. </a:t>
            </a:r>
          </a:p>
          <a:p>
            <a:r>
              <a:rPr lang="en-US" sz="1800" dirty="0" smtClean="0"/>
              <a:t/>
            </a:r>
          </a:p>
          <a:p>
            <a:r>
              <a:rPr lang="en-US" sz="1800" dirty="0" smtClean="0"/>
              <a:t>-------------------------------------------------------------------</a:t>
            </a:r>
          </a:p>
          <a:p>
            <a:r>
              <a:rPr lang="en-US" sz="1800" dirty="0" smtClean="0"/>
              <a:t/>
            </a:r>
          </a:p>
          <a:p>
            <a:r>
              <a:rPr lang="en-US" sz="1800" dirty="0" smtClean="0"/>
              <a:t>- SaaS platform delivering hands-on virtual IT Training labs to anyone on the planet at cloud scale </a:t>
            </a:r>
          </a:p>
          <a:p>
            <a:r>
              <a:rPr lang="en-US" sz="1800" dirty="0" smtClean="0"/>
              <a:t/>
            </a:r>
          </a:p>
          <a:p>
            <a:r>
              <a:rPr lang="en-US" sz="1800" dirty="0" smtClean="0"/>
              <a:t>- Access from Anywhere - Training content is accessible university, at any time, on most devices with a browser. </a:t>
            </a:r>
          </a:p>
          <a:p>
            <a:r>
              <a:rPr lang="en-US" sz="1800" dirty="0" smtClean="0"/>
              <a:t/>
            </a:r>
          </a:p>
          <a:p>
            <a:r>
              <a:rPr lang="en-US" sz="1800" dirty="0" smtClean="0"/>
              <a:t>- A powerful virtual lab supports complex multi-vM configurations and almost all guest operating systems</a:t>
            </a:r>
          </a:p>
          <a:p>
            <a:r>
              <a:rPr lang="en-US" sz="1800" dirty="0" smtClean="0"/>
              <a:t/>
            </a:r>
          </a:p>
          <a:p>
            <a:r>
              <a:rPr lang="en-US" sz="1800" dirty="0" smtClean="0"/>
              <a:t>- Hybrid Cloud Scale from one lab to thousands of labs. Trust that the platform will scale with you.</a:t>
            </a:r>
          </a:p>
          <a:p>
            <a:r>
              <a:rPr lang="en-US" sz="1800" dirty="0" smtClean="0"/>
              <a:t/>
            </a:r>
          </a:p>
          <a:p>
            <a:r>
              <a:rPr lang="en-US" sz="1800" dirty="0" smtClean="0"/>
              <a:t>- supports labaccess directly from the the console </a:t>
            </a:r>
          </a:p>
          <a:p>
            <a:r>
              <a:rPr lang="en-US" sz="1800" dirty="0" smtClean="0"/>
              <a:t/>
            </a:r>
          </a:p>
          <a:p>
            <a:r>
              <a:rPr lang="en-US" sz="1800" dirty="0" smtClean="0"/>
              <a:t>- Set it and forget it administration </a:t>
            </a:r>
          </a:p>
          <a:p>
            <a:r>
              <a:rPr lang="en-US" sz="1800" dirty="0" smtClean="0"/>
              <a:t/>
            </a:r>
          </a:p>
          <a:p>
            <a:r>
              <a:rPr lang="en-US" sz="1800" dirty="0" smtClean="0"/>
              <a:t>- Learning management Systems support through standard LTI and API integrations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Star Systems India Private Limited</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https://cloud.ibm.com/catalog/services/starvlp</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281</a:t>
            </a:r>
            <a:endParaRPr lang="en-US"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VMware Cloud Migration Services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Workload migrations and professional services performed as predictable, rapid, transparent projects or ongoing management.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This selection of services targets VMware customers seeking to modernize and embrace various IBM cloud options as either a production or disaster recovery target site.</a:t>
            </a:r>
          </a:p>
          <a:p>
            <a:r>
              <a:rPr lang="en-US" sz="1800" dirty="0" smtClean="0"/>
              <a:t/>
            </a:r>
          </a:p>
          <a:p>
            <a:r>
              <a:rPr lang="en-US" sz="1800" dirty="0" smtClean="0"/>
              <a:t>While PrimaryIO offers SaaS products in support of the Cloud Journey targeting data resiliency, this collection is comprised of advisory services and optionally the man-power to accomplish these modernizing, mobility-enhancing, cloud-embracing projects.</a:t>
            </a:r>
          </a:p>
          <a:p>
            <a:r>
              <a:rPr lang="en-US" sz="1800" dirty="0" smtClean="0"/>
              <a:t/>
            </a:r>
          </a:p>
          <a:p>
            <a:r>
              <a:rPr lang="en-US" sz="1800" dirty="0" smtClean="0"/>
              <a:t>The services are designed to create an easy to consume, yet bespoke, tailored project.  Each project is fully detailed with project plan, associated cost and transparency to the project status with focus on rapid achievement of critical path objectives.</a:t>
            </a:r>
          </a:p>
          <a:p>
            <a:r>
              <a:rPr lang="en-US" sz="1800" dirty="0" smtClean="0"/>
              <a:t/>
            </a:r>
          </a:p>
          <a:p>
            <a:r>
              <a:rPr lang="en-US" sz="1800" dirty="0" smtClean="0"/>
              <a:t>All projects, irrespective of category and customization, require a current state assessment coupled with a solid understanding of the customer goal and associated target environment.  Once well-comprehended, an accurate statement of work and associated price quote is generated in support of the project.  At such time, the project can be procured through the listed catalog option.</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PrimaryIO</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Osaka (jp-osa) Tokyo (jp-tok) Frankfurt (eu-de) Madrid (eu-es)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https://cloud.ibm.com/catalog/services/primaryio-hdm-cloud-connect-nsx-v-to-nsx-t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282</a:t>
            </a:r>
            <a:endParaRPr lang="en-US"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VMware Solutions</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Deploy a comprehensive portfolio of automated and on-demand services for VMware workloads to the cloud, faster than ever before.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Deploy a comprehensive portfolio of automated and on-demand services for VMware workloads to the cloud, faster than ever before.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Frankfurt (eu-de) Madrid (eu-es)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https://cloud.ibm.com/catalog/services/vmware-solutions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283</a:t>
            </a:r>
            <a:endParaRPr lang="en-US"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VMware vCenter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Standardized software-defined data center (SDDC) solution that combines IBM Cloud Bare Metal Servers with VMware vSphere, NSX, and optional vSAN for a seamless hybrid cloud experience.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Standardized software-defined data center (SDDC) solution that combines IBM Cloud Bare Metal Servers with VMware vSphere, NSX, and optional vSAN for a seamless hybrid cloud experience.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https://cloud.ibm.com/catalog/services/vcenterserver</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284</a:t>
            </a:r>
            <a:endParaRPr lang="en-US"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VMware vSphere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Customizable virtualization service that combines VMware-compatible bare metal servers, hardware components, and licenses, to build your own IBM-hosted VMware environment.</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Customizable virtualization service that combines VMware-compatible bare metal servers, hardware components, and licenses, to build your own IBM-hosted VMware environment.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https://cloud.ibm.com/catalog/services/vsphere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285</a:t>
            </a:r>
            <a:endParaRPr lang="en-US"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Volume for Power Virtual Server</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Provision flexible, secure, and scalable compute capacity for Power Systems enterprise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Power Systems Virtual Server projects deliver flexible compute capacity for Power Systems workloads. Integrated with the IBM Cloud platform for on-demand provisioning, this offering provides a secure and scalable server virtualization environment built upon the advanced RAS features and leading performance of the Power Systems™ platform.</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https://cloud.ibm.com/catalog/services/power-iaas.volume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286</a:t>
            </a:r>
            <a:endParaRPr lang="en-US"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VPC COaaS (VPC Cost Optimization as a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Wanclouds' Managed Multi-Cloud Cost Optimization as a Service offering for IBM</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This is a fully-managed cloud-based service designed to help IBM Cloud users manage their cloud costs.</a:t>
            </a:r>
          </a:p>
          <a:p>
            <a:r>
              <a:rPr lang="en-US" sz="1800" dirty="0" smtClean="0"/>
              <a:t/>
            </a:r>
          </a:p>
          <a:p>
            <a:r>
              <a:rPr lang="en-US" sz="1800" dirty="0" smtClean="0"/>
              <a:t>Wanclouds COaaS provides IBM users with the tools and insights needed to optimize their cloud costs and services. With Wanclouds COaaS, users can track their cloud costs, identify potential cost savings opportunities, and develop customized strategies to reduce their overall cloud spending. The service also helps users identify areas of potential waste and inefficiency, and provides guidance on how to best manage their cloud costs. Additionally, Wanclouds COaaS can provide users with detailed reports and analytics to help them understand their cloud costs and make more informed decisions.</a:t>
            </a:r>
          </a:p>
          <a:p>
            <a:r>
              <a:rPr lang="en-US" sz="1800" dirty="0" smtClean="0"/>
              <a:t/>
            </a:r>
          </a:p>
          <a:p>
            <a:r>
              <a:rPr lang="en-US" sz="1800" dirty="0" smtClean="0"/>
              <a:t>Resource Coverage:</a:t>
            </a:r>
          </a:p>
          <a:p>
            <a:r>
              <a:rPr lang="en-US" sz="1800" dirty="0" smtClean="0"/>
              <a:t>- Idle Resources</a:t>
            </a:r>
          </a:p>
          <a:p>
            <a:r>
              <a:rPr lang="en-US" sz="1800" dirty="0" smtClean="0"/>
              <a:t>- Volumes</a:t>
            </a:r>
          </a:p>
          <a:p>
            <a:r>
              <a:rPr lang="en-US" sz="1800" dirty="0" smtClean="0"/>
              <a:t>- Floating IPs</a:t>
            </a:r>
          </a:p>
          <a:p>
            <a:r>
              <a:rPr lang="en-US" sz="1800" dirty="0" smtClean="0"/>
              <a:t>- Public Gateways</a:t>
            </a:r>
          </a:p>
          <a:p>
            <a:r>
              <a:rPr lang="en-US" sz="1800" dirty="0" smtClean="0"/>
              <a:t>- Dedicated Hosts</a:t>
            </a:r>
          </a:p>
          <a:p>
            <a:r>
              <a:rPr lang="en-US" sz="1800" dirty="0" smtClean="0"/>
              <a:t>- Virtual Server Instances</a:t>
            </a:r>
          </a:p>
          <a:p>
            <a:r>
              <a:rPr lang="en-US" sz="1800" dirty="0" smtClean="0"/>
              <a:t>- Images</a:t>
            </a:r>
          </a:p>
          <a:p>
            <a:r>
              <a:rPr lang="en-US" sz="1800" dirty="0" smtClean="0"/>
              <a:t>- Snapshots</a:t>
            </a:r>
          </a:p>
          <a:p>
            <a:r>
              <a:rPr lang="en-US" sz="1800" dirty="0" smtClean="0"/>
              <a:t/>
            </a:r>
          </a:p>
          <a:p>
            <a:r>
              <a:rPr lang="en-US" sz="1800" dirty="0" smtClean="0"/>
              <a:t>Benefits</a:t>
            </a:r>
          </a:p>
          <a:p>
            <a:r>
              <a:rPr lang="en-US" sz="1800" dirty="0" smtClean="0"/>
              <a:t>- Tracking cloud costs</a:t>
            </a:r>
          </a:p>
          <a:p>
            <a:r>
              <a:rPr lang="en-US" sz="1800" dirty="0" smtClean="0"/>
              <a:t>- Identification of potential cost savings</a:t>
            </a:r>
          </a:p>
          <a:p>
            <a:r>
              <a:rPr lang="en-US" sz="1800" dirty="0" smtClean="0"/>
              <a:t>- Strategies to reduce their overall cloud spending, this Service can provide users with detailed reports and analytics to help them understand their cloud costs.</a:t>
            </a:r>
          </a:p>
          <a:p>
            <a:r>
              <a:rPr lang="en-US" sz="1800" dirty="0" smtClean="0"/>
              <a:t>- Identify areas of potential waste and inefficiency, and provide guidance on how to best manage their cloud costs.</a:t>
            </a:r>
          </a:p>
          <a:p>
            <a:r>
              <a:rPr lang="en-US" sz="1800" dirty="0" smtClean="0"/>
              <a:t/>
            </a:r>
          </a:p>
          <a:p>
            <a:r>
              <a:rPr lang="en-US" sz="1800" dirty="0" smtClean="0"/>
              <a:t>Learn more: https://www.wanclouds.net/coaas</a:t>
            </a:r>
          </a:p>
          <a:p>
            <a:r>
              <a:rPr lang="en-US" sz="1800" dirty="0" smtClean="0"/>
              <a:t/>
            </a:r>
          </a:p>
          <a:p>
            <a:r>
              <a:rPr lang="en-US" sz="1800" dirty="0" smtClean="0"/>
              <a:t>For any help, please go to https://support.wanclouds.net or email us at support@wanclouds.net</a:t>
            </a:r>
          </a:p>
          <a:p>
            <a:r>
              <a:rPr lang="en-US" sz="1800" dirty="0" smtClean="0"/>
              <a:t>For sales related queries, please contact usat sales@wanclouds.net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Wanclouds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https://cloud.ibm.com/catalog/services/wanclouds-inc--vpc-coaas-vpc-cost-optimization-as-a-service-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287</a:t>
            </a:r>
            <a:endParaRPr lang="en-US"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VPC+ Cloud Migration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Facilitate easy migration of IBM Cloud classic infrastructure components and applications to IBM Cloud VPC.</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VPC+ Cloud Migration is a third-party tool that helps facilitate easy migration of infrastructure components and applications. This tool automatically discovers your IBM Cloud classic infrastructure resources and components that can be migrated to IBM Cloud Virtual Private Cloud (VPC). You can choose the resources that you want to migrate and provision these resources in VPC. Once you are on IBM Cloud VPC, you have the opportunity to optimize, manage, and monitor your resources through the console.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Wanclouds</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Migration</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https://cloud.ibm.com/catalog/services/migrationtool-from-wanclds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288</a:t>
            </a:r>
            <a:endParaRPr lang="en-US"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VPC+ DRaaS (VPC+ Disaster Recovery as a Service)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Multi Cloud Backup, Disaster Recovery and Optimization as a Service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Wanclouds offers multi-cloud Backup, Migrations, Disaster Recovery, and Cost Optimization as a Service. At the heart of our approach is our SaaS application called VPC+ enabling seamless and hassle-free backups, migrations, disaster recovery, and cost optimization.</a:t>
            </a:r>
          </a:p>
          <a:p>
            <a:r>
              <a:rPr lang="en-US" sz="1800" dirty="0" smtClean="0"/>
              <a:t/>
            </a:r>
          </a:p>
          <a:p>
            <a:r>
              <a:rPr lang="en-US" sz="1800" dirty="0" smtClean="0"/>
              <a:t>Add one or multiple public clouds accounts and create a comprehensive backup and DR setup for all of your IBM Cloud Resources across regions.</a:t>
            </a:r>
          </a:p>
          <a:p>
            <a:r>
              <a:rPr lang="en-US" sz="1800" dirty="0" smtClean="0"/>
              <a:t/>
            </a:r>
          </a:p>
          <a:p>
            <a:r>
              <a:rPr lang="en-US" sz="1800" dirty="0" smtClean="0"/>
              <a:t>Backup and Disaster Recovery as a Service</a:t>
            </a:r>
          </a:p>
          <a:p>
            <a:r>
              <a:rPr lang="en-US" sz="1800" dirty="0" smtClean="0"/>
              <a:t>- Backup your exisitng IBM Cloud VPC resources and configurations</a:t>
            </a:r>
          </a:p>
          <a:p>
            <a:r>
              <a:rPr lang="en-US" sz="1800" dirty="0" smtClean="0"/>
              <a:t>- Backup IBM IKS (Kubernetes Service), ROKS (Red Hat Openshift)</a:t>
            </a:r>
          </a:p>
          <a:p>
            <a:r>
              <a:rPr lang="en-US" sz="1800" dirty="0" smtClean="0"/>
              <a:t>- Backup Virtual Machines (VSIs) and attached Data Volumes</a:t>
            </a:r>
          </a:p>
          <a:p>
            <a:r>
              <a:rPr lang="en-US" sz="1800" dirty="0" smtClean="0"/>
              <a:t>- Backup Cloud Object Storage Buckets (COS Buckets)</a:t>
            </a:r>
          </a:p>
          <a:p>
            <a:r>
              <a:rPr lang="en-US" sz="1800" dirty="0" smtClean="0"/>
              <a:t>- Backup on-prem Kubernetes or Red Hat OpenShift clusters to IBM Cloud</a:t>
            </a:r>
          </a:p>
          <a:p>
            <a:r>
              <a:rPr lang="en-US" sz="1800" dirty="0" smtClean="0"/>
              <a:t>- Restore or replicate your infrastructure across regions</a:t>
            </a:r>
          </a:p>
          <a:p>
            <a:r>
              <a:rPr lang="en-US" sz="1800" dirty="0" smtClean="0"/>
              <a:t>- Restore your Kubernetes or Red Hat OpenShift clusters on-demand</a:t>
            </a:r>
          </a:p>
          <a:p>
            <a:r>
              <a:rPr lang="en-US" sz="1800" dirty="0" smtClean="0"/>
              <a:t>- Backup VMware VMs to IBM Cloud VPC</a:t>
            </a:r>
          </a:p>
          <a:p>
            <a:r>
              <a:rPr lang="en-US" sz="1800" dirty="0" smtClean="0"/>
              <a:t/>
            </a:r>
          </a:p>
          <a:p>
            <a:r>
              <a:rPr lang="en-US" sz="1800" dirty="0" smtClean="0"/>
              <a:t>Setup IBM Cloud as a DR site for On-Premise workoads</a:t>
            </a:r>
          </a:p>
          <a:p>
            <a:r>
              <a:rPr lang="en-US" sz="1800" dirty="0" smtClean="0"/>
              <a:t/>
            </a:r>
          </a:p>
          <a:p>
            <a:r>
              <a:rPr lang="en-US" sz="1800" dirty="0" smtClean="0"/>
              <a:t>- Setup IBM Cloud as a Warm DR site for critical workloads </a:t>
            </a:r>
          </a:p>
          <a:p>
            <a:r>
              <a:rPr lang="en-US" sz="1800" dirty="0" smtClean="0"/>
              <a:t>- Leverage IBM Cloud as a Backup for your Windows, Linux, Kubernetes workloads and Data.</a:t>
            </a:r>
          </a:p>
          <a:p>
            <a:r>
              <a:rPr lang="en-US" sz="1800" dirty="0" smtClean="0"/>
              <a:t/>
            </a:r>
          </a:p>
          <a:p>
            <a:r>
              <a:rPr lang="en-US" sz="1800" dirty="0" smtClean="0"/>
              <a:t>Cloud-Native Migration and Application Mobility</a:t>
            </a:r>
          </a:p>
          <a:p>
            <a:r>
              <a:rPr lang="en-US" sz="1800" dirty="0" smtClean="0"/>
              <a:t/>
            </a:r>
          </a:p>
          <a:p>
            <a:r>
              <a:rPr lang="en-US" sz="1800" dirty="0" smtClean="0"/>
              <a:t>- Setup IBM Cloud as a DR site</a:t>
            </a:r>
          </a:p>
          <a:p>
            <a:r>
              <a:rPr lang="en-US" sz="1800" dirty="0" smtClean="0"/>
              <a:t>- Discover and Migrate Kubernetes and OpenShift cluster to IBM Cloud</a:t>
            </a:r>
          </a:p>
          <a:p>
            <a:r>
              <a:rPr lang="en-US" sz="1800" dirty="0" smtClean="0"/>
              <a:t>- Migrate your application across your Kubernetes clusters</a:t>
            </a:r>
          </a:p>
          <a:p>
            <a:r>
              <a:rPr lang="en-US" sz="1800" dirty="0" smtClean="0"/>
              <a:t>- Migrate your on-prem Red Hat OpenShift Clusters to IBM ROKS</a:t>
            </a:r>
          </a:p>
          <a:p>
            <a:r>
              <a:rPr lang="en-US" sz="1800" dirty="0" smtClean="0"/>
              <a:t>- Migration On-Premise clusters to IBM Cloud Satellite</a:t>
            </a:r>
          </a:p>
          <a:p>
            <a:r>
              <a:rPr lang="en-US" sz="1800" dirty="0" smtClean="0"/>
              <a:t/>
            </a:r>
          </a:p>
          <a:p>
            <a:r>
              <a:rPr lang="en-US" sz="1800" dirty="0" smtClean="0"/>
              <a:t/>
            </a:r>
          </a:p>
          <a:p>
            <a:r>
              <a:rPr lang="en-US" sz="1800" dirty="0" smtClean="0"/>
              <a:t/>
            </a:r>
          </a:p>
          <a:p>
            <a:r>
              <a:rPr lang="en-US" sz="1800" dirty="0" smtClean="0"/>
              <a:t>Additional Features (needs to be separately enabled)</a:t>
            </a:r>
          </a:p>
          <a:p>
            <a:r>
              <a:rPr lang="en-US" sz="1800" dirty="0" smtClean="0"/>
              <a:t/>
            </a:r>
          </a:p>
          <a:p>
            <a:r>
              <a:rPr lang="en-US" sz="1800" dirty="0" smtClean="0"/>
              <a:t>Cost Optimization as a Service</a:t>
            </a:r>
          </a:p>
          <a:p>
            <a:r>
              <a:rPr lang="en-US" sz="1800" dirty="0" smtClean="0"/>
              <a:t>- Discover and track all of your resources across IBM Cloud</a:t>
            </a:r>
          </a:p>
          <a:p>
            <a:r>
              <a:rPr lang="en-US" sz="1800" dirty="0" smtClean="0"/>
              <a:t>- Track all your Idle resources. Stop entire VPCs, or delete unused resources</a:t>
            </a:r>
          </a:p>
          <a:p>
            <a:r>
              <a:rPr lang="en-US" sz="1800" dirty="0" smtClean="0"/>
              <a:t>- Rightsize your Compute based on your usage and optimise for cost</a:t>
            </a:r>
          </a:p>
          <a:p>
            <a:r>
              <a:rPr lang="en-US" sz="1800" dirty="0" smtClean="0"/>
              <a:t>- Assign Purpose tags based on industry standards</a:t>
            </a:r>
          </a:p>
          <a:p>
            <a:r>
              <a:rPr lang="en-US" sz="1800" dirty="0" smtClean="0"/>
              <a:t/>
            </a:r>
          </a:p>
          <a:p>
            <a:r>
              <a:rPr lang="en-US" sz="1800" dirty="0" smtClean="0"/>
              <a:t/>
            </a:r>
          </a:p>
          <a:p>
            <a:r>
              <a:rPr lang="en-US" sz="1800" dirty="0" smtClean="0"/>
              <a:t>It takes just a few minutes to get started - subscribe today or request a demo:</a:t>
            </a:r>
          </a:p>
          <a:p>
            <a:r>
              <a:rPr lang="en-US" sz="1800" dirty="0" smtClean="0"/>
              <a:t/>
            </a:r>
          </a:p>
          <a:p>
            <a:r>
              <a:rPr lang="en-US" sz="1800" dirty="0" smtClean="0"/>
              <a:t>Learn more: https://www.wanclouds.net/ibm</a:t>
            </a:r>
          </a:p>
          <a:p>
            <a:r>
              <a:rPr lang="en-US" sz="1800" dirty="0" smtClean="0"/>
              <a:t/>
            </a:r>
          </a:p>
          <a:p>
            <a:r>
              <a:rPr lang="en-US" sz="1800" dirty="0" smtClean="0"/>
              <a:t>For any help, please go to https://support.wanclouds.net or email us at support@wanclouds.net.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Wanclouds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https://cloud.ibm.com/catalog/services/3p-wanclds-draas-vpcplus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289</a:t>
            </a:r>
            <a:endParaRPr lang="en-US"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VPN for VPC</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Securely extend your on-premises network to IBM Cloud through site-to-site gateways.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VPN for VPC provides a simple yet powerful solution for highly scalable and robust site-to-site VPN. This VPN service provides a mixture of industry standard security and encryption options as well as support for Pre-shared Key authentication. The service also provides the ability to quickly add and remove VPN connections with the option to use pre-defined configurations.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Networking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Chennai - Airtel (in-che) Mumbai - Airtel (in-mum) Osaka (jp-osa) Tokyo (jp-tok) Frankfurt (eu-de) Madrid (eu-es) London (eu-gb) Montreal (ca-mon)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https://cloud.ibm.com/catalog/services/is.vpn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290</a:t>
            </a:r>
            <a:endParaRPr lang="en-US"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vRealize Operations and Log Insight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Monitor and troubleshoot the performance, health, and capacity of your dedicated IBM-hosted VMware Software Defined Data Center (SDDC) stack, in a more efficient matter.</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Monitor and troubleshoot the performance, health, and capacity of your dedicated IBM-hosted VMware Software Defined Data Center (SDDC) stack, in a more efficient matter.</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https://cloud.ibm.com/catalog/services/vrops</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291</a:t>
            </a:r>
            <a:endParaRPr lang="en-US"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WANDA Agentic AI  - AIOps as a Service - for Hybrid Infrastructure Management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Chat with Your Infrastructure!</a:t>
            </a:r>
          </a:p>
          <a:p>
            <a:r>
              <a:rPr lang="en-US" sz="2000" dirty="0" smtClean="0">
                <a:solidFill>
                  <a:srgbClr val="808080"/>
                </a:solidFill>
              </a:rPr>
              <a:t>Meet WANDA(Wanclouds Digital Assistant) : Your 24/7 AIOps solution for Hybrid Cloud Operations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Wanclouds AI (WANDA) allows you to create one or multiple AI Assistants for Cloud and IT Infrastructure management. It covers multi-vendor infrastructure resources and workloads including servers (Linux, Windows),firewalls, network routers, switches, VMware, Kubernetes and more. The Solution covers devices deployed in the cloud (IBM Cloud, other cloud) as well as On-Premise and Edge or Remote Sites.You can add your cloud, on-premises, and edge devices into a single platform, creating a unified interface for your entire infrastructure.</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Think of it as your AI Expert Assistant(s) to help you watch your infrastructure 24x7, integrated with your existing monitoring, logging tools, devices, and fully aware of your policies and guidelines. It continuously monitors the health, logs, and metrics of your cloud and IT infrastructure. Proactively track configuration changes, software updates, and system behavior to ensure your environments run smoothly and cost-effectively.</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By combining monitoring, logs, troubleshooting, and intelligent querying, it helps IT teams dramatically reduce the time to diagnose and resolve issues, all while learning and adapting to your unique environment through its contextual memory capabilities. Moreover, you can run security and optimization assessments on-demand as well as query any aspect of your infrastructure.</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Key Features</a:t>
            </a:r>
          </a:p>
          <a:p>
            <a:r>
              <a:rPr lang="en-US" sz="1800" dirty="0" smtClean="0"/>
              <a:t/>
            </a:r>
          </a:p>
          <a:p>
            <a:r>
              <a:rPr lang="en-US" sz="1800" dirty="0" smtClean="0"/>
              <a:t/>
            </a:r>
          </a:p>
          <a:p>
            <a:r>
              <a:rPr lang="en-US" sz="1800" dirty="0" smtClean="0"/>
              <a:t/>
            </a:r>
          </a:p>
          <a:p>
            <a:r>
              <a:rPr lang="en-US" sz="1800" dirty="0" smtClean="0"/>
              <a:t/>
            </a:r>
          </a:p>
          <a:p>
            <a:r>
              <a:rPr lang="en-US" sz="1800" dirty="0" smtClean="0"/>
              <a:t>-  Add cloud Environments (such as IBM Cloud VPC, Classic), On-Premise resources, as well as other cloud workloads.</a:t>
            </a:r>
          </a:p>
          <a:p>
            <a:r>
              <a:rPr lang="en-US" sz="1800" dirty="0" smtClean="0"/>
              <a:t/>
            </a:r>
          </a:p>
          <a:p>
            <a:r>
              <a:rPr lang="en-US" sz="1800" dirty="0" smtClean="0"/>
              <a:t>- Add VMware resources or individual servers, routers, firewalls, and switches.</a:t>
            </a:r>
          </a:p>
          <a:p>
            <a:r>
              <a:rPr lang="en-US" sz="1800" dirty="0" smtClean="0"/>
              <a:t/>
            </a:r>
          </a:p>
          <a:p>
            <a:r>
              <a:rPr lang="en-US" sz="1800" dirty="0" smtClean="0"/>
              <a:t>-  Configuration &amp; Change Tracking – Watches for configuration drifts, software updates, and system changes that may impact stability.</a:t>
            </a:r>
          </a:p>
          <a:p>
            <a:r>
              <a:rPr lang="en-US" sz="1800" dirty="0" smtClean="0"/>
              <a:t/>
            </a:r>
          </a:p>
          <a:p>
            <a:r>
              <a:rPr lang="en-US" sz="1800" dirty="0" smtClean="0"/>
              <a:t/>
            </a:r>
          </a:p>
          <a:p>
            <a:r>
              <a:rPr lang="en-US" sz="1800" dirty="0" smtClean="0"/>
              <a:t>-  Troubleshooting &amp; Root-Cause Analysis – Performs root-cause analysis and provides guided remediation steps to resolve issues faster.</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Proactive Monitoring – Continuously collects health, logs, and performance data from servers, GPUs, network devices, and applications.</a:t>
            </a:r>
          </a:p>
          <a:p>
            <a:r>
              <a:rPr lang="en-US" sz="1800" dirty="0" smtClean="0"/>
              <a:t/>
            </a:r>
          </a:p>
          <a:p>
            <a:r>
              <a:rPr lang="en-US" sz="1800" dirty="0" smtClean="0"/>
              <a:t>- Perform Security risk assessments and compliance audits against known industry and government standards such as PCI, HIPAA, SOC2, NIST etc</a:t>
            </a:r>
          </a:p>
          <a:p>
            <a:r>
              <a:rPr lang="en-US" sz="1800" dirty="0" smtClean="0"/>
              <a:t/>
            </a:r>
          </a:p>
          <a:p>
            <a:r>
              <a:rPr lang="en-US" sz="1800" dirty="0" smtClean="0"/>
              <a:t/>
            </a:r>
          </a:p>
          <a:p>
            <a:r>
              <a:rPr lang="en-US" sz="1800" dirty="0" smtClean="0"/>
              <a:t/>
            </a:r>
          </a:p>
          <a:p>
            <a:r>
              <a:rPr lang="en-US" sz="1800" dirty="0" smtClean="0"/>
              <a:t/>
            </a:r>
          </a:p>
          <a:p>
            <a:r>
              <a:rPr lang="en-US" sz="1800" dirty="0" smtClean="0"/>
              <a:t>-  Intelligent Querying – Answer natural language queries such as “What caused the last outage?” or “How is my cluster performing today?”.</a:t>
            </a:r>
          </a:p>
          <a:p>
            <a:r>
              <a:rPr lang="en-US" sz="1800" dirty="0" smtClean="0"/>
              <a:t/>
            </a:r>
          </a:p>
          <a:p>
            <a:r>
              <a:rPr lang="en-US" sz="1800" dirty="0" smtClean="0"/>
              <a:t/>
            </a:r>
          </a:p>
          <a:p>
            <a:r>
              <a:rPr lang="en-US" sz="1800" dirty="0" smtClean="0"/>
              <a:t/>
            </a:r>
          </a:p>
          <a:p>
            <a:r>
              <a:rPr lang="en-US" sz="1800" dirty="0" smtClean="0"/>
              <a:t/>
            </a:r>
          </a:p>
          <a:p>
            <a:r>
              <a:rPr lang="en-US" sz="1800" dirty="0" smtClean="0"/>
              <a:t> -  Adaptive Learning – Learns your infrastructure over time with a memory component, improving accuracy and insights.</a:t>
            </a:r>
          </a:p>
          <a:p>
            <a:r>
              <a:rPr lang="en-US" sz="1800" dirty="0" smtClean="0"/>
              <a:t/>
            </a:r>
          </a:p>
          <a:p>
            <a:r>
              <a:rPr lang="en-US" sz="1800" dirty="0" smtClean="0"/>
              <a:t/>
            </a:r>
          </a:p>
          <a:p>
            <a:r>
              <a:rPr lang="en-US" sz="1800" dirty="0" smtClean="0"/>
              <a:t/>
            </a:r>
          </a:p>
          <a:p>
            <a:r>
              <a:rPr lang="en-US" sz="1800" dirty="0" smtClean="0"/>
              <a:t/>
            </a:r>
          </a:p>
          <a:p>
            <a:r>
              <a:rPr lang="en-US" sz="1800" dirty="0" smtClean="0"/>
              <a:t> -  24x7 Availability – Acts as a round-the-clock virtual engineer without the overhead of traditional staffing.</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Review existing policy and compliance documents and create what’s missing or required</a:t>
            </a:r>
          </a:p>
          <a:p>
            <a:r>
              <a:rPr lang="en-US" sz="1800" dirty="0" smtClean="0"/>
              <a:t/>
            </a:r>
          </a:p>
          <a:p>
            <a:r>
              <a:rPr lang="en-US" sz="1800" dirty="0" smtClean="0"/>
              <a:t/>
            </a:r>
          </a:p>
          <a:p>
            <a:r>
              <a:rPr lang="en-US" sz="1800" dirty="0" smtClean="0"/>
              <a:t/>
            </a:r>
          </a:p>
          <a:p>
            <a:r>
              <a:rPr lang="en-US" sz="1800" dirty="0" smtClean="0"/>
              <a:t/>
            </a:r>
          </a:p>
          <a:p>
            <a:r>
              <a:rPr lang="en-US" sz="1800" dirty="0" smtClean="0"/>
              <a:t>- Identify optimization opportunities to reduce costs and eliminate wastage</a:t>
            </a:r>
          </a:p>
          <a:p>
            <a:r>
              <a:rPr lang="en-US" sz="1800" dirty="0" smtClean="0"/>
              <a:t/>
            </a:r>
          </a:p>
          <a:p>
            <a:r>
              <a:rPr lang="en-US" sz="1800" dirty="0" smtClean="0"/>
              <a:t/>
            </a:r>
          </a:p>
          <a:p>
            <a:r>
              <a:rPr lang="en-US" sz="1800" dirty="0" smtClean="0"/>
              <a:t/>
            </a:r>
          </a:p>
          <a:p>
            <a:r>
              <a:rPr lang="en-US" sz="1800" dirty="0" smtClean="0"/>
              <a:t/>
            </a:r>
          </a:p>
          <a:p>
            <a:r>
              <a:rPr lang="en-US" sz="1800" dirty="0" smtClean="0"/>
              <a:t>- Create Executive summaries against your infrastructure state as required</a:t>
            </a:r>
          </a:p>
          <a:p>
            <a:r>
              <a:rPr lang="en-US" sz="1800" dirty="0" smtClean="0"/>
              <a:t/>
            </a:r>
          </a:p>
          <a:p>
            <a:r>
              <a:rPr lang="en-US" sz="1800" dirty="0" smtClean="0"/>
              <a:t/>
            </a:r>
          </a:p>
          <a:p>
            <a:r>
              <a:rPr lang="en-US" sz="1800" dirty="0" smtClean="0"/>
              <a:t/>
            </a:r>
          </a:p>
          <a:p>
            <a:r>
              <a:rPr lang="en-US" sz="1800" dirty="0" smtClean="0"/>
              <a:t/>
            </a:r>
          </a:p>
          <a:p>
            <a:r>
              <a:rPr lang="en-US" sz="1800" dirty="0" smtClean="0"/>
              <a:t>- Track software deployed in your infrastructure and discover EOL and assess risk levels </a:t>
            </a:r>
          </a:p>
          <a:p>
            <a:r>
              <a:rPr lang="en-US" sz="1800" dirty="0" smtClean="0"/>
              <a:t/>
            </a:r>
          </a:p>
          <a:p>
            <a:r>
              <a:rPr lang="en-US" sz="1800" dirty="0" smtClean="0"/>
              <a:t/>
            </a:r>
          </a:p>
          <a:p>
            <a:r>
              <a:rPr lang="en-US" sz="1800" dirty="0" smtClean="0"/>
              <a:t/>
            </a:r>
          </a:p>
          <a:p>
            <a:r>
              <a:rPr lang="en-US" sz="1800" dirty="0" smtClean="0"/>
              <a:t/>
            </a:r>
          </a:p>
          <a:p>
            <a:r>
              <a:rPr lang="en-US" sz="1800" dirty="0" smtClean="0"/>
              <a:t>- Backup and Migrate your VSIs and data volumes to IBM COS, making them ready for restoration in IBM Cloud VPC.</a:t>
            </a:r>
          </a:p>
          <a:p>
            <a:r>
              <a:rPr lang="en-US" sz="1800" dirty="0" smtClean="0"/>
              <a:t/>
            </a:r>
          </a:p>
          <a:p>
            <a:r>
              <a:rPr lang="en-US" sz="1800" dirty="0" smtClean="0"/>
              <a:t/>
            </a:r>
          </a:p>
          <a:p>
            <a:r>
              <a:rPr lang="en-US" sz="1800" dirty="0" smtClean="0"/>
              <a:t/>
            </a:r>
          </a:p>
          <a:p>
            <a:r>
              <a:rPr lang="en-US" sz="1800" dirty="0" smtClean="0"/>
              <a:t/>
            </a:r>
          </a:p>
          <a:p>
            <a:r>
              <a:rPr lang="en-US" sz="1800" dirty="0" smtClean="0"/>
              <a:t>- Backup and Migrate your VMware / VCF VMs and Data to IBM COS and ready to restore as VPC native VSIs and volumes.</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Benefits</a:t>
            </a:r>
          </a:p>
          <a:p>
            <a:r>
              <a:rPr lang="en-US" sz="1800" dirty="0" smtClean="0"/>
              <a:t/>
            </a:r>
          </a:p>
          <a:p>
            <a:r>
              <a:rPr lang="en-US" sz="1800" dirty="0" smtClean="0"/>
              <a:t/>
            </a:r>
          </a:p>
          <a:p>
            <a:r>
              <a:rPr lang="en-US" sz="1800" dirty="0" smtClean="0"/>
              <a:t/>
            </a:r>
          </a:p>
          <a:p>
            <a:r>
              <a:rPr lang="en-US" sz="1800" dirty="0" smtClean="0"/>
              <a:t/>
            </a:r>
          </a:p>
          <a:p>
            <a:r>
              <a:rPr lang="en-US" sz="1800" dirty="0" smtClean="0"/>
              <a:t>  -  Faster Root-Cause Analysis – Reduce troubleshooting times from hours to minutes.</a:t>
            </a:r>
          </a:p>
          <a:p>
            <a:r>
              <a:rPr lang="en-US" sz="1800" dirty="0" smtClean="0"/>
              <a:t/>
            </a:r>
          </a:p>
          <a:p>
            <a:r>
              <a:rPr lang="en-US" sz="1800" dirty="0" smtClean="0"/>
              <a:t/>
            </a:r>
          </a:p>
          <a:p>
            <a:r>
              <a:rPr lang="en-US" sz="1800" dirty="0" smtClean="0"/>
              <a:t/>
            </a:r>
          </a:p>
          <a:p>
            <a:r>
              <a:rPr lang="en-US" sz="1800" dirty="0" smtClean="0"/>
              <a:t/>
            </a:r>
          </a:p>
          <a:p>
            <a:r>
              <a:rPr lang="en-US" sz="1800" dirty="0" smtClean="0"/>
              <a:t>Increase uptime and reliability by tracking security compliance gaps and risks across your IT and cloud infrastructure. </a:t>
            </a:r>
          </a:p>
          <a:p>
            <a:r>
              <a:rPr lang="en-US" sz="1800" dirty="0" smtClean="0"/>
              <a:t/>
            </a:r>
          </a:p>
          <a:p>
            <a:r>
              <a:rPr lang="en-US" sz="1800" dirty="0" smtClean="0"/>
              <a:t>Keep costs in control by assessing wastage and oversized infrastructure resources</a:t>
            </a:r>
          </a:p>
          <a:p>
            <a:r>
              <a:rPr lang="en-US" sz="1800" dirty="0" smtClean="0"/>
              <a:t/>
            </a:r>
          </a:p>
          <a:p>
            <a:r>
              <a:rPr lang="en-US" sz="1800" dirty="0" smtClean="0"/>
              <a:t/>
            </a:r>
          </a:p>
          <a:p>
            <a:r>
              <a:rPr lang="en-US" sz="1800" dirty="0" smtClean="0"/>
              <a:t/>
            </a:r>
          </a:p>
          <a:p>
            <a:r>
              <a:rPr lang="en-US" sz="1800" dirty="0" smtClean="0"/>
              <a:t/>
            </a:r>
          </a:p>
          <a:p>
            <a:r>
              <a:rPr lang="en-US" sz="1800" dirty="0" smtClean="0"/>
              <a:t> -  Increased Reliability – Identify and resolve issues before they escalate.</a:t>
            </a:r>
          </a:p>
          <a:p>
            <a:r>
              <a:rPr lang="en-US" sz="1800" dirty="0" smtClean="0"/>
              <a:t/>
            </a:r>
          </a:p>
          <a:p>
            <a:r>
              <a:rPr lang="en-US" sz="1800" dirty="0" smtClean="0"/>
              <a:t/>
            </a:r>
          </a:p>
          <a:p>
            <a:r>
              <a:rPr lang="en-US" sz="1800" dirty="0" smtClean="0"/>
              <a:t/>
            </a:r>
          </a:p>
          <a:p>
            <a:r>
              <a:rPr lang="en-US" sz="1800" dirty="0" smtClean="0"/>
              <a:t/>
            </a:r>
          </a:p>
          <a:p>
            <a:r>
              <a:rPr lang="en-US" sz="1800" dirty="0" smtClean="0"/>
              <a:t> -  Cost-Effective Operations – Reduce operational costs by up to 50%. A fraction of the cost of adding human NOC/SRE staff.</a:t>
            </a:r>
          </a:p>
          <a:p>
            <a:r>
              <a:rPr lang="en-US" sz="1800" dirty="0" smtClean="0"/>
              <a:t/>
            </a:r>
          </a:p>
          <a:p>
            <a:r>
              <a:rPr lang="en-US" sz="1800" dirty="0" smtClean="0"/>
              <a:t/>
            </a:r>
          </a:p>
          <a:p>
            <a:r>
              <a:rPr lang="en-US" sz="1800" dirty="0" smtClean="0"/>
              <a:t/>
            </a:r>
          </a:p>
          <a:p>
            <a:r>
              <a:rPr lang="en-US" sz="1800" dirty="0" smtClean="0"/>
              <a:t/>
            </a:r>
          </a:p>
          <a:p>
            <a:r>
              <a:rPr lang="en-US" sz="1800" dirty="0" smtClean="0"/>
              <a:t> -  Improved IT Productivity – 3X and more productivity gains. Free up engineering teams to focus on innovation, not firefighting.</a:t>
            </a:r>
          </a:p>
          <a:p>
            <a:r>
              <a:rPr lang="en-US" sz="1800" dirty="0" smtClean="0"/>
              <a:t/>
            </a:r>
          </a:p>
          <a:p>
            <a:r>
              <a:rPr lang="en-US" sz="1800" dirty="0" smtClean="0"/>
              <a:t/>
            </a:r>
          </a:p>
          <a:p>
            <a:r>
              <a:rPr lang="en-US" sz="1800" dirty="0" smtClean="0"/>
              <a:t/>
            </a:r>
          </a:p>
          <a:p>
            <a:r>
              <a:rPr lang="en-US" sz="1800" dirty="0" smtClean="0"/>
              <a:t/>
            </a:r>
          </a:p>
          <a:p>
            <a:r>
              <a:rPr lang="en-US" sz="1800" dirty="0" smtClean="0"/>
              <a:t> -  Scalable &amp; Adaptable – Grows with your environment and continuously learns from it.</a:t>
            </a:r>
          </a:p>
          <a:p>
            <a:r>
              <a:rPr lang="en-US" sz="1800" dirty="0" smtClean="0"/>
              <a:t/>
            </a:r>
          </a:p>
          <a:p>
            <a:r>
              <a:rPr lang="en-US" sz="1800" dirty="0" smtClean="0"/>
              <a:t/>
            </a:r>
          </a:p>
          <a:p>
            <a:r>
              <a:rPr lang="en-US" sz="1800" dirty="0" smtClean="0"/>
              <a:t/>
            </a:r>
          </a:p>
          <a:p>
            <a:r>
              <a:rPr lang="en-US" sz="1800" dirty="0" smtClean="0"/>
              <a:t/>
            </a:r>
          </a:p>
          <a:p>
            <a:r>
              <a:rPr lang="en-US" sz="1800" dirty="0" smtClean="0"/>
              <a:t>- Addresses skill gaps with its expert troubleshooting, management, and assessments ranging from Windows, Linux to Nvidia GPUs as well as Firewalls and multi-vendor network devices.</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t>
            </a:r>
          </a:p>
          <a:p>
            <a:r>
              <a:rPr lang="en-US" sz="1800" dirty="0" smtClean="0"/>
              <a:t/>
            </a:r>
          </a:p>
          <a:p>
            <a:r>
              <a:rPr lang="en-US" sz="1800" dirty="0" smtClean="0"/>
              <a:t/>
            </a:r>
          </a:p>
          <a:p>
            <a:r>
              <a:rPr lang="en-US" sz="1800" dirty="0" smtClean="0"/>
              <a:t/>
            </a:r>
          </a:p>
          <a:p>
            <a:r>
              <a:rPr lang="en-US" sz="1800" dirty="0" smtClean="0"/>
              <a:t/>
            </a:r>
          </a:p>
          <a:p>
            <a:r>
              <a:rPr lang="en-US" sz="1800" dirty="0" smtClean="0"/>
              <a:t>Wanclouds AI (WANDA) is your always-on AI engineer from Wanclouds, helping you stay ahead of outages, errors, security risks, and costly downtime..</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If you need a private instance of Wanclouds AI dedicated to your cloud and IT infrastructure resources, please contact Wanclouds at www.wanclouds.net or sales@wanclouds.net</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Wanclouds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https://cloud.ibm.com/catalog/services/wanclouds-inc-ai-assistant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292</a:t>
            </a:r>
            <a:endParaRPr lang="en-US"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Wasabi Hot Cloud Storage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Infinitely affordable and predictably priced hot cloud storage. No complex tiers. No fees for egress or API calls.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Wasabi Hot Cloud Storage is a universal, one-size-fits-all cloud object storage service that simplifies storage by enabling a highly available environment across a range of business use cases. Wasabi Hot Cloud Storage is easy to understand, simple to order, and incredibly cost-effective to scale. With Wasabi, there are no confusing storage tiers to decipher and no complicated fee structures to decode. And Wasabi storage is free from data access and API call fees, unlike traditional providers, which can substantially drive-up costs.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Wasabi Technologies LLC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Storage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https://cloud.ibm.com/catalog/services/wasabi-cloud-storage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293</a:t>
            </a:r>
            <a:endParaRPr lang="en-US"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 Discovery</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Add a cognitive search and content analytics engine to applications.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Add a cognitive search and content analytics engine to applications to identify patterns, trends and actionable insights that drive better decision-making. Securely unify structured and unstructured data with pre-enriched content, and use a simplified query language to eliminate the need for manual filtering of results.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https://cloud.ibm.com/catalog/services/discovery</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294</a:t>
            </a:r>
            <a:endParaRPr lang="en-US"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Build generative AI and machine learning solutions. Train, validate, tune, and deploy foundation and machine learning models.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Build with our new studio for foundation models, generative AI and machine learning. Train, validate, tune, and deploy foundation and machine learning models with ease.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https://cloud.ibm.com/catalog/services/wx</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295</a:t>
            </a:r>
            <a:endParaRPr lang="en-US"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 BI</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Get AI-generated personalized insights and data-aware recommendations from your business data, in natural language.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watsonx BI is a generative AI-powered business intelligence tool that is designed to help you uncover hidden insights from your data. Use natural language to analyze complex data, generate insights and data-aware recommendations that are easy to understand and actionable.</a:t>
            </a:r>
          </a:p>
          <a:p>
            <a:r>
              <a:rPr lang="en-US" sz="1800" dirty="0" smtClean="0"/>
              <a:t> </a:t>
            </a:r>
          </a:p>
          <a:p>
            <a:r>
              <a:rPr lang="en-US" sz="1800" dirty="0" smtClean="0"/>
              <a:t>After provisioning, the IBM account owner is required to complete the initial setup steps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https://cloud.ibm.com/catalog/services/watsonx-intelligence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296</a:t>
            </a:r>
            <a:endParaRPr lang="en-US"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 Code Assistant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Leverage tailor-made foundation models for AI-generated code recommendations to accelerate developer productivity.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watsonx Code Assistant is a cloud service that leverages generative AI to accelerate code generation and increase developer productivity. It uses generative AI that is purpose-built for targeted use cases like Application Modernization and IT Automation.</a:t>
            </a:r>
          </a:p>
          <a:p>
            <a:r>
              <a:rPr lang="en-US" sz="1800" dirty="0" smtClean="0"/>
              <a:t>Out-of-the-box, watsonx Code Assistant provides pre-trained models based on specific programming languages to ensure trust and efficiency for accurate code generation. IBM watsonx Code Assistant allows you to customize the underlying model(s) to ensure output is grounded in your organization's best practices, while providing visibility into the potential origin of generated code.</a:t>
            </a:r>
          </a:p>
          <a:p>
            <a:r>
              <a:rPr lang="en-US" sz="1800" dirty="0" smtClean="0"/>
              <a:t/>
            </a:r>
          </a:p>
          <a:p>
            <a:r>
              <a:rPr lang="en-US" sz="1800" dirty="0" smtClean="0"/>
              <a:t>Note: There are varying support levels for the available editions of IBM watsonx Code Assistant. Please reference the [Service Description Terms](https://www.ibm.com/terms/?id=i126-9704) for specific support commitments.</a:t>
            </a:r>
          </a:p>
          <a:p>
            <a:r>
              <a:rPr lang="en-US" sz="1800" dirty="0" smtClean="0"/>
              <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https://cloud.ibm.com/catalog/services/code-assistant</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297</a:t>
            </a:r>
            <a:endParaRPr lang="en-US"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 Orchestrate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Lighten your workload with IBM watsonx Orchestrate, powered by LLMs. Streamline workflows and automate tasks with a catalog of skills. No specialized training needed.</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watsonx Orchestrate, powered by LLMs, includes pre-built skills that use natural language processing to draw from a catalog of basic and advanced skills to execute your requests, in context and in the right order, without the need for any specialized training or developer experience.</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Toronto (ca-tor) Dallas (us-south) Washington DC (us-east) Sao Paulo (br-sao)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https://cloud.ibm.com/catalog/services/watsonx-orchestrate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298</a:t>
            </a:r>
            <a:endParaRPr lang="en-US"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 Orchestrate (formerly Assistant)</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IBM watsonx Assistant is now watsonx Orchestrate and comes with all of its Agentic capabilities and control plane. Build conversational interfaces into any application, device, or channel.</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watsonx Assistant is now watsonx Orchestrate.</a:t>
            </a:r>
          </a:p>
          <a:p>
            <a:r>
              <a:rPr lang="en-US" sz="1800" dirty="0" smtClean="0"/>
              <a:t/>
            </a:r>
          </a:p>
          <a:p>
            <a:r>
              <a:rPr lang="en-US" sz="1800" dirty="0" smtClean="0"/>
              <a:t>We are rolling out an upgrade to all customers of watsonx Assistant. Account eligibility for upgrade is rolling out to clients in stages, please see the documentation link here for more information: https://cloud.ibm.com/docs/watson-assistant?topic=watson-assistant-in-place-upgrade</a:t>
            </a:r>
          </a:p>
          <a:p>
            <a:r>
              <a:rPr lang="en-US" sz="1800" dirty="0" smtClean="0"/>
              <a:t/>
            </a:r>
          </a:p>
          <a:p>
            <a:r>
              <a:rPr lang="en-US" sz="1800" dirty="0" smtClean="0"/>
              <a:t>IBM watsonx Orchestrate (formerly Assistant), continues to provide the AI Assistant building capabilities with no disruption to customers. Existing dialogs, actions, extensions and other settings remain active and can continue to be authored.</a:t>
            </a:r>
          </a:p>
          <a:p>
            <a:r>
              <a:rPr lang="en-US" sz="1800" dirty="0" smtClean="0"/>
              <a:t/>
            </a:r>
          </a:p>
          <a:p>
            <a:r>
              <a:rPr lang="en-US" sz="1800" dirty="0" smtClean="0"/>
              <a:t>The now including AI Agent building, life cycle, and control plane experiences allow teams to start exploring and building AI Agents for their use cases to modernize Assistant experiences.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https://cloud.ibm.com/catalog/services/conversation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299</a:t>
            </a:r>
            <a:endParaRPr lang="en-US"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watsonx.ai Runtime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Formerly known as Watson Machine Learning. Quickly build, run and manage generative AI and machine learning applications with built-in performance and scalability.</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watsonx.ai Runtime service provides resources to power AI lifecycles and makes building and deploying AI solutions simple and scalable. It includes APIs, tools, models, and flexible runtimes ready for use in any cloud or hybrid environment.   For a full description of features and capabilities, visit the watsonx.ai product page https://www.ibm.com/products/watsonx-ai</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Toronto (ca-tor)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https://cloud.ibm.com/catalog/services/pm-20</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300</a:t>
            </a:r>
            <a:endParaRPr lang="en-US"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watsonx.ai Studio</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(Formerly known as Watson Studio) Develop powerful AI solutions with an integrated collaborative studio and industry-standard APIs and SDKs.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watsonx.ai Studio provides the set of integrated tools for IBM watsonx.ai and Cloud Pak for Data as a Service. IBM watsonx.ai Studio is powered by IBM watsonx.ai Runtime. With a suite of tools for all skill levels, everyone can collaborate to develop machine learning solutions and on watsonx.ai, develop generative AI solutions. You can write code, visually code on a graphical canvas, or automatically build AI solutions.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Toronto (ca-tor)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https://cloud.ibm.com/catalog/services/data-science-experience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301</a:t>
            </a:r>
            <a:endParaRPr lang="en-US"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watsonx.data</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An open, hybrid, and governed fit-for-purpose data store optimized to scale all data, analytics and AI workloads.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Watsonx.data is a data management solution for collecting, storing, querying, and analyzing all your enterprise data (structured, semi-structured, and unstructured) with a single unified data platform. It provides a flexible and reliable platform that is optimized to work on open data formats.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Databases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Toronto (ca-tor) Dallas (us-south) Washington DC (us-east)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https://cloud.ibm.com/catalog/services/lakehouse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302</a:t>
            </a:r>
            <a:endParaRPr lang="en-US"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watsonx.data integration</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Scale the delivery of reliable data with a unified user experience for diverse data integration styles, including stream, replication and bulk/batch patterns.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watsonx.data integration is a data integration tool that offers a unified experience for data teams to seamlessly handle real-time streaming, replication and bulk/batch integration patterns, without having to switch context or preselect the integration style. Modernize your data flows with a SaaS-based architecture that promotes reusability of data flows, enhances security and cost effectiveness, leveraging deployment flexibility across hybrid cloud environments. Boost data reliability with continuous monitoring of data quality issues with data observability.</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Analytics</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Frankfurt (eu-de) Toronto (ca-tor)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https://cloud.ibm.com/catalog/services/watsonx-data-integration</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303</a:t>
            </a:r>
            <a:endParaRPr lang="en-US"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watsonx.data intelligence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Create an intelligent data foundation to accelerate data insights.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watsonx.data intelligence revolutionizes the way organizations curate, manage, and utilize data by leveraging the power of AI to simplify data delivery across hybrid ecosystems. It empowers organizations to discover, trust, and access meaningful data by unifying governance, lineage, quality, and sharing, providing consumers with reliable data products.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Toronto (ca-tor)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https://cloud.ibm.com/catalog/services/datacatalog</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304</a:t>
            </a:r>
            <a:endParaRPr lang="en-US"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watsonx.governance</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Accelerate responsibility, transparency and explainability in your data and AI workflows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IBM watsonx.governance™ helps you direct, manage and monitor your organization’s AI activities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Yes</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Sydney (au-syd) Tokyo (jp-tok) Frankfurt (eu-de) London (eu-gb) Toronto (ca-tor) Dallas (us-south)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https://cloud.ibm.com/catalog/services/aiopenscale</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305</a:t>
            </a:r>
            <a:endParaRPr lang="en-US"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WealthGrowth.AI</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An AI-powered platform tailored for advisors and financial institutions to drive asset growth and enhance performance.</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WealthGrowth.ai: Transforming Wealth Management with AI</a:t>
            </a:r>
          </a:p>
          <a:p>
            <a:r>
              <a:rPr lang="en-US" sz="1800" dirty="0" smtClean="0"/>
              <a:t/>
            </a:r>
          </a:p>
          <a:p>
            <a:r>
              <a:rPr lang="en-US" sz="1800" dirty="0" smtClean="0"/>
              <a:t>WealthGrowth.ai is an Agentic AI workflow designed to enhance financial advisory services by leveraging 64 AI models, multiple AI agents, over 250 APIs, and six digital applications. By automating up to 95% of advisors' tasks, it helps boost asset growth and expand client outreach.</a:t>
            </a:r>
          </a:p>
          <a:p>
            <a:r>
              <a:rPr lang="en-US" sz="1800" dirty="0" smtClean="0"/>
              <a:t/>
            </a:r>
          </a:p>
          <a:p>
            <a:r>
              <a:rPr lang="en-US" sz="1800" dirty="0" smtClean="0"/>
              <a:t>Key Benefits:</a:t>
            </a:r>
          </a:p>
          <a:p>
            <a:r>
              <a:rPr lang="en-US" sz="1800" dirty="0" smtClean="0"/>
              <a:t/>
            </a:r>
          </a:p>
          <a:p>
            <a:r>
              <a:rPr lang="en-US" sz="1800" dirty="0" smtClean="0"/>
              <a:t>1. Growing with Current Clients</a:t>
            </a:r>
          </a:p>
          <a:p>
            <a:r>
              <a:rPr lang="en-US" sz="1800" dirty="0" smtClean="0"/>
              <a:t>Increases product utilization by 3 to 4 times.</a:t>
            </a:r>
          </a:p>
          <a:p>
            <a:r>
              <a:rPr lang="en-US" sz="1800" dirty="0" smtClean="0"/>
              <a:t>Expands wallet share by up to 40%.</a:t>
            </a:r>
          </a:p>
          <a:p>
            <a:r>
              <a:rPr lang="en-US" sz="1800" dirty="0" smtClean="0"/>
              <a:t>   </a:t>
            </a:r>
          </a:p>
          <a:p>
            <a:r>
              <a:rPr lang="en-US" sz="1800" dirty="0" smtClean="0"/>
              <a:t>2. Transitioning Bank Clients &amp; Acquiring New Prospects</a:t>
            </a:r>
          </a:p>
          <a:p>
            <a:r>
              <a:rPr lang="en-US" sz="1800" dirty="0" smtClean="0"/>
              <a:t>Enables advisors to manage 6 to 10 times more clients.</a:t>
            </a:r>
          </a:p>
          <a:p>
            <a:r>
              <a:rPr lang="en-US" sz="1800" dirty="0" smtClean="0"/>
              <a:t>Boosts assets under management (AUM) by up to 6 times.</a:t>
            </a:r>
          </a:p>
          <a:p>
            <a:r>
              <a:rPr lang="en-US" sz="1800" dirty="0" smtClean="0"/>
              <a:t/>
            </a:r>
          </a:p>
          <a:p>
            <a:r>
              <a:rPr lang="en-US" sz="1800" dirty="0" smtClean="0"/>
              <a:t>3. Enabling a Centralized/Remote/Digital Advisor Strategy</a:t>
            </a:r>
          </a:p>
          <a:p>
            <a:r>
              <a:rPr lang="en-US" sz="1800" dirty="0" smtClean="0"/>
              <a:t>Expands reach to new channels, regions, and products.</a:t>
            </a:r>
          </a:p>
          <a:p>
            <a:r>
              <a:rPr lang="en-US" sz="1800" dirty="0" smtClean="0"/>
              <a:t>Reduces advisor workload while maximizing efficiency.</a:t>
            </a:r>
          </a:p>
          <a:p>
            <a:r>
              <a:rPr lang="en-US" sz="1800" dirty="0" smtClean="0"/>
              <a:t/>
            </a:r>
          </a:p>
          <a:p>
            <a:r>
              <a:rPr lang="en-US" sz="1800" dirty="0" smtClean="0"/>
              <a:t>Powered by Cognerium, WealthGrowth.ai is shaping the future of wealth management by integrating AI-driven strategies to optimize client engagement and financial growth.</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Cognerium AI, Inc.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https://cloud.ibm.com/catalog/services/cognerium-wealthgrowth-ai</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306</a:t>
            </a:r>
            <a:endParaRPr lang="en-US"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Zerto</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Replicate your VMs between data centers in the public cloud or between the public cloud and your on-premises data centers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Replicate your VMs between data centers in the public cloud or between the public cloud and your on-premises data centers</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IBM</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Compute</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https://cloud.ibm.com/catalog/services/zerto</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307</a:t>
            </a:r>
            <a:endParaRPr lang="en-US"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308">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500000" y="300000"/>
            <a:ext cx="700000" cy="700000"/>
          </a:xfrm>
          <a:prstGeom prst="rect">
            <a:avLst/>
          </a:prstGeom>
        </p:spPr>
      </p:pic>
      <p:pic>
        <p:nvPicPr>
          <p:cNvPr id="3" name="Object 2"/>
          <p:cNvPicPr>
            <a:picLocks noChangeAspect="1"/>
          </p:cNvPicPr>
          <p:nvPr/>
        </p:nvPicPr>
        <p:blipFill>
          <a:blip r:embed="rId3" cstate="print"/>
          <a:stretch>
            <a:fillRect/>
          </a:stretch>
        </p:blipFill>
        <p:spPr>
          <a:xfrm>
            <a:off x="10000000" y="300000"/>
            <a:ext cx="1000000" cy="700000"/>
          </a:xfrm>
          <a:prstGeom prst="rect">
            <a:avLst/>
          </a:prstGeom>
        </p:spPr>
      </p:pic>
      <p:sp>
        <p:nvSpPr>
          <p:cNvPr id="4" name="Object 4"/>
          <p:cNvSpPr txBox="1"/>
          <p:nvPr/>
        </p:nvSpPr>
        <p:spPr>
          <a:xfrm>
            <a:off x="1500000" y="300000"/>
            <a:ext cx="9000000" cy="369332"/>
          </a:xfrm>
          <a:prstGeom prst="rect">
            <a:avLst/>
          </a:prstGeom>
          <a:noFill/>
        </p:spPr>
        <p:txBody>
          <a:bodyPr wrap="square" rtlCol="0"/>
          <a:lstStyle/>
          <a:p>
            <a:r>
              <a:rPr lang="en-US" sz="3000" b="1" dirty="0" smtClean="0"/>
              <a:t>ZIEMACS AI Copilot for PowerHA</a:t>
            </a:r>
            <a:endParaRPr lang="en-US" sz="3000" dirty="0"/>
          </a:p>
        </p:txBody>
      </p:sp>
      <p:sp>
        <p:nvSpPr>
          <p:cNvPr id="5" name="Object 5"/>
          <p:cNvSpPr txBox="1"/>
          <p:nvPr/>
        </p:nvSpPr>
        <p:spPr>
          <a:xfrm>
            <a:off x="1000000" y="1500000"/>
            <a:ext cx="10000000" cy="369332"/>
          </a:xfrm>
          <a:prstGeom prst="rect">
            <a:avLst/>
          </a:prstGeom>
          <a:noFill/>
        </p:spPr>
        <p:txBody>
          <a:bodyPr wrap="square" rtlCol="0"/>
          <a:lstStyle/>
          <a:p>
            <a:r>
              <a:rPr lang="en-US" sz="2000" dirty="0" smtClean="0">
                <a:solidFill>
                  <a:srgbClr val="808080"/>
                </a:solidFill>
              </a:rPr>
              <a:t>Native Watsonx Orchestrate agent for IBM PowerHA SystemMirror: planning, monitoring, and troubleshooting across 11 domains</a:t>
            </a:r>
            <a:endParaRPr lang="en-US" sz="2000" dirty="0"/>
          </a:p>
        </p:txBody>
      </p:sp>
      <p:sp>
        <p:nvSpPr>
          <p:cNvPr id="6" name="Object 6"/>
          <p:cNvSpPr txBox="1"/>
          <p:nvPr/>
        </p:nvSpPr>
        <p:spPr>
          <a:xfrm>
            <a:off x="1000000" y="3000000"/>
            <a:ext cx="7000000" cy="369332"/>
          </a:xfrm>
          <a:prstGeom prst="rect">
            <a:avLst/>
          </a:prstGeom>
          <a:noFill/>
        </p:spPr>
        <p:txBody>
          <a:bodyPr wrap="square" rtlCol="0"/>
          <a:lstStyle/>
          <a:p>
            <a:r>
              <a:rPr lang="en-US" sz="1800" dirty="0" smtClean="0"/>
              <a:t>ZIEMACS AI Copilot for PowerHA is a native watsonx Orchestrate agent that simplifies IBM PowerHA SystemMirror cluster management on AIX. The agent provides 50 specialized tools delivering Planning, Monitoring, and Troubleshooting capabilities across 11 PowerHA management domains, including cluster health monitoring, configuration analysis, and disaster recovery diagnostics.</a:t>
            </a:r>
          </a:p>
          <a:p>
            <a:r>
              <a:rPr lang="en-US" sz="1800" dirty="0" smtClean="0"/>
              <a:t/>
            </a:r>
          </a:p>
          <a:p>
            <a:r>
              <a:rPr lang="en-US" sz="1800" dirty="0" smtClean="0"/>
              <a:t/>
            </a:r>
          </a:p>
          <a:p>
            <a:r>
              <a:rPr lang="en-US" sz="1800" dirty="0" smtClean="0"/>
              <a:t/>
            </a:r>
          </a:p>
          <a:p>
            <a:r>
              <a:rPr lang="en-US" sz="1800" dirty="0" smtClean="0"/>
              <a:t/>
            </a:r>
          </a:p>
          <a:p>
            <a:r>
              <a:rPr lang="en-US" sz="1800" dirty="0" smtClean="0"/>
              <a:t>ZIEMACS AI Copilot brings AI assistance to the monitoring, diagnosis, and analysis tasks that traditionally require deep specialist knowledge. It monitors cluster health, surfaces emerging issues, and recommends remediation steps before they impact availability. The agent diagnoses complex cluster problems using AI-driven analysis of logs, configurations, and system state across CAA and PowerHA components. It also covers Geographic Logical Volume Manager (GLVM) and Geographic Resource Shifting (GRS) for cross-site replication readiness and disaster recovery diagnostics.</a:t>
            </a:r>
          </a:p>
          <a:p>
            <a:r>
              <a:rPr lang="en-US" sz="1800" dirty="0" smtClean="0"/>
              <a:t/>
            </a:r>
          </a:p>
          <a:p>
            <a:r>
              <a:rPr lang="en-US" sz="1800" dirty="0" smtClean="0"/>
              <a:t/>
            </a:r>
          </a:p>
          <a:p>
            <a:r>
              <a:rPr lang="en-US" sz="1800" dirty="0" smtClean="0"/>
              <a:t/>
            </a:r>
          </a:p>
          <a:p>
            <a:r>
              <a:rPr lang="en-US" sz="1800" dirty="0" smtClean="0"/>
              <a:t/>
            </a:r>
          </a:p>
          <a:p>
            <a:r>
              <a:rPr lang="en-US" sz="1800" dirty="0" smtClean="0"/>
              <a:t>Key benefits include closing the IBM Power skills gap with 24/7 AI expertise, reducing human error through standardized operations, and accelerating response times from hours to minutes. The agent operates within your watsonx Orchestrate tenant's role-based access controls, and human-in-the-loop approval workflows for write-class operations are on the near-term roadmap.</a:t>
            </a:r>
          </a:p>
          <a:p>
            <a:r>
              <a:rPr lang="en-US" sz="1800" dirty="0" smtClean="0"/>
              <a:t/>
            </a:r>
          </a:p>
          <a:p>
            <a:r>
              <a:rPr lang="en-US" sz="1800" dirty="0" smtClean="0"/>
              <a:t/>
            </a:r>
          </a:p>
          <a:p>
            <a:r>
              <a:rPr lang="en-US" sz="1800" dirty="0" smtClean="0"/>
              <a:t/>
            </a:r>
          </a:p>
          <a:p>
            <a:r>
              <a:rPr lang="en-US" sz="1800" dirty="0" smtClean="0"/>
              <a:t/>
            </a:r>
          </a:p>
          <a:p>
            <a:r>
              <a:rPr lang="en-US" sz="1800" dirty="0" smtClean="0"/>
              <a:t>ZIEMACS AI Copilot for PowerHA is available in three IBM-approved tiers: Starter (2 clusters with 4 nodes each, email support), Professional (5 clusters with 8 nodes each, priority support, with deployment and migration capabilities on the roadmap), and Enterprise (unlimited clusters with up to 32 nodes, 24/7 named support, with disaster recovery execution and A2A interoperability in development). Built by ZIEMACS AI, an IBM Partner Plus Silver Build partner, and qualified through IBM Agent Connect.</a:t>
            </a:r>
            <a:endParaRPr lang="en-US" sz="1800" dirty="0"/>
          </a:p>
        </p:txBody>
      </p:sp>
      <p:sp>
        <p:nvSpPr>
          <p:cNvPr id="7" name="Object 7"/>
          <p:cNvSpPr txBox="1"/>
          <p:nvPr/>
        </p:nvSpPr>
        <p:spPr>
          <a:xfrm>
            <a:off x="8300000" y="2300000"/>
            <a:ext cx="3900000" cy="3500000"/>
          </a:xfrm>
          <a:prstGeom prst="rect">
            <a:avLst/>
          </a:prstGeom>
          <a:solidFill>
            <a:srgbClr val="47A9C0"/>
          </a:solidFill>
        </p:spPr>
      </p:sp>
      <p:sp>
        <p:nvSpPr>
          <p:cNvPr id="8" name="Object 8"/>
          <p:cNvSpPr txBox="1"/>
          <p:nvPr/>
        </p:nvSpPr>
        <p:spPr>
          <a:xfrm>
            <a:off x="8500000" y="2500000"/>
            <a:ext cx="1500000" cy="369332"/>
          </a:xfrm>
          <a:prstGeom prst="rect">
            <a:avLst/>
          </a:prstGeom>
          <a:noFill/>
        </p:spPr>
        <p:txBody>
          <a:bodyPr wrap="square" rtlCol="0"/>
          <a:lstStyle/>
          <a:p>
            <a:r>
              <a:rPr lang="en-US" sz="1800" dirty="0" smtClean="0">
                <a:solidFill>
                  <a:srgbClr val="ffffff"/>
                </a:solidFill>
              </a:rPr>
              <a:t>Provider: </a:t>
            </a:r>
            <a:endParaRPr lang="en-US" sz="1800" dirty="0"/>
          </a:p>
        </p:txBody>
      </p:sp>
      <p:sp>
        <p:nvSpPr>
          <p:cNvPr id="9" name="Object 9"/>
          <p:cNvSpPr txBox="1"/>
          <p:nvPr/>
        </p:nvSpPr>
        <p:spPr>
          <a:xfrm>
            <a:off x="10000000" y="2500000"/>
            <a:ext cx="2200000" cy="369332"/>
          </a:xfrm>
          <a:prstGeom prst="rect">
            <a:avLst/>
          </a:prstGeom>
          <a:noFill/>
        </p:spPr>
        <p:txBody>
          <a:bodyPr wrap="square" rtlCol="0"/>
          <a:lstStyle/>
          <a:p>
            <a:r>
              <a:rPr lang="en-US" sz="1800" dirty="0" smtClean="0">
                <a:solidFill>
                  <a:srgbClr val="ffffff"/>
                </a:solidFill>
              </a:rPr>
              <a:t>ZIEMACS AI, LLC</a:t>
            </a:r>
            <a:endParaRPr lang="en-US" sz="1800" dirty="0"/>
          </a:p>
        </p:txBody>
      </p:sp>
      <p:sp>
        <p:nvSpPr>
          <p:cNvPr id="10" name="Object 10"/>
          <p:cNvSpPr txBox="1"/>
          <p:nvPr/>
        </p:nvSpPr>
        <p:spPr>
          <a:xfrm>
            <a:off x="8500000" y="3000000"/>
            <a:ext cx="1500000" cy="369332"/>
          </a:xfrm>
          <a:prstGeom prst="rect">
            <a:avLst/>
          </a:prstGeom>
          <a:noFill/>
        </p:spPr>
        <p:txBody>
          <a:bodyPr wrap="square" rtlCol="0"/>
          <a:lstStyle/>
          <a:p>
            <a:r>
              <a:rPr lang="en-US" sz="1800" dirty="0" smtClean="0">
                <a:solidFill>
                  <a:srgbClr val="ffffff"/>
                </a:solidFill>
              </a:rPr>
              <a:t>Category: </a:t>
            </a:r>
            <a:endParaRPr lang="en-US" sz="1800" dirty="0"/>
          </a:p>
        </p:txBody>
      </p:sp>
      <p:sp>
        <p:nvSpPr>
          <p:cNvPr id="11" name="Object 11"/>
          <p:cNvSpPr txBox="1"/>
          <p:nvPr/>
        </p:nvSpPr>
        <p:spPr>
          <a:xfrm>
            <a:off x="10000000" y="3000000"/>
            <a:ext cx="3000000" cy="369332"/>
          </a:xfrm>
          <a:prstGeom prst="rect">
            <a:avLst/>
          </a:prstGeom>
          <a:noFill/>
        </p:spPr>
        <p:txBody>
          <a:bodyPr wrap="square" rtlCol="0"/>
          <a:lstStyle/>
          <a:p>
            <a:r>
              <a:rPr lang="en-US" sz="1800" dirty="0" smtClean="0">
                <a:solidFill>
                  <a:srgbClr val="ffffff"/>
                </a:solidFill>
              </a:rPr>
              <a:t>AI / Machine Learning</a:t>
            </a:r>
            <a:endParaRPr lang="en-US" sz="1800" dirty="0"/>
          </a:p>
        </p:txBody>
      </p:sp>
      <p:sp>
        <p:nvSpPr>
          <p:cNvPr id="12" name="Object 12"/>
          <p:cNvSpPr txBox="1"/>
          <p:nvPr/>
        </p:nvSpPr>
        <p:spPr>
          <a:xfrm>
            <a:off x="8500000" y="3500000"/>
            <a:ext cx="1500000" cy="369332"/>
          </a:xfrm>
          <a:prstGeom prst="rect">
            <a:avLst/>
          </a:prstGeom>
          <a:noFill/>
        </p:spPr>
        <p:txBody>
          <a:bodyPr wrap="square" rtlCol="0"/>
          <a:lstStyle/>
          <a:p>
            <a:r>
              <a:rPr lang="en-US" sz="1800" dirty="0" smtClean="0">
                <a:solidFill>
                  <a:srgbClr val="ffffff"/>
                </a:solidFill>
              </a:rPr>
              <a:t>Status: </a:t>
            </a:r>
            <a:endParaRPr lang="en-US" sz="1800" dirty="0"/>
          </a:p>
        </p:txBody>
      </p:sp>
      <p:sp>
        <p:nvSpPr>
          <p:cNvPr id="13" name="Object 13"/>
          <p:cNvSpPr txBox="1"/>
          <p:nvPr/>
        </p:nvSpPr>
        <p:spPr>
          <a:xfrm>
            <a:off x="10000000" y="3500000"/>
            <a:ext cx="2000000" cy="369332"/>
          </a:xfrm>
          <a:prstGeom prst="rect">
            <a:avLst/>
          </a:prstGeom>
          <a:noFill/>
        </p:spPr>
        <p:txBody>
          <a:bodyPr wrap="square" rtlCol="0"/>
          <a:lstStyle/>
          <a:p>
            <a:r>
              <a:rPr lang="en-US" sz="1800" dirty="0" smtClean="0">
                <a:solidFill>
                  <a:srgbClr val="ffffff"/>
                </a:solidFill>
              </a:rPr>
              <a:t>Production Ready</a:t>
            </a:r>
            <a:endParaRPr lang="en-US" sz="1800" dirty="0"/>
          </a:p>
        </p:txBody>
      </p:sp>
      <p:sp>
        <p:nvSpPr>
          <p:cNvPr id="14" name="Object 14"/>
          <p:cNvSpPr txBox="1"/>
          <p:nvPr/>
        </p:nvSpPr>
        <p:spPr>
          <a:xfrm>
            <a:off x="8500000" y="4000000"/>
            <a:ext cx="1500000" cy="369332"/>
          </a:xfrm>
          <a:prstGeom prst="rect">
            <a:avLst/>
          </a:prstGeom>
          <a:noFill/>
        </p:spPr>
        <p:txBody>
          <a:bodyPr wrap="square" rtlCol="0"/>
          <a:lstStyle/>
          <a:p>
            <a:r>
              <a:rPr lang="en-US" sz="1800" dirty="0" smtClean="0">
                <a:solidFill>
                  <a:srgbClr val="ffffff"/>
                </a:solidFill>
              </a:rPr>
              <a:t>Free Plan: </a:t>
            </a:r>
            <a:endParaRPr lang="en-US" sz="1800" dirty="0"/>
          </a:p>
        </p:txBody>
      </p:sp>
      <p:sp>
        <p:nvSpPr>
          <p:cNvPr id="15" name="Object 15"/>
          <p:cNvSpPr txBox="1"/>
          <p:nvPr/>
        </p:nvSpPr>
        <p:spPr>
          <a:xfrm>
            <a:off x="10000000" y="4000000"/>
            <a:ext cx="2000000" cy="369332"/>
          </a:xfrm>
          <a:prstGeom prst="rect">
            <a:avLst/>
          </a:prstGeom>
          <a:noFill/>
        </p:spPr>
        <p:txBody>
          <a:bodyPr wrap="square" rtlCol="0"/>
          <a:lstStyle/>
          <a:p>
            <a:r>
              <a:rPr lang="en-US" sz="1800" dirty="0" smtClean="0">
                <a:solidFill>
                  <a:srgbClr val="ffffff"/>
                </a:solidFill>
              </a:rPr>
              <a:t>No</a:t>
            </a:r>
            <a:endParaRPr lang="en-US" sz="1800" dirty="0"/>
          </a:p>
        </p:txBody>
      </p:sp>
      <p:sp>
        <p:nvSpPr>
          <p:cNvPr id="16" name="Object 16"/>
          <p:cNvSpPr txBox="1"/>
          <p:nvPr/>
        </p:nvSpPr>
        <p:spPr>
          <a:xfrm>
            <a:off x="8500000" y="4500000"/>
            <a:ext cx="1500000" cy="369332"/>
          </a:xfrm>
          <a:prstGeom prst="rect">
            <a:avLst/>
          </a:prstGeom>
          <a:noFill/>
        </p:spPr>
        <p:txBody>
          <a:bodyPr wrap="square" rtlCol="0"/>
          <a:lstStyle/>
          <a:p>
            <a:r>
              <a:rPr lang="en-US" sz="1800" dirty="0" smtClean="0">
                <a:solidFill>
                  <a:srgbClr val="ffffff"/>
                </a:solidFill>
              </a:rPr>
              <a:t>Regions: </a:t>
            </a:r>
            <a:endParaRPr lang="en-US" sz="1800" dirty="0"/>
          </a:p>
        </p:txBody>
      </p:sp>
      <p:sp>
        <p:nvSpPr>
          <p:cNvPr id="17" name="Object 17"/>
          <p:cNvSpPr txBox="1"/>
          <p:nvPr/>
        </p:nvSpPr>
        <p:spPr>
          <a:xfrm>
            <a:off x="10000000" y="4500000"/>
            <a:ext cx="2000000" cy="369332"/>
          </a:xfrm>
          <a:prstGeom prst="rect">
            <a:avLst/>
          </a:prstGeom>
          <a:noFill/>
        </p:spPr>
        <p:txBody>
          <a:bodyPr wrap="square" rtlCol="0"/>
          <a:lstStyle/>
          <a:p>
            <a:r>
              <a:rPr lang="en-US" sz="1800" dirty="0" smtClean="0">
                <a:solidFill>
                  <a:srgbClr val="ffffff"/>
                </a:solidFill>
              </a:rPr>
              <a:t/>
            </a:r>
            <a:endParaRPr lang="en-US" sz="1800" dirty="0"/>
          </a:p>
        </p:txBody>
      </p:sp>
      <p:sp>
        <p:nvSpPr>
          <p:cNvPr id="18" name="Object 18"/>
          <p:cNvSpPr txBox="1"/>
          <p:nvPr/>
        </p:nvSpPr>
        <p:spPr>
          <a:xfrm>
            <a:off x="1000000" y="6000000"/>
            <a:ext cx="10000000" cy="369332"/>
          </a:xfrm>
          <a:prstGeom prst="rect">
            <a:avLst/>
          </a:prstGeom>
          <a:noFill/>
        </p:spPr>
        <p:txBody>
          <a:bodyPr wrap="square" rtlCol="0"/>
          <a:lstStyle/>
          <a:p>
            <a:r>
              <a:rPr lang="en-US" sz="1400" dirty="0" smtClean="0">
                <a:solidFill>
                  <a:srgbClr val="808080"/>
                </a:solidFill>
              </a:rPr>
              <a:t>https://cloud.ibm.com/catalog/services/ziemacs-cma</a:t>
            </a:r>
            <a:endParaRPr lang="en-US" sz="1400" dirty="0"/>
          </a:p>
        </p:txBody>
      </p:sp>
      <p:sp>
        <p:nvSpPr>
          <p:cNvPr id="19" name="Object 19"/>
          <p:cNvSpPr txBox="1"/>
          <p:nvPr/>
        </p:nvSpPr>
        <p:spPr>
          <a:xfrm>
            <a:off x="11500000" y="6300000"/>
            <a:ext cx="1000000" cy="200000"/>
          </a:xfrm>
          <a:prstGeom prst="rect">
            <a:avLst/>
          </a:prstGeom>
          <a:noFill/>
        </p:spPr>
        <p:txBody>
          <a:bodyPr wrap="square" rtlCol="0"/>
          <a:lstStyle/>
          <a:p>
            <a:r>
              <a:rPr lang="en-US" dirty="0" smtClean="0">
                <a:solidFill>
                  <a:srgbClr val="808080"/>
                </a:solidFill>
              </a:rPr>
              <a:t>308</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MS P????"/>
        <a:font script="Hang" typeface="?? ??"/>
        <a:font script="Hans" typeface="??"/>
        <a:font script="Hant" typeface="????"/>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
        <a:font script="Hang" typeface="?? ??"/>
        <a:font script="Hans" typeface="??"/>
        <a:font script="Hant" typeface="????"/>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308</Slides>
  <Notes>0</Notes>
  <HiddenSlides>0</HiddenSlides>
  <MMClips>0</MMClips>
  <ScaleCrop>false</ScaleCrop>
  <HeadingPairs>
    <vt:vector size="4" baseType="variant">
      <vt:variant>
        <vt:lpstr>Theme</vt:lpstr>
      </vt:variant>
      <vt:variant>
        <vt:i4>1</vt:i4>
      </vt:variant>
      <vt:variant>
        <vt:lpstr>Slide Titles</vt:lpstr>
      </vt:variant>
      <vt:variant>
        <vt:i4>308</vt:i4>
      </vt:variant>
    </vt:vector>
  </HeadingPairs>
  <TitlesOfParts>
    <vt:vector size="309"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vector>
  </TitlesOfParts>
  <Company>officegen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officegen</dc:creator>
  <cp:lastModifiedBy>officegen</cp:lastModifiedBy>
  <cp:revision>1</cp:revision>
  <dcterms:created xsi:type="dcterms:W3CDTF">2026-10-14T17:00:24Z</dcterms:created>
  <dcterms:modified xsi:type="dcterms:W3CDTF">2026-10-14T17:00:24Z</dcterms:modified>
</cp:coreProperties>
</file>